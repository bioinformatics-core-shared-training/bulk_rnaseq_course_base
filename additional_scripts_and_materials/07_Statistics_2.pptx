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autoCompressPictures="0">
  <p:sldMasterIdLst>
    <p:sldMasterId id="2147483663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7" r:id="rId12"/>
    <p:sldId id="269" r:id="rId13"/>
    <p:sldId id="270" r:id="rId14"/>
    <p:sldId id="271" r:id="rId15"/>
    <p:sldId id="275" r:id="rId16"/>
    <p:sldId id="278" r:id="rId17"/>
    <p:sldId id="280" r:id="rId18"/>
    <p:sldId id="282" r:id="rId19"/>
    <p:sldId id="288" r:id="rId20"/>
    <p:sldId id="287" r:id="rId21"/>
  </p:sldIdLst>
  <p:sldSz cx="9144000" cy="5143500" type="screen16x9"/>
  <p:notesSz cx="6858000" cy="9144000"/>
  <p:embeddedFontLst>
    <p:embeddedFont>
      <p:font typeface="Avenir Book" panose="02000503020000020003" pitchFamily="2" charset="0"/>
      <p:regular r:id="rId23"/>
      <p:italic r:id="rId24"/>
    </p:embeddedFont>
    <p:embeddedFont>
      <p:font typeface="Cabin" pitchFamily="2" charset="77"/>
      <p:regular r:id="rId25"/>
      <p:bold r:id="rId26"/>
      <p:italic r:id="rId27"/>
      <p:boldItalic r:id="rId2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C895900-14CC-4243-8230-97016A6E15D6}">
  <a:tblStyle styleId="{9C895900-14CC-4243-8230-97016A6E15D6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6826"/>
    <p:restoredTop sz="94726"/>
  </p:normalViewPr>
  <p:slideViewPr>
    <p:cSldViewPr snapToGrid="0">
      <p:cViewPr varScale="1">
        <p:scale>
          <a:sx n="163" d="100"/>
          <a:sy n="163" d="100"/>
        </p:scale>
        <p:origin x="192" y="20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4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3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font" Target="fonts/font6.fntdata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font" Target="fonts/font5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" name="Google Shape;79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ge5b83c5cba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8" name="Google Shape;88;ge5b83c5cba_0_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e049cf3496_0_7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8" name="Google Shape;98;ge049cf3496_0_7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gdf9b2f7439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0" name="Google Shape;110;gdf9b2f7439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ge31acb9699_0_5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17" name="Google Shape;117;ge31acb9699_0_5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ge31acb9699_0_7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" name="Google Shape;129;ge31acb9699_0_7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ge31acb9699_0_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48" name="Google Shape;148;ge31acb9699_0_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ge16f8cbcee_0_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66" name="Google Shape;166;ge16f8cbcee_0_1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e049cf3496_0_4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85" name="Google Shape;185;ge049cf3496_0_43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Google Shape;197;ge31acb9699_0_9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8" name="Google Shape;198;ge31acb9699_0_9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ge16f8cbcee_0_10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1" name="Google Shape;241;ge16f8cbcee_0_10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ge31acb9699_0_18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92" name="Google Shape;292;ge31acb9699_0_18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ge31acb9699_0_2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4" name="Google Shape;304;ge31acb9699_0_21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e31acb9699_0_24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6" name="Google Shape;336;ge31acb9699_0_24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2" name="Google Shape;482;ge16f8cbcee_0_35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83" name="Google Shape;483;ge16f8cbcee_0_35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8" name="Google Shape;598;ge31acb9699_0_433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99" name="Google Shape;599;ge31acb9699_0_43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9" name="Google Shape;639;ge5b83c5cba_0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40" name="Google Shape;640;ge5b83c5cba_0_10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3" name="Google Shape;683;ge31acb9699_0_5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84" name="Google Shape;684;ge31acb9699_0_53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3" name="Google Shape;783;ge049cf3496_0_3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84" name="Google Shape;784;ge049cf3496_0_31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5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g"/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eg"/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6.jpe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2.jpg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B4DD3CDD-D029-482B-B0C7-8148556A2425}"/>
              </a:ext>
            </a:extLst>
          </p:cNvPr>
          <p:cNvSpPr/>
          <p:nvPr/>
        </p:nvSpPr>
        <p:spPr>
          <a:xfrm>
            <a:off x="7110282" y="3832928"/>
            <a:ext cx="1890210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6794953F-E8C8-4237-823E-C80F854F92B8}"/>
              </a:ext>
            </a:extLst>
          </p:cNvPr>
          <p:cNvSpPr txBox="1"/>
          <p:nvPr/>
        </p:nvSpPr>
        <p:spPr>
          <a:xfrm>
            <a:off x="6728649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F4799656-09DB-4783-B27C-7BAA814B5A6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6570957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44000" y="1707654"/>
            <a:ext cx="3456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844000" y="3475044"/>
            <a:ext cx="3456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D9CB002-D45B-4635-A81B-DEACB25146DD}"/>
              </a:ext>
            </a:extLst>
          </p:cNvPr>
          <p:cNvSpPr/>
          <p:nvPr/>
        </p:nvSpPr>
        <p:spPr>
          <a:xfrm>
            <a:off x="7110282" y="3813888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DE2ACE78-9094-4BAB-88B0-2409CB7F7313}"/>
              </a:ext>
            </a:extLst>
          </p:cNvPr>
          <p:cNvSpPr txBox="1"/>
          <p:nvPr/>
        </p:nvSpPr>
        <p:spPr>
          <a:xfrm>
            <a:off x="6678234" y="4840002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5312D3E-807A-4A52-A8B7-5C9E7721076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08824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6317394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3"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tx2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8" name="Picture Placeholder 10">
            <a:extLst>
              <a:ext uri="{FF2B5EF4-FFF2-40B4-BE49-F238E27FC236}">
                <a16:creationId xmlns:a16="http://schemas.microsoft.com/office/drawing/2014/main" id="{4A112773-0389-44C1-9A6C-D346A4A5026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F0892D67-F81D-4EAF-91FC-295D8C2F6020}"/>
              </a:ext>
            </a:extLst>
          </p:cNvPr>
          <p:cNvSpPr/>
          <p:nvPr/>
        </p:nvSpPr>
        <p:spPr>
          <a:xfrm>
            <a:off x="4991311" y="380471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673C406D-B215-4935-8E9E-66DD87522B2E}"/>
              </a:ext>
            </a:extLst>
          </p:cNvPr>
          <p:cNvSpPr/>
          <p:nvPr/>
        </p:nvSpPr>
        <p:spPr>
          <a:xfrm>
            <a:off x="5156786" y="1255460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68AEAD39-6F92-40BC-B53B-719F85124F3E}"/>
              </a:ext>
            </a:extLst>
          </p:cNvPr>
          <p:cNvSpPr/>
          <p:nvPr/>
        </p:nvSpPr>
        <p:spPr>
          <a:xfrm>
            <a:off x="4595682" y="280458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5336AE6-2107-40DE-99F8-D4EE744CD5C2}"/>
              </a:ext>
            </a:extLst>
          </p:cNvPr>
          <p:cNvSpPr txBox="1"/>
          <p:nvPr/>
        </p:nvSpPr>
        <p:spPr>
          <a:xfrm>
            <a:off x="16357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tx2"/>
                </a:solidFill>
                <a:latin typeface="Calibri" panose="020F0502020204030204" pitchFamily="34" charset="0"/>
              </a:rPr>
              <a:t>Together we will beat cancer 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F91263D7-559D-4BEC-80C9-175F6C07A3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299943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7164732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4BCF2C7-D150-4547-98EB-CC87532E06F2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F7201BF-9504-4E8A-B769-8C83E1A8EB01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8DF14C7-60D8-4D88-B7AB-897F26D5E9B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8656201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Slide - option 4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F5FA3-A20D-40FB-8BE3-44CD88DDEC2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EE91C51-1E93-4B29-9242-2D33D6D5A8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91562" y="3003798"/>
            <a:ext cx="3780000" cy="230833"/>
          </a:xfrm>
        </p:spPr>
        <p:txBody>
          <a:bodyPr/>
          <a:lstStyle>
            <a:lvl1pPr marL="0" indent="0" algn="ctr">
              <a:buNone/>
              <a:defRPr sz="1500">
                <a:solidFill>
                  <a:schemeClr val="bg1"/>
                </a:solidFill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GB"/>
              <a:t>Click to edit Master subtitle style</a:t>
            </a:r>
            <a:endParaRPr lang="en-GB" dirty="0"/>
          </a:p>
        </p:txBody>
      </p:sp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C30E9D85-FA01-435A-807C-2764FE1066EB}"/>
              </a:ext>
            </a:extLst>
          </p:cNvPr>
          <p:cNvSpPr/>
          <p:nvPr/>
        </p:nvSpPr>
        <p:spPr>
          <a:xfrm>
            <a:off x="251520" y="3776244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E835EBC-EFF7-4C19-A824-ABA43CC01B6F}"/>
              </a:ext>
            </a:extLst>
          </p:cNvPr>
          <p:cNvSpPr txBox="1"/>
          <p:nvPr/>
        </p:nvSpPr>
        <p:spPr>
          <a:xfrm>
            <a:off x="143508" y="4857408"/>
            <a:ext cx="2271843" cy="2423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975" dirty="0">
                <a:solidFill>
                  <a:schemeClr val="bg1"/>
                </a:solidFill>
                <a:latin typeface="Calibri" panose="020F0502020204030204" pitchFamily="34" charset="0"/>
                <a:cs typeface="Andalus" panose="02020603050405020304" pitchFamily="18" charset="-78"/>
              </a:rPr>
              <a:t>Together we will beat cancer </a:t>
            </a: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EA8B399-06C1-4EA0-AC8F-1340D16BC32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299942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06515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bg>
      <p:bgPr>
        <a:blipFill dpi="0" rotWithShape="1"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3CE970A-69F0-4380-B369-6E5245E6078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3175505-2C65-4AA4-91A9-4D6D0D6AD16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1360021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2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D1057045-282D-4894-93DF-38BEDA5FC206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0F4F69F-2D00-4A70-A094-4F6050E9F5F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1706660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3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1" y="2071422"/>
            <a:ext cx="5616178" cy="1000658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25BDC983-CD54-481A-90C4-66C6E8002E4C}"/>
              </a:ext>
            </a:extLst>
          </p:cNvPr>
          <p:cNvSpPr/>
          <p:nvPr/>
        </p:nvSpPr>
        <p:spPr>
          <a:xfrm>
            <a:off x="7110282" y="3915206"/>
            <a:ext cx="1836204" cy="1134126"/>
          </a:xfrm>
          <a:prstGeom prst="rect">
            <a:avLst/>
          </a:prstGeom>
          <a:solidFill>
            <a:srgbClr val="A7A8A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D34D5D9-5C59-429E-815C-3CEACC87027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2240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4115702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42CF35B7-1632-421B-8A62-A66970D923EA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3762D73B-BBFA-449A-946A-8A819A1B7DF8}"/>
              </a:ext>
            </a:extLst>
          </p:cNvPr>
          <p:cNvSpPr/>
          <p:nvPr/>
        </p:nvSpPr>
        <p:spPr>
          <a:xfrm>
            <a:off x="1331640" y="696425"/>
            <a:ext cx="127857" cy="127857"/>
          </a:xfrm>
          <a:prstGeom prst="ellipse">
            <a:avLst/>
          </a:prstGeom>
          <a:solidFill>
            <a:srgbClr val="00B6ED"/>
          </a:solidFill>
          <a:ln>
            <a:solidFill>
              <a:srgbClr val="00B6ED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1445F4B4-6C4B-4789-85A0-919776932321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EEDF331A-3129-4180-9508-4892211266A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762243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1FEAE266-1AED-426B-ABE4-360FFA7DD1E2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6B284D46-3FE0-4651-9122-7C3AAD129B6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18468851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808B5E23-9338-459A-A8E7-4762B24C3E5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17" name="Oval 16">
            <a:extLst>
              <a:ext uri="{FF2B5EF4-FFF2-40B4-BE49-F238E27FC236}">
                <a16:creationId xmlns:a16="http://schemas.microsoft.com/office/drawing/2014/main" id="{FC321904-BDBE-419A-B400-DC1CF0C4B86D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A85C9B4C-1761-4163-B0E9-E286F346BFDD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77CE84-C8D0-4A59-B596-71C9205AD7A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43298851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1_Section Header - option 5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EA36F336-08E4-4E71-B479-98F032E8E41B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D67BD166-F610-4586-9EE0-E9973EC99FEF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F241499-57D5-4B7B-84CD-D6C76928A6E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8231847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Section Header - option 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14D9D8-3ACA-459C-AA1E-A261DEDBD0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9840" y="1829047"/>
            <a:ext cx="3942160" cy="1485407"/>
          </a:xfrm>
        </p:spPr>
        <p:txBody>
          <a:bodyPr wrap="square" anchor="ctr" anchorCtr="0">
            <a:sp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Picture Placeholder 10">
            <a:extLst>
              <a:ext uri="{FF2B5EF4-FFF2-40B4-BE49-F238E27FC236}">
                <a16:creationId xmlns:a16="http://schemas.microsoft.com/office/drawing/2014/main" id="{1CEBE5DC-07E1-4B65-9518-961D2B3183AA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36096" y="0"/>
            <a:ext cx="3707904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2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380FECDD-3436-426C-8DBD-F8CDDAB3141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50143" y="1059582"/>
            <a:ext cx="137172" cy="137172"/>
          </a:xfrm>
          <a:prstGeom prst="rect">
            <a:avLst/>
          </a:prstGeom>
        </p:spPr>
      </p:pic>
      <p:sp>
        <p:nvSpPr>
          <p:cNvPr id="7" name="Oval 6">
            <a:extLst>
              <a:ext uri="{FF2B5EF4-FFF2-40B4-BE49-F238E27FC236}">
                <a16:creationId xmlns:a16="http://schemas.microsoft.com/office/drawing/2014/main" id="{8C377E3B-3FEB-4504-9826-BAC76041BEDA}"/>
              </a:ext>
            </a:extLst>
          </p:cNvPr>
          <p:cNvSpPr/>
          <p:nvPr/>
        </p:nvSpPr>
        <p:spPr>
          <a:xfrm>
            <a:off x="251520" y="1005576"/>
            <a:ext cx="200025" cy="200025"/>
          </a:xfrm>
          <a:prstGeom prst="ellipse">
            <a:avLst/>
          </a:prstGeom>
          <a:solidFill>
            <a:srgbClr val="EC008C"/>
          </a:solidFill>
          <a:ln>
            <a:solidFill>
              <a:srgbClr val="EC008C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334D8866-A746-4452-BC0D-42B729C259A0}"/>
              </a:ext>
            </a:extLst>
          </p:cNvPr>
          <p:cNvSpPr/>
          <p:nvPr/>
        </p:nvSpPr>
        <p:spPr>
          <a:xfrm>
            <a:off x="953598" y="357504"/>
            <a:ext cx="310992" cy="310992"/>
          </a:xfrm>
          <a:prstGeom prst="ellipse">
            <a:avLst/>
          </a:prstGeom>
          <a:solidFill>
            <a:srgbClr val="172983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BAAFEFBD-3898-4ED8-983A-068D023614B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97514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6025865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5246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E5FA-BEBB-4862-9C43-D14CCB29FF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33DF61-D91B-41EB-AE86-A0DBDBFF582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BE4DDFD-0837-41FA-8FBA-D37B3BB687F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C404475-5ECB-4D36-A4F5-040C1856A096}" type="datetime2">
              <a:rPr lang="en-GB" smtClean="0"/>
              <a:pPr/>
              <a:t>Thursday, 15 January 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34EAA5-9395-4AA0-96B6-BD23C52455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31C2346-9DC9-4EFE-9CC7-58A8738833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37389061"/>
      </p:ext>
    </p:extLst>
  </p:cSld>
  <p:clrMapOvr>
    <a:masterClrMapping/>
  </p:clrMapOvr>
  <p:hf sldNum="0" hdr="0" ftr="0" dt="0"/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89FE78-1071-43B4-8733-6DC694827A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FA8F19-6500-41F2-994F-0C0B8A75580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6286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90A2526-AD2C-4E41-84D3-99AAD9431F2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629150" y="1329613"/>
            <a:ext cx="3886200" cy="1202893"/>
          </a:xfrm>
        </p:spPr>
        <p:txBody>
          <a:bodyPr/>
          <a:lstStyle>
            <a:lvl5pPr>
              <a:defRPr/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968D63-4560-490A-8851-3FAE68CDC0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09FCC7DF-DE0D-449C-BEB8-BE8530498216}" type="datetime2">
              <a:rPr lang="en-GB" smtClean="0"/>
              <a:pPr/>
              <a:t>Thursday, 15 January 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4C26FF-ADB8-40BD-B16C-6FD03308EF3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633D376-5FFC-4424-BA90-E81E512C9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5705734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795">
          <p15:clr>
            <a:srgbClr val="FBAE40"/>
          </p15:clr>
        </p15:guide>
        <p15:guide id="2" pos="3885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833BF9-E686-45D8-9BA8-4838328FAE1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1EE3A2-B671-440F-82DD-2CC2477DB0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F71593-4DB0-4D81-8C54-FC3441CD6A31}" type="datetime2">
              <a:rPr lang="en-GB" smtClean="0"/>
              <a:t>Thursday, 15 January 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D45F141-88CC-4C9B-BCBF-9411DD6B73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951594B-2BB0-4059-A8A9-F6D6693545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34734813"/>
      </p:ext>
    </p:extLst>
  </p:cSld>
  <p:clrMapOvr>
    <a:masterClrMapping/>
  </p:clrMapOvr>
  <p:hf sldNum="0" hdr="0" ftr="0" dt="0"/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BD4886D-F66E-4DA4-B896-2DD5F023B34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629841" y="4747669"/>
            <a:ext cx="3942000" cy="92333"/>
          </a:xfrm>
        </p:spPr>
        <p:txBody>
          <a:bodyPr/>
          <a:lstStyle/>
          <a:p>
            <a:fld id="{A97DCDC8-AA34-4254-B0FC-746FEFC2CCD2}" type="datetime2">
              <a:rPr lang="en-GB" smtClean="0"/>
              <a:t>Thursday, 15 January 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CCFCCD3-B48C-4476-9A97-D76934AFE9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841" y="4894009"/>
            <a:ext cx="3942159" cy="92333"/>
          </a:xfrm>
        </p:spPr>
        <p:txBody>
          <a:bodyPr/>
          <a:lstStyle/>
          <a:p>
            <a:r>
              <a:rPr lang="en-GB"/>
              <a:t>Footer Goes Here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B74CFAE-D0C0-468C-98D4-B14C14C4E6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87653048"/>
      </p:ext>
    </p:extLst>
  </p:cSld>
  <p:clrMapOvr>
    <a:masterClrMapping/>
  </p:clrMapOvr>
  <p:hf sldNum="0" hdr="0" ftr="0" dt="0"/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 with Logo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C056096-ABC1-404A-9892-9E48F602CB4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6246" y="4515967"/>
            <a:ext cx="2110878" cy="4647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228881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Two Column White">
    <p:bg bwMode="gray"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631231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4" hasCustomPrompt="1"/>
          </p:nvPr>
        </p:nvSpPr>
        <p:spPr>
          <a:xfrm>
            <a:off x="4709108" y="1321782"/>
            <a:ext cx="3803665" cy="1206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 marL="243331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2pPr>
            <a:lvl3pPr marL="488101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3pPr>
            <a:lvl4pPr marL="731430" indent="-243331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4pPr>
            <a:lvl5pPr marL="976200" indent="-244770">
              <a:buFont typeface="Arial" panose="020B0604020202020204" pitchFamily="34" charset="0"/>
              <a:buChar char="•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492507751"/>
      </p:ext>
    </p:extLst>
  </p:cSld>
  <p:clrMapOvr>
    <a:masterClrMapping/>
  </p:clrMapOvr>
  <p:hf sldNum="0" hdr="0" ftr="0" dt="0"/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 Slide">
    <p:bg>
      <p:bgPr>
        <a:blipFill dpi="0" rotWithShape="1">
          <a:blip r:embed="rId2" cstate="print">
            <a:lum/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0">
            <a:extLst>
              <a:ext uri="{FF2B5EF4-FFF2-40B4-BE49-F238E27FC236}">
                <a16:creationId xmlns:a16="http://schemas.microsoft.com/office/drawing/2014/main" id="{997D0358-D1A5-4615-A65D-68C0B35BE606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5454334" y="0"/>
            <a:ext cx="3689666" cy="5143500"/>
          </a:xfrm>
          <a:custGeom>
            <a:avLst/>
            <a:gdLst>
              <a:gd name="connsiteX0" fmla="*/ 0 w 10000"/>
              <a:gd name="connsiteY0" fmla="*/ 0 h 10000"/>
              <a:gd name="connsiteX1" fmla="*/ 10000 w 10000"/>
              <a:gd name="connsiteY1" fmla="*/ 0 h 10000"/>
              <a:gd name="connsiteX2" fmla="*/ 10000 w 10000"/>
              <a:gd name="connsiteY2" fmla="*/ 10000 h 10000"/>
              <a:gd name="connsiteX3" fmla="*/ 0 w 10000"/>
              <a:gd name="connsiteY3" fmla="*/ 10000 h 10000"/>
              <a:gd name="connsiteX4" fmla="*/ 0 w 10000"/>
              <a:gd name="connsiteY4" fmla="*/ 0 h 10000"/>
              <a:gd name="connsiteX0" fmla="*/ 2281 w 12281"/>
              <a:gd name="connsiteY0" fmla="*/ 0 h 10000"/>
              <a:gd name="connsiteX1" fmla="*/ 12281 w 12281"/>
              <a:gd name="connsiteY1" fmla="*/ 0 h 10000"/>
              <a:gd name="connsiteX2" fmla="*/ 12281 w 12281"/>
              <a:gd name="connsiteY2" fmla="*/ 10000 h 10000"/>
              <a:gd name="connsiteX3" fmla="*/ 2281 w 12281"/>
              <a:gd name="connsiteY3" fmla="*/ 10000 h 10000"/>
              <a:gd name="connsiteX4" fmla="*/ 2281 w 12281"/>
              <a:gd name="connsiteY4" fmla="*/ 0 h 10000"/>
              <a:gd name="connsiteX0" fmla="*/ 2718 w 12718"/>
              <a:gd name="connsiteY0" fmla="*/ 0 h 10000"/>
              <a:gd name="connsiteX1" fmla="*/ 12718 w 12718"/>
              <a:gd name="connsiteY1" fmla="*/ 0 h 10000"/>
              <a:gd name="connsiteX2" fmla="*/ 12718 w 12718"/>
              <a:gd name="connsiteY2" fmla="*/ 10000 h 10000"/>
              <a:gd name="connsiteX3" fmla="*/ 2718 w 12718"/>
              <a:gd name="connsiteY3" fmla="*/ 10000 h 10000"/>
              <a:gd name="connsiteX4" fmla="*/ 2718 w 12718"/>
              <a:gd name="connsiteY4" fmla="*/ 0 h 10000"/>
              <a:gd name="connsiteX0" fmla="*/ 2205 w 12205"/>
              <a:gd name="connsiteY0" fmla="*/ 0 h 10000"/>
              <a:gd name="connsiteX1" fmla="*/ 12205 w 12205"/>
              <a:gd name="connsiteY1" fmla="*/ 0 h 10000"/>
              <a:gd name="connsiteX2" fmla="*/ 12205 w 12205"/>
              <a:gd name="connsiteY2" fmla="*/ 10000 h 10000"/>
              <a:gd name="connsiteX3" fmla="*/ 2205 w 12205"/>
              <a:gd name="connsiteY3" fmla="*/ 10000 h 10000"/>
              <a:gd name="connsiteX4" fmla="*/ 2205 w 12205"/>
              <a:gd name="connsiteY4" fmla="*/ 0 h 10000"/>
              <a:gd name="connsiteX0" fmla="*/ 2264 w 12264"/>
              <a:gd name="connsiteY0" fmla="*/ 0 h 10000"/>
              <a:gd name="connsiteX1" fmla="*/ 12264 w 12264"/>
              <a:gd name="connsiteY1" fmla="*/ 0 h 10000"/>
              <a:gd name="connsiteX2" fmla="*/ 12264 w 12264"/>
              <a:gd name="connsiteY2" fmla="*/ 10000 h 10000"/>
              <a:gd name="connsiteX3" fmla="*/ 2264 w 12264"/>
              <a:gd name="connsiteY3" fmla="*/ 10000 h 10000"/>
              <a:gd name="connsiteX4" fmla="*/ 2264 w 12264"/>
              <a:gd name="connsiteY4" fmla="*/ 0 h 10000"/>
              <a:gd name="connsiteX0" fmla="*/ 2303 w 12303"/>
              <a:gd name="connsiteY0" fmla="*/ 0 h 10000"/>
              <a:gd name="connsiteX1" fmla="*/ 12303 w 12303"/>
              <a:gd name="connsiteY1" fmla="*/ 0 h 10000"/>
              <a:gd name="connsiteX2" fmla="*/ 12303 w 12303"/>
              <a:gd name="connsiteY2" fmla="*/ 10000 h 10000"/>
              <a:gd name="connsiteX3" fmla="*/ 2303 w 12303"/>
              <a:gd name="connsiteY3" fmla="*/ 10000 h 10000"/>
              <a:gd name="connsiteX4" fmla="*/ 2303 w 12303"/>
              <a:gd name="connsiteY4" fmla="*/ 0 h 10000"/>
              <a:gd name="connsiteX0" fmla="*/ 2273 w 12273"/>
              <a:gd name="connsiteY0" fmla="*/ 0 h 10000"/>
              <a:gd name="connsiteX1" fmla="*/ 12273 w 12273"/>
              <a:gd name="connsiteY1" fmla="*/ 0 h 10000"/>
              <a:gd name="connsiteX2" fmla="*/ 12273 w 12273"/>
              <a:gd name="connsiteY2" fmla="*/ 10000 h 10000"/>
              <a:gd name="connsiteX3" fmla="*/ 2273 w 12273"/>
              <a:gd name="connsiteY3" fmla="*/ 10000 h 10000"/>
              <a:gd name="connsiteX4" fmla="*/ 2273 w 12273"/>
              <a:gd name="connsiteY4" fmla="*/ 0 h 10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2273" h="10000">
                <a:moveTo>
                  <a:pt x="2273" y="0"/>
                </a:moveTo>
                <a:lnTo>
                  <a:pt x="12273" y="0"/>
                </a:lnTo>
                <a:lnTo>
                  <a:pt x="12273" y="10000"/>
                </a:lnTo>
                <a:lnTo>
                  <a:pt x="2273" y="10000"/>
                </a:lnTo>
                <a:cubicBezTo>
                  <a:pt x="215" y="7508"/>
                  <a:pt x="-1596" y="4260"/>
                  <a:pt x="2273" y="0"/>
                </a:cubicBezTo>
                <a:close/>
              </a:path>
            </a:pathLst>
          </a:custGeom>
          <a:blipFill dpi="0" rotWithShape="1">
            <a:blip r:embed="rId3" cstate="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  <a:ln w="28575">
            <a:noFill/>
          </a:ln>
        </p:spPr>
        <p:txBody>
          <a:bodyPr anchor="ctr" anchorCtr="0">
            <a:noAutofit/>
          </a:bodyPr>
          <a:lstStyle>
            <a:lvl1pPr marL="0" indent="0" algn="ctr">
              <a:buNone/>
              <a:defRPr b="1">
                <a:solidFill>
                  <a:schemeClr val="bg1"/>
                </a:solidFill>
              </a:defRPr>
            </a:lvl1pPr>
          </a:lstStyle>
          <a:p>
            <a:r>
              <a:rPr lang="en-GB"/>
              <a:t>Click icon to add picture</a:t>
            </a:r>
            <a:endParaRPr lang="en-GB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13936653-3080-447B-B85A-CA4AC2D8E17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62" y="1383618"/>
            <a:ext cx="4104000" cy="1566174"/>
          </a:xfrm>
          <a:prstGeom prst="rect">
            <a:avLst/>
          </a:prstGeom>
          <a:ln>
            <a:noFill/>
          </a:ln>
        </p:spPr>
        <p:txBody>
          <a:bodyPr bIns="0" anchor="ctr" anchorCtr="0">
            <a:noAutofit/>
          </a:bodyPr>
          <a:lstStyle>
            <a:lvl1pPr algn="ctr">
              <a:lnSpc>
                <a:spcPct val="70000"/>
              </a:lnSpc>
              <a:defRPr sz="4500">
                <a:solidFill>
                  <a:schemeClr val="bg1"/>
                </a:solidFill>
              </a:defRPr>
            </a:lvl1pPr>
          </a:lstStyle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B083680-74B4-4455-AFC5-36F2C960F739}"/>
              </a:ext>
            </a:extLst>
          </p:cNvPr>
          <p:cNvSpPr/>
          <p:nvPr/>
        </p:nvSpPr>
        <p:spPr>
          <a:xfrm>
            <a:off x="251520" y="3776244"/>
            <a:ext cx="1836204" cy="1279782"/>
          </a:xfrm>
          <a:prstGeom prst="rect">
            <a:avLst/>
          </a:prstGeom>
          <a:solidFill>
            <a:srgbClr val="2E008B"/>
          </a:solidFill>
          <a:ln>
            <a:solidFill>
              <a:srgbClr val="2E008B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sz="1050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44253DF-1ABC-4174-A75F-C3973F2D576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3508" y="4482269"/>
            <a:ext cx="2214246" cy="4883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45538"/>
      </p:ext>
    </p:extLst>
  </p:cSld>
  <p:clrMapOvr>
    <a:masterClrMapping/>
  </p:clrMapOvr>
  <p:hf sldNum="0" hdr="0" ftr="0" dt="0"/>
  <p:extLst>
    <p:ext uri="{DCECCB84-F9BA-43D5-87BE-67443E8EF086}">
      <p15:sldGuideLst xmlns:p15="http://schemas.microsoft.com/office/powerpoint/2012/main">
        <p15:guide id="1" pos="3840">
          <p15:clr>
            <a:srgbClr val="FBAE40"/>
          </p15:clr>
        </p15:guide>
        <p15:guide id="2" pos="2116">
          <p15:clr>
            <a:srgbClr val="FBAE40"/>
          </p15:clr>
        </p15:guide>
        <p15:guide id="3" pos="5564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6225EF75-4D52-440A-A177-AD7D86E621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303498"/>
            <a:ext cx="7886700" cy="461665"/>
          </a:xfrm>
          <a:prstGeom prst="rect">
            <a:avLst/>
          </a:prstGeom>
        </p:spPr>
        <p:txBody>
          <a:bodyPr vert="horz" lIns="0" tIns="0" rIns="0" bIns="0" rtlCol="0" anchor="t" anchorCtr="0">
            <a:spAutoFit/>
          </a:bodyPr>
          <a:lstStyle/>
          <a:p>
            <a:r>
              <a:rPr lang="en-GB"/>
              <a:t>Click to edit Master title style</a:t>
            </a:r>
            <a:endParaRPr lang="en-GB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0E384-7329-4F48-9513-487423506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8650" y="1329612"/>
            <a:ext cx="7886700" cy="1206100"/>
          </a:xfrm>
          <a:prstGeom prst="rect">
            <a:avLst/>
          </a:prstGeom>
        </p:spPr>
        <p:txBody>
          <a:bodyPr vert="horz" lIns="0" tIns="0" rIns="0" bIns="0" rtlCol="0">
            <a:sp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GB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02CADF-0F3F-4A6D-8357-3E5A3579608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29841" y="4747669"/>
            <a:ext cx="3942000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fld id="{7BFF6A76-928D-4240-A973-B16EE178E0D9}" type="datetime2">
              <a:rPr lang="en-GB" smtClean="0"/>
              <a:pPr/>
              <a:t>Thursday, 15 January 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9B8B8C9-4F22-4557-AE82-C88DC9015F8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29841" y="4894009"/>
            <a:ext cx="7884000" cy="92333"/>
          </a:xfrm>
          <a:prstGeom prst="rect">
            <a:avLst/>
          </a:prstGeom>
        </p:spPr>
        <p:txBody>
          <a:bodyPr vert="horz" wrap="square" lIns="0" tIns="0" rIns="0" bIns="0" rtlCol="0" anchor="t" anchorCtr="0">
            <a:spAutoFit/>
          </a:bodyPr>
          <a:lstStyle>
            <a:lvl1pPr algn="l">
              <a:defRPr sz="600">
                <a:solidFill>
                  <a:schemeClr val="tx2"/>
                </a:solidFill>
              </a:defRPr>
            </a:lvl1pPr>
          </a:lstStyle>
          <a:p>
            <a:r>
              <a:rPr lang="en-GB"/>
              <a:t>Footer Goes Here</a:t>
            </a:r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B240DCD-F5B7-4664-87EE-F1FFDD430D8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0" y="4747669"/>
            <a:ext cx="575556" cy="9233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600">
                <a:solidFill>
                  <a:schemeClr val="tx2"/>
                </a:solidFill>
              </a:defRPr>
            </a:lvl1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377581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4" r:id="rId1"/>
    <p:sldLayoutId id="2147483665" r:id="rId2"/>
    <p:sldLayoutId id="2147483666" r:id="rId3"/>
    <p:sldLayoutId id="2147483667" r:id="rId4"/>
    <p:sldLayoutId id="2147483668" r:id="rId5"/>
    <p:sldLayoutId id="2147483669" r:id="rId6"/>
    <p:sldLayoutId id="2147483670" r:id="rId7"/>
    <p:sldLayoutId id="2147483671" r:id="rId8"/>
    <p:sldLayoutId id="2147483672" r:id="rId9"/>
    <p:sldLayoutId id="2147483673" r:id="rId10"/>
    <p:sldLayoutId id="2147483674" r:id="rId11"/>
    <p:sldLayoutId id="2147483675" r:id="rId12"/>
    <p:sldLayoutId id="2147483676" r:id="rId13"/>
    <p:sldLayoutId id="2147483677" r:id="rId14"/>
    <p:sldLayoutId id="2147483678" r:id="rId15"/>
    <p:sldLayoutId id="2147483679" r:id="rId16"/>
    <p:sldLayoutId id="2147483680" r:id="rId17"/>
    <p:sldLayoutId id="2147483681" r:id="rId18"/>
    <p:sldLayoutId id="2147483682" r:id="rId19"/>
    <p:sldLayoutId id="2147483683" r:id="rId20"/>
  </p:sldLayoutIdLst>
  <p:hf sldNum="0" hdr="0" ftr="0" dt="0"/>
  <p:txStyles>
    <p:titleStyle>
      <a:lvl1pPr algn="l" defTabSz="685800" rtl="0" eaLnBrk="1" latinLnBrk="0" hangingPunct="1">
        <a:lnSpc>
          <a:spcPct val="100000"/>
        </a:lnSpc>
        <a:spcBef>
          <a:spcPct val="0"/>
        </a:spcBef>
        <a:buNone/>
        <a:defRPr sz="3000" kern="1200" cap="all" baseline="0">
          <a:solidFill>
            <a:schemeClr val="accent3"/>
          </a:solidFill>
          <a:latin typeface="+mj-lt"/>
          <a:ea typeface="+mj-ea"/>
          <a:cs typeface="+mj-cs"/>
        </a:defRPr>
      </a:lvl1pPr>
    </p:titleStyle>
    <p:bodyStyle>
      <a:lvl1pPr marL="0" indent="0" algn="l" defTabSz="685800" rtl="0" eaLnBrk="1" latinLnBrk="0" hangingPunct="1">
        <a:lnSpc>
          <a:spcPct val="100000"/>
        </a:lnSpc>
        <a:spcBef>
          <a:spcPts val="450"/>
        </a:spcBef>
        <a:buFont typeface="Arial" panose="020B0604020202020204" pitchFamily="34" charset="0"/>
        <a:buNone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269081" indent="-269081" algn="l" defTabSz="685800" rtl="0" eaLnBrk="1" latinLnBrk="0" hangingPunct="1">
        <a:lnSpc>
          <a:spcPct val="100000"/>
        </a:lnSpc>
        <a:spcBef>
          <a:spcPts val="45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473869" indent="-204788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742950" indent="-269081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‒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940594" indent="-197644" algn="l" defTabSz="685800" rtl="0" eaLnBrk="1" latinLnBrk="0" hangingPunct="1">
        <a:lnSpc>
          <a:spcPct val="100000"/>
        </a:lnSpc>
        <a:spcBef>
          <a:spcPts val="0"/>
        </a:spcBef>
        <a:spcAft>
          <a:spcPts val="225"/>
        </a:spcAft>
        <a:buClr>
          <a:schemeClr val="bg2"/>
        </a:buClr>
        <a:buFont typeface="Arial" panose="020B0604020202020204" pitchFamily="34" charset="0"/>
        <a:buChar char="•"/>
        <a:defRPr sz="10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529">
          <p15:clr>
            <a:srgbClr val="F26B43"/>
          </p15:clr>
        </p15:guide>
        <p15:guide id="2" pos="7151">
          <p15:clr>
            <a:srgbClr val="F26B43"/>
          </p15:clr>
        </p15:guide>
        <p15:guide id="3" pos="3840">
          <p15:clr>
            <a:srgbClr val="F26B43"/>
          </p15:clr>
        </p15:guide>
        <p15:guide id="4" orient="horz" pos="1117">
          <p15:clr>
            <a:srgbClr val="F26B43"/>
          </p15:clr>
        </p15:guide>
        <p15:guide id="5" orient="horz" pos="4065">
          <p15:clr>
            <a:srgbClr val="F26B43"/>
          </p15:clr>
        </p15:guide>
        <p15:guide id="7" orient="horz" pos="411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6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6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6.xml"/><Relationship Id="rId4" Type="http://schemas.openxmlformats.org/officeDocument/2006/relationships/image" Target="../media/image2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6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6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6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6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6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hbctraining.github.io/DGE_workshop_salmon_online/lessons/08a_DGE_LRT_results.html" TargetMode="External"/><Relationship Id="rId2" Type="http://schemas.openxmlformats.org/officeDocument/2006/relationships/hyperlink" Target="https://hbctraining.github.io/DGE_workshop_salmon/lessons/08_DGE_LRT.html" TargetMode="External"/><Relationship Id="rId1" Type="http://schemas.openxmlformats.org/officeDocument/2006/relationships/slideLayout" Target="../slideLayouts/slideLayout14.xml"/><Relationship Id="rId4" Type="http://schemas.openxmlformats.org/officeDocument/2006/relationships/image" Target="../media/image26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6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cap="none" dirty="0">
                <a:latin typeface="Avenir Book" panose="02000503020000020003" pitchFamily="2" charset="0"/>
              </a:rPr>
              <a:t>Models And Contrasts In</a:t>
            </a:r>
            <a:br>
              <a:rPr lang="en-GB" cap="none" dirty="0">
                <a:latin typeface="Avenir Book" panose="02000503020000020003" pitchFamily="2" charset="0"/>
              </a:rPr>
            </a:br>
            <a:r>
              <a:rPr lang="en-GB" cap="none" dirty="0">
                <a:latin typeface="Avenir Book" panose="02000503020000020003" pitchFamily="2" charset="0"/>
                <a:ea typeface="Courier New"/>
                <a:cs typeface="Courier New"/>
                <a:sym typeface="Courier New"/>
              </a:rPr>
              <a:t>R And Deseq2</a:t>
            </a:r>
          </a:p>
        </p:txBody>
      </p:sp>
      <p:pic>
        <p:nvPicPr>
          <p:cNvPr id="82" name="Google Shape;82;p1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1600" y="4237265"/>
            <a:ext cx="1506571" cy="61149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" name="Google Shape;90;p17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Outline</a:t>
            </a:r>
            <a:endParaRPr dirty="0"/>
          </a:p>
        </p:txBody>
      </p:sp>
      <p:sp>
        <p:nvSpPr>
          <p:cNvPr id="91" name="Google Shape;91;p17"/>
          <p:cNvSpPr txBox="1"/>
          <p:nvPr/>
        </p:nvSpPr>
        <p:spPr>
          <a:xfrm>
            <a:off x="466625" y="741650"/>
            <a:ext cx="8208300" cy="412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interpret linear models coefficients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categorical variables &amp; model matrix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specify models in R using the “formula syntax”  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to interpret the results of different model designs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One factor, 3 levels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Two factors, additive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○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Two factors, interaction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30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600"/>
              <a:buFont typeface="Cabin"/>
              <a:buChar char="●"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How </a:t>
            </a:r>
            <a:r>
              <a:rPr lang="en-GB" sz="1600" i="1" dirty="0">
                <a:latin typeface="Cabin"/>
                <a:ea typeface="Cabin"/>
                <a:cs typeface="Cabin"/>
                <a:sym typeface="Cabin"/>
              </a:rPr>
              <a:t>DESeq2</a:t>
            </a: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 reports its results and how to interpret them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92" name="Google Shape;92;p17"/>
          <p:cNvPicPr preferRelativeResize="0"/>
          <p:nvPr/>
        </p:nvPicPr>
        <p:blipFill rotWithShape="1">
          <a:blip r:embed="rId3">
            <a:alphaModFix/>
          </a:blip>
          <a:srcRect l="16422" b="17115"/>
          <a:stretch/>
        </p:blipFill>
        <p:spPr>
          <a:xfrm>
            <a:off x="5112326" y="496500"/>
            <a:ext cx="1390200" cy="12617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3" name="Google Shape;93;p17"/>
          <p:cNvPicPr preferRelativeResize="0"/>
          <p:nvPr/>
        </p:nvPicPr>
        <p:blipFill rotWithShape="1">
          <a:blip r:embed="rId4">
            <a:alphaModFix/>
          </a:blip>
          <a:srcRect l="15874" b="16043"/>
          <a:stretch/>
        </p:blipFill>
        <p:spPr>
          <a:xfrm>
            <a:off x="4331600" y="3034650"/>
            <a:ext cx="1320350" cy="12043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4" name="Google Shape;94;p17"/>
          <p:cNvPicPr preferRelativeResize="0"/>
          <p:nvPr/>
        </p:nvPicPr>
        <p:blipFill rotWithShape="1">
          <a:blip r:embed="rId5">
            <a:alphaModFix/>
          </a:blip>
          <a:srcRect l="9681" r="33599" b="18400"/>
          <a:stretch/>
        </p:blipFill>
        <p:spPr>
          <a:xfrm>
            <a:off x="6145600" y="3034650"/>
            <a:ext cx="1802525" cy="126170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17"/>
          <p:cNvSpPr txBox="1"/>
          <p:nvPr/>
        </p:nvSpPr>
        <p:spPr>
          <a:xfrm>
            <a:off x="5858575" y="2064450"/>
            <a:ext cx="975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solidFill>
                  <a:schemeClr val="dk1"/>
                </a:solidFill>
                <a:highlight>
                  <a:srgbClr val="EFEFEF"/>
                </a:highlight>
                <a:latin typeface="Courier New"/>
                <a:ea typeface="Courier New"/>
                <a:cs typeface="Courier New"/>
                <a:sym typeface="Courier New"/>
              </a:rPr>
              <a:t>y ~ x</a:t>
            </a:r>
            <a:endParaRPr>
              <a:highlight>
                <a:srgbClr val="EFEFEF"/>
              </a:highlight>
              <a:latin typeface="Courier New"/>
              <a:ea typeface="Courier New"/>
              <a:cs typeface="Courier New"/>
              <a:sym typeface="Courier New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18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Linear Model</a:t>
            </a:r>
            <a:endParaRPr dirty="0"/>
          </a:p>
        </p:txBody>
      </p:sp>
      <p:sp>
        <p:nvSpPr>
          <p:cNvPr id="101" name="Google Shape;101;p18"/>
          <p:cNvSpPr txBox="1"/>
          <p:nvPr/>
        </p:nvSpPr>
        <p:spPr>
          <a:xfrm>
            <a:off x="922400" y="694050"/>
            <a:ext cx="3846000" cy="1262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A model is a simplified representation of how we think different variables relate to each other.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Linear models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are the most commonly used in 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statistical inference.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2" name="Google Shape;102;p18"/>
          <p:cNvSpPr txBox="1"/>
          <p:nvPr/>
        </p:nvSpPr>
        <p:spPr>
          <a:xfrm>
            <a:off x="2399665" y="3223696"/>
            <a:ext cx="1196000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03" name="Google Shape;103;p18"/>
          <p:cNvSpPr txBox="1"/>
          <p:nvPr/>
        </p:nvSpPr>
        <p:spPr>
          <a:xfrm>
            <a:off x="3206925" y="3223696"/>
            <a:ext cx="100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Slope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104" name="Google Shape;104;p18"/>
          <p:cNvCxnSpPr>
            <a:cxnSpLocks/>
            <a:stCxn id="102" idx="0"/>
          </p:cNvCxnSpPr>
          <p:nvPr/>
        </p:nvCxnSpPr>
        <p:spPr>
          <a:xfrm flipV="1">
            <a:off x="2997665" y="3026296"/>
            <a:ext cx="54650" cy="1974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cxnSp>
        <p:nvCxnSpPr>
          <p:cNvPr id="105" name="Google Shape;105;p18"/>
          <p:cNvCxnSpPr>
            <a:stCxn id="103" idx="0"/>
          </p:cNvCxnSpPr>
          <p:nvPr/>
        </p:nvCxnSpPr>
        <p:spPr>
          <a:xfrm rot="10800000">
            <a:off x="3531375" y="3018496"/>
            <a:ext cx="175800" cy="20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pic>
        <p:nvPicPr>
          <p:cNvPr id="106" name="Google Shape;106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014525" y="1093300"/>
            <a:ext cx="2739825" cy="2038725"/>
          </a:xfrm>
          <a:prstGeom prst="rect">
            <a:avLst/>
          </a:prstGeom>
          <a:noFill/>
          <a:ln>
            <a:noFill/>
          </a:ln>
        </p:spPr>
      </p:pic>
      <p:sp>
        <p:nvSpPr>
          <p:cNvPr id="107" name="Google Shape;107;p18"/>
          <p:cNvSpPr txBox="1"/>
          <p:nvPr/>
        </p:nvSpPr>
        <p:spPr>
          <a:xfrm>
            <a:off x="2119274" y="2556861"/>
            <a:ext cx="3000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45720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 =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 + 𝞊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10" name="Google Shape;105;p18">
            <a:extLst>
              <a:ext uri="{FF2B5EF4-FFF2-40B4-BE49-F238E27FC236}">
                <a16:creationId xmlns:a16="http://schemas.microsoft.com/office/drawing/2014/main" id="{9DE9D344-5F07-B74C-BC4F-952ED9ED3E82}"/>
              </a:ext>
            </a:extLst>
          </p:cNvPr>
          <p:cNvCxnSpPr/>
          <p:nvPr/>
        </p:nvCxnSpPr>
        <p:spPr>
          <a:xfrm rot="10800000">
            <a:off x="4031625" y="2929544"/>
            <a:ext cx="175800" cy="20520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1" name="Google Shape;103;p18">
            <a:extLst>
              <a:ext uri="{FF2B5EF4-FFF2-40B4-BE49-F238E27FC236}">
                <a16:creationId xmlns:a16="http://schemas.microsoft.com/office/drawing/2014/main" id="{25A6E159-1B1E-0F4C-B4F8-2C3D6AC094F3}"/>
              </a:ext>
            </a:extLst>
          </p:cNvPr>
          <p:cNvSpPr txBox="1"/>
          <p:nvPr/>
        </p:nvSpPr>
        <p:spPr>
          <a:xfrm>
            <a:off x="3869400" y="3223074"/>
            <a:ext cx="10005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Errors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E25CB6AF-1506-AB47-9282-ECF3975E3C0D}"/>
              </a:ext>
            </a:extLst>
          </p:cNvPr>
          <p:cNvSpPr txBox="1"/>
          <p:nvPr/>
        </p:nvSpPr>
        <p:spPr>
          <a:xfrm>
            <a:off x="922400" y="3901473"/>
            <a:ext cx="217880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X = Independent variable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5CE22043-0651-E643-89F4-CCFEB2BDAF16}"/>
              </a:ext>
            </a:extLst>
          </p:cNvPr>
          <p:cNvSpPr txBox="1"/>
          <p:nvPr/>
        </p:nvSpPr>
        <p:spPr>
          <a:xfrm>
            <a:off x="922400" y="4202771"/>
            <a:ext cx="20601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Y = Dependent variable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19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3" name="Google Shape;113;p19"/>
          <p:cNvSpPr txBox="1"/>
          <p:nvPr/>
        </p:nvSpPr>
        <p:spPr>
          <a:xfrm>
            <a:off x="426600" y="96315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114" name="Google Shape;114;p1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287189" y="1626402"/>
            <a:ext cx="3734469" cy="305711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0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0" name="Google Shape;120;p20"/>
          <p:cNvSpPr txBox="1"/>
          <p:nvPr/>
        </p:nvSpPr>
        <p:spPr>
          <a:xfrm>
            <a:off x="461400" y="10676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21" name="Google Shape;121;p20"/>
          <p:cNvSpPr txBox="1"/>
          <p:nvPr/>
        </p:nvSpPr>
        <p:spPr>
          <a:xfrm>
            <a:off x="6047227" y="893961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22" name="Google Shape;122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54764" y="1799070"/>
            <a:ext cx="3888475" cy="3344429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20"/>
          <p:cNvSpPr txBox="1"/>
          <p:nvPr/>
        </p:nvSpPr>
        <p:spPr>
          <a:xfrm>
            <a:off x="3077968" y="3714878"/>
            <a:ext cx="68144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dirty="0"/>
          </a:p>
        </p:txBody>
      </p:sp>
      <p:cxnSp>
        <p:nvCxnSpPr>
          <p:cNvPr id="124" name="Google Shape;124;p20"/>
          <p:cNvCxnSpPr>
            <a:cxnSpLocks/>
          </p:cNvCxnSpPr>
          <p:nvPr/>
        </p:nvCxnSpPr>
        <p:spPr>
          <a:xfrm>
            <a:off x="3424761" y="3698081"/>
            <a:ext cx="135074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25" name="Google Shape;125;p20"/>
          <p:cNvCxnSpPr>
            <a:cxnSpLocks/>
          </p:cNvCxnSpPr>
          <p:nvPr/>
        </p:nvCxnSpPr>
        <p:spPr>
          <a:xfrm>
            <a:off x="4895719" y="2906454"/>
            <a:ext cx="0" cy="791627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26" name="Google Shape;126;p20"/>
          <p:cNvSpPr txBox="1"/>
          <p:nvPr/>
        </p:nvSpPr>
        <p:spPr>
          <a:xfrm>
            <a:off x="4954572" y="2980801"/>
            <a:ext cx="681442" cy="5031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21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Linear Models in R |</a:t>
            </a:r>
            <a:r>
              <a:rPr lang="en-GB"/>
              <a:t> Categorical Variables</a:t>
            </a:r>
            <a:endParaRPr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2" name="Google Shape;132;p21"/>
          <p:cNvSpPr txBox="1"/>
          <p:nvPr/>
        </p:nvSpPr>
        <p:spPr>
          <a:xfrm>
            <a:off x="426600" y="695100"/>
            <a:ext cx="22860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      </a:t>
            </a:r>
            <a:r>
              <a:rPr lang="en-GB" sz="1200" b="1" dirty="0" err="1">
                <a:solidFill>
                  <a:srgbClr val="A64D79"/>
                </a:solidFill>
                <a:latin typeface="Courier New"/>
                <a:ea typeface="Courier New"/>
                <a:cs typeface="Courier New"/>
                <a:sym typeface="Courier New"/>
              </a:rPr>
              <a:t>xB</a:t>
            </a:r>
            <a:endParaRPr sz="1200" b="1" dirty="0">
              <a:solidFill>
                <a:srgbClr val="A64D79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33" name="Google Shape;133;p21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34" name="Google Shape;134;p21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102963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35" name="Google Shape;135;p21"/>
          <p:cNvSpPr txBox="1"/>
          <p:nvPr/>
        </p:nvSpPr>
        <p:spPr>
          <a:xfrm>
            <a:off x="3458350" y="2001711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 dirty="0"/>
          </a:p>
        </p:txBody>
      </p:sp>
      <p:cxnSp>
        <p:nvCxnSpPr>
          <p:cNvPr id="136" name="Google Shape;136;p21"/>
          <p:cNvCxnSpPr/>
          <p:nvPr/>
        </p:nvCxnSpPr>
        <p:spPr>
          <a:xfrm>
            <a:off x="3864700" y="2148063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37" name="Google Shape;137;p21"/>
          <p:cNvCxnSpPr/>
          <p:nvPr/>
        </p:nvCxnSpPr>
        <p:spPr>
          <a:xfrm rot="10800000">
            <a:off x="4728450" y="1580812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38" name="Google Shape;138;p21"/>
          <p:cNvSpPr txBox="1"/>
          <p:nvPr/>
        </p:nvSpPr>
        <p:spPr>
          <a:xfrm>
            <a:off x="4433450" y="163383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139" name="Google Shape;139;p21"/>
          <p:cNvSpPr txBox="1"/>
          <p:nvPr/>
        </p:nvSpPr>
        <p:spPr>
          <a:xfrm>
            <a:off x="2843624" y="3103450"/>
            <a:ext cx="3902863" cy="2262127"/>
          </a:xfrm>
          <a:prstGeom prst="rect">
            <a:avLst/>
          </a:prstGeom>
          <a:noFill/>
          <a:ln w="9525" cap="flat" cmpd="sng">
            <a:noFill/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= 5; 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3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Y = 5 + 3 * X</a:t>
            </a:r>
            <a:r>
              <a:rPr lang="en-GB" baseline="-25000" dirty="0">
                <a:latin typeface="Courier New"/>
                <a:ea typeface="Courier New"/>
                <a:cs typeface="Courier New"/>
                <a:sym typeface="Courier New"/>
              </a:rPr>
              <a:t>B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0" name="Google Shape;140;p21"/>
          <p:cNvSpPr txBox="1"/>
          <p:nvPr/>
        </p:nvSpPr>
        <p:spPr>
          <a:xfrm>
            <a:off x="2782800" y="2775149"/>
            <a:ext cx="11724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Example:</a:t>
            </a:r>
            <a:endParaRPr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1" name="Google Shape;141;p21"/>
          <p:cNvSpPr txBox="1"/>
          <p:nvPr/>
        </p:nvSpPr>
        <p:spPr>
          <a:xfrm>
            <a:off x="465501" y="2565900"/>
            <a:ext cx="17979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Indicator / Dummy variable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42" name="Google Shape;142;p21"/>
          <p:cNvSpPr/>
          <p:nvPr/>
        </p:nvSpPr>
        <p:spPr>
          <a:xfrm>
            <a:off x="2016750" y="2352875"/>
            <a:ext cx="373025" cy="398675"/>
          </a:xfrm>
          <a:custGeom>
            <a:avLst/>
            <a:gdLst/>
            <a:ahLst/>
            <a:cxnLst/>
            <a:rect l="l" t="t" r="r" b="b"/>
            <a:pathLst>
              <a:path w="14921" h="15947" extrusionOk="0">
                <a:moveTo>
                  <a:pt x="0" y="15947"/>
                </a:moveTo>
                <a:cubicBezTo>
                  <a:pt x="2241" y="14592"/>
                  <a:pt x="10996" y="10475"/>
                  <a:pt x="13445" y="7817"/>
                </a:cubicBezTo>
                <a:cubicBezTo>
                  <a:pt x="15894" y="5159"/>
                  <a:pt x="14488" y="1303"/>
                  <a:pt x="14696" y="0"/>
                </a:cubicBezTo>
              </a:path>
            </a:pathLst>
          </a:custGeom>
          <a:noFill/>
          <a:ln w="952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  <p:txBody>
          <a:bodyPr/>
          <a:lstStyle/>
          <a:p>
            <a:endParaRPr lang="en-US"/>
          </a:p>
        </p:txBody>
      </p:sp>
      <p:sp>
        <p:nvSpPr>
          <p:cNvPr id="143" name="Google Shape;143;p21"/>
          <p:cNvSpPr txBox="1"/>
          <p:nvPr/>
        </p:nvSpPr>
        <p:spPr>
          <a:xfrm>
            <a:off x="2939775" y="4070500"/>
            <a:ext cx="18996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Y = 5 + 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4" name="Google Shape;144;p21"/>
          <p:cNvSpPr txBox="1"/>
          <p:nvPr/>
        </p:nvSpPr>
        <p:spPr>
          <a:xfrm>
            <a:off x="4088482" y="3882909"/>
            <a:ext cx="2900100" cy="723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3 * </a:t>
            </a:r>
            <a:r>
              <a:rPr lang="en-GB" b="1" dirty="0">
                <a:solidFill>
                  <a:srgbClr val="741B47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5   if “A”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3 * </a:t>
            </a:r>
            <a:r>
              <a:rPr lang="en-GB" b="1" dirty="0">
                <a:solidFill>
                  <a:srgbClr val="741B47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r>
              <a:rPr lang="en-GB" dirty="0">
                <a:latin typeface="Courier New"/>
                <a:ea typeface="Courier New"/>
                <a:cs typeface="Courier New"/>
                <a:sym typeface="Courier New"/>
              </a:rPr>
              <a:t> = 8   if “B”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45" name="Google Shape;145;p21"/>
          <p:cNvSpPr/>
          <p:nvPr/>
        </p:nvSpPr>
        <p:spPr>
          <a:xfrm>
            <a:off x="4034905" y="4024309"/>
            <a:ext cx="117300" cy="6822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" name="Google Shape;145;p21">
            <a:extLst>
              <a:ext uri="{FF2B5EF4-FFF2-40B4-BE49-F238E27FC236}">
                <a16:creationId xmlns:a16="http://schemas.microsoft.com/office/drawing/2014/main" id="{380AA38C-3BFB-6292-2333-42F72A2B4374}"/>
              </a:ext>
            </a:extLst>
          </p:cNvPr>
          <p:cNvSpPr/>
          <p:nvPr/>
        </p:nvSpPr>
        <p:spPr>
          <a:xfrm rot="10800000">
            <a:off x="5545572" y="4024309"/>
            <a:ext cx="117300" cy="682200"/>
          </a:xfrm>
          <a:prstGeom prst="leftBrace">
            <a:avLst>
              <a:gd name="adj1" fmla="val 50000"/>
              <a:gd name="adj2" fmla="val 50000"/>
            </a:avLst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94013" y="2535728"/>
            <a:ext cx="2361979" cy="18735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Google Shape;151;p22"/>
          <p:cNvSpPr txBox="1"/>
          <p:nvPr/>
        </p:nvSpPr>
        <p:spPr>
          <a:xfrm>
            <a:off x="631638" y="3200328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52" name="Google Shape;152;p22"/>
          <p:cNvCxnSpPr/>
          <p:nvPr/>
        </p:nvCxnSpPr>
        <p:spPr>
          <a:xfrm>
            <a:off x="1024322" y="3380128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53" name="Google Shape;153;p22"/>
          <p:cNvCxnSpPr/>
          <p:nvPr/>
        </p:nvCxnSpPr>
        <p:spPr>
          <a:xfrm rot="10800000">
            <a:off x="1901738" y="3270928"/>
            <a:ext cx="0" cy="1092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54" name="Google Shape;154;p22"/>
          <p:cNvSpPr txBox="1"/>
          <p:nvPr/>
        </p:nvSpPr>
        <p:spPr>
          <a:xfrm>
            <a:off x="1608621" y="2948772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 dirty="0"/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/>
          </p:nvPr>
        </p:nvSpPr>
        <p:spPr>
          <a:xfrm>
            <a:off x="628649" y="191988"/>
            <a:ext cx="8090239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Null Hypothesis Testing</a:t>
            </a:r>
            <a:endParaRPr dirty="0"/>
          </a:p>
        </p:txBody>
      </p:sp>
      <p:sp>
        <p:nvSpPr>
          <p:cNvPr id="156" name="Google Shape;156;p22"/>
          <p:cNvSpPr txBox="1"/>
          <p:nvPr/>
        </p:nvSpPr>
        <p:spPr>
          <a:xfrm>
            <a:off x="233850" y="868200"/>
            <a:ext cx="2497500" cy="104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b="1">
                <a:latin typeface="Cabin"/>
                <a:ea typeface="Cabin"/>
                <a:cs typeface="Cabin"/>
                <a:sym typeface="Cabin"/>
              </a:rPr>
              <a:t>How compatible is my data with a “boring” hypothesis?</a:t>
            </a:r>
            <a:endParaRPr b="1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b="1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Null hypothesis:  </a:t>
            </a: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57" name="Google Shape;157;p22"/>
          <p:cNvSpPr txBox="1"/>
          <p:nvPr/>
        </p:nvSpPr>
        <p:spPr>
          <a:xfrm>
            <a:off x="3048575" y="2519825"/>
            <a:ext cx="4932300" cy="1887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Test statistic:   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/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σ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𝛽1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(our estimate divided by the uncertainty in that estimate)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P-value calculated from the test statistic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Cabin"/>
              <a:buChar char="●"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Low p-value indicates that the data are not very compatible with the null hypothesis.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158" name="Google Shape;158;p22"/>
          <p:cNvSpPr txBox="1"/>
          <p:nvPr/>
        </p:nvSpPr>
        <p:spPr>
          <a:xfrm>
            <a:off x="6181043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400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sz="1400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𝞊</a:t>
            </a:r>
            <a:endParaRPr sz="1400"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sz="1400"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sz="14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59" name="Google Shape;159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60" name="Google Shape;160;p22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61" name="Google Shape;161;p22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62" name="Google Shape;162;p22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63" name="Google Shape;163;p22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C28B7B-4C75-01F5-890A-9AEDF025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Thought Experiment</a:t>
            </a:r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EA94A415-65A3-DA29-5CA8-2DCD4773DC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45471" y="989607"/>
            <a:ext cx="4426527" cy="33198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206A3DC-C97C-418F-76FA-73D27F72A0D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27081" y="856598"/>
            <a:ext cx="4766312" cy="3580467"/>
          </a:xfrm>
        </p:spPr>
        <p:txBody>
          <a:bodyPr/>
          <a:lstStyle/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Write a model compatible with the plot above, which shows the effect of a drug on gene expression.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Biologically speaking, what do each of the </a:t>
            </a:r>
            <a:r>
              <a:rPr lang="en-GB" b="0" i="0" u="none" strike="noStrike" dirty="0">
                <a:solidFill>
                  <a:srgbClr val="000000"/>
                </a:solidFill>
                <a:effectLst/>
              </a:rPr>
              <a:t>𝛽</a:t>
            </a:r>
            <a:r>
              <a:rPr lang="el-GR" b="0" i="0" dirty="0">
                <a:solidFill>
                  <a:srgbClr val="000000"/>
                </a:solidFill>
                <a:effectLst/>
              </a:rPr>
              <a:t> </a:t>
            </a:r>
            <a:r>
              <a:rPr lang="en-GB" b="0" i="0" dirty="0">
                <a:solidFill>
                  <a:srgbClr val="000000"/>
                </a:solidFill>
                <a:effectLst/>
              </a:rPr>
              <a:t>coefficients in your model mean?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What is the null hypothesis for testing for an effect of the treatment on the gene’s expression?</a:t>
            </a:r>
          </a:p>
          <a:p>
            <a:pPr marL="285750" indent="-285750" algn="l">
              <a:buFont typeface="Arial" panose="020B0604020202020204" pitchFamily="34" charset="0"/>
              <a:buChar char="•"/>
            </a:pPr>
            <a:r>
              <a:rPr lang="en-GB" b="0" i="0" dirty="0">
                <a:solidFill>
                  <a:srgbClr val="000000"/>
                </a:solidFill>
                <a:effectLst/>
              </a:rPr>
              <a:t>Write the values for the indicator variable for each sample (the numbers in the points are sample ID).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24"/>
          <p:cNvSpPr txBox="1">
            <a:spLocks noGrp="1"/>
          </p:cNvSpPr>
          <p:nvPr>
            <p:ph type="title"/>
          </p:nvPr>
        </p:nvSpPr>
        <p:spPr>
          <a:xfrm>
            <a:off x="628650" y="136233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</p:txBody>
      </p:sp>
      <p:sp>
        <p:nvSpPr>
          <p:cNvPr id="188" name="Google Shape;188;p24"/>
          <p:cNvSpPr txBox="1"/>
          <p:nvPr/>
        </p:nvSpPr>
        <p:spPr>
          <a:xfrm>
            <a:off x="426600" y="6951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189" name="Google Shape;189;p24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average of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difference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190" name="Google Shape;19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191" name="Google Shape;191;p24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192" name="Google Shape;192;p24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193" name="Google Shape;193;p24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194" name="Google Shape;194;p24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195" name="Google Shape;195;p24"/>
          <p:cNvSpPr txBox="1"/>
          <p:nvPr/>
        </p:nvSpPr>
        <p:spPr>
          <a:xfrm>
            <a:off x="410525" y="2776950"/>
            <a:ext cx="6542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137160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outcome </a:t>
            </a: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~</a:t>
            </a:r>
            <a:r>
              <a:rPr lang="en-GB" sz="1600">
                <a:latin typeface="Cabin"/>
                <a:ea typeface="Cabin"/>
                <a:cs typeface="Cabin"/>
                <a:sym typeface="Cabin"/>
              </a:rPr>
              <a:t> predictors</a:t>
            </a:r>
            <a:endParaRPr sz="160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25"/>
          <p:cNvSpPr txBox="1">
            <a:spLocks noGrp="1"/>
          </p:cNvSpPr>
          <p:nvPr>
            <p:ph type="title"/>
          </p:nvPr>
        </p:nvSpPr>
        <p:spPr>
          <a:xfrm>
            <a:off x="628650" y="169685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1" name="Google Shape;201;p25"/>
          <p:cNvSpPr txBox="1"/>
          <p:nvPr/>
        </p:nvSpPr>
        <p:spPr>
          <a:xfrm>
            <a:off x="3431425" y="3476150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2" name="Google Shape;202;p25"/>
          <p:cNvSpPr txBox="1"/>
          <p:nvPr/>
        </p:nvSpPr>
        <p:spPr>
          <a:xfrm>
            <a:off x="426600" y="3248724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03" name="Google Shape;203;p25"/>
          <p:cNvCxnSpPr/>
          <p:nvPr/>
        </p:nvCxnSpPr>
        <p:spPr>
          <a:xfrm>
            <a:off x="3542775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04" name="Google Shape;204;p25"/>
          <p:cNvSpPr/>
          <p:nvPr/>
        </p:nvSpPr>
        <p:spPr>
          <a:xfrm>
            <a:off x="4635524" y="3528542"/>
            <a:ext cx="1471361" cy="13470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dirty="0"/>
          </a:p>
        </p:txBody>
      </p:sp>
      <p:sp>
        <p:nvSpPr>
          <p:cNvPr id="205" name="Google Shape;205;p25"/>
          <p:cNvSpPr txBox="1"/>
          <p:nvPr/>
        </p:nvSpPr>
        <p:spPr>
          <a:xfrm rot="-2700000">
            <a:off x="4529968" y="2898215"/>
            <a:ext cx="116057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6" name="Google Shape;206;p25"/>
          <p:cNvSpPr txBox="1"/>
          <p:nvPr/>
        </p:nvSpPr>
        <p:spPr>
          <a:xfrm rot="-2700000">
            <a:off x="5268391" y="2999417"/>
            <a:ext cx="961382" cy="400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xB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07" name="Google Shape;207;p25"/>
          <p:cNvSpPr txBox="1"/>
          <p:nvPr/>
        </p:nvSpPr>
        <p:spPr>
          <a:xfrm>
            <a:off x="3105897" y="3560885"/>
            <a:ext cx="437700" cy="44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700" dirty="0">
                <a:highlight>
                  <a:schemeClr val="lt2"/>
                </a:highlight>
                <a:latin typeface="Cabin"/>
                <a:ea typeface="Cabin"/>
                <a:cs typeface="Cabin"/>
                <a:sym typeface="Cabin"/>
              </a:rPr>
              <a:t>~ x</a:t>
            </a:r>
            <a:endParaRPr sz="1700" dirty="0">
              <a:highlight>
                <a:schemeClr val="lt2"/>
              </a:highlight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208" name="Google Shape;208;p25"/>
          <p:cNvCxnSpPr/>
          <p:nvPr/>
        </p:nvCxnSpPr>
        <p:spPr>
          <a:xfrm>
            <a:off x="2239558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09" name="Google Shape;209;p25"/>
          <p:cNvSpPr txBox="1"/>
          <p:nvPr/>
        </p:nvSpPr>
        <p:spPr>
          <a:xfrm>
            <a:off x="2136025" y="3460516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Design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formula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10" name="Google Shape;210;p25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lvl="0" indent="457200">
              <a:lnSpc>
                <a:spcPct val="115000"/>
              </a:lnSpc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 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+ 𝞊</a:t>
            </a:r>
            <a:endParaRPr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11" name="Google Shape;211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12" name="Google Shape;212;p25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213" name="Google Shape;213;p25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14" name="Google Shape;214;p25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15" name="Google Shape;215;p25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216" name="Google Shape;216;p25"/>
          <p:cNvSpPr txBox="1"/>
          <p:nvPr/>
        </p:nvSpPr>
        <p:spPr>
          <a:xfrm>
            <a:off x="245850" y="731425"/>
            <a:ext cx="2255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outcome ~ predictors</a:t>
            </a:r>
            <a:endParaRPr sz="1600" b="1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7"/>
          <p:cNvSpPr txBox="1">
            <a:spLocks noGrp="1"/>
          </p:cNvSpPr>
          <p:nvPr>
            <p:ph type="title"/>
          </p:nvPr>
        </p:nvSpPr>
        <p:spPr>
          <a:xfrm>
            <a:off x="628650" y="203139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Linear Models in R |</a:t>
            </a:r>
            <a:r>
              <a:rPr lang="en-GB" dirty="0"/>
              <a:t> Model Specification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44" name="Google Shape;244;p27"/>
          <p:cNvSpPr txBox="1"/>
          <p:nvPr/>
        </p:nvSpPr>
        <p:spPr>
          <a:xfrm>
            <a:off x="3431425" y="3476150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45" name="Google Shape;245;p27"/>
          <p:cNvSpPr txBox="1"/>
          <p:nvPr/>
        </p:nvSpPr>
        <p:spPr>
          <a:xfrm>
            <a:off x="426600" y="2981100"/>
            <a:ext cx="1720500" cy="16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x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&lt;factor&gt;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A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B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cxnSp>
        <p:nvCxnSpPr>
          <p:cNvPr id="246" name="Google Shape;246;p27"/>
          <p:cNvCxnSpPr/>
          <p:nvPr/>
        </p:nvCxnSpPr>
        <p:spPr>
          <a:xfrm>
            <a:off x="3542775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47" name="Google Shape;247;p27"/>
          <p:cNvSpPr/>
          <p:nvPr/>
        </p:nvSpPr>
        <p:spPr>
          <a:xfrm>
            <a:off x="4635524" y="3338975"/>
            <a:ext cx="1188509" cy="13470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1       1</a:t>
            </a:r>
            <a:endParaRPr dirty="0"/>
          </a:p>
        </p:txBody>
      </p:sp>
      <p:sp>
        <p:nvSpPr>
          <p:cNvPr id="248" name="Google Shape;248;p27"/>
          <p:cNvSpPr/>
          <p:nvPr/>
        </p:nvSpPr>
        <p:spPr>
          <a:xfrm>
            <a:off x="5849284" y="3451275"/>
            <a:ext cx="387900" cy="353700"/>
          </a:xfrm>
          <a:prstGeom prst="mathMultiply">
            <a:avLst>
              <a:gd name="adj1" fmla="val 4837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9" name="Google Shape;249;p27"/>
          <p:cNvSpPr/>
          <p:nvPr/>
        </p:nvSpPr>
        <p:spPr>
          <a:xfrm>
            <a:off x="6350850" y="3385720"/>
            <a:ext cx="511789" cy="4848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ctr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dirty="0"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250" name="Google Shape;250;p27"/>
          <p:cNvSpPr txBox="1"/>
          <p:nvPr/>
        </p:nvSpPr>
        <p:spPr>
          <a:xfrm rot="-2700000">
            <a:off x="4539914" y="2732658"/>
            <a:ext cx="1092663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Intercept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1" name="Google Shape;251;p27"/>
          <p:cNvSpPr txBox="1"/>
          <p:nvPr/>
        </p:nvSpPr>
        <p:spPr>
          <a:xfrm rot="-2700000">
            <a:off x="5268391" y="2809850"/>
            <a:ext cx="961382" cy="40008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xB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2" name="Google Shape;252;p27"/>
          <p:cNvSpPr/>
          <p:nvPr/>
        </p:nvSpPr>
        <p:spPr>
          <a:xfrm>
            <a:off x="7329200" y="3254807"/>
            <a:ext cx="1680985" cy="1472100"/>
          </a:xfrm>
          <a:prstGeom prst="bracketPair">
            <a:avLst/>
          </a:prstGeom>
          <a:noFill/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0*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0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+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1*</a:t>
            </a: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</a:t>
            </a:r>
            <a:endParaRPr dirty="0"/>
          </a:p>
        </p:txBody>
      </p:sp>
      <p:sp>
        <p:nvSpPr>
          <p:cNvPr id="253" name="Google Shape;253;p27"/>
          <p:cNvSpPr/>
          <p:nvPr/>
        </p:nvSpPr>
        <p:spPr>
          <a:xfrm>
            <a:off x="6947000" y="3499575"/>
            <a:ext cx="290700" cy="203400"/>
          </a:xfrm>
          <a:prstGeom prst="mathEqual">
            <a:avLst>
              <a:gd name="adj1" fmla="val 14339"/>
              <a:gd name="adj2" fmla="val 11760"/>
            </a:avLst>
          </a:prstGeom>
          <a:solidFill>
            <a:schemeClr val="dk1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4" name="Google Shape;254;p27"/>
          <p:cNvSpPr txBox="1"/>
          <p:nvPr/>
        </p:nvSpPr>
        <p:spPr>
          <a:xfrm>
            <a:off x="3138451" y="3585300"/>
            <a:ext cx="513816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~ x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cxnSp>
        <p:nvCxnSpPr>
          <p:cNvPr id="255" name="Google Shape;255;p27"/>
          <p:cNvCxnSpPr/>
          <p:nvPr/>
        </p:nvCxnSpPr>
        <p:spPr>
          <a:xfrm>
            <a:off x="2239558" y="3779025"/>
            <a:ext cx="875400" cy="0"/>
          </a:xfrm>
          <a:prstGeom prst="straightConnector1">
            <a:avLst/>
          </a:prstGeom>
          <a:noFill/>
          <a:ln w="28575" cap="flat" cmpd="sng">
            <a:solidFill>
              <a:schemeClr val="dk2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56" name="Google Shape;256;p27"/>
          <p:cNvSpPr txBox="1"/>
          <p:nvPr/>
        </p:nvSpPr>
        <p:spPr>
          <a:xfrm>
            <a:off x="2136025" y="3460516"/>
            <a:ext cx="961500" cy="6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Design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formula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57" name="Google Shape;257;p27"/>
          <p:cNvSpPr txBox="1"/>
          <p:nvPr/>
        </p:nvSpPr>
        <p:spPr>
          <a:xfrm>
            <a:off x="5556575" y="771300"/>
            <a:ext cx="3072900" cy="139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Model: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Y = 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baseline="30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</a:t>
            </a:r>
            <a:r>
              <a:rPr lang="en-GB" sz="1400" b="1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X</a:t>
            </a:r>
            <a:r>
              <a:rPr lang="en-GB" sz="1400" b="1" baseline="-25000" dirty="0">
                <a:solidFill>
                  <a:srgbClr val="A64D79"/>
                </a:solidFill>
                <a:latin typeface="Cabin"/>
                <a:ea typeface="Cabin"/>
                <a:cs typeface="Cabin"/>
                <a:sym typeface="Cabin"/>
              </a:rPr>
              <a:t>B</a:t>
            </a:r>
            <a:endParaRPr sz="1400" b="1" baseline="-25000" dirty="0">
              <a:solidFill>
                <a:srgbClr val="A64D79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400" baseline="-250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average of the reference group</a:t>
            </a:r>
            <a:endParaRPr sz="1400" i="1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4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</a:t>
            </a:r>
            <a:r>
              <a:rPr lang="en-GB" sz="1400" b="1" i="1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difference</a:t>
            </a:r>
            <a:r>
              <a:rPr lang="en-GB" sz="14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to the reference group</a:t>
            </a:r>
            <a:endParaRPr sz="14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58" name="Google Shape;258;p2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969525" y="695100"/>
            <a:ext cx="2497625" cy="1981100"/>
          </a:xfrm>
          <a:prstGeom prst="rect">
            <a:avLst/>
          </a:prstGeom>
          <a:noFill/>
          <a:ln>
            <a:noFill/>
          </a:ln>
        </p:spPr>
      </p:pic>
      <p:sp>
        <p:nvSpPr>
          <p:cNvPr id="259" name="Google Shape;259;p27"/>
          <p:cNvSpPr txBox="1"/>
          <p:nvPr/>
        </p:nvSpPr>
        <p:spPr>
          <a:xfrm>
            <a:off x="3458350" y="1633725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cxnSp>
        <p:nvCxnSpPr>
          <p:cNvPr id="260" name="Google Shape;260;p27"/>
          <p:cNvCxnSpPr/>
          <p:nvPr/>
        </p:nvCxnSpPr>
        <p:spPr>
          <a:xfrm>
            <a:off x="3864700" y="1813525"/>
            <a:ext cx="867600" cy="0"/>
          </a:xfrm>
          <a:prstGeom prst="straightConnector1">
            <a:avLst/>
          </a:prstGeom>
          <a:noFill/>
          <a:ln w="19050" cap="flat" cmpd="sng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</p:cxnSp>
      <p:cxnSp>
        <p:nvCxnSpPr>
          <p:cNvPr id="261" name="Google Shape;261;p27"/>
          <p:cNvCxnSpPr/>
          <p:nvPr/>
        </p:nvCxnSpPr>
        <p:spPr>
          <a:xfrm rot="10800000">
            <a:off x="4728450" y="1235125"/>
            <a:ext cx="0" cy="578400"/>
          </a:xfrm>
          <a:prstGeom prst="straightConnector1">
            <a:avLst/>
          </a:prstGeom>
          <a:noFill/>
          <a:ln w="9525" cap="flat" cmpd="sng">
            <a:solidFill>
              <a:schemeClr val="dk1"/>
            </a:solidFill>
            <a:prstDash val="solid"/>
            <a:round/>
            <a:headEnd type="none" w="med" len="med"/>
            <a:tailEnd type="stealth" w="med" len="med"/>
          </a:ln>
        </p:spPr>
      </p:cxnSp>
      <p:sp>
        <p:nvSpPr>
          <p:cNvPr id="262" name="Google Shape;262;p27"/>
          <p:cNvSpPr txBox="1"/>
          <p:nvPr/>
        </p:nvSpPr>
        <p:spPr>
          <a:xfrm>
            <a:off x="4433450" y="1299300"/>
            <a:ext cx="4377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sp>
        <p:nvSpPr>
          <p:cNvPr id="263" name="Google Shape;263;p27"/>
          <p:cNvSpPr txBox="1"/>
          <p:nvPr/>
        </p:nvSpPr>
        <p:spPr>
          <a:xfrm>
            <a:off x="245850" y="731425"/>
            <a:ext cx="2255700" cy="92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>
                <a:latin typeface="Cabin"/>
                <a:ea typeface="Cabin"/>
                <a:cs typeface="Cabin"/>
                <a:sym typeface="Cabin"/>
              </a:rPr>
              <a:t>Formula syntax in R:</a:t>
            </a: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b="1">
                <a:latin typeface="Cabin"/>
                <a:ea typeface="Cabin"/>
                <a:cs typeface="Cabin"/>
                <a:sym typeface="Cabin"/>
              </a:rPr>
              <a:t>outcome ~ predictors</a:t>
            </a:r>
            <a:endParaRPr sz="1600" b="1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29"/>
          <p:cNvSpPr txBox="1">
            <a:spLocks noGrp="1"/>
          </p:cNvSpPr>
          <p:nvPr>
            <p:ph type="title"/>
          </p:nvPr>
        </p:nvSpPr>
        <p:spPr>
          <a:xfrm>
            <a:off x="628650" y="169685"/>
            <a:ext cx="7886700" cy="461665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/>
              <a:t>Common Designs</a:t>
            </a:r>
            <a:endParaRPr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95" name="Google Shape;295;p29"/>
          <p:cNvSpPr txBox="1"/>
          <p:nvPr/>
        </p:nvSpPr>
        <p:spPr>
          <a:xfrm>
            <a:off x="773875" y="572700"/>
            <a:ext cx="17040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One factor, 2 levels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296" name="Google Shape;296;p29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68200" y="980350"/>
            <a:ext cx="1876500" cy="17173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29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956625" y="980475"/>
            <a:ext cx="1878782" cy="1717200"/>
          </a:xfrm>
          <a:prstGeom prst="rect">
            <a:avLst/>
          </a:prstGeom>
          <a:noFill/>
          <a:ln>
            <a:noFill/>
          </a:ln>
        </p:spPr>
      </p:pic>
      <p:sp>
        <p:nvSpPr>
          <p:cNvPr id="298" name="Google Shape;298;p29"/>
          <p:cNvSpPr txBox="1"/>
          <p:nvPr/>
        </p:nvSpPr>
        <p:spPr>
          <a:xfrm>
            <a:off x="3131399" y="572700"/>
            <a:ext cx="2063525" cy="46163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One factor, 3 levels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299" name="Google Shape;299;p29"/>
          <p:cNvSpPr txBox="1"/>
          <p:nvPr/>
        </p:nvSpPr>
        <p:spPr>
          <a:xfrm>
            <a:off x="5577300" y="572700"/>
            <a:ext cx="22239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Two factors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pic>
        <p:nvPicPr>
          <p:cNvPr id="300" name="Google Shape;300;p29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5194925" y="980475"/>
            <a:ext cx="3529394" cy="1717200"/>
          </a:xfrm>
          <a:prstGeom prst="rect">
            <a:avLst/>
          </a:prstGeom>
          <a:noFill/>
          <a:ln>
            <a:noFill/>
          </a:ln>
        </p:spPr>
      </p:pic>
      <p:sp>
        <p:nvSpPr>
          <p:cNvPr id="301" name="Google Shape;301;p29"/>
          <p:cNvSpPr txBox="1"/>
          <p:nvPr/>
        </p:nvSpPr>
        <p:spPr>
          <a:xfrm>
            <a:off x="891125" y="2952875"/>
            <a:ext cx="6792900" cy="136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Define our model with formula syntax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Categorical variables are encoded as indicator variables in a model matrix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R does this for us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Interpret coefficients to define hypothesis of interest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6" name="Google Shape;306;p30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Common Designs | </a:t>
            </a:r>
            <a:r>
              <a:rPr lang="en-GB"/>
              <a:t>One factor, 3 levels</a:t>
            </a:r>
            <a:endParaRPr/>
          </a:p>
        </p:txBody>
      </p:sp>
      <p:sp>
        <p:nvSpPr>
          <p:cNvPr id="307" name="Google Shape;307;p30"/>
          <p:cNvSpPr txBox="1"/>
          <p:nvPr/>
        </p:nvSpPr>
        <p:spPr>
          <a:xfrm>
            <a:off x="3160638" y="611450"/>
            <a:ext cx="1107408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08" name="Google Shape;308;p30"/>
          <p:cNvSpPr txBox="1"/>
          <p:nvPr/>
        </p:nvSpPr>
        <p:spPr>
          <a:xfrm>
            <a:off x="3232587" y="930125"/>
            <a:ext cx="1107407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</a:t>
            </a:r>
            <a:endParaRPr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0" name="Google Shape;310;p30"/>
          <p:cNvSpPr txBox="1"/>
          <p:nvPr/>
        </p:nvSpPr>
        <p:spPr>
          <a:xfrm>
            <a:off x="4924350" y="909425"/>
            <a:ext cx="3782700" cy="19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(Intercept)   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drugPink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3           1          1            0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4           1          0            1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5           1          0            1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6           1          0            1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7           1          0            0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8           1          0            0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9           1          0            0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1" name="Google Shape;311;p30"/>
          <p:cNvSpPr txBox="1"/>
          <p:nvPr/>
        </p:nvSpPr>
        <p:spPr>
          <a:xfrm>
            <a:off x="4802925" y="561861"/>
            <a:ext cx="1462500" cy="52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 matrix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12" name="Google Shape;312;p30"/>
          <p:cNvSpPr txBox="1"/>
          <p:nvPr/>
        </p:nvSpPr>
        <p:spPr>
          <a:xfrm>
            <a:off x="777625" y="649825"/>
            <a:ext cx="1708200" cy="19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Yellow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sample9   White 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19" name="Google Shape;319;p30"/>
          <p:cNvSpPr txBox="1"/>
          <p:nvPr/>
        </p:nvSpPr>
        <p:spPr>
          <a:xfrm>
            <a:off x="736075" y="2609017"/>
            <a:ext cx="1789500" cy="225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 vs White 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Yellow vs White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Yellow vs Pink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- 𝛽</a:t>
            </a:r>
            <a:r>
              <a:rPr lang="en-GB" sz="16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6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6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61ADCC00-03C7-BB64-C7AD-51A79EFB04E6}"/>
              </a:ext>
            </a:extLst>
          </p:cNvPr>
          <p:cNvGrpSpPr/>
          <p:nvPr/>
        </p:nvGrpSpPr>
        <p:grpSpPr>
          <a:xfrm>
            <a:off x="2693399" y="2007221"/>
            <a:ext cx="2949117" cy="2855996"/>
            <a:chOff x="2693400" y="2495550"/>
            <a:chExt cx="2232000" cy="1787498"/>
          </a:xfrm>
        </p:grpSpPr>
        <p:cxnSp>
          <p:nvCxnSpPr>
            <p:cNvPr id="313" name="Google Shape;313;p30"/>
            <p:cNvCxnSpPr/>
            <p:nvPr/>
          </p:nvCxnSpPr>
          <p:spPr>
            <a:xfrm>
              <a:off x="2693400" y="3944000"/>
              <a:ext cx="2232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14" name="Google Shape;314;p30"/>
            <p:cNvCxnSpPr/>
            <p:nvPr/>
          </p:nvCxnSpPr>
          <p:spPr>
            <a:xfrm rot="10800000">
              <a:off x="2693400" y="2495550"/>
              <a:ext cx="0" cy="14562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15" name="Google Shape;315;p30"/>
            <p:cNvSpPr/>
            <p:nvPr/>
          </p:nvSpPr>
          <p:spPr>
            <a:xfrm>
              <a:off x="3165925" y="35876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6" name="Google Shape;316;p30"/>
            <p:cNvSpPr/>
            <p:nvPr/>
          </p:nvSpPr>
          <p:spPr>
            <a:xfrm>
              <a:off x="3686600" y="29346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17" name="Google Shape;317;p30"/>
            <p:cNvSpPr txBox="1"/>
            <p:nvPr/>
          </p:nvSpPr>
          <p:spPr>
            <a:xfrm>
              <a:off x="2915443" y="3422119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318" name="Google Shape;318;p30"/>
            <p:cNvSpPr txBox="1"/>
            <p:nvPr/>
          </p:nvSpPr>
          <p:spPr>
            <a:xfrm>
              <a:off x="3733100" y="3099100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cxnSp>
          <p:nvCxnSpPr>
            <p:cNvPr id="320" name="Google Shape;320;p30"/>
            <p:cNvCxnSpPr/>
            <p:nvPr/>
          </p:nvCxnSpPr>
          <p:spPr>
            <a:xfrm rot="10800000">
              <a:off x="3733100" y="3027865"/>
              <a:ext cx="0" cy="629700"/>
            </a:xfrm>
            <a:prstGeom prst="straightConnector1">
              <a:avLst/>
            </a:prstGeom>
            <a:noFill/>
            <a:ln w="9525" cap="flat" cmpd="sng">
              <a:solidFill>
                <a:schemeClr val="bg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21" name="Google Shape;321;p30"/>
            <p:cNvSpPr/>
            <p:nvPr/>
          </p:nvSpPr>
          <p:spPr>
            <a:xfrm>
              <a:off x="4250985" y="3163275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22" name="Google Shape;322;p30"/>
            <p:cNvSpPr txBox="1"/>
            <p:nvPr/>
          </p:nvSpPr>
          <p:spPr>
            <a:xfrm>
              <a:off x="4297725" y="3282125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cxnSp>
          <p:nvCxnSpPr>
            <p:cNvPr id="323" name="Google Shape;323;p30"/>
            <p:cNvCxnSpPr/>
            <p:nvPr/>
          </p:nvCxnSpPr>
          <p:spPr>
            <a:xfrm rot="10800000">
              <a:off x="4304275" y="3256225"/>
              <a:ext cx="0" cy="401100"/>
            </a:xfrm>
            <a:prstGeom prst="straightConnector1">
              <a:avLst/>
            </a:prstGeom>
            <a:noFill/>
            <a:ln w="9525" cap="flat" cmpd="sng">
              <a:solidFill>
                <a:srgbClr val="F1C23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24" name="Google Shape;324;p30"/>
            <p:cNvCxnSpPr/>
            <p:nvPr/>
          </p:nvCxnSpPr>
          <p:spPr>
            <a:xfrm>
              <a:off x="3258933" y="3644302"/>
              <a:ext cx="1039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grpSp>
          <p:nvGrpSpPr>
            <p:cNvPr id="325" name="Google Shape;325;p30"/>
            <p:cNvGrpSpPr/>
            <p:nvPr/>
          </p:nvGrpSpPr>
          <p:grpSpPr>
            <a:xfrm rot="-2069820">
              <a:off x="2963904" y="4106420"/>
              <a:ext cx="495260" cy="176628"/>
              <a:chOff x="2163017" y="4662468"/>
              <a:chExt cx="586200" cy="209100"/>
            </a:xfrm>
          </p:grpSpPr>
          <p:sp>
            <p:nvSpPr>
              <p:cNvPr id="326" name="Google Shape;326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chemeClr val="bg1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27" name="Google Shape;327;p30"/>
              <p:cNvCxnSpPr>
                <a:stCxn id="326" idx="0"/>
                <a:endCxn id="326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28" name="Google Shape;328;p30"/>
            <p:cNvGrpSpPr/>
            <p:nvPr/>
          </p:nvGrpSpPr>
          <p:grpSpPr>
            <a:xfrm rot="-2069820">
              <a:off x="3517221" y="4106420"/>
              <a:ext cx="495260" cy="176628"/>
              <a:chOff x="2163017" y="4662468"/>
              <a:chExt cx="586200" cy="209100"/>
            </a:xfrm>
          </p:grpSpPr>
          <p:sp>
            <p:nvSpPr>
              <p:cNvPr id="329" name="Google Shape;329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chemeClr val="bg2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30" name="Google Shape;330;p30"/>
              <p:cNvCxnSpPr>
                <a:stCxn id="329" idx="0"/>
                <a:endCxn id="329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  <p:grpSp>
          <p:nvGrpSpPr>
            <p:cNvPr id="331" name="Google Shape;331;p30"/>
            <p:cNvGrpSpPr/>
            <p:nvPr/>
          </p:nvGrpSpPr>
          <p:grpSpPr>
            <a:xfrm rot="-2069820">
              <a:off x="4070538" y="4106420"/>
              <a:ext cx="495260" cy="176628"/>
              <a:chOff x="2163017" y="4662468"/>
              <a:chExt cx="586200" cy="209100"/>
            </a:xfrm>
          </p:grpSpPr>
          <p:sp>
            <p:nvSpPr>
              <p:cNvPr id="332" name="Google Shape;332;p30"/>
              <p:cNvSpPr/>
              <p:nvPr/>
            </p:nvSpPr>
            <p:spPr>
              <a:xfrm>
                <a:off x="2163017" y="4662468"/>
                <a:ext cx="586200" cy="209100"/>
              </a:xfrm>
              <a:prstGeom prst="ellipse">
                <a:avLst/>
              </a:prstGeom>
              <a:solidFill>
                <a:srgbClr val="FFD966"/>
              </a:solidFill>
              <a:ln w="9525" cap="flat" cmpd="sng">
                <a:solidFill>
                  <a:schemeClr val="dk2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cxnSp>
            <p:nvCxnSpPr>
              <p:cNvPr id="333" name="Google Shape;333;p30"/>
              <p:cNvCxnSpPr>
                <a:stCxn id="332" idx="0"/>
                <a:endCxn id="332" idx="4"/>
              </p:cNvCxnSpPr>
              <p:nvPr/>
            </p:nvCxnSpPr>
            <p:spPr>
              <a:xfrm rot="2074548">
                <a:off x="2396910" y="4680934"/>
                <a:ext cx="118415" cy="172168"/>
              </a:xfrm>
              <a:prstGeom prst="straightConnector1">
                <a:avLst/>
              </a:prstGeom>
              <a:noFill/>
              <a:ln w="19050" cap="flat" cmpd="sng">
                <a:solidFill>
                  <a:schemeClr val="dk2"/>
                </a:solidFill>
                <a:prstDash val="solid"/>
                <a:round/>
                <a:headEnd type="none" w="med" len="med"/>
                <a:tailEnd type="none" w="med" len="med"/>
              </a:ln>
            </p:spPr>
          </p:cxnSp>
        </p:grp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1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rgbClr val="666666"/>
                </a:solidFill>
              </a:rPr>
              <a:t>Model Designs | </a:t>
            </a:r>
            <a:r>
              <a:rPr lang="en-GB"/>
              <a:t>Two factors - additive model</a:t>
            </a:r>
            <a:endParaRPr/>
          </a:p>
        </p:txBody>
      </p:sp>
      <p:sp>
        <p:nvSpPr>
          <p:cNvPr id="340" name="Google Shape;340;p31"/>
          <p:cNvSpPr txBox="1"/>
          <p:nvPr/>
        </p:nvSpPr>
        <p:spPr>
          <a:xfrm>
            <a:off x="3151350" y="949553"/>
            <a:ext cx="23268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 + genotype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41" name="Google Shape;341;p31"/>
          <p:cNvSpPr txBox="1"/>
          <p:nvPr/>
        </p:nvSpPr>
        <p:spPr>
          <a:xfrm>
            <a:off x="3042450" y="611450"/>
            <a:ext cx="10264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363" name="Google Shape;363;p31"/>
          <p:cNvSpPr txBox="1"/>
          <p:nvPr/>
        </p:nvSpPr>
        <p:spPr>
          <a:xfrm>
            <a:off x="429875" y="633788"/>
            <a:ext cx="25245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   genotype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4" name="Google Shape;364;p31"/>
          <p:cNvSpPr txBox="1"/>
          <p:nvPr/>
        </p:nvSpPr>
        <p:spPr>
          <a:xfrm>
            <a:off x="5656650" y="916100"/>
            <a:ext cx="33030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(Intercept)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drugPink</a:t>
            </a: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</a:t>
            </a:r>
            <a:r>
              <a:rPr lang="en-GB" sz="12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genotypeMUT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1       	1     	1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2       	1     	1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3       	1     	1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4       	1     	1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5       	1     	0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6       	1     	0      	0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7       	1     	0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8       	1     	0      	1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365" name="Google Shape;365;p31"/>
          <p:cNvSpPr txBox="1"/>
          <p:nvPr/>
        </p:nvSpPr>
        <p:spPr>
          <a:xfrm>
            <a:off x="5624900" y="611450"/>
            <a:ext cx="17787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Model Matrix: 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002C2FBB-5092-16E5-1518-780F985C070A}"/>
              </a:ext>
            </a:extLst>
          </p:cNvPr>
          <p:cNvGrpSpPr/>
          <p:nvPr/>
        </p:nvGrpSpPr>
        <p:grpSpPr>
          <a:xfrm>
            <a:off x="2925975" y="1883797"/>
            <a:ext cx="2973020" cy="3033893"/>
            <a:chOff x="2925975" y="2552868"/>
            <a:chExt cx="2378977" cy="2296726"/>
          </a:xfrm>
        </p:grpSpPr>
        <p:cxnSp>
          <p:nvCxnSpPr>
            <p:cNvPr id="342" name="Google Shape;342;p31"/>
            <p:cNvCxnSpPr/>
            <p:nvPr/>
          </p:nvCxnSpPr>
          <p:spPr>
            <a:xfrm>
              <a:off x="2925975" y="4311350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343" name="Google Shape;343;p31"/>
            <p:cNvCxnSpPr/>
            <p:nvPr/>
          </p:nvCxnSpPr>
          <p:spPr>
            <a:xfrm rot="10800000">
              <a:off x="2932879" y="2552868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344" name="Google Shape;344;p31"/>
            <p:cNvSpPr/>
            <p:nvPr/>
          </p:nvSpPr>
          <p:spPr>
            <a:xfrm>
              <a:off x="3261618" y="3755135"/>
              <a:ext cx="236730" cy="236366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5" name="Google Shape;345;p31"/>
            <p:cNvSpPr txBox="1"/>
            <p:nvPr/>
          </p:nvSpPr>
          <p:spPr>
            <a:xfrm>
              <a:off x="3672648" y="3285651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sp>
          <p:nvSpPr>
            <p:cNvPr id="346" name="Google Shape;346;p31"/>
            <p:cNvSpPr txBox="1"/>
            <p:nvPr/>
          </p:nvSpPr>
          <p:spPr>
            <a:xfrm>
              <a:off x="4250803" y="3464839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347" name="Google Shape;347;p31"/>
            <p:cNvSpPr txBox="1"/>
            <p:nvPr/>
          </p:nvSpPr>
          <p:spPr>
            <a:xfrm>
              <a:off x="3199855" y="4334760"/>
              <a:ext cx="740054" cy="400256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WT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348" name="Google Shape;348;p31"/>
            <p:cNvSpPr txBox="1"/>
            <p:nvPr/>
          </p:nvSpPr>
          <p:spPr>
            <a:xfrm>
              <a:off x="4201123" y="4334760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MUT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349" name="Google Shape;349;p31"/>
            <p:cNvCxnSpPr/>
            <p:nvPr/>
          </p:nvCxnSpPr>
          <p:spPr>
            <a:xfrm>
              <a:off x="3453682" y="3883971"/>
              <a:ext cx="1319132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350" name="Google Shape;350;p31"/>
            <p:cNvSpPr txBox="1"/>
            <p:nvPr/>
          </p:nvSpPr>
          <p:spPr>
            <a:xfrm>
              <a:off x="4709485" y="3456506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351" name="Google Shape;351;p31"/>
            <p:cNvSpPr txBox="1"/>
            <p:nvPr/>
          </p:nvSpPr>
          <p:spPr>
            <a:xfrm>
              <a:off x="4707884" y="2901365"/>
              <a:ext cx="595467" cy="517164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grpSp>
          <p:nvGrpSpPr>
            <p:cNvPr id="352" name="Google Shape;352;p31"/>
            <p:cNvGrpSpPr/>
            <p:nvPr/>
          </p:nvGrpSpPr>
          <p:grpSpPr>
            <a:xfrm>
              <a:off x="4190995" y="3309581"/>
              <a:ext cx="262201" cy="262233"/>
              <a:chOff x="2735900" y="2493575"/>
              <a:chExt cx="609600" cy="725100"/>
            </a:xfrm>
          </p:grpSpPr>
          <p:sp>
            <p:nvSpPr>
              <p:cNvPr id="353" name="Google Shape;353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4" name="Google Shape;354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355" name="Google Shape;355;p31"/>
            <p:cNvGrpSpPr/>
            <p:nvPr/>
          </p:nvGrpSpPr>
          <p:grpSpPr>
            <a:xfrm>
              <a:off x="4639037" y="2720059"/>
              <a:ext cx="262189" cy="262269"/>
              <a:chOff x="2735900" y="2493575"/>
              <a:chExt cx="609600" cy="725100"/>
            </a:xfrm>
          </p:grpSpPr>
          <p:sp>
            <p:nvSpPr>
              <p:cNvPr id="356" name="Google Shape;356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57" name="Google Shape;357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358" name="Google Shape;358;p31"/>
            <p:cNvCxnSpPr/>
            <p:nvPr/>
          </p:nvCxnSpPr>
          <p:spPr>
            <a:xfrm rot="10800000" flipH="1">
              <a:off x="4321368" y="3449443"/>
              <a:ext cx="3278" cy="440318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59" name="Google Shape;359;p31"/>
            <p:cNvCxnSpPr/>
            <p:nvPr/>
          </p:nvCxnSpPr>
          <p:spPr>
            <a:xfrm rot="10800000" flipH="1">
              <a:off x="4783902" y="3449443"/>
              <a:ext cx="3278" cy="440318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0" name="Google Shape;360;p31"/>
            <p:cNvSpPr/>
            <p:nvPr/>
          </p:nvSpPr>
          <p:spPr>
            <a:xfrm>
              <a:off x="3631645" y="3040883"/>
              <a:ext cx="236730" cy="236366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361" name="Google Shape;361;p31"/>
            <p:cNvCxnSpPr/>
            <p:nvPr/>
          </p:nvCxnSpPr>
          <p:spPr>
            <a:xfrm rot="10800000">
              <a:off x="4773587" y="2841479"/>
              <a:ext cx="9469" cy="584905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362" name="Google Shape;362;p31"/>
            <p:cNvCxnSpPr/>
            <p:nvPr/>
          </p:nvCxnSpPr>
          <p:spPr>
            <a:xfrm rot="10800000">
              <a:off x="3748280" y="3179092"/>
              <a:ext cx="0" cy="709826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366" name="Google Shape;366;p31"/>
            <p:cNvSpPr/>
            <p:nvPr/>
          </p:nvSpPr>
          <p:spPr>
            <a:xfrm>
              <a:off x="3507740" y="4705582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367" name="Google Shape;367;p31"/>
            <p:cNvGrpSpPr/>
            <p:nvPr/>
          </p:nvGrpSpPr>
          <p:grpSpPr>
            <a:xfrm>
              <a:off x="4522931" y="4705589"/>
              <a:ext cx="143988" cy="144005"/>
              <a:chOff x="2735900" y="2493575"/>
              <a:chExt cx="609600" cy="725100"/>
            </a:xfrm>
          </p:grpSpPr>
          <p:sp>
            <p:nvSpPr>
              <p:cNvPr id="368" name="Google Shape;368;p31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369" name="Google Shape;369;p31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370" name="Google Shape;370;p31"/>
            <p:cNvSpPr txBox="1"/>
            <p:nvPr/>
          </p:nvSpPr>
          <p:spPr>
            <a:xfrm>
              <a:off x="2997646" y="3663993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</p:grpSp>
      <p:sp>
        <p:nvSpPr>
          <p:cNvPr id="371" name="Google Shape;371;p31"/>
          <p:cNvSpPr txBox="1"/>
          <p:nvPr/>
        </p:nvSpPr>
        <p:spPr>
          <a:xfrm>
            <a:off x="973625" y="2619925"/>
            <a:ext cx="2052600" cy="158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latin typeface="Cabin"/>
                <a:ea typeface="Cabin"/>
                <a:cs typeface="Cabin"/>
                <a:sym typeface="Cabin"/>
              </a:rPr>
              <a:t>Pink vs White drug</a:t>
            </a:r>
            <a:endParaRPr sz="120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genotype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p35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1440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rgbClr val="666666"/>
                </a:solidFill>
              </a:rPr>
              <a:t>Model Designs | </a:t>
            </a:r>
            <a:r>
              <a:rPr lang="en-GB" dirty="0"/>
              <a:t>Two factors - interaction model</a:t>
            </a:r>
            <a:endParaRPr dirty="0"/>
          </a:p>
        </p:txBody>
      </p:sp>
      <p:sp>
        <p:nvSpPr>
          <p:cNvPr id="487" name="Google Shape;487;p35"/>
          <p:cNvSpPr txBox="1"/>
          <p:nvPr/>
        </p:nvSpPr>
        <p:spPr>
          <a:xfrm>
            <a:off x="3151349" y="839900"/>
            <a:ext cx="3919493" cy="35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~ drug + genotype + </a:t>
            </a:r>
            <a:r>
              <a:rPr lang="en-GB" sz="1400" dirty="0" err="1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drug:genotype</a:t>
            </a:r>
            <a:endParaRPr sz="14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488" name="Google Shape;488;p35"/>
          <p:cNvSpPr txBox="1"/>
          <p:nvPr/>
        </p:nvSpPr>
        <p:spPr>
          <a:xfrm>
            <a:off x="3042449" y="535250"/>
            <a:ext cx="985945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latin typeface="Cabin"/>
                <a:ea typeface="Cabin"/>
                <a:cs typeface="Cabin"/>
                <a:sym typeface="Cabin"/>
              </a:rPr>
              <a:t>Design: </a:t>
            </a: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509" name="Google Shape;509;p35"/>
          <p:cNvSpPr txBox="1"/>
          <p:nvPr/>
        </p:nvSpPr>
        <p:spPr>
          <a:xfrm>
            <a:off x="429875" y="633788"/>
            <a:ext cx="2524500" cy="1811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b="1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          drug   genotype</a:t>
            </a:r>
            <a:endParaRPr sz="1200" b="1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sample1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sample2   Pink 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sample3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sample4   Pink 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sample5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sample6   White   WT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sample7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ourier New"/>
                <a:ea typeface="Courier New"/>
                <a:cs typeface="Courier New"/>
                <a:sym typeface="Courier New"/>
              </a:rPr>
              <a:t>sample8   White   MUT</a:t>
            </a:r>
            <a:endParaRPr sz="1200" dirty="0">
              <a:solidFill>
                <a:schemeClr val="dk1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9752DD3E-5277-C246-AB60-FF572BBB4060}"/>
              </a:ext>
            </a:extLst>
          </p:cNvPr>
          <p:cNvGrpSpPr/>
          <p:nvPr/>
        </p:nvGrpSpPr>
        <p:grpSpPr>
          <a:xfrm>
            <a:off x="2665141" y="1788184"/>
            <a:ext cx="3036594" cy="3149616"/>
            <a:chOff x="3322725" y="1788184"/>
            <a:chExt cx="2379010" cy="2508678"/>
          </a:xfrm>
        </p:grpSpPr>
        <p:sp>
          <p:nvSpPr>
            <p:cNvPr id="489" name="Google Shape;489;p35"/>
            <p:cNvSpPr txBox="1"/>
            <p:nvPr/>
          </p:nvSpPr>
          <p:spPr>
            <a:xfrm>
              <a:off x="3394396" y="3189318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490" name="Google Shape;490;p35"/>
            <p:cNvSpPr/>
            <p:nvPr/>
          </p:nvSpPr>
          <p:spPr>
            <a:xfrm>
              <a:off x="3658368" y="3280460"/>
              <a:ext cx="236700" cy="236400"/>
            </a:xfrm>
            <a:prstGeom prst="ellipse">
              <a:avLst/>
            </a:prstGeom>
            <a:solidFill>
              <a:srgbClr val="D9D9D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491" name="Google Shape;491;p35"/>
            <p:cNvSpPr txBox="1"/>
            <p:nvPr/>
          </p:nvSpPr>
          <p:spPr>
            <a:xfrm>
              <a:off x="4069398" y="2810976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sp>
          <p:nvSpPr>
            <p:cNvPr id="492" name="Google Shape;492;p35"/>
            <p:cNvSpPr txBox="1"/>
            <p:nvPr/>
          </p:nvSpPr>
          <p:spPr>
            <a:xfrm>
              <a:off x="4647553" y="2990164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3" name="Google Shape;493;p35"/>
            <p:cNvSpPr txBox="1"/>
            <p:nvPr/>
          </p:nvSpPr>
          <p:spPr>
            <a:xfrm>
              <a:off x="3596605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WT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494" name="Google Shape;494;p35"/>
            <p:cNvSpPr txBox="1"/>
            <p:nvPr/>
          </p:nvSpPr>
          <p:spPr>
            <a:xfrm>
              <a:off x="4597873" y="3860085"/>
              <a:ext cx="7401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ctr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MUT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cxnSp>
          <p:nvCxnSpPr>
            <p:cNvPr id="495" name="Google Shape;495;p35"/>
            <p:cNvCxnSpPr/>
            <p:nvPr/>
          </p:nvCxnSpPr>
          <p:spPr>
            <a:xfrm>
              <a:off x="3850432" y="3409296"/>
              <a:ext cx="13191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496" name="Google Shape;496;p35"/>
            <p:cNvSpPr txBox="1"/>
            <p:nvPr/>
          </p:nvSpPr>
          <p:spPr>
            <a:xfrm>
              <a:off x="5106235" y="29818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sp>
          <p:nvSpPr>
            <p:cNvPr id="497" name="Google Shape;497;p35"/>
            <p:cNvSpPr txBox="1"/>
            <p:nvPr/>
          </p:nvSpPr>
          <p:spPr>
            <a:xfrm>
              <a:off x="5104634" y="2426690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grpSp>
          <p:nvGrpSpPr>
            <p:cNvPr id="498" name="Google Shape;498;p35"/>
            <p:cNvGrpSpPr/>
            <p:nvPr/>
          </p:nvGrpSpPr>
          <p:grpSpPr>
            <a:xfrm>
              <a:off x="4587690" y="2835029"/>
              <a:ext cx="262189" cy="262269"/>
              <a:chOff x="2735900" y="2493575"/>
              <a:chExt cx="609600" cy="725100"/>
            </a:xfrm>
          </p:grpSpPr>
          <p:sp>
            <p:nvSpPr>
              <p:cNvPr id="499" name="Google Shape;499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0" name="Google Shape;500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CCCCCC"/>
              </a:solidFill>
              <a:ln w="9525" cap="flat" cmpd="sng">
                <a:solidFill>
                  <a:srgbClr val="CCCCCC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grpSp>
          <p:nvGrpSpPr>
            <p:cNvPr id="501" name="Google Shape;501;p35"/>
            <p:cNvGrpSpPr/>
            <p:nvPr/>
          </p:nvGrpSpPr>
          <p:grpSpPr>
            <a:xfrm>
              <a:off x="5035787" y="1788184"/>
              <a:ext cx="262189" cy="262269"/>
              <a:chOff x="2735900" y="2493575"/>
              <a:chExt cx="609600" cy="725100"/>
            </a:xfrm>
          </p:grpSpPr>
          <p:sp>
            <p:nvSpPr>
              <p:cNvPr id="502" name="Google Shape;50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03" name="Google Shape;50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rgbClr val="A64D79"/>
              </a:solidFill>
              <a:ln w="9525" cap="flat" cmpd="sng">
                <a:solidFill>
                  <a:srgbClr val="A64D79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04" name="Google Shape;504;p35"/>
            <p:cNvCxnSpPr/>
            <p:nvPr/>
          </p:nvCxnSpPr>
          <p:spPr>
            <a:xfrm rot="10800000" flipH="1">
              <a:off x="4718118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5" name="Google Shape;505;p35"/>
            <p:cNvCxnSpPr/>
            <p:nvPr/>
          </p:nvCxnSpPr>
          <p:spPr>
            <a:xfrm rot="10800000" flipH="1">
              <a:off x="5180652" y="2974685"/>
              <a:ext cx="3300" cy="4404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06" name="Google Shape;506;p35"/>
            <p:cNvSpPr/>
            <p:nvPr/>
          </p:nvSpPr>
          <p:spPr>
            <a:xfrm>
              <a:off x="4028395" y="2566208"/>
              <a:ext cx="236700" cy="236400"/>
            </a:xfrm>
            <a:prstGeom prst="ellipse">
              <a:avLst/>
            </a:prstGeom>
            <a:solidFill>
              <a:srgbClr val="A64D79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cxnSp>
          <p:nvCxnSpPr>
            <p:cNvPr id="507" name="Google Shape;507;p35"/>
            <p:cNvCxnSpPr/>
            <p:nvPr/>
          </p:nvCxnSpPr>
          <p:spPr>
            <a:xfrm rot="10800000">
              <a:off x="5170206" y="2366709"/>
              <a:ext cx="9600" cy="5850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508" name="Google Shape;508;p35"/>
            <p:cNvCxnSpPr/>
            <p:nvPr/>
          </p:nvCxnSpPr>
          <p:spPr>
            <a:xfrm rot="10800000">
              <a:off x="4145030" y="2704443"/>
              <a:ext cx="0" cy="709800"/>
            </a:xfrm>
            <a:prstGeom prst="straightConnector1">
              <a:avLst/>
            </a:prstGeom>
            <a:noFill/>
            <a:ln w="9525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0" name="Google Shape;510;p35"/>
            <p:cNvSpPr/>
            <p:nvPr/>
          </p:nvSpPr>
          <p:spPr>
            <a:xfrm>
              <a:off x="3904490" y="4152850"/>
              <a:ext cx="144000" cy="144000"/>
            </a:xfrm>
            <a:prstGeom prst="ellipse">
              <a:avLst/>
            </a:prstGeom>
            <a:solidFill>
              <a:schemeClr val="dk1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grpSp>
          <p:nvGrpSpPr>
            <p:cNvPr id="511" name="Google Shape;511;p35"/>
            <p:cNvGrpSpPr/>
            <p:nvPr/>
          </p:nvGrpSpPr>
          <p:grpSpPr>
            <a:xfrm>
              <a:off x="4919681" y="4152857"/>
              <a:ext cx="143988" cy="144005"/>
              <a:chOff x="2735900" y="2493575"/>
              <a:chExt cx="609600" cy="725100"/>
            </a:xfrm>
          </p:grpSpPr>
          <p:sp>
            <p:nvSpPr>
              <p:cNvPr id="512" name="Google Shape;512;p35"/>
              <p:cNvSpPr/>
              <p:nvPr/>
            </p:nvSpPr>
            <p:spPr>
              <a:xfrm>
                <a:off x="2735900" y="24935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513" name="Google Shape;513;p35"/>
              <p:cNvSpPr/>
              <p:nvPr/>
            </p:nvSpPr>
            <p:spPr>
              <a:xfrm rot="10800000" flipH="1">
                <a:off x="2735900" y="2645975"/>
                <a:ext cx="609600" cy="572700"/>
              </a:xfrm>
              <a:prstGeom prst="triangle">
                <a:avLst>
                  <a:gd name="adj" fmla="val 50000"/>
                </a:avLst>
              </a:prstGeom>
              <a:solidFill>
                <a:schemeClr val="dk1"/>
              </a:solidFill>
              <a:ln w="9525" cap="flat" cmpd="sng">
                <a:solidFill>
                  <a:schemeClr val="dk1"/>
                </a:solidFill>
                <a:prstDash val="solid"/>
                <a:round/>
                <a:headEnd type="none" w="sm" len="sm"/>
                <a:tailEnd type="none" w="sm" len="sm"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cxnSp>
          <p:nvCxnSpPr>
            <p:cNvPr id="514" name="Google Shape;514;p35"/>
            <p:cNvCxnSpPr/>
            <p:nvPr/>
          </p:nvCxnSpPr>
          <p:spPr>
            <a:xfrm>
              <a:off x="3322725" y="3836675"/>
              <a:ext cx="2097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5" name="Google Shape;515;p35"/>
            <p:cNvCxnSpPr/>
            <p:nvPr/>
          </p:nvCxnSpPr>
          <p:spPr>
            <a:xfrm rot="10800000">
              <a:off x="3329629" y="2078193"/>
              <a:ext cx="0" cy="17679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516" name="Google Shape;516;p35"/>
            <p:cNvCxnSpPr/>
            <p:nvPr/>
          </p:nvCxnSpPr>
          <p:spPr>
            <a:xfrm rot="10800000" flipH="1">
              <a:off x="5166482" y="1907885"/>
              <a:ext cx="3300" cy="4404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517" name="Google Shape;517;p35"/>
            <p:cNvSpPr txBox="1"/>
            <p:nvPr/>
          </p:nvSpPr>
          <p:spPr>
            <a:xfrm>
              <a:off x="5106235" y="1915031"/>
              <a:ext cx="595500" cy="517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rgbClr val="CC0000"/>
                  </a:solidFill>
                  <a:latin typeface="Cabin"/>
                  <a:ea typeface="Cabin"/>
                  <a:cs typeface="Cabin"/>
                  <a:sym typeface="Cabin"/>
                </a:rPr>
                <a:t>3</a:t>
              </a:r>
              <a:endParaRPr>
                <a:solidFill>
                  <a:srgbClr val="CC0000"/>
                </a:solidFill>
              </a:endParaRPr>
            </a:p>
          </p:txBody>
        </p:sp>
      </p:grpSp>
      <p:sp>
        <p:nvSpPr>
          <p:cNvPr id="518" name="Google Shape;518;p35"/>
          <p:cNvSpPr txBox="1"/>
          <p:nvPr/>
        </p:nvSpPr>
        <p:spPr>
          <a:xfrm>
            <a:off x="5995525" y="1707100"/>
            <a:ext cx="2931300" cy="3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Null hypothesis: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latin typeface="Cabin"/>
                <a:ea typeface="Cabin"/>
                <a:cs typeface="Cabin"/>
                <a:sym typeface="Cabin"/>
              </a:rPr>
              <a:t>WT</a:t>
            </a:r>
            <a:r>
              <a:rPr lang="en-GB" sz="1200" dirty="0"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 vs White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MUT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White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WT vs MUT (</a:t>
            </a:r>
            <a:r>
              <a:rPr lang="en-GB" sz="1200" u="sng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Pink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)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+ 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Interaction (“Difference of differences”):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sz="1200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3 </a:t>
            </a:r>
            <a:r>
              <a:rPr lang="en-GB" sz="12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= 0</a:t>
            </a:r>
            <a:endParaRPr sz="1200"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1" name="Google Shape;601;p38"/>
          <p:cNvSpPr txBox="1"/>
          <p:nvPr/>
        </p:nvSpPr>
        <p:spPr>
          <a:xfrm>
            <a:off x="187600" y="582375"/>
            <a:ext cx="5534400" cy="22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Create DESeqDataSet object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Add model design: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design(dds) ← ~ treatment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Fit the statistical model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dds ← DESeq(dds)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Check coefficients for hypothesis testing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resultsNames(dds)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02" name="Google Shape;602;p38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 Specification in </a:t>
            </a:r>
            <a:r>
              <a:rPr lang="en-GB" i="1"/>
              <a:t>DESeq2</a:t>
            </a:r>
            <a:endParaRPr i="1"/>
          </a:p>
        </p:txBody>
      </p:sp>
      <p:grpSp>
        <p:nvGrpSpPr>
          <p:cNvPr id="2" name="Group 1">
            <a:extLst>
              <a:ext uri="{FF2B5EF4-FFF2-40B4-BE49-F238E27FC236}">
                <a16:creationId xmlns:a16="http://schemas.microsoft.com/office/drawing/2014/main" id="{56D3DF60-1A02-7496-CEEC-D17B35A12744}"/>
              </a:ext>
            </a:extLst>
          </p:cNvPr>
          <p:cNvGrpSpPr/>
          <p:nvPr/>
        </p:nvGrpSpPr>
        <p:grpSpPr>
          <a:xfrm>
            <a:off x="4893242" y="1580429"/>
            <a:ext cx="3905070" cy="3727551"/>
            <a:chOff x="4279925" y="621425"/>
            <a:chExt cx="2232000" cy="1832850"/>
          </a:xfrm>
        </p:grpSpPr>
        <p:cxnSp>
          <p:nvCxnSpPr>
            <p:cNvPr id="603" name="Google Shape;603;p38"/>
            <p:cNvCxnSpPr/>
            <p:nvPr/>
          </p:nvCxnSpPr>
          <p:spPr>
            <a:xfrm>
              <a:off x="4279925" y="2069875"/>
              <a:ext cx="2232000" cy="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cxnSp>
          <p:nvCxnSpPr>
            <p:cNvPr id="604" name="Google Shape;604;p38"/>
            <p:cNvCxnSpPr/>
            <p:nvPr/>
          </p:nvCxnSpPr>
          <p:spPr>
            <a:xfrm rot="10800000">
              <a:off x="4279925" y="621425"/>
              <a:ext cx="0" cy="1456200"/>
            </a:xfrm>
            <a:prstGeom prst="straightConnector1">
              <a:avLst/>
            </a:prstGeom>
            <a:noFill/>
            <a:ln w="38100" cap="flat" cmpd="sng">
              <a:solidFill>
                <a:schemeClr val="dk2"/>
              </a:solidFill>
              <a:prstDash val="solid"/>
              <a:round/>
              <a:headEnd type="none" w="med" len="med"/>
              <a:tailEnd type="none" w="med" len="med"/>
            </a:ln>
          </p:spPr>
        </p:cxnSp>
        <p:sp>
          <p:nvSpPr>
            <p:cNvPr id="605" name="Google Shape;605;p38"/>
            <p:cNvSpPr/>
            <p:nvPr/>
          </p:nvSpPr>
          <p:spPr>
            <a:xfrm>
              <a:off x="4752450" y="17135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6" name="Google Shape;606;p38"/>
            <p:cNvSpPr/>
            <p:nvPr/>
          </p:nvSpPr>
          <p:spPr>
            <a:xfrm>
              <a:off x="5273125" y="10605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07" name="Google Shape;607;p38"/>
            <p:cNvSpPr txBox="1"/>
            <p:nvPr/>
          </p:nvSpPr>
          <p:spPr>
            <a:xfrm>
              <a:off x="4501968" y="1547994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0</a:t>
              </a:r>
              <a:endParaRPr/>
            </a:p>
          </p:txBody>
        </p:sp>
        <p:sp>
          <p:nvSpPr>
            <p:cNvPr id="608" name="Google Shape;608;p38"/>
            <p:cNvSpPr txBox="1"/>
            <p:nvPr/>
          </p:nvSpPr>
          <p:spPr>
            <a:xfrm>
              <a:off x="5319625" y="1224975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1</a:t>
              </a:r>
              <a:endParaRPr/>
            </a:p>
          </p:txBody>
        </p:sp>
        <p:cxnSp>
          <p:nvCxnSpPr>
            <p:cNvPr id="609" name="Google Shape;609;p38"/>
            <p:cNvCxnSpPr/>
            <p:nvPr/>
          </p:nvCxnSpPr>
          <p:spPr>
            <a:xfrm rot="10800000">
              <a:off x="5319625" y="1153740"/>
              <a:ext cx="0" cy="629700"/>
            </a:xfrm>
            <a:prstGeom prst="straightConnector1">
              <a:avLst/>
            </a:prstGeom>
            <a:noFill/>
            <a:ln w="9525" cap="flat" cmpd="sng">
              <a:solidFill>
                <a:schemeClr val="bg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sp>
          <p:nvSpPr>
            <p:cNvPr id="610" name="Google Shape;610;p38"/>
            <p:cNvSpPr/>
            <p:nvPr/>
          </p:nvSpPr>
          <p:spPr>
            <a:xfrm>
              <a:off x="5837510" y="1289150"/>
              <a:ext cx="93000" cy="93000"/>
            </a:xfrm>
            <a:prstGeom prst="ellipse">
              <a:avLst/>
            </a:prstGeom>
            <a:solidFill>
              <a:srgbClr val="000000"/>
            </a:solidFill>
            <a:ln w="9525" cap="flat" cmpd="sng">
              <a:solidFill>
                <a:schemeClr val="dk2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611" name="Google Shape;611;p38"/>
            <p:cNvSpPr txBox="1"/>
            <p:nvPr/>
          </p:nvSpPr>
          <p:spPr>
            <a:xfrm>
              <a:off x="5884250" y="1408000"/>
              <a:ext cx="490500" cy="4260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𝛽</a:t>
              </a:r>
              <a:r>
                <a:rPr lang="en-GB" baseline="-25000">
                  <a:solidFill>
                    <a:schemeClr val="dk1"/>
                  </a:solidFill>
                  <a:latin typeface="Cabin"/>
                  <a:ea typeface="Cabin"/>
                  <a:cs typeface="Cabin"/>
                  <a:sym typeface="Cabin"/>
                </a:rPr>
                <a:t>2</a:t>
              </a:r>
              <a:endParaRPr/>
            </a:p>
          </p:txBody>
        </p:sp>
        <p:cxnSp>
          <p:nvCxnSpPr>
            <p:cNvPr id="612" name="Google Shape;612;p38"/>
            <p:cNvCxnSpPr/>
            <p:nvPr/>
          </p:nvCxnSpPr>
          <p:spPr>
            <a:xfrm rot="10800000">
              <a:off x="5890800" y="1382100"/>
              <a:ext cx="0" cy="401100"/>
            </a:xfrm>
            <a:prstGeom prst="straightConnector1">
              <a:avLst/>
            </a:prstGeom>
            <a:noFill/>
            <a:ln w="9525" cap="flat" cmpd="sng">
              <a:solidFill>
                <a:srgbClr val="F1C232"/>
              </a:solidFill>
              <a:prstDash val="solid"/>
              <a:round/>
              <a:headEnd type="none" w="med" len="med"/>
              <a:tailEnd type="triangle" w="med" len="med"/>
            </a:ln>
          </p:spPr>
        </p:cxnSp>
        <p:cxnSp>
          <p:nvCxnSpPr>
            <p:cNvPr id="613" name="Google Shape;613;p38"/>
            <p:cNvCxnSpPr/>
            <p:nvPr/>
          </p:nvCxnSpPr>
          <p:spPr>
            <a:xfrm>
              <a:off x="4845458" y="1770177"/>
              <a:ext cx="1039200" cy="0"/>
            </a:xfrm>
            <a:prstGeom prst="straightConnector1">
              <a:avLst/>
            </a:prstGeom>
            <a:noFill/>
            <a:ln w="9525" cap="flat" cmpd="sng">
              <a:solidFill>
                <a:schemeClr val="dk2"/>
              </a:solidFill>
              <a:prstDash val="dash"/>
              <a:round/>
              <a:headEnd type="none" w="med" len="med"/>
              <a:tailEnd type="none" w="med" len="med"/>
            </a:ln>
          </p:spPr>
        </p:cxnSp>
        <p:sp>
          <p:nvSpPr>
            <p:cNvPr id="614" name="Google Shape;614;p38"/>
            <p:cNvSpPr txBox="1"/>
            <p:nvPr/>
          </p:nvSpPr>
          <p:spPr>
            <a:xfrm>
              <a:off x="4651525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A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615" name="Google Shape;615;p38"/>
            <p:cNvSpPr txBox="1"/>
            <p:nvPr/>
          </p:nvSpPr>
          <p:spPr>
            <a:xfrm>
              <a:off x="5184925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B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  <p:sp>
          <p:nvSpPr>
            <p:cNvPr id="616" name="Google Shape;616;p38"/>
            <p:cNvSpPr txBox="1"/>
            <p:nvPr/>
          </p:nvSpPr>
          <p:spPr>
            <a:xfrm>
              <a:off x="5740688" y="2054075"/>
              <a:ext cx="298200" cy="400200"/>
            </a:xfrm>
            <a:prstGeom prst="rect">
              <a:avLst/>
            </a:prstGeom>
            <a:noFill/>
            <a:ln>
              <a:noFill/>
            </a:ln>
          </p:spPr>
          <p:txBody>
            <a:bodyPr spcFirstLastPara="1" wrap="square" lIns="91425" tIns="91425" rIns="91425" bIns="91425" anchor="t" anchorCtr="0">
              <a:sp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>
                  <a:latin typeface="Cabin"/>
                  <a:ea typeface="Cabin"/>
                  <a:cs typeface="Cabin"/>
                  <a:sym typeface="Cabin"/>
                </a:rPr>
                <a:t>C</a:t>
              </a:r>
              <a:endParaRPr>
                <a:latin typeface="Cabin"/>
                <a:ea typeface="Cabin"/>
                <a:cs typeface="Cabin"/>
                <a:sym typeface="Cabin"/>
              </a:endParaRP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2" name="Google Shape;642;p40"/>
          <p:cNvSpPr txBox="1"/>
          <p:nvPr/>
        </p:nvSpPr>
        <p:spPr>
          <a:xfrm>
            <a:off x="187600" y="582375"/>
            <a:ext cx="5534400" cy="22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Create DESeqDataSet object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Add model design:</a:t>
            </a:r>
            <a:endParaRPr>
              <a:latin typeface="Cabin"/>
              <a:ea typeface="Cabin"/>
              <a:cs typeface="Cabin"/>
              <a:sym typeface="Cabin"/>
            </a:endParaRPr>
          </a:p>
          <a:p>
            <a:pPr marL="0" lvl="0" indent="4572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design(dds) ← ~ treatment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Fit the statistical model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dds ← DESeq(dds)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Check coefficients for hypothesis testing</a:t>
            </a:r>
            <a:br>
              <a:rPr lang="en-GB">
                <a:latin typeface="Cabin"/>
                <a:ea typeface="Cabin"/>
                <a:cs typeface="Cabin"/>
                <a:sym typeface="Cabin"/>
              </a:rPr>
            </a:b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resultsNames(dds)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sp>
        <p:nvSpPr>
          <p:cNvPr id="643" name="Google Shape;643;p40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Model Specification in </a:t>
            </a:r>
            <a:r>
              <a:rPr lang="en-GB" i="1"/>
              <a:t>DESeq2</a:t>
            </a:r>
            <a:endParaRPr i="1"/>
          </a:p>
        </p:txBody>
      </p:sp>
      <p:cxnSp>
        <p:nvCxnSpPr>
          <p:cNvPr id="644" name="Google Shape;644;p40"/>
          <p:cNvCxnSpPr/>
          <p:nvPr/>
        </p:nvCxnSpPr>
        <p:spPr>
          <a:xfrm>
            <a:off x="4279925" y="2069875"/>
            <a:ext cx="2232000" cy="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45" name="Google Shape;645;p40"/>
          <p:cNvCxnSpPr/>
          <p:nvPr/>
        </p:nvCxnSpPr>
        <p:spPr>
          <a:xfrm rot="10800000">
            <a:off x="4279925" y="621425"/>
            <a:ext cx="0" cy="1456200"/>
          </a:xfrm>
          <a:prstGeom prst="straightConnector1">
            <a:avLst/>
          </a:prstGeom>
          <a:noFill/>
          <a:ln w="38100" cap="flat" cmpd="sng">
            <a:solidFill>
              <a:schemeClr val="dk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646" name="Google Shape;646;p40"/>
          <p:cNvSpPr/>
          <p:nvPr/>
        </p:nvSpPr>
        <p:spPr>
          <a:xfrm>
            <a:off x="4752450" y="17135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7" name="Google Shape;647;p40"/>
          <p:cNvSpPr/>
          <p:nvPr/>
        </p:nvSpPr>
        <p:spPr>
          <a:xfrm>
            <a:off x="5273125" y="10605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8" name="Google Shape;648;p40"/>
          <p:cNvSpPr txBox="1"/>
          <p:nvPr/>
        </p:nvSpPr>
        <p:spPr>
          <a:xfrm>
            <a:off x="4501968" y="1547994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endParaRPr/>
          </a:p>
        </p:txBody>
      </p:sp>
      <p:sp>
        <p:nvSpPr>
          <p:cNvPr id="649" name="Google Shape;649;p40"/>
          <p:cNvSpPr txBox="1"/>
          <p:nvPr/>
        </p:nvSpPr>
        <p:spPr>
          <a:xfrm>
            <a:off x="5319625" y="1224975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endParaRPr/>
          </a:p>
        </p:txBody>
      </p:sp>
      <p:cxnSp>
        <p:nvCxnSpPr>
          <p:cNvPr id="650" name="Google Shape;650;p40"/>
          <p:cNvCxnSpPr/>
          <p:nvPr/>
        </p:nvCxnSpPr>
        <p:spPr>
          <a:xfrm rot="10800000">
            <a:off x="5319625" y="1153740"/>
            <a:ext cx="0" cy="629700"/>
          </a:xfrm>
          <a:prstGeom prst="straightConnector1">
            <a:avLst/>
          </a:prstGeom>
          <a:noFill/>
          <a:ln w="9525" cap="flat" cmpd="sng">
            <a:solidFill>
              <a:srgbClr val="C27BA0"/>
            </a:solidFill>
            <a:prstDash val="solid"/>
            <a:round/>
            <a:headEnd type="none" w="med" len="med"/>
            <a:tailEnd type="triangle" w="med" len="med"/>
          </a:ln>
        </p:spPr>
      </p:cxnSp>
      <p:sp>
        <p:nvSpPr>
          <p:cNvPr id="651" name="Google Shape;651;p40"/>
          <p:cNvSpPr/>
          <p:nvPr/>
        </p:nvSpPr>
        <p:spPr>
          <a:xfrm>
            <a:off x="5837510" y="1289150"/>
            <a:ext cx="93000" cy="93000"/>
          </a:xfrm>
          <a:prstGeom prst="ellipse">
            <a:avLst/>
          </a:prstGeom>
          <a:solidFill>
            <a:srgbClr val="000000"/>
          </a:solidFill>
          <a:ln w="9525" cap="flat" cmpd="sng">
            <a:solidFill>
              <a:schemeClr val="dk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52" name="Google Shape;652;p40"/>
          <p:cNvSpPr txBox="1"/>
          <p:nvPr/>
        </p:nvSpPr>
        <p:spPr>
          <a:xfrm>
            <a:off x="5884250" y="1408000"/>
            <a:ext cx="490500" cy="4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endParaRPr/>
          </a:p>
        </p:txBody>
      </p:sp>
      <p:cxnSp>
        <p:nvCxnSpPr>
          <p:cNvPr id="653" name="Google Shape;653;p40"/>
          <p:cNvCxnSpPr/>
          <p:nvPr/>
        </p:nvCxnSpPr>
        <p:spPr>
          <a:xfrm rot="10800000">
            <a:off x="5890800" y="1382100"/>
            <a:ext cx="0" cy="401100"/>
          </a:xfrm>
          <a:prstGeom prst="straightConnector1">
            <a:avLst/>
          </a:prstGeom>
          <a:noFill/>
          <a:ln w="9525" cap="flat" cmpd="sng">
            <a:solidFill>
              <a:srgbClr val="F1C232"/>
            </a:solidFill>
            <a:prstDash val="solid"/>
            <a:round/>
            <a:headEnd type="none" w="med" len="med"/>
            <a:tailEnd type="triangle" w="med" len="med"/>
          </a:ln>
        </p:spPr>
      </p:cxnSp>
      <p:cxnSp>
        <p:nvCxnSpPr>
          <p:cNvPr id="654" name="Google Shape;654;p40"/>
          <p:cNvCxnSpPr/>
          <p:nvPr/>
        </p:nvCxnSpPr>
        <p:spPr>
          <a:xfrm>
            <a:off x="4845458" y="1770177"/>
            <a:ext cx="1039200" cy="0"/>
          </a:xfrm>
          <a:prstGeom prst="straightConnector1">
            <a:avLst/>
          </a:prstGeom>
          <a:noFill/>
          <a:ln w="9525" cap="flat" cmpd="sng">
            <a:solidFill>
              <a:schemeClr val="dk2"/>
            </a:solidFill>
            <a:prstDash val="dash"/>
            <a:round/>
            <a:headEnd type="none" w="med" len="med"/>
            <a:tailEnd type="none" w="med" len="med"/>
          </a:ln>
        </p:spPr>
      </p:cxnSp>
      <p:sp>
        <p:nvSpPr>
          <p:cNvPr id="655" name="Google Shape;655;p40"/>
          <p:cNvSpPr txBox="1"/>
          <p:nvPr/>
        </p:nvSpPr>
        <p:spPr>
          <a:xfrm>
            <a:off x="6153624" y="618375"/>
            <a:ext cx="3090115" cy="20959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 err="1">
                <a:latin typeface="Cabin"/>
                <a:ea typeface="Cabin"/>
                <a:cs typeface="Cabin"/>
                <a:sym typeface="Cabin"/>
              </a:rPr>
              <a:t>DESeq</a:t>
            </a:r>
            <a:r>
              <a:rPr lang="en-GB" dirty="0">
                <a:latin typeface="Cabin"/>
                <a:ea typeface="Cabin"/>
                <a:cs typeface="Cabin"/>
                <a:sym typeface="Cabin"/>
              </a:rPr>
              <a:t> coefficient names:</a:t>
            </a: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0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Intercept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1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treatment_B_vs_A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45720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𝛽</a:t>
            </a:r>
            <a:r>
              <a:rPr lang="en-GB" baseline="-25000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dirty="0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 → </a:t>
            </a:r>
            <a:r>
              <a:rPr lang="en-GB" dirty="0" err="1">
                <a:solidFill>
                  <a:schemeClr val="dk1"/>
                </a:solidFill>
                <a:latin typeface="Cabin"/>
                <a:ea typeface="Cabin"/>
                <a:cs typeface="Cabin"/>
                <a:sym typeface="Cabin"/>
              </a:rPr>
              <a:t>treatment_C_vs_A</a:t>
            </a:r>
            <a:endParaRPr dirty="0">
              <a:solidFill>
                <a:schemeClr val="dk1"/>
              </a:solidFill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endParaRPr dirty="0">
              <a:latin typeface="Cabin"/>
              <a:ea typeface="Cabin"/>
              <a:cs typeface="Cabin"/>
              <a:sym typeface="Cabin"/>
            </a:endParaRPr>
          </a:p>
        </p:txBody>
      </p:sp>
      <p:graphicFrame>
        <p:nvGraphicFramePr>
          <p:cNvPr id="656" name="Google Shape;656;p40"/>
          <p:cNvGraphicFramePr/>
          <p:nvPr/>
        </p:nvGraphicFramePr>
        <p:xfrm>
          <a:off x="770775" y="3444275"/>
          <a:ext cx="2222750" cy="1602875"/>
        </p:xfrm>
        <a:graphic>
          <a:graphicData uri="http://schemas.openxmlformats.org/drawingml/2006/table">
            <a:tbl>
              <a:tblPr>
                <a:noFill/>
                <a:tableStyleId>{9C895900-14CC-4243-8230-97016A6E15D6}</a:tableStyleId>
              </a:tblPr>
              <a:tblGrid>
                <a:gridCol w="7034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1932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635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300"/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/>
                        <a:t>Null Hypothesis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B vs A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1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96200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C vs A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2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04125"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C vs B</a:t>
                      </a:r>
                      <a:endParaRPr sz="1300">
                        <a:solidFill>
                          <a:schemeClr val="dk1"/>
                        </a:solidFill>
                        <a:latin typeface="Cabin"/>
                        <a:ea typeface="Cabin"/>
                        <a:cs typeface="Cabin"/>
                        <a:sym typeface="Cabin"/>
                      </a:endParaRPr>
                    </a:p>
                  </a:txBody>
                  <a:tcPr marL="91425" marR="91425" marT="91425" marB="91425"/>
                </a:tc>
                <a:tc>
                  <a:txBody>
                    <a:bodyPr/>
                    <a:lstStyle/>
                    <a:p>
                      <a:pPr marL="0" lvl="0" indent="0" algn="ctr" rtl="0"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2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- 𝛽</a:t>
                      </a:r>
                      <a:r>
                        <a:rPr lang="en-GB" sz="1300" baseline="-250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1</a:t>
                      </a:r>
                      <a:r>
                        <a:rPr lang="en-GB" sz="1300">
                          <a:solidFill>
                            <a:schemeClr val="dk1"/>
                          </a:solidFill>
                          <a:latin typeface="Cabin"/>
                          <a:ea typeface="Cabin"/>
                          <a:cs typeface="Cabin"/>
                          <a:sym typeface="Cabin"/>
                        </a:rPr>
                        <a:t> = 0</a:t>
                      </a:r>
                      <a:endParaRPr sz="1300"/>
                    </a:p>
                  </a:txBody>
                  <a:tcPr marL="91425" marR="91425" marT="91425" marB="91425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657" name="Google Shape;657;p40"/>
          <p:cNvSpPr txBox="1"/>
          <p:nvPr/>
        </p:nvSpPr>
        <p:spPr>
          <a:xfrm>
            <a:off x="4651525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A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58" name="Google Shape;658;p40"/>
          <p:cNvSpPr txBox="1"/>
          <p:nvPr/>
        </p:nvSpPr>
        <p:spPr>
          <a:xfrm>
            <a:off x="5184925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B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  <p:sp>
        <p:nvSpPr>
          <p:cNvPr id="659" name="Google Shape;659;p40"/>
          <p:cNvSpPr txBox="1"/>
          <p:nvPr/>
        </p:nvSpPr>
        <p:spPr>
          <a:xfrm>
            <a:off x="5740688" y="2054075"/>
            <a:ext cx="298200" cy="4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>
                <a:latin typeface="Cabin"/>
                <a:ea typeface="Cabin"/>
                <a:cs typeface="Cabin"/>
                <a:sym typeface="Cabin"/>
              </a:rPr>
              <a:t>C</a:t>
            </a:r>
            <a:endParaRPr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6" name="Google Shape;686;p42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9255512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 dirty="0">
                <a:solidFill>
                  <a:schemeClr val="dk2"/>
                </a:solidFill>
              </a:rPr>
              <a:t>Model Specification in </a:t>
            </a:r>
            <a:r>
              <a:rPr lang="en-GB" sz="2800" i="1" dirty="0">
                <a:solidFill>
                  <a:schemeClr val="dk2"/>
                </a:solidFill>
              </a:rPr>
              <a:t>DESeq2</a:t>
            </a:r>
            <a:r>
              <a:rPr lang="en-GB" sz="2800" dirty="0">
                <a:solidFill>
                  <a:schemeClr val="dk2"/>
                </a:solidFill>
              </a:rPr>
              <a:t> | </a:t>
            </a:r>
            <a:r>
              <a:rPr lang="en-GB" sz="2800" dirty="0"/>
              <a:t>Interpreting Results</a:t>
            </a:r>
            <a:endParaRPr sz="2800" dirty="0"/>
          </a:p>
        </p:txBody>
      </p:sp>
      <p:sp>
        <p:nvSpPr>
          <p:cNvPr id="687" name="Google Shape;687;p42"/>
          <p:cNvSpPr txBox="1"/>
          <p:nvPr/>
        </p:nvSpPr>
        <p:spPr>
          <a:xfrm>
            <a:off x="195075" y="516925"/>
            <a:ext cx="5534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20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results(dds, contrast = list(“treatment_B_vs_A”))</a:t>
            </a:r>
            <a:endParaRPr sz="120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</p:txBody>
      </p:sp>
      <p:pic>
        <p:nvPicPr>
          <p:cNvPr id="688" name="Google Shape;688;p4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74100" y="956825"/>
            <a:ext cx="4815501" cy="2078525"/>
          </a:xfrm>
          <a:prstGeom prst="rect">
            <a:avLst/>
          </a:prstGeom>
          <a:noFill/>
          <a:ln>
            <a:noFill/>
          </a:ln>
        </p:spPr>
      </p:pic>
      <p:sp>
        <p:nvSpPr>
          <p:cNvPr id="689" name="Google Shape;689;p42"/>
          <p:cNvSpPr txBox="1"/>
          <p:nvPr/>
        </p:nvSpPr>
        <p:spPr>
          <a:xfrm>
            <a:off x="1281325" y="3127200"/>
            <a:ext cx="5419200" cy="212362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baseMean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Mean across </a:t>
            </a:r>
            <a:r>
              <a:rPr lang="en-GB" sz="1400" i="1" dirty="0">
                <a:latin typeface="Cabin"/>
                <a:ea typeface="Cabin"/>
                <a:cs typeface="Cabin"/>
                <a:sym typeface="Cabin"/>
              </a:rPr>
              <a:t>all 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samples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log2FoldChange → log</a:t>
            </a:r>
            <a:r>
              <a:rPr lang="en-GB" sz="1400" baseline="-25000" dirty="0">
                <a:latin typeface="Cabin"/>
                <a:ea typeface="Cabin"/>
                <a:cs typeface="Cabin"/>
                <a:sym typeface="Cabin"/>
              </a:rPr>
              <a:t>2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(B/A) i.e. the difference between treatments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lfcSE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standard error of the log2FoldChange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stat → the test statistic = log2FoldChange/</a:t>
            </a: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lfcSE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pvalue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p-value of the Wald test 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 dirty="0" err="1">
                <a:latin typeface="Cabin"/>
                <a:ea typeface="Cabin"/>
                <a:cs typeface="Cabin"/>
                <a:sym typeface="Cabin"/>
              </a:rPr>
              <a:t>padj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→ the p-value adjusted for multiple testing (false discovery rate)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D5C1446-6BF6-1BFF-2559-928AC84A84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03742"/>
            <a:ext cx="7886700" cy="492443"/>
          </a:xfrm>
        </p:spPr>
        <p:txBody>
          <a:bodyPr/>
          <a:lstStyle/>
          <a:p>
            <a:r>
              <a:rPr lang="en-GB" sz="3200" dirty="0"/>
              <a:t>Likelihood-ratio Test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43B479-C8BD-2FB1-6D57-F77158F8A1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4319" y="656278"/>
            <a:ext cx="8470669" cy="4242187"/>
          </a:xfrm>
        </p:spPr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default test in DESeq2 is the Wald test, testing for null hypothesis that LFC = 0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</a:t>
            </a:r>
            <a:r>
              <a:rPr lang="en-US" b="1" dirty="0"/>
              <a:t>Likelihood Ratio Test</a:t>
            </a:r>
            <a:r>
              <a:rPr lang="en-US" dirty="0"/>
              <a:t> is an alternative when evaluating expression change across more than two levels. Can be especially useful in analyzing time course experiments.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The test determines if the increased likelihood of the data using the extra terms in the full model is more than expected if those extra terms are truly zero.</a:t>
            </a:r>
          </a:p>
          <a:p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Outputs can be used to identify gene clusters </a:t>
            </a:r>
          </a:p>
          <a:p>
            <a:r>
              <a:rPr lang="en-US" dirty="0"/>
              <a:t>      exhibiting particular patterns across samples.</a:t>
            </a:r>
          </a:p>
          <a:p>
            <a:endParaRPr lang="en-US" dirty="0"/>
          </a:p>
          <a:p>
            <a:r>
              <a:rPr lang="en-US" dirty="0"/>
              <a:t>Useful tutorials: </a:t>
            </a:r>
            <a:r>
              <a:rPr lang="en-US" dirty="0">
                <a:hlinkClick r:id="rId2"/>
              </a:rPr>
              <a:t>1</a:t>
            </a:r>
            <a:r>
              <a:rPr lang="en-US" dirty="0"/>
              <a:t>, </a:t>
            </a:r>
            <a:r>
              <a:rPr lang="en-US" dirty="0">
                <a:hlinkClick r:id="rId3"/>
              </a:rPr>
              <a:t>2</a:t>
            </a:r>
            <a:endParaRPr lang="en-US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5018C4-4E78-BAC9-8004-7CF5EEAA738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14678" b="31236"/>
          <a:stretch/>
        </p:blipFill>
        <p:spPr bwMode="auto">
          <a:xfrm>
            <a:off x="4779532" y="2867891"/>
            <a:ext cx="4314591" cy="224879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0332108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6" name="Google Shape;786;p47"/>
          <p:cNvSpPr txBox="1">
            <a:spLocks noGrp="1"/>
          </p:cNvSpPr>
          <p:nvPr>
            <p:ph type="title"/>
          </p:nvPr>
        </p:nvSpPr>
        <p:spPr>
          <a:xfrm>
            <a:off x="0" y="38750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Conclusions</a:t>
            </a:r>
            <a:endParaRPr/>
          </a:p>
        </p:txBody>
      </p:sp>
      <p:sp>
        <p:nvSpPr>
          <p:cNvPr id="787" name="Google Shape;787;p47"/>
          <p:cNvSpPr txBox="1"/>
          <p:nvPr/>
        </p:nvSpPr>
        <p:spPr>
          <a:xfrm>
            <a:off x="302100" y="766875"/>
            <a:ext cx="8094900" cy="39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Differential expression tests are based on linear models, where the gene expression is modelled as an outcome of several variables of interest (e.g. treatment, genotype, infection status, etc.).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Linear models use </a:t>
            </a:r>
            <a:r>
              <a:rPr lang="en-GB" sz="1400" i="1" dirty="0">
                <a:latin typeface="Cabin"/>
                <a:ea typeface="Cabin"/>
                <a:cs typeface="Cabin"/>
                <a:sym typeface="Cabin"/>
              </a:rPr>
              <a:t>indicator or dummy variables</a:t>
            </a: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 to encode categorical variables in a model matrix.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To define models in R/DESeq2 we use the formula syntax: 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variables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Some common models are: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Single factor: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Two factor, additive: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 + variable2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914400" lvl="1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Two factor, interaction:  </a:t>
            </a:r>
            <a:r>
              <a:rPr lang="en-GB" sz="1400" dirty="0">
                <a:solidFill>
                  <a:schemeClr val="dk2"/>
                </a:solidFill>
                <a:latin typeface="Courier New"/>
                <a:ea typeface="Courier New"/>
                <a:cs typeface="Courier New"/>
                <a:sym typeface="Courier New"/>
              </a:rPr>
              <a:t>~ variable1 + variable2 + variable1:variable2</a:t>
            </a:r>
            <a:endParaRPr sz="1400" dirty="0">
              <a:solidFill>
                <a:schemeClr val="dk2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Interpreting our model coefficients allows us to define hypothesis/comparisons/contrasts of interest.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  <a:p>
            <a:pPr marL="457200" lvl="0" indent="-31750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400"/>
              <a:buFont typeface="Cabin"/>
              <a:buChar char="-"/>
            </a:pPr>
            <a:r>
              <a:rPr lang="en-GB" sz="1400" dirty="0">
                <a:latin typeface="Cabin"/>
                <a:ea typeface="Cabin"/>
                <a:cs typeface="Cabin"/>
                <a:sym typeface="Cabin"/>
              </a:rPr>
              <a:t>In DESeq2 we use the `results()` function to obtain the log2(fold-change) in gene expression between groups of interest ("contrast").</a:t>
            </a:r>
            <a:endParaRPr sz="1400" dirty="0">
              <a:latin typeface="Cabin"/>
              <a:ea typeface="Cabin"/>
              <a:cs typeface="Cabin"/>
              <a:sym typeface="Cabi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ncer Research UK">
  <a:themeElements>
    <a:clrScheme name="Cancer Research 2">
      <a:dk1>
        <a:srgbClr val="58595B"/>
      </a:dk1>
      <a:lt1>
        <a:sysClr val="window" lastClr="FFFFFF"/>
      </a:lt1>
      <a:dk2>
        <a:srgbClr val="2E008B"/>
      </a:dk2>
      <a:lt2>
        <a:srgbClr val="EC008C"/>
      </a:lt2>
      <a:accent1>
        <a:srgbClr val="00B6ED"/>
      </a:accent1>
      <a:accent2>
        <a:srgbClr val="A7A8AA"/>
      </a:accent2>
      <a:accent3>
        <a:srgbClr val="AB99D1"/>
      </a:accent3>
      <a:accent4>
        <a:srgbClr val="F799D1"/>
      </a:accent4>
      <a:accent5>
        <a:srgbClr val="99E2F8"/>
      </a:accent5>
      <a:accent6>
        <a:srgbClr val="D9D9D8"/>
      </a:accent6>
      <a:hlink>
        <a:srgbClr val="AB99D1"/>
      </a:hlink>
      <a:folHlink>
        <a:srgbClr val="99E2F8"/>
      </a:folHlink>
    </a:clrScheme>
    <a:fontScheme name="Cancer Research UK - specialist">
      <a:majorFont>
        <a:latin typeface="Calibri Light"/>
        <a:ea typeface=""/>
        <a:cs typeface=""/>
      </a:majorFont>
      <a:minorFont>
        <a:latin typeface="Calibr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UK Cambridge Institute PowerPoint" id="{7F2FA565-B8A7-414D-8B6A-780025C40E31}" vid="{68DF0E8F-ECF8-C749-9041-F0F08C90BC78}"/>
    </a:ext>
  </a:extLst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CRUK Cambridge Institute PowerPoint</Template>
  <TotalTime>1869</TotalTime>
  <Words>1659</Words>
  <Application>Microsoft Macintosh PowerPoint</Application>
  <PresentationFormat>On-screen Show (16:9)</PresentationFormat>
  <Paragraphs>370</Paragraphs>
  <Slides>20</Slides>
  <Notes>19</Notes>
  <HiddenSlides>1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7" baseType="lpstr">
      <vt:lpstr>Calibri Light</vt:lpstr>
      <vt:lpstr>Avenir Book</vt:lpstr>
      <vt:lpstr>Cabin</vt:lpstr>
      <vt:lpstr>Courier New</vt:lpstr>
      <vt:lpstr>Arial</vt:lpstr>
      <vt:lpstr>Calibri</vt:lpstr>
      <vt:lpstr>Cancer Research UK</vt:lpstr>
      <vt:lpstr>Models And Contrasts In R And Deseq2</vt:lpstr>
      <vt:lpstr>Outline</vt:lpstr>
      <vt:lpstr>Linear Model</vt:lpstr>
      <vt:lpstr>Linear Models in R | Categorical Variables </vt:lpstr>
      <vt:lpstr>Linear Models in R | Categorical Variables </vt:lpstr>
      <vt:lpstr>Linear Models in R | Categorical Variables </vt:lpstr>
      <vt:lpstr>Linear Models in R | Null Hypothesis Testing</vt:lpstr>
      <vt:lpstr>Thought Experiment</vt:lpstr>
      <vt:lpstr>Linear Models in R | Model Specification</vt:lpstr>
      <vt:lpstr>Linear Models in R | Model Specification </vt:lpstr>
      <vt:lpstr>Linear Models in R | Model Specification </vt:lpstr>
      <vt:lpstr>Common Designs </vt:lpstr>
      <vt:lpstr>Common Designs | One factor, 3 levels</vt:lpstr>
      <vt:lpstr>Model Designs | Two factors - additive model</vt:lpstr>
      <vt:lpstr>Model Designs | Two factors - interaction model</vt:lpstr>
      <vt:lpstr>Model Specification in DESeq2</vt:lpstr>
      <vt:lpstr>Model Specification in DESeq2</vt:lpstr>
      <vt:lpstr>Model Specification in DESeq2 | Interpreting Results</vt:lpstr>
      <vt:lpstr>Likelihood-ratio Test</vt:lpstr>
      <vt:lpstr>Conclusions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Models and contrasts in R/DESeq2</dc:title>
  <cp:lastModifiedBy>Ashley Sawle</cp:lastModifiedBy>
  <cp:revision>53</cp:revision>
  <dcterms:modified xsi:type="dcterms:W3CDTF">2026-01-15T15:15:46Z</dcterms:modified>
</cp:coreProperties>
</file>