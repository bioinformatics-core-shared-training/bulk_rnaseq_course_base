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5" r:id="rId1"/>
    <p:sldMasterId id="2147483689" r:id="rId2"/>
  </p:sldMasterIdLst>
  <p:notesMasterIdLst>
    <p:notesMasterId r:id="rId63"/>
  </p:notesMasterIdLst>
  <p:handoutMasterIdLst>
    <p:handoutMasterId r:id="rId64"/>
  </p:handoutMasterIdLst>
  <p:sldIdLst>
    <p:sldId id="256" r:id="rId3"/>
    <p:sldId id="257" r:id="rId4"/>
    <p:sldId id="262" r:id="rId5"/>
    <p:sldId id="263" r:id="rId6"/>
    <p:sldId id="448" r:id="rId7"/>
    <p:sldId id="265" r:id="rId8"/>
    <p:sldId id="266" r:id="rId9"/>
    <p:sldId id="324" r:id="rId10"/>
    <p:sldId id="268" r:id="rId11"/>
    <p:sldId id="269" r:id="rId12"/>
    <p:sldId id="270" r:id="rId13"/>
    <p:sldId id="271" r:id="rId14"/>
    <p:sldId id="446" r:id="rId15"/>
    <p:sldId id="272" r:id="rId16"/>
    <p:sldId id="273" r:id="rId17"/>
    <p:sldId id="274" r:id="rId18"/>
    <p:sldId id="275" r:id="rId19"/>
    <p:sldId id="276" r:id="rId20"/>
    <p:sldId id="277" r:id="rId21"/>
    <p:sldId id="278" r:id="rId22"/>
    <p:sldId id="445" r:id="rId23"/>
    <p:sldId id="280" r:id="rId24"/>
    <p:sldId id="281" r:id="rId25"/>
    <p:sldId id="282" r:id="rId26"/>
    <p:sldId id="283" r:id="rId27"/>
    <p:sldId id="284" r:id="rId28"/>
    <p:sldId id="285" r:id="rId29"/>
    <p:sldId id="286" r:id="rId30"/>
    <p:sldId id="287" r:id="rId31"/>
    <p:sldId id="288" r:id="rId32"/>
    <p:sldId id="289" r:id="rId33"/>
    <p:sldId id="291" r:id="rId34"/>
    <p:sldId id="292" r:id="rId35"/>
    <p:sldId id="293" r:id="rId36"/>
    <p:sldId id="294" r:id="rId37"/>
    <p:sldId id="297" r:id="rId38"/>
    <p:sldId id="298" r:id="rId39"/>
    <p:sldId id="299" r:id="rId40"/>
    <p:sldId id="300" r:id="rId41"/>
    <p:sldId id="301" r:id="rId42"/>
    <p:sldId id="302" r:id="rId43"/>
    <p:sldId id="449" r:id="rId44"/>
    <p:sldId id="450" r:id="rId45"/>
    <p:sldId id="452" r:id="rId46"/>
    <p:sldId id="456" r:id="rId47"/>
    <p:sldId id="451" r:id="rId48"/>
    <p:sldId id="453" r:id="rId49"/>
    <p:sldId id="457" r:id="rId50"/>
    <p:sldId id="303" r:id="rId51"/>
    <p:sldId id="304" r:id="rId52"/>
    <p:sldId id="305" r:id="rId53"/>
    <p:sldId id="309" r:id="rId54"/>
    <p:sldId id="455" r:id="rId55"/>
    <p:sldId id="311" r:id="rId56"/>
    <p:sldId id="454" r:id="rId57"/>
    <p:sldId id="321" r:id="rId58"/>
    <p:sldId id="322" r:id="rId59"/>
    <p:sldId id="319" r:id="rId60"/>
    <p:sldId id="320" r:id="rId61"/>
    <p:sldId id="323" r:id="rId62"/>
  </p:sldIdLst>
  <p:sldSz cx="24384000" cy="13716000"/>
  <p:notesSz cx="6858000" cy="9144000"/>
  <p:embeddedFontLst>
    <p:embeddedFont>
      <p:font typeface="Avenir" panose="02000503020000020003" pitchFamily="2" charset="0"/>
      <p:regular r:id="rId65"/>
      <p:italic r:id="rId66"/>
    </p:embeddedFont>
    <p:embeddedFont>
      <p:font typeface="Avenir Book" panose="02000503020000020003" pitchFamily="2" charset="0"/>
      <p:regular r:id="rId67"/>
      <p:italic r:id="rId68"/>
    </p:embeddedFont>
    <p:embeddedFont>
      <p:font typeface="Helvetica Neue" panose="02000503000000020004" pitchFamily="2" charset="0"/>
      <p:regular r:id="rId69"/>
      <p:bold r:id="rId70"/>
      <p:italic r:id="rId71"/>
      <p:boldItalic r:id="rId72"/>
    </p:embeddedFont>
    <p:embeddedFont>
      <p:font typeface="Times" panose="020B7200000000000000" pitchFamily="34" charset="0"/>
      <p:regular r:id="rId7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69"/>
    <p:restoredTop sz="78095"/>
  </p:normalViewPr>
  <p:slideViewPr>
    <p:cSldViewPr snapToGrid="0">
      <p:cViewPr varScale="1">
        <p:scale>
          <a:sx n="57" d="100"/>
          <a:sy n="57" d="100"/>
        </p:scale>
        <p:origin x="1752"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notesMaster" Target="notesMasters/notesMaster1.xml"/><Relationship Id="rId68" Type="http://schemas.openxmlformats.org/officeDocument/2006/relationships/font" Target="fonts/font4.fntdata"/><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font" Target="fonts/font2.fntdata"/><Relationship Id="rId74"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handoutMaster" Target="handoutMasters/handoutMaster1.xml"/><Relationship Id="rId69" Type="http://schemas.openxmlformats.org/officeDocument/2006/relationships/font" Target="fonts/font5.fntdata"/><Relationship Id="rId77"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8.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font" Target="fonts/font3.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font" Target="fonts/font6.fntdata"/><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font" Target="fonts/font1.fntdata"/><Relationship Id="rId73" Type="http://schemas.openxmlformats.org/officeDocument/2006/relationships/font" Target="fonts/font9.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font" Target="fonts/font7.fntdata"/><Relationship Id="rId2" Type="http://schemas.openxmlformats.org/officeDocument/2006/relationships/slideMaster" Target="slideMasters/slideMaster2.xml"/><Relationship Id="rId29"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2CEE983-FB73-CF42-9F63-48FB5646E15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2C3DAE8-AB34-FC4D-A05C-4544B0C003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38249E-EBC0-8A44-B25B-11D9078E18AC}" type="datetimeFigureOut">
              <a:rPr lang="en-US" smtClean="0"/>
              <a:t>10/21/25</a:t>
            </a:fld>
            <a:endParaRPr lang="en-US"/>
          </a:p>
        </p:txBody>
      </p:sp>
      <p:sp>
        <p:nvSpPr>
          <p:cNvPr id="4" name="Footer Placeholder 3">
            <a:extLst>
              <a:ext uri="{FF2B5EF4-FFF2-40B4-BE49-F238E27FC236}">
                <a16:creationId xmlns:a16="http://schemas.microsoft.com/office/drawing/2014/main" id="{1EEC05FE-E7C4-5947-8497-A1CC6DC0E6E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41BAA72-6FDE-7F4A-89BC-205B86FFB94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C31DE33-F4E8-8941-8551-6B62F849527B}" type="slidenum">
              <a:rPr lang="en-US" smtClean="0"/>
              <a:t>‹#›</a:t>
            </a:fld>
            <a:endParaRPr lang="en-US"/>
          </a:p>
        </p:txBody>
      </p:sp>
    </p:spTree>
    <p:extLst>
      <p:ext uri="{BB962C8B-B14F-4D97-AF65-F5344CB8AC3E}">
        <p14:creationId xmlns:p14="http://schemas.microsoft.com/office/powerpoint/2010/main" val="716823418"/>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1pPr>
            <a:lvl2pPr marL="914400" marR="0" lvl="1"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2pPr>
            <a:lvl3pPr marL="1371600" marR="0" lvl="2"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3pPr>
            <a:lvl4pPr marL="1828800" marR="0" lvl="3"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4pPr>
            <a:lvl5pPr marL="2286000" marR="0" lvl="4"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5pPr>
            <a:lvl6pPr marL="2743200" marR="0" lvl="5"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6pPr>
            <a:lvl7pPr marL="3200400" marR="0" lvl="6"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7pPr>
            <a:lvl8pPr marL="3657600" marR="0" lvl="7"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8pPr>
            <a:lvl9pPr marL="4114800" marR="0" lvl="8"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9pPr>
          </a:lstStyle>
          <a:p>
            <a:endParaRPr/>
          </a:p>
        </p:txBody>
      </p:sp>
    </p:spTree>
  </p:cSld>
  <p:clrMap bg1="lt1" tx1="dk1" bg2="dk2" tx2="lt2" accent1="accent1" accent2="accent2" accent3="accent3" accent4="accent4" accent5="accent5" accent6="accent6" hlink="hlink" folHlink="folHlink"/>
  <p:hf sldNum="0"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In this session we’re going to cover some of the main statistical concepts that are relevant to differential expression analysis in RNA-seq data. </a:t>
            </a:r>
            <a:r>
              <a:rPr lang="en-US" dirty="0"/>
              <a:t>We will also talk a little bit about experimental design and how it can impact the analysis of these data. </a:t>
            </a:r>
            <a:endParaRPr dirty="0"/>
          </a:p>
          <a:p>
            <a:pPr marL="0" lvl="0" indent="0" algn="l" rtl="0">
              <a:spcBef>
                <a:spcPts val="0"/>
              </a:spcBef>
              <a:spcAft>
                <a:spcPts val="0"/>
              </a:spcAft>
              <a:buNone/>
            </a:pPr>
            <a:r>
              <a:rPr lang="en-US" dirty="0"/>
              <a:t>This is not a deep statistics lecture, but rather a brief overview of the key concepts.</a:t>
            </a:r>
            <a:endParaRPr dirty="0"/>
          </a:p>
        </p:txBody>
      </p:sp>
      <p:sp>
        <p:nvSpPr>
          <p:cNvPr id="74" name="Google Shape;7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In particular, our primary objective is to understand the meaning of the main output we will get from our differential expression analysis with DESeq2, which is a results table illustrated here (we will cover this in detail in a practical later in the course). </a:t>
            </a:r>
            <a:endParaRPr dirty="0"/>
          </a:p>
        </p:txBody>
      </p:sp>
      <p:sp>
        <p:nvSpPr>
          <p:cNvPr id="80" name="Google Shape;8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GB" dirty="0"/>
              <a:t> </a:t>
            </a:r>
            <a:endParaRPr dirty="0"/>
          </a:p>
        </p:txBody>
      </p:sp>
      <p:sp>
        <p:nvSpPr>
          <p:cNvPr id="227" name="Google Shape;227;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3" name="Google Shape;23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0" name="Google Shape;250;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1" name="Google Shape;261;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2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7334786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9" name="Google Shape;299;p2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r>
              <a:rPr lang="en-US" sz="2200">
                <a:latin typeface="Helvetica Neue"/>
                <a:ea typeface="Helvetica Neue"/>
                <a:cs typeface="Helvetica Neue"/>
                <a:sym typeface="Helvetica Neue"/>
              </a:rPr>
              <a:t>Inference means two things: estimating population parameters and testing hypothesis regarding the population distribution.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6" name="Google Shape;326;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r>
              <a:rPr lang="en-US" sz="2200">
                <a:latin typeface="Helvetica Neue"/>
                <a:ea typeface="Helvetica Neue"/>
                <a:cs typeface="Helvetica Neue"/>
                <a:sym typeface="Helvetica Neue"/>
              </a:rPr>
              <a:t>Inference means two things: estimating population parameters and testing hypothesis regarding the population distribution.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2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56" name="Google Shape;356;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4" name="Google Shape;364;p2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r>
              <a:rPr lang="en-US" sz="2200">
                <a:latin typeface="Helvetica Neue"/>
                <a:ea typeface="Helvetica Neue"/>
                <a:cs typeface="Helvetica Neue"/>
                <a:sym typeface="Helvetica Neue"/>
              </a:rPr>
              <a:t>We assume that the sampling distribution is normal - we have 100 observations, that's not an unreasonable assumption to make. If we assume the null hypothesis is true, the mean of the sampling distribution will be the same as the population mean, which is 1.2 seconds.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2" name="Google Shape;372;p2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r>
              <a:rPr lang="en-US" sz="2200">
                <a:latin typeface="Helvetica Neue"/>
                <a:ea typeface="Helvetica Neue"/>
                <a:cs typeface="Helvetica Neue"/>
                <a:sym typeface="Helvetica Neue"/>
              </a:rPr>
              <a:t>We assume that the sampling distribution is normal - we have 100 observations, that's not an unreasonable assumption to make. If we assume the null hypothesis is true, the mean of the sampling distribution will be the same as the population mean, which is 1.2 seconds.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5" name="Google Shape;385;p3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r>
              <a:rPr lang="en-US" sz="2200">
                <a:latin typeface="Helvetica Neue"/>
                <a:ea typeface="Helvetica Neue"/>
                <a:cs typeface="Helvetica Neue"/>
                <a:sym typeface="Helvetica Neue"/>
              </a:rPr>
              <a:t>We assume that the sampling distribution is normal - we have 100 observations, that's not an unreasonable assumption to make. If we assume the null hypothesis is true, the mean of the sampling distribution will be the same as the population mean, which is 1.2 seconds.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0" name="Google Shape;400;p3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r>
              <a:rPr lang="en-US" sz="2200">
                <a:latin typeface="Helvetica Neue"/>
                <a:ea typeface="Helvetica Neue"/>
                <a:cs typeface="Helvetica Neue"/>
                <a:sym typeface="Helvetica Neue"/>
              </a:rPr>
              <a:t>We assume that the sampling distribution is normal - we have 100 observations, that's not an unreasonable assumption to make. If we assume the null hypothesis is true, the mean of the sampling distribution will be the same as the population mean, which is 1.2 seconds.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3" name="Google Shape;423;p3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r>
              <a:rPr lang="en-US" sz="2200">
                <a:latin typeface="Helvetica Neue"/>
                <a:ea typeface="Helvetica Neue"/>
                <a:cs typeface="Helvetica Neue"/>
                <a:sym typeface="Helvetica Neue"/>
              </a:rPr>
              <a:t>We assume that the sampling distribution is normal - we have 100 observations, that's not an unreasonable assumption to make. If we assume the null hypothesis is true, the mean of the sampling distribution will be the same as the population mean, which is 1.2 seconds.</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3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39" name="Google Shape;439;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3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8" name="Google Shape;46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47" name="Google Shape;547;p3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r>
              <a:rPr lang="en-US" sz="2200">
                <a:latin typeface="Helvetica Neue"/>
                <a:ea typeface="Helvetica Neue"/>
                <a:cs typeface="Helvetica Neue"/>
                <a:sym typeface="Helvetica Neue"/>
              </a:rPr>
              <a:t>If the null hypothesis is true, then there is 1 in 300 chance to observe a mean response time of 1.05.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91" name="Google Shape;591;p3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r>
              <a:rPr lang="en-US" sz="2200">
                <a:latin typeface="Helvetica Neue"/>
                <a:ea typeface="Helvetica Neue"/>
                <a:cs typeface="Helvetica Neue"/>
                <a:sym typeface="Helvetica Neue"/>
              </a:rPr>
              <a:t>If the null hypothesis is true, then there is 1 in 300 chance to observe a mean response time of 1.05.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6" name="Google Shape;636;p3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r>
              <a:rPr lang="en-US" sz="2200" dirty="0">
                <a:latin typeface="Helvetica Neue"/>
                <a:ea typeface="Helvetica Neue"/>
                <a:cs typeface="Helvetica Neue"/>
                <a:sym typeface="Helvetica Neue"/>
              </a:rPr>
              <a:t>If the null hypothesis is true, then there is 1 in 300 chance to observe a mean response time of 1.05. </a:t>
            </a:r>
            <a:endParaRPr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p3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9" name="Google Shape;689;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34" name="Google Shape;734;p4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r>
              <a:rPr lang="en-US" sz="2200">
                <a:latin typeface="Helvetica Neue"/>
                <a:ea typeface="Helvetica Neue"/>
                <a:cs typeface="Helvetica Neue"/>
                <a:sym typeface="Helvetica Neue"/>
              </a:rPr>
              <a:t>Type I error is easy - when you decide to do a statistical test, you need to decide before hand what your significance threshold would be. At what error rate you will reject the null hypothesis - 0.05 is a common choice depending on the field. This value is actually your probability of rejecting the null hypothesis even if it's true. In this plot, your significance levels is the red shaded area, and you took a sample and its mean falls into this shaded area, then you reject the null hypothesis. And if your null hypothesis is actually true, you would be committing a Type I error without knowing about it. If we go back to the example we have discussed, this was the probability distribution with mean of 1.2 seconds.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77" name="Google Shape;777;p4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r>
              <a:rPr lang="en-US" sz="2200">
                <a:latin typeface="Helvetica Neue"/>
                <a:ea typeface="Helvetica Neue"/>
                <a:cs typeface="Helvetica Neue"/>
                <a:sym typeface="Helvetica Neue"/>
              </a:rPr>
              <a:t>Type I error is easy - when you decide to do a statistical test, you need to decide before hand what your significance threshold would be. At what error rate you will reject the null hypothesis - 0.05 is a common choice depending on the field. This value is actually your probability of rejecting the null hypothesis even if it's true. In this plot, your significance levels is the red shaded area, and you took a sample and its mean falls into this shaded area, then you reject the null hypothesis. And if your null hypothesis is actually true, you would be committing a Type I error without knowing about it. If we go back to the example we have discussed, this was the probability distribution with mean of 1.2 seconds.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06" name="Google Shape;806;p4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r>
              <a:rPr lang="en-US" sz="2200">
                <a:latin typeface="Helvetica Neue"/>
                <a:ea typeface="Helvetica Neue"/>
                <a:cs typeface="Helvetica Neue"/>
                <a:sym typeface="Helvetica Neue"/>
              </a:rPr>
              <a:t>Power is directly associated with Type I error, if you nudge this line to the left, in other words, if you increase your Type I error, you increase your power. Another way to boost power is to increase sample sizes, if you have larger sample sizes these sampling distributions would be steeper, the variance would be lower. There are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p4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5" name="Google Shape;835;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4"/>
        <p:cNvGrpSpPr/>
        <p:nvPr/>
      </p:nvGrpSpPr>
      <p:grpSpPr>
        <a:xfrm>
          <a:off x="0" y="0"/>
          <a:ext cx="0" cy="0"/>
          <a:chOff x="0" y="0"/>
          <a:chExt cx="0" cy="0"/>
        </a:xfrm>
      </p:grpSpPr>
      <p:sp>
        <p:nvSpPr>
          <p:cNvPr id="845" name="Google Shape;845;p4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6" name="Google Shape;846;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p4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2" name="Google Shape;852;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2508733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Batch effects are systematic, systematically overestimating or underestimating.</a:t>
            </a:r>
          </a:p>
          <a:p>
            <a:endParaRPr lang="en-GB" dirty="0"/>
          </a:p>
        </p:txBody>
      </p:sp>
    </p:spTree>
    <p:extLst>
      <p:ext uri="{BB962C8B-B14F-4D97-AF65-F5344CB8AC3E}">
        <p14:creationId xmlns:p14="http://schemas.microsoft.com/office/powerpoint/2010/main" val="256845853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6"/>
        <p:cNvGrpSpPr/>
        <p:nvPr/>
      </p:nvGrpSpPr>
      <p:grpSpPr>
        <a:xfrm>
          <a:off x="0" y="0"/>
          <a:ext cx="0" cy="0"/>
          <a:chOff x="0" y="0"/>
          <a:chExt cx="0" cy="0"/>
        </a:xfrm>
      </p:grpSpPr>
      <p:sp>
        <p:nvSpPr>
          <p:cNvPr id="857" name="Google Shape;857;g103633dd946_0_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We could use a model just as the one we talked about earlier, assuming a normal distribution as the data generating process to model our data. </a:t>
            </a:r>
            <a:endParaRPr/>
          </a:p>
        </p:txBody>
      </p:sp>
      <p:sp>
        <p:nvSpPr>
          <p:cNvPr id="858" name="Google Shape;858;g103633dd94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p5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1" name="Google Shape;871;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p5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0" name="Google Shape;880;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0"/>
        <p:cNvGrpSpPr/>
        <p:nvPr/>
      </p:nvGrpSpPr>
      <p:grpSpPr>
        <a:xfrm>
          <a:off x="0" y="0"/>
          <a:ext cx="0" cy="0"/>
          <a:chOff x="0" y="0"/>
          <a:chExt cx="0" cy="0"/>
        </a:xfrm>
      </p:grpSpPr>
      <p:sp>
        <p:nvSpPr>
          <p:cNvPr id="931" name="Google Shape;931;g103633dd946_0_8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285750" indent="-285750">
              <a:buFont typeface="Arial" panose="020B0604020202020204" pitchFamily="34" charset="0"/>
              <a:buChar char="•"/>
            </a:pPr>
            <a:r>
              <a:rPr lang="en-US" sz="2400" dirty="0"/>
              <a:t>Estimating the dispersion parameter can be difficult with a small number of samples </a:t>
            </a:r>
          </a:p>
          <a:p>
            <a:endParaRPr lang="en-US" sz="2400" dirty="0"/>
          </a:p>
          <a:p>
            <a:pPr marL="285750" indent="-285750">
              <a:buFont typeface="Arial" panose="020B0604020202020204" pitchFamily="34" charset="0"/>
              <a:buChar char="•"/>
            </a:pPr>
            <a:r>
              <a:rPr lang="en-US" sz="2400" dirty="0"/>
              <a:t>DESeq2 models the variance as the sum of technical and biological variance</a:t>
            </a:r>
          </a:p>
          <a:p>
            <a:endParaRPr lang="en-US" sz="2400" dirty="0"/>
          </a:p>
          <a:p>
            <a:pPr marL="285750" indent="-285750">
              <a:buFont typeface="Arial" panose="020B0604020202020204" pitchFamily="34" charset="0"/>
              <a:buChar char="•"/>
            </a:pPr>
            <a:r>
              <a:rPr lang="en-US" sz="2400" dirty="0"/>
              <a:t>Estimate dispersion for each gene</a:t>
            </a:r>
          </a:p>
          <a:p>
            <a:endParaRPr lang="en-US" sz="2400" dirty="0"/>
          </a:p>
          <a:p>
            <a:pPr marL="285750" indent="-285750">
              <a:buFont typeface="Arial" panose="020B0604020202020204" pitchFamily="34" charset="0"/>
              <a:buChar char="•"/>
            </a:pPr>
            <a:r>
              <a:rPr lang="en-US" sz="2400" dirty="0"/>
              <a:t>‘Share’ dispersion information between genes to obtain fitted estimate</a:t>
            </a:r>
          </a:p>
          <a:p>
            <a:endParaRPr lang="en-US" sz="2400" dirty="0"/>
          </a:p>
          <a:p>
            <a:pPr marL="285750" indent="-285750">
              <a:buFont typeface="Arial" panose="020B0604020202020204" pitchFamily="34" charset="0"/>
              <a:buChar char="•"/>
            </a:pPr>
            <a:r>
              <a:rPr lang="en-US" sz="2400" dirty="0"/>
              <a:t>Shrink gene-wise estimates towards the fitted estimates</a:t>
            </a:r>
          </a:p>
          <a:p>
            <a:pPr marL="0" lvl="0" indent="0" algn="l" rtl="0">
              <a:spcBef>
                <a:spcPts val="0"/>
              </a:spcBef>
              <a:spcAft>
                <a:spcPts val="0"/>
              </a:spcAft>
              <a:buNone/>
            </a:pPr>
            <a:endParaRPr dirty="0"/>
          </a:p>
        </p:txBody>
      </p:sp>
      <p:sp>
        <p:nvSpPr>
          <p:cNvPr id="932" name="Google Shape;932;g103633dd946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g103633dd946_0_9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60" name="Google Shape;960;g103633dd946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p5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8" name="Google Shape;1038;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p6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46" name="Google Shape;1046;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Google Shape;1025;p5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6" name="Google Shape;1026;p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0"/>
        <p:cNvGrpSpPr/>
        <p:nvPr/>
      </p:nvGrpSpPr>
      <p:grpSpPr>
        <a:xfrm>
          <a:off x="0" y="0"/>
          <a:ext cx="0" cy="0"/>
          <a:chOff x="0" y="0"/>
          <a:chExt cx="0" cy="0"/>
        </a:xfrm>
      </p:grpSpPr>
      <p:sp>
        <p:nvSpPr>
          <p:cNvPr id="1031" name="Google Shape;1031;p5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2" name="Google Shape;1032;p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p6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4" name="Google Shape;1054;p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1.xml"/><Relationship Id="rId4" Type="http://schemas.openxmlformats.org/officeDocument/2006/relationships/image" Target="../media/image2.jp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jpeg"/><Relationship Id="rId1" Type="http://schemas.openxmlformats.org/officeDocument/2006/relationships/slideMaster" Target="../slideMasters/slideMaster1.xml"/><Relationship Id="rId4" Type="http://schemas.openxmlformats.org/officeDocument/2006/relationships/image" Target="../media/image2.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3.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2.xml"/><Relationship Id="rId4" Type="http://schemas.openxmlformats.org/officeDocument/2006/relationships/image" Target="../media/image2.jp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jpeg"/><Relationship Id="rId1" Type="http://schemas.openxmlformats.org/officeDocument/2006/relationships/slideMaster" Target="../slideMasters/slideMaster2.xml"/><Relationship Id="rId4" Type="http://schemas.openxmlformats.org/officeDocument/2006/relationships/image" Target="../media/image2.jp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F5FA3-A20D-40FB-8BE3-44CD88DDEC22}"/>
              </a:ext>
            </a:extLst>
          </p:cNvPr>
          <p:cNvSpPr>
            <a:spLocks noGrp="1"/>
          </p:cNvSpPr>
          <p:nvPr>
            <p:ph type="ctrTitle"/>
          </p:nvPr>
        </p:nvSpPr>
        <p:spPr>
          <a:xfrm>
            <a:off x="7584000" y="4553744"/>
            <a:ext cx="9216000" cy="4176464"/>
          </a:xfrm>
          <a:prstGeom prst="rect">
            <a:avLst/>
          </a:prstGeom>
          <a:ln>
            <a:noFill/>
          </a:ln>
        </p:spPr>
        <p:txBody>
          <a:bodyPr bIns="0" anchor="ctr" anchorCtr="0">
            <a:noAutofit/>
          </a:bodyPr>
          <a:lstStyle>
            <a:lvl1pPr algn="ctr">
              <a:lnSpc>
                <a:spcPct val="70000"/>
              </a:lnSpc>
              <a:defRPr sz="12000">
                <a:solidFill>
                  <a:schemeClr val="bg1"/>
                </a:solidFill>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2EE91C51-1E93-4B29-9242-2D33D6D5A8FE}"/>
              </a:ext>
            </a:extLst>
          </p:cNvPr>
          <p:cNvSpPr>
            <a:spLocks noGrp="1"/>
          </p:cNvSpPr>
          <p:nvPr>
            <p:ph type="subTitle" idx="1"/>
          </p:nvPr>
        </p:nvSpPr>
        <p:spPr>
          <a:xfrm>
            <a:off x="7584000" y="9266783"/>
            <a:ext cx="9216000" cy="615554"/>
          </a:xfrm>
        </p:spPr>
        <p:txBody>
          <a:bodyPr/>
          <a:lstStyle>
            <a:lvl1pPr marL="0" indent="0" algn="ctr">
              <a:buNone/>
              <a:defRPr sz="4000">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GB"/>
              <a:t>Click to edit Master subtitle style</a:t>
            </a:r>
            <a:endParaRPr lang="en-GB" dirty="0"/>
          </a:p>
        </p:txBody>
      </p:sp>
      <p:sp>
        <p:nvSpPr>
          <p:cNvPr id="4" name="Rectangle 3">
            <a:extLst>
              <a:ext uri="{FF2B5EF4-FFF2-40B4-BE49-F238E27FC236}">
                <a16:creationId xmlns:a16="http://schemas.microsoft.com/office/drawing/2014/main" id="{B4DD3CDD-D029-482B-B0C7-8148556A2425}"/>
              </a:ext>
            </a:extLst>
          </p:cNvPr>
          <p:cNvSpPr/>
          <p:nvPr/>
        </p:nvSpPr>
        <p:spPr>
          <a:xfrm>
            <a:off x="18960752" y="10221140"/>
            <a:ext cx="5040560" cy="30243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a:p>
        </p:txBody>
      </p:sp>
      <p:sp>
        <p:nvSpPr>
          <p:cNvPr id="7" name="TextBox 6">
            <a:extLst>
              <a:ext uri="{FF2B5EF4-FFF2-40B4-BE49-F238E27FC236}">
                <a16:creationId xmlns:a16="http://schemas.microsoft.com/office/drawing/2014/main" id="{6794953F-E8C8-4237-823E-C80F854F92B8}"/>
              </a:ext>
            </a:extLst>
          </p:cNvPr>
          <p:cNvSpPr txBox="1"/>
          <p:nvPr/>
        </p:nvSpPr>
        <p:spPr>
          <a:xfrm>
            <a:off x="17943064" y="12906672"/>
            <a:ext cx="6058248" cy="492443"/>
          </a:xfrm>
          <a:prstGeom prst="rect">
            <a:avLst/>
          </a:prstGeom>
          <a:noFill/>
        </p:spPr>
        <p:txBody>
          <a:bodyPr wrap="square" rtlCol="0">
            <a:spAutoFit/>
          </a:bodyPr>
          <a:lstStyle/>
          <a:p>
            <a:r>
              <a:rPr lang="en-GB" sz="2600" dirty="0">
                <a:solidFill>
                  <a:schemeClr val="tx2"/>
                </a:solidFill>
                <a:latin typeface="Calibri" panose="020F0502020204030204" pitchFamily="34" charset="0"/>
              </a:rPr>
              <a:t>Together we will beat cancer </a:t>
            </a:r>
          </a:p>
        </p:txBody>
      </p:sp>
      <p:pic>
        <p:nvPicPr>
          <p:cNvPr id="10" name="Picture 9">
            <a:extLst>
              <a:ext uri="{FF2B5EF4-FFF2-40B4-BE49-F238E27FC236}">
                <a16:creationId xmlns:a16="http://schemas.microsoft.com/office/drawing/2014/main" id="{F4799656-09DB-4783-B27C-7BAA814B5A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96656" y="11466513"/>
            <a:ext cx="5629008" cy="1239414"/>
          </a:xfrm>
          <a:prstGeom prst="rect">
            <a:avLst/>
          </a:prstGeom>
        </p:spPr>
      </p:pic>
    </p:spTree>
    <p:extLst>
      <p:ext uri="{BB962C8B-B14F-4D97-AF65-F5344CB8AC3E}">
        <p14:creationId xmlns:p14="http://schemas.microsoft.com/office/powerpoint/2010/main" val="805288956"/>
      </p:ext>
    </p:extLst>
  </p:cSld>
  <p:clrMapOvr>
    <a:masterClrMapping/>
  </p:clrMapOvr>
  <p:hf sldNum="0" hdr="0" ftr="0" dt="0"/>
  <p:extLst>
    <p:ext uri="{DCECCB84-F9BA-43D5-87BE-67443E8EF086}">
      <p15:sldGuideLst xmlns:p15="http://schemas.microsoft.com/office/powerpoint/2012/main">
        <p15:guide id="1" pos="3840">
          <p15:clr>
            <a:srgbClr val="FBAE40"/>
          </p15:clr>
        </p15:guide>
        <p15:guide id="2" pos="2116">
          <p15:clr>
            <a:srgbClr val="FBAE40"/>
          </p15:clr>
        </p15:guide>
        <p15:guide id="3" pos="556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 option 2">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F5FA3-A20D-40FB-8BE3-44CD88DDEC22}"/>
              </a:ext>
            </a:extLst>
          </p:cNvPr>
          <p:cNvSpPr>
            <a:spLocks noGrp="1"/>
          </p:cNvSpPr>
          <p:nvPr>
            <p:ph type="ctrTitle"/>
          </p:nvPr>
        </p:nvSpPr>
        <p:spPr>
          <a:xfrm>
            <a:off x="7584000" y="4553744"/>
            <a:ext cx="9216000" cy="4176464"/>
          </a:xfrm>
          <a:prstGeom prst="rect">
            <a:avLst/>
          </a:prstGeom>
          <a:ln>
            <a:noFill/>
          </a:ln>
        </p:spPr>
        <p:txBody>
          <a:bodyPr bIns="0" anchor="ctr" anchorCtr="0">
            <a:noAutofit/>
          </a:bodyPr>
          <a:lstStyle>
            <a:lvl1pPr algn="ctr">
              <a:lnSpc>
                <a:spcPct val="70000"/>
              </a:lnSpc>
              <a:defRPr sz="12000">
                <a:solidFill>
                  <a:schemeClr val="tx2"/>
                </a:solidFill>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2EE91C51-1E93-4B29-9242-2D33D6D5A8FE}"/>
              </a:ext>
            </a:extLst>
          </p:cNvPr>
          <p:cNvSpPr>
            <a:spLocks noGrp="1"/>
          </p:cNvSpPr>
          <p:nvPr>
            <p:ph type="subTitle" idx="1"/>
          </p:nvPr>
        </p:nvSpPr>
        <p:spPr>
          <a:xfrm>
            <a:off x="7584000" y="9266783"/>
            <a:ext cx="9216000" cy="615554"/>
          </a:xfrm>
        </p:spPr>
        <p:txBody>
          <a:bodyPr/>
          <a:lstStyle>
            <a:lvl1pPr marL="0" indent="0" algn="ctr">
              <a:buNone/>
              <a:defRPr sz="4000">
                <a:solidFill>
                  <a:schemeClr val="tx2"/>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GB"/>
              <a:t>Click to edit Master subtitle style</a:t>
            </a:r>
            <a:endParaRPr lang="en-GB" dirty="0"/>
          </a:p>
        </p:txBody>
      </p:sp>
      <p:sp>
        <p:nvSpPr>
          <p:cNvPr id="4" name="Rectangle 3">
            <a:extLst>
              <a:ext uri="{FF2B5EF4-FFF2-40B4-BE49-F238E27FC236}">
                <a16:creationId xmlns:a16="http://schemas.microsoft.com/office/drawing/2014/main" id="{5D9CB002-D45B-4635-A81B-DEACB25146DD}"/>
              </a:ext>
            </a:extLst>
          </p:cNvPr>
          <p:cNvSpPr/>
          <p:nvPr/>
        </p:nvSpPr>
        <p:spPr>
          <a:xfrm>
            <a:off x="18960752" y="10170368"/>
            <a:ext cx="4896544" cy="3024336"/>
          </a:xfrm>
          <a:prstGeom prst="rect">
            <a:avLst/>
          </a:prstGeom>
          <a:solidFill>
            <a:srgbClr val="2E008B"/>
          </a:solidFill>
          <a:ln>
            <a:solidFill>
              <a:srgbClr val="2E00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a:p>
        </p:txBody>
      </p:sp>
      <p:sp>
        <p:nvSpPr>
          <p:cNvPr id="8" name="TextBox 7">
            <a:extLst>
              <a:ext uri="{FF2B5EF4-FFF2-40B4-BE49-F238E27FC236}">
                <a16:creationId xmlns:a16="http://schemas.microsoft.com/office/drawing/2014/main" id="{DE2ACE78-9094-4BAB-88B0-2409CB7F7313}"/>
              </a:ext>
            </a:extLst>
          </p:cNvPr>
          <p:cNvSpPr txBox="1"/>
          <p:nvPr/>
        </p:nvSpPr>
        <p:spPr>
          <a:xfrm>
            <a:off x="17808624" y="12906672"/>
            <a:ext cx="6058248" cy="492443"/>
          </a:xfrm>
          <a:prstGeom prst="rect">
            <a:avLst/>
          </a:prstGeom>
          <a:noFill/>
        </p:spPr>
        <p:txBody>
          <a:bodyPr wrap="square" rtlCol="0">
            <a:spAutoFit/>
          </a:bodyPr>
          <a:lstStyle/>
          <a:p>
            <a:r>
              <a:rPr lang="en-GB" sz="2600" dirty="0">
                <a:solidFill>
                  <a:schemeClr val="bg1"/>
                </a:solidFill>
                <a:latin typeface="Calibri" panose="020F0502020204030204" pitchFamily="34" charset="0"/>
                <a:cs typeface="Andalus" panose="02020603050405020304" pitchFamily="18" charset="-78"/>
              </a:rPr>
              <a:t>Together we will beat cancer </a:t>
            </a:r>
          </a:p>
        </p:txBody>
      </p:sp>
      <p:pic>
        <p:nvPicPr>
          <p:cNvPr id="7" name="Picture 6">
            <a:extLst>
              <a:ext uri="{FF2B5EF4-FFF2-40B4-BE49-F238E27FC236}">
                <a16:creationId xmlns:a16="http://schemas.microsoft.com/office/drawing/2014/main" id="{D5312D3E-807A-4A52-A8B7-5C9E772107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90198" y="11466512"/>
            <a:ext cx="5904656" cy="1302332"/>
          </a:xfrm>
          <a:prstGeom prst="rect">
            <a:avLst/>
          </a:prstGeom>
        </p:spPr>
      </p:pic>
    </p:spTree>
    <p:extLst>
      <p:ext uri="{BB962C8B-B14F-4D97-AF65-F5344CB8AC3E}">
        <p14:creationId xmlns:p14="http://schemas.microsoft.com/office/powerpoint/2010/main" val="2742009972"/>
      </p:ext>
    </p:extLst>
  </p:cSld>
  <p:clrMapOvr>
    <a:masterClrMapping/>
  </p:clrMapOvr>
  <p:hf sldNum="0" hdr="0" ftr="0" dt="0"/>
  <p:extLst>
    <p:ext uri="{DCECCB84-F9BA-43D5-87BE-67443E8EF086}">
      <p15:sldGuideLst xmlns:p15="http://schemas.microsoft.com/office/powerpoint/2012/main">
        <p15:guide id="1" pos="3840">
          <p15:clr>
            <a:srgbClr val="FBAE40"/>
          </p15:clr>
        </p15:guide>
        <p15:guide id="2" pos="2116">
          <p15:clr>
            <a:srgbClr val="FBAE40"/>
          </p15:clr>
        </p15:guide>
        <p15:guide id="3" pos="556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 option 3">
    <p:bg>
      <p:bgRef idx="1002">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F5FA3-A20D-40FB-8BE3-44CD88DDEC22}"/>
              </a:ext>
            </a:extLst>
          </p:cNvPr>
          <p:cNvSpPr>
            <a:spLocks noGrp="1"/>
          </p:cNvSpPr>
          <p:nvPr>
            <p:ph type="ctrTitle"/>
          </p:nvPr>
        </p:nvSpPr>
        <p:spPr>
          <a:xfrm>
            <a:off x="1678832" y="3689648"/>
            <a:ext cx="10944000" cy="4176464"/>
          </a:xfrm>
          <a:prstGeom prst="rect">
            <a:avLst/>
          </a:prstGeom>
          <a:ln>
            <a:noFill/>
          </a:ln>
        </p:spPr>
        <p:txBody>
          <a:bodyPr bIns="0" anchor="ctr" anchorCtr="0">
            <a:noAutofit/>
          </a:bodyPr>
          <a:lstStyle>
            <a:lvl1pPr algn="ctr">
              <a:lnSpc>
                <a:spcPct val="70000"/>
              </a:lnSpc>
              <a:defRPr sz="12000">
                <a:solidFill>
                  <a:schemeClr val="tx2"/>
                </a:solidFill>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2EE91C51-1E93-4B29-9242-2D33D6D5A8FE}"/>
              </a:ext>
            </a:extLst>
          </p:cNvPr>
          <p:cNvSpPr>
            <a:spLocks noGrp="1"/>
          </p:cNvSpPr>
          <p:nvPr>
            <p:ph type="subTitle" idx="1"/>
          </p:nvPr>
        </p:nvSpPr>
        <p:spPr>
          <a:xfrm>
            <a:off x="2110832" y="8010129"/>
            <a:ext cx="10080000" cy="615554"/>
          </a:xfrm>
        </p:spPr>
        <p:txBody>
          <a:bodyPr/>
          <a:lstStyle>
            <a:lvl1pPr marL="0" indent="0" algn="ctr">
              <a:buNone/>
              <a:defRPr sz="4000">
                <a:solidFill>
                  <a:schemeClr val="tx2"/>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GB"/>
              <a:t>Click to edit Master subtitle style</a:t>
            </a:r>
            <a:endParaRPr lang="en-GB" dirty="0"/>
          </a:p>
        </p:txBody>
      </p:sp>
      <p:sp>
        <p:nvSpPr>
          <p:cNvPr id="8" name="Picture Placeholder 10">
            <a:extLst>
              <a:ext uri="{FF2B5EF4-FFF2-40B4-BE49-F238E27FC236}">
                <a16:creationId xmlns:a16="http://schemas.microsoft.com/office/drawing/2014/main" id="{4A112773-0389-44C1-9A6C-D346A4A5026D}"/>
              </a:ext>
            </a:extLst>
          </p:cNvPr>
          <p:cNvSpPr>
            <a:spLocks noGrp="1"/>
          </p:cNvSpPr>
          <p:nvPr>
            <p:ph type="pic" sz="quarter" idx="10"/>
          </p:nvPr>
        </p:nvSpPr>
        <p:spPr>
          <a:xfrm>
            <a:off x="14544891" y="0"/>
            <a:ext cx="9839110" cy="137160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2281 w 12281"/>
              <a:gd name="connsiteY0" fmla="*/ 0 h 10000"/>
              <a:gd name="connsiteX1" fmla="*/ 12281 w 12281"/>
              <a:gd name="connsiteY1" fmla="*/ 0 h 10000"/>
              <a:gd name="connsiteX2" fmla="*/ 12281 w 12281"/>
              <a:gd name="connsiteY2" fmla="*/ 10000 h 10000"/>
              <a:gd name="connsiteX3" fmla="*/ 2281 w 12281"/>
              <a:gd name="connsiteY3" fmla="*/ 10000 h 10000"/>
              <a:gd name="connsiteX4" fmla="*/ 2281 w 12281"/>
              <a:gd name="connsiteY4" fmla="*/ 0 h 10000"/>
              <a:gd name="connsiteX0" fmla="*/ 2718 w 12718"/>
              <a:gd name="connsiteY0" fmla="*/ 0 h 10000"/>
              <a:gd name="connsiteX1" fmla="*/ 12718 w 12718"/>
              <a:gd name="connsiteY1" fmla="*/ 0 h 10000"/>
              <a:gd name="connsiteX2" fmla="*/ 12718 w 12718"/>
              <a:gd name="connsiteY2" fmla="*/ 10000 h 10000"/>
              <a:gd name="connsiteX3" fmla="*/ 2718 w 12718"/>
              <a:gd name="connsiteY3" fmla="*/ 10000 h 10000"/>
              <a:gd name="connsiteX4" fmla="*/ 2718 w 12718"/>
              <a:gd name="connsiteY4" fmla="*/ 0 h 10000"/>
              <a:gd name="connsiteX0" fmla="*/ 2205 w 12205"/>
              <a:gd name="connsiteY0" fmla="*/ 0 h 10000"/>
              <a:gd name="connsiteX1" fmla="*/ 12205 w 12205"/>
              <a:gd name="connsiteY1" fmla="*/ 0 h 10000"/>
              <a:gd name="connsiteX2" fmla="*/ 12205 w 12205"/>
              <a:gd name="connsiteY2" fmla="*/ 10000 h 10000"/>
              <a:gd name="connsiteX3" fmla="*/ 2205 w 12205"/>
              <a:gd name="connsiteY3" fmla="*/ 10000 h 10000"/>
              <a:gd name="connsiteX4" fmla="*/ 2205 w 12205"/>
              <a:gd name="connsiteY4" fmla="*/ 0 h 10000"/>
              <a:gd name="connsiteX0" fmla="*/ 2264 w 12264"/>
              <a:gd name="connsiteY0" fmla="*/ 0 h 10000"/>
              <a:gd name="connsiteX1" fmla="*/ 12264 w 12264"/>
              <a:gd name="connsiteY1" fmla="*/ 0 h 10000"/>
              <a:gd name="connsiteX2" fmla="*/ 12264 w 12264"/>
              <a:gd name="connsiteY2" fmla="*/ 10000 h 10000"/>
              <a:gd name="connsiteX3" fmla="*/ 2264 w 12264"/>
              <a:gd name="connsiteY3" fmla="*/ 10000 h 10000"/>
              <a:gd name="connsiteX4" fmla="*/ 2264 w 12264"/>
              <a:gd name="connsiteY4" fmla="*/ 0 h 10000"/>
              <a:gd name="connsiteX0" fmla="*/ 2303 w 12303"/>
              <a:gd name="connsiteY0" fmla="*/ 0 h 10000"/>
              <a:gd name="connsiteX1" fmla="*/ 12303 w 12303"/>
              <a:gd name="connsiteY1" fmla="*/ 0 h 10000"/>
              <a:gd name="connsiteX2" fmla="*/ 12303 w 12303"/>
              <a:gd name="connsiteY2" fmla="*/ 10000 h 10000"/>
              <a:gd name="connsiteX3" fmla="*/ 2303 w 12303"/>
              <a:gd name="connsiteY3" fmla="*/ 10000 h 10000"/>
              <a:gd name="connsiteX4" fmla="*/ 2303 w 12303"/>
              <a:gd name="connsiteY4" fmla="*/ 0 h 10000"/>
              <a:gd name="connsiteX0" fmla="*/ 2273 w 12273"/>
              <a:gd name="connsiteY0" fmla="*/ 0 h 10000"/>
              <a:gd name="connsiteX1" fmla="*/ 12273 w 12273"/>
              <a:gd name="connsiteY1" fmla="*/ 0 h 10000"/>
              <a:gd name="connsiteX2" fmla="*/ 12273 w 12273"/>
              <a:gd name="connsiteY2" fmla="*/ 10000 h 10000"/>
              <a:gd name="connsiteX3" fmla="*/ 2273 w 12273"/>
              <a:gd name="connsiteY3" fmla="*/ 10000 h 10000"/>
              <a:gd name="connsiteX4" fmla="*/ 2273 w 12273"/>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3" h="10000">
                <a:moveTo>
                  <a:pt x="2273" y="0"/>
                </a:moveTo>
                <a:lnTo>
                  <a:pt x="12273" y="0"/>
                </a:lnTo>
                <a:lnTo>
                  <a:pt x="12273" y="10000"/>
                </a:lnTo>
                <a:lnTo>
                  <a:pt x="2273" y="10000"/>
                </a:lnTo>
                <a:cubicBezTo>
                  <a:pt x="215" y="7508"/>
                  <a:pt x="-1596" y="4260"/>
                  <a:pt x="2273" y="0"/>
                </a:cubicBezTo>
                <a:close/>
              </a:path>
            </a:pathLst>
          </a:custGeom>
          <a:blipFill dpi="0" rotWithShape="1">
            <a:blip r:embed="rId2" cstate="print">
              <a:extLst>
                <a:ext uri="{28A0092B-C50C-407E-A947-70E740481C1C}">
                  <a14:useLocalDpi xmlns:a14="http://schemas.microsoft.com/office/drawing/2010/main"/>
                </a:ext>
              </a:extLst>
            </a:blip>
            <a:srcRect/>
            <a:stretch>
              <a:fillRect/>
            </a:stretch>
          </a:blipFill>
          <a:ln w="28575">
            <a:noFill/>
          </a:ln>
        </p:spPr>
        <p:txBody>
          <a:bodyPr anchor="ctr" anchorCtr="0">
            <a:noAutofit/>
          </a:bodyPr>
          <a:lstStyle>
            <a:lvl1pPr marL="0" indent="0" algn="ctr">
              <a:buNone/>
              <a:defRPr b="1">
                <a:solidFill>
                  <a:schemeClr val="bg1"/>
                </a:solidFill>
              </a:defRPr>
            </a:lvl1pPr>
          </a:lstStyle>
          <a:p>
            <a:r>
              <a:rPr lang="en-GB"/>
              <a:t>Click icon to add picture</a:t>
            </a:r>
            <a:endParaRPr lang="en-GB" dirty="0"/>
          </a:p>
        </p:txBody>
      </p:sp>
      <p:sp>
        <p:nvSpPr>
          <p:cNvPr id="5" name="Oval 4">
            <a:extLst>
              <a:ext uri="{FF2B5EF4-FFF2-40B4-BE49-F238E27FC236}">
                <a16:creationId xmlns:a16="http://schemas.microsoft.com/office/drawing/2014/main" id="{F0892D67-F81D-4EAF-91FC-295D8C2F6020}"/>
              </a:ext>
            </a:extLst>
          </p:cNvPr>
          <p:cNvSpPr/>
          <p:nvPr/>
        </p:nvSpPr>
        <p:spPr>
          <a:xfrm>
            <a:off x="13310162" y="1014588"/>
            <a:ext cx="829312" cy="829312"/>
          </a:xfrm>
          <a:prstGeom prst="ellipse">
            <a:avLst/>
          </a:prstGeom>
          <a:solidFill>
            <a:srgbClr val="17298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a:p>
        </p:txBody>
      </p:sp>
      <p:sp>
        <p:nvSpPr>
          <p:cNvPr id="6" name="Oval 5">
            <a:extLst>
              <a:ext uri="{FF2B5EF4-FFF2-40B4-BE49-F238E27FC236}">
                <a16:creationId xmlns:a16="http://schemas.microsoft.com/office/drawing/2014/main" id="{673C406D-B215-4935-8E9E-66DD87522B2E}"/>
              </a:ext>
            </a:extLst>
          </p:cNvPr>
          <p:cNvSpPr/>
          <p:nvPr/>
        </p:nvSpPr>
        <p:spPr>
          <a:xfrm>
            <a:off x="13751428" y="3347894"/>
            <a:ext cx="340952" cy="340952"/>
          </a:xfrm>
          <a:prstGeom prst="ellipse">
            <a:avLst/>
          </a:prstGeom>
          <a:solidFill>
            <a:srgbClr val="00B6ED"/>
          </a:solidFill>
          <a:ln>
            <a:solidFill>
              <a:srgbClr val="00B6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a:p>
        </p:txBody>
      </p:sp>
      <p:sp>
        <p:nvSpPr>
          <p:cNvPr id="7" name="Oval 6">
            <a:extLst>
              <a:ext uri="{FF2B5EF4-FFF2-40B4-BE49-F238E27FC236}">
                <a16:creationId xmlns:a16="http://schemas.microsoft.com/office/drawing/2014/main" id="{68AEAD39-6F92-40BC-B53B-719F85124F3E}"/>
              </a:ext>
            </a:extLst>
          </p:cNvPr>
          <p:cNvSpPr/>
          <p:nvPr/>
        </p:nvSpPr>
        <p:spPr>
          <a:xfrm>
            <a:off x="12255152" y="747888"/>
            <a:ext cx="533400" cy="533400"/>
          </a:xfrm>
          <a:prstGeom prst="ellipse">
            <a:avLst/>
          </a:prstGeom>
          <a:solidFill>
            <a:srgbClr val="EC008C"/>
          </a:solidFill>
          <a:ln>
            <a:solidFill>
              <a:srgbClr val="EC00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a:p>
        </p:txBody>
      </p:sp>
      <p:sp>
        <p:nvSpPr>
          <p:cNvPr id="10" name="TextBox 9">
            <a:extLst>
              <a:ext uri="{FF2B5EF4-FFF2-40B4-BE49-F238E27FC236}">
                <a16:creationId xmlns:a16="http://schemas.microsoft.com/office/drawing/2014/main" id="{45336AE6-2107-40DE-99F8-D4EE744CD5C2}"/>
              </a:ext>
            </a:extLst>
          </p:cNvPr>
          <p:cNvSpPr txBox="1"/>
          <p:nvPr/>
        </p:nvSpPr>
        <p:spPr>
          <a:xfrm>
            <a:off x="436208" y="12953088"/>
            <a:ext cx="6058248" cy="492443"/>
          </a:xfrm>
          <a:prstGeom prst="rect">
            <a:avLst/>
          </a:prstGeom>
          <a:noFill/>
        </p:spPr>
        <p:txBody>
          <a:bodyPr wrap="square" rtlCol="0">
            <a:spAutoFit/>
          </a:bodyPr>
          <a:lstStyle/>
          <a:p>
            <a:r>
              <a:rPr lang="en-GB" sz="2600" dirty="0">
                <a:solidFill>
                  <a:schemeClr val="tx2"/>
                </a:solidFill>
                <a:latin typeface="Calibri" panose="020F0502020204030204" pitchFamily="34" charset="0"/>
              </a:rPr>
              <a:t>Together we will beat cancer </a:t>
            </a:r>
          </a:p>
        </p:txBody>
      </p:sp>
      <p:pic>
        <p:nvPicPr>
          <p:cNvPr id="12" name="Picture 11">
            <a:extLst>
              <a:ext uri="{FF2B5EF4-FFF2-40B4-BE49-F238E27FC236}">
                <a16:creationId xmlns:a16="http://schemas.microsoft.com/office/drawing/2014/main" id="{F91263D7-559D-4BEC-80C9-175F6C07A3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704" y="11466513"/>
            <a:ext cx="5629008" cy="1239414"/>
          </a:xfrm>
          <a:prstGeom prst="rect">
            <a:avLst/>
          </a:prstGeom>
        </p:spPr>
      </p:pic>
    </p:spTree>
    <p:extLst>
      <p:ext uri="{BB962C8B-B14F-4D97-AF65-F5344CB8AC3E}">
        <p14:creationId xmlns:p14="http://schemas.microsoft.com/office/powerpoint/2010/main" val="3411192351"/>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pos="3840">
          <p15:clr>
            <a:srgbClr val="FBAE40"/>
          </p15:clr>
        </p15:guide>
        <p15:guide id="2" pos="2116">
          <p15:clr>
            <a:srgbClr val="FBAE40"/>
          </p15:clr>
        </p15:guide>
        <p15:guide id="3" pos="556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_Title Slide - option 4">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F5FA3-A20D-40FB-8BE3-44CD88DDEC22}"/>
              </a:ext>
            </a:extLst>
          </p:cNvPr>
          <p:cNvSpPr>
            <a:spLocks noGrp="1"/>
          </p:cNvSpPr>
          <p:nvPr>
            <p:ph type="ctrTitle"/>
          </p:nvPr>
        </p:nvSpPr>
        <p:spPr>
          <a:xfrm>
            <a:off x="1678832" y="3689648"/>
            <a:ext cx="10944000" cy="4176464"/>
          </a:xfrm>
          <a:prstGeom prst="rect">
            <a:avLst/>
          </a:prstGeom>
          <a:ln>
            <a:noFill/>
          </a:ln>
        </p:spPr>
        <p:txBody>
          <a:bodyPr bIns="0" anchor="ctr" anchorCtr="0">
            <a:noAutofit/>
          </a:bodyPr>
          <a:lstStyle>
            <a:lvl1pPr algn="ctr">
              <a:lnSpc>
                <a:spcPct val="70000"/>
              </a:lnSpc>
              <a:defRPr sz="12000">
                <a:solidFill>
                  <a:schemeClr val="bg1"/>
                </a:solidFill>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2EE91C51-1E93-4B29-9242-2D33D6D5A8FE}"/>
              </a:ext>
            </a:extLst>
          </p:cNvPr>
          <p:cNvSpPr>
            <a:spLocks noGrp="1"/>
          </p:cNvSpPr>
          <p:nvPr>
            <p:ph type="subTitle" idx="1"/>
          </p:nvPr>
        </p:nvSpPr>
        <p:spPr>
          <a:xfrm>
            <a:off x="2110832" y="8010129"/>
            <a:ext cx="10080000" cy="615554"/>
          </a:xfrm>
        </p:spPr>
        <p:txBody>
          <a:bodyPr/>
          <a:lstStyle>
            <a:lvl1pPr marL="0" indent="0" algn="ctr">
              <a:buNone/>
              <a:defRPr sz="4000">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GB"/>
              <a:t>Click to edit Master subtitle style</a:t>
            </a:r>
            <a:endParaRPr lang="en-GB" dirty="0"/>
          </a:p>
        </p:txBody>
      </p:sp>
      <p:sp>
        <p:nvSpPr>
          <p:cNvPr id="5" name="Picture Placeholder 10">
            <a:extLst>
              <a:ext uri="{FF2B5EF4-FFF2-40B4-BE49-F238E27FC236}">
                <a16:creationId xmlns:a16="http://schemas.microsoft.com/office/drawing/2014/main" id="{997D0358-D1A5-4615-A65D-68C0B35BE606}"/>
              </a:ext>
            </a:extLst>
          </p:cNvPr>
          <p:cNvSpPr>
            <a:spLocks noGrp="1"/>
          </p:cNvSpPr>
          <p:nvPr>
            <p:ph type="pic" sz="quarter" idx="10"/>
          </p:nvPr>
        </p:nvSpPr>
        <p:spPr>
          <a:xfrm>
            <a:off x="14544891" y="0"/>
            <a:ext cx="9839110" cy="137160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2281 w 12281"/>
              <a:gd name="connsiteY0" fmla="*/ 0 h 10000"/>
              <a:gd name="connsiteX1" fmla="*/ 12281 w 12281"/>
              <a:gd name="connsiteY1" fmla="*/ 0 h 10000"/>
              <a:gd name="connsiteX2" fmla="*/ 12281 w 12281"/>
              <a:gd name="connsiteY2" fmla="*/ 10000 h 10000"/>
              <a:gd name="connsiteX3" fmla="*/ 2281 w 12281"/>
              <a:gd name="connsiteY3" fmla="*/ 10000 h 10000"/>
              <a:gd name="connsiteX4" fmla="*/ 2281 w 12281"/>
              <a:gd name="connsiteY4" fmla="*/ 0 h 10000"/>
              <a:gd name="connsiteX0" fmla="*/ 2718 w 12718"/>
              <a:gd name="connsiteY0" fmla="*/ 0 h 10000"/>
              <a:gd name="connsiteX1" fmla="*/ 12718 w 12718"/>
              <a:gd name="connsiteY1" fmla="*/ 0 h 10000"/>
              <a:gd name="connsiteX2" fmla="*/ 12718 w 12718"/>
              <a:gd name="connsiteY2" fmla="*/ 10000 h 10000"/>
              <a:gd name="connsiteX3" fmla="*/ 2718 w 12718"/>
              <a:gd name="connsiteY3" fmla="*/ 10000 h 10000"/>
              <a:gd name="connsiteX4" fmla="*/ 2718 w 12718"/>
              <a:gd name="connsiteY4" fmla="*/ 0 h 10000"/>
              <a:gd name="connsiteX0" fmla="*/ 2205 w 12205"/>
              <a:gd name="connsiteY0" fmla="*/ 0 h 10000"/>
              <a:gd name="connsiteX1" fmla="*/ 12205 w 12205"/>
              <a:gd name="connsiteY1" fmla="*/ 0 h 10000"/>
              <a:gd name="connsiteX2" fmla="*/ 12205 w 12205"/>
              <a:gd name="connsiteY2" fmla="*/ 10000 h 10000"/>
              <a:gd name="connsiteX3" fmla="*/ 2205 w 12205"/>
              <a:gd name="connsiteY3" fmla="*/ 10000 h 10000"/>
              <a:gd name="connsiteX4" fmla="*/ 2205 w 12205"/>
              <a:gd name="connsiteY4" fmla="*/ 0 h 10000"/>
              <a:gd name="connsiteX0" fmla="*/ 2264 w 12264"/>
              <a:gd name="connsiteY0" fmla="*/ 0 h 10000"/>
              <a:gd name="connsiteX1" fmla="*/ 12264 w 12264"/>
              <a:gd name="connsiteY1" fmla="*/ 0 h 10000"/>
              <a:gd name="connsiteX2" fmla="*/ 12264 w 12264"/>
              <a:gd name="connsiteY2" fmla="*/ 10000 h 10000"/>
              <a:gd name="connsiteX3" fmla="*/ 2264 w 12264"/>
              <a:gd name="connsiteY3" fmla="*/ 10000 h 10000"/>
              <a:gd name="connsiteX4" fmla="*/ 2264 w 12264"/>
              <a:gd name="connsiteY4" fmla="*/ 0 h 10000"/>
              <a:gd name="connsiteX0" fmla="*/ 2303 w 12303"/>
              <a:gd name="connsiteY0" fmla="*/ 0 h 10000"/>
              <a:gd name="connsiteX1" fmla="*/ 12303 w 12303"/>
              <a:gd name="connsiteY1" fmla="*/ 0 h 10000"/>
              <a:gd name="connsiteX2" fmla="*/ 12303 w 12303"/>
              <a:gd name="connsiteY2" fmla="*/ 10000 h 10000"/>
              <a:gd name="connsiteX3" fmla="*/ 2303 w 12303"/>
              <a:gd name="connsiteY3" fmla="*/ 10000 h 10000"/>
              <a:gd name="connsiteX4" fmla="*/ 2303 w 12303"/>
              <a:gd name="connsiteY4" fmla="*/ 0 h 10000"/>
              <a:gd name="connsiteX0" fmla="*/ 2273 w 12273"/>
              <a:gd name="connsiteY0" fmla="*/ 0 h 10000"/>
              <a:gd name="connsiteX1" fmla="*/ 12273 w 12273"/>
              <a:gd name="connsiteY1" fmla="*/ 0 h 10000"/>
              <a:gd name="connsiteX2" fmla="*/ 12273 w 12273"/>
              <a:gd name="connsiteY2" fmla="*/ 10000 h 10000"/>
              <a:gd name="connsiteX3" fmla="*/ 2273 w 12273"/>
              <a:gd name="connsiteY3" fmla="*/ 10000 h 10000"/>
              <a:gd name="connsiteX4" fmla="*/ 2273 w 12273"/>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3" h="10000">
                <a:moveTo>
                  <a:pt x="2273" y="0"/>
                </a:moveTo>
                <a:lnTo>
                  <a:pt x="12273" y="0"/>
                </a:lnTo>
                <a:lnTo>
                  <a:pt x="12273" y="10000"/>
                </a:lnTo>
                <a:lnTo>
                  <a:pt x="2273" y="10000"/>
                </a:lnTo>
                <a:cubicBezTo>
                  <a:pt x="215" y="7508"/>
                  <a:pt x="-1596" y="4260"/>
                  <a:pt x="2273" y="0"/>
                </a:cubicBezTo>
                <a:close/>
              </a:path>
            </a:pathLst>
          </a:custGeom>
          <a:blipFill dpi="0" rotWithShape="1">
            <a:blip r:embed="rId3" cstate="print">
              <a:extLst>
                <a:ext uri="{28A0092B-C50C-407E-A947-70E740481C1C}">
                  <a14:useLocalDpi xmlns:a14="http://schemas.microsoft.com/office/drawing/2010/main"/>
                </a:ext>
              </a:extLst>
            </a:blip>
            <a:srcRect/>
            <a:stretch>
              <a:fillRect/>
            </a:stretch>
          </a:blipFill>
          <a:ln w="28575">
            <a:noFill/>
          </a:ln>
        </p:spPr>
        <p:txBody>
          <a:bodyPr anchor="ctr" anchorCtr="0">
            <a:noAutofit/>
          </a:bodyPr>
          <a:lstStyle>
            <a:lvl1pPr marL="0" indent="0" algn="ctr">
              <a:buNone/>
              <a:defRPr b="1">
                <a:solidFill>
                  <a:schemeClr val="bg1"/>
                </a:solidFill>
              </a:defRPr>
            </a:lvl1pPr>
          </a:lstStyle>
          <a:p>
            <a:r>
              <a:rPr lang="en-GB"/>
              <a:t>Click icon to add picture</a:t>
            </a:r>
            <a:endParaRPr lang="en-GB" dirty="0"/>
          </a:p>
        </p:txBody>
      </p:sp>
      <p:sp>
        <p:nvSpPr>
          <p:cNvPr id="6" name="Rectangle 5">
            <a:extLst>
              <a:ext uri="{FF2B5EF4-FFF2-40B4-BE49-F238E27FC236}">
                <a16:creationId xmlns:a16="http://schemas.microsoft.com/office/drawing/2014/main" id="{44BCF2C7-D150-4547-98EB-CC87532E06F2}"/>
              </a:ext>
            </a:extLst>
          </p:cNvPr>
          <p:cNvSpPr/>
          <p:nvPr/>
        </p:nvSpPr>
        <p:spPr>
          <a:xfrm>
            <a:off x="670720" y="10069984"/>
            <a:ext cx="4896544" cy="3024336"/>
          </a:xfrm>
          <a:prstGeom prst="rect">
            <a:avLst/>
          </a:prstGeom>
          <a:solidFill>
            <a:srgbClr val="2E008B"/>
          </a:solidFill>
          <a:ln>
            <a:solidFill>
              <a:srgbClr val="2E00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a:p>
        </p:txBody>
      </p:sp>
      <p:sp>
        <p:nvSpPr>
          <p:cNvPr id="8" name="TextBox 7">
            <a:extLst>
              <a:ext uri="{FF2B5EF4-FFF2-40B4-BE49-F238E27FC236}">
                <a16:creationId xmlns:a16="http://schemas.microsoft.com/office/drawing/2014/main" id="{BF7201BF-9504-4E8A-B769-8C83E1A8EB01}"/>
              </a:ext>
            </a:extLst>
          </p:cNvPr>
          <p:cNvSpPr txBox="1"/>
          <p:nvPr/>
        </p:nvSpPr>
        <p:spPr>
          <a:xfrm>
            <a:off x="382688" y="12953088"/>
            <a:ext cx="6058248" cy="492443"/>
          </a:xfrm>
          <a:prstGeom prst="rect">
            <a:avLst/>
          </a:prstGeom>
          <a:noFill/>
        </p:spPr>
        <p:txBody>
          <a:bodyPr wrap="square" rtlCol="0">
            <a:spAutoFit/>
          </a:bodyPr>
          <a:lstStyle/>
          <a:p>
            <a:r>
              <a:rPr lang="en-GB" sz="2600" dirty="0">
                <a:solidFill>
                  <a:schemeClr val="bg1"/>
                </a:solidFill>
                <a:latin typeface="Calibri" panose="020F0502020204030204" pitchFamily="34" charset="0"/>
                <a:cs typeface="Andalus" panose="02020603050405020304" pitchFamily="18" charset="-78"/>
              </a:rPr>
              <a:t>Together we will beat cancer </a:t>
            </a:r>
          </a:p>
        </p:txBody>
      </p:sp>
      <p:pic>
        <p:nvPicPr>
          <p:cNvPr id="10" name="Picture 9">
            <a:extLst>
              <a:ext uri="{FF2B5EF4-FFF2-40B4-BE49-F238E27FC236}">
                <a16:creationId xmlns:a16="http://schemas.microsoft.com/office/drawing/2014/main" id="{98DF14C7-60D8-4D88-B7AB-897F26D5E9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688" y="11466512"/>
            <a:ext cx="5904656" cy="1302332"/>
          </a:xfrm>
          <a:prstGeom prst="rect">
            <a:avLst/>
          </a:prstGeom>
        </p:spPr>
      </p:pic>
    </p:spTree>
    <p:extLst>
      <p:ext uri="{BB962C8B-B14F-4D97-AF65-F5344CB8AC3E}">
        <p14:creationId xmlns:p14="http://schemas.microsoft.com/office/powerpoint/2010/main" val="3631092992"/>
      </p:ext>
    </p:extLst>
  </p:cSld>
  <p:clrMapOvr>
    <a:masterClrMapping/>
  </p:clrMapOvr>
  <p:hf sldNum="0" hdr="0" ftr="0" dt="0"/>
  <p:extLst>
    <p:ext uri="{DCECCB84-F9BA-43D5-87BE-67443E8EF086}">
      <p15:sldGuideLst xmlns:p15="http://schemas.microsoft.com/office/powerpoint/2012/main">
        <p15:guide id="1" pos="3840">
          <p15:clr>
            <a:srgbClr val="FBAE40"/>
          </p15:clr>
        </p15:guide>
        <p15:guide id="2" pos="2116">
          <p15:clr>
            <a:srgbClr val="FBAE40"/>
          </p15:clr>
        </p15:guide>
        <p15:guide id="3" pos="556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 option 4">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F5FA3-A20D-40FB-8BE3-44CD88DDEC22}"/>
              </a:ext>
            </a:extLst>
          </p:cNvPr>
          <p:cNvSpPr>
            <a:spLocks noGrp="1"/>
          </p:cNvSpPr>
          <p:nvPr>
            <p:ph type="ctrTitle"/>
          </p:nvPr>
        </p:nvSpPr>
        <p:spPr>
          <a:xfrm>
            <a:off x="1678832" y="3689648"/>
            <a:ext cx="10944000" cy="4176464"/>
          </a:xfrm>
          <a:prstGeom prst="rect">
            <a:avLst/>
          </a:prstGeom>
          <a:ln>
            <a:noFill/>
          </a:ln>
        </p:spPr>
        <p:txBody>
          <a:bodyPr bIns="0" anchor="ctr" anchorCtr="0">
            <a:noAutofit/>
          </a:bodyPr>
          <a:lstStyle>
            <a:lvl1pPr algn="ctr">
              <a:lnSpc>
                <a:spcPct val="70000"/>
              </a:lnSpc>
              <a:defRPr sz="12000">
                <a:solidFill>
                  <a:schemeClr val="bg1"/>
                </a:solidFill>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2EE91C51-1E93-4B29-9242-2D33D6D5A8FE}"/>
              </a:ext>
            </a:extLst>
          </p:cNvPr>
          <p:cNvSpPr>
            <a:spLocks noGrp="1"/>
          </p:cNvSpPr>
          <p:nvPr>
            <p:ph type="subTitle" idx="1"/>
          </p:nvPr>
        </p:nvSpPr>
        <p:spPr>
          <a:xfrm>
            <a:off x="2110832" y="8010129"/>
            <a:ext cx="10080000" cy="615554"/>
          </a:xfrm>
        </p:spPr>
        <p:txBody>
          <a:bodyPr/>
          <a:lstStyle>
            <a:lvl1pPr marL="0" indent="0" algn="ctr">
              <a:buNone/>
              <a:defRPr sz="4000">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GB"/>
              <a:t>Click to edit Master subtitle style</a:t>
            </a:r>
            <a:endParaRPr lang="en-GB" dirty="0"/>
          </a:p>
        </p:txBody>
      </p:sp>
      <p:sp>
        <p:nvSpPr>
          <p:cNvPr id="5" name="Picture Placeholder 10">
            <a:extLst>
              <a:ext uri="{FF2B5EF4-FFF2-40B4-BE49-F238E27FC236}">
                <a16:creationId xmlns:a16="http://schemas.microsoft.com/office/drawing/2014/main" id="{997D0358-D1A5-4615-A65D-68C0B35BE606}"/>
              </a:ext>
            </a:extLst>
          </p:cNvPr>
          <p:cNvSpPr>
            <a:spLocks noGrp="1"/>
          </p:cNvSpPr>
          <p:nvPr>
            <p:ph type="pic" sz="quarter" idx="10"/>
          </p:nvPr>
        </p:nvSpPr>
        <p:spPr>
          <a:xfrm>
            <a:off x="14544891" y="0"/>
            <a:ext cx="9839110" cy="137160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2281 w 12281"/>
              <a:gd name="connsiteY0" fmla="*/ 0 h 10000"/>
              <a:gd name="connsiteX1" fmla="*/ 12281 w 12281"/>
              <a:gd name="connsiteY1" fmla="*/ 0 h 10000"/>
              <a:gd name="connsiteX2" fmla="*/ 12281 w 12281"/>
              <a:gd name="connsiteY2" fmla="*/ 10000 h 10000"/>
              <a:gd name="connsiteX3" fmla="*/ 2281 w 12281"/>
              <a:gd name="connsiteY3" fmla="*/ 10000 h 10000"/>
              <a:gd name="connsiteX4" fmla="*/ 2281 w 12281"/>
              <a:gd name="connsiteY4" fmla="*/ 0 h 10000"/>
              <a:gd name="connsiteX0" fmla="*/ 2718 w 12718"/>
              <a:gd name="connsiteY0" fmla="*/ 0 h 10000"/>
              <a:gd name="connsiteX1" fmla="*/ 12718 w 12718"/>
              <a:gd name="connsiteY1" fmla="*/ 0 h 10000"/>
              <a:gd name="connsiteX2" fmla="*/ 12718 w 12718"/>
              <a:gd name="connsiteY2" fmla="*/ 10000 h 10000"/>
              <a:gd name="connsiteX3" fmla="*/ 2718 w 12718"/>
              <a:gd name="connsiteY3" fmla="*/ 10000 h 10000"/>
              <a:gd name="connsiteX4" fmla="*/ 2718 w 12718"/>
              <a:gd name="connsiteY4" fmla="*/ 0 h 10000"/>
              <a:gd name="connsiteX0" fmla="*/ 2205 w 12205"/>
              <a:gd name="connsiteY0" fmla="*/ 0 h 10000"/>
              <a:gd name="connsiteX1" fmla="*/ 12205 w 12205"/>
              <a:gd name="connsiteY1" fmla="*/ 0 h 10000"/>
              <a:gd name="connsiteX2" fmla="*/ 12205 w 12205"/>
              <a:gd name="connsiteY2" fmla="*/ 10000 h 10000"/>
              <a:gd name="connsiteX3" fmla="*/ 2205 w 12205"/>
              <a:gd name="connsiteY3" fmla="*/ 10000 h 10000"/>
              <a:gd name="connsiteX4" fmla="*/ 2205 w 12205"/>
              <a:gd name="connsiteY4" fmla="*/ 0 h 10000"/>
              <a:gd name="connsiteX0" fmla="*/ 2264 w 12264"/>
              <a:gd name="connsiteY0" fmla="*/ 0 h 10000"/>
              <a:gd name="connsiteX1" fmla="*/ 12264 w 12264"/>
              <a:gd name="connsiteY1" fmla="*/ 0 h 10000"/>
              <a:gd name="connsiteX2" fmla="*/ 12264 w 12264"/>
              <a:gd name="connsiteY2" fmla="*/ 10000 h 10000"/>
              <a:gd name="connsiteX3" fmla="*/ 2264 w 12264"/>
              <a:gd name="connsiteY3" fmla="*/ 10000 h 10000"/>
              <a:gd name="connsiteX4" fmla="*/ 2264 w 12264"/>
              <a:gd name="connsiteY4" fmla="*/ 0 h 10000"/>
              <a:gd name="connsiteX0" fmla="*/ 2303 w 12303"/>
              <a:gd name="connsiteY0" fmla="*/ 0 h 10000"/>
              <a:gd name="connsiteX1" fmla="*/ 12303 w 12303"/>
              <a:gd name="connsiteY1" fmla="*/ 0 h 10000"/>
              <a:gd name="connsiteX2" fmla="*/ 12303 w 12303"/>
              <a:gd name="connsiteY2" fmla="*/ 10000 h 10000"/>
              <a:gd name="connsiteX3" fmla="*/ 2303 w 12303"/>
              <a:gd name="connsiteY3" fmla="*/ 10000 h 10000"/>
              <a:gd name="connsiteX4" fmla="*/ 2303 w 12303"/>
              <a:gd name="connsiteY4" fmla="*/ 0 h 10000"/>
              <a:gd name="connsiteX0" fmla="*/ 2273 w 12273"/>
              <a:gd name="connsiteY0" fmla="*/ 0 h 10000"/>
              <a:gd name="connsiteX1" fmla="*/ 12273 w 12273"/>
              <a:gd name="connsiteY1" fmla="*/ 0 h 10000"/>
              <a:gd name="connsiteX2" fmla="*/ 12273 w 12273"/>
              <a:gd name="connsiteY2" fmla="*/ 10000 h 10000"/>
              <a:gd name="connsiteX3" fmla="*/ 2273 w 12273"/>
              <a:gd name="connsiteY3" fmla="*/ 10000 h 10000"/>
              <a:gd name="connsiteX4" fmla="*/ 2273 w 12273"/>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3" h="10000">
                <a:moveTo>
                  <a:pt x="2273" y="0"/>
                </a:moveTo>
                <a:lnTo>
                  <a:pt x="12273" y="0"/>
                </a:lnTo>
                <a:lnTo>
                  <a:pt x="12273" y="10000"/>
                </a:lnTo>
                <a:lnTo>
                  <a:pt x="2273" y="10000"/>
                </a:lnTo>
                <a:cubicBezTo>
                  <a:pt x="215" y="7508"/>
                  <a:pt x="-1596" y="4260"/>
                  <a:pt x="2273" y="0"/>
                </a:cubicBezTo>
                <a:close/>
              </a:path>
            </a:pathLst>
          </a:custGeom>
          <a:blipFill dpi="0" rotWithShape="1">
            <a:blip r:embed="rId3" cstate="print">
              <a:extLst>
                <a:ext uri="{28A0092B-C50C-407E-A947-70E740481C1C}">
                  <a14:useLocalDpi xmlns:a14="http://schemas.microsoft.com/office/drawing/2010/main"/>
                </a:ext>
              </a:extLst>
            </a:blip>
            <a:srcRect/>
            <a:stretch>
              <a:fillRect/>
            </a:stretch>
          </a:blipFill>
          <a:ln w="28575">
            <a:noFill/>
          </a:ln>
        </p:spPr>
        <p:txBody>
          <a:bodyPr anchor="ctr" anchorCtr="0">
            <a:noAutofit/>
          </a:bodyPr>
          <a:lstStyle>
            <a:lvl1pPr marL="0" indent="0" algn="ctr">
              <a:buNone/>
              <a:defRPr b="1">
                <a:solidFill>
                  <a:schemeClr val="bg1"/>
                </a:solidFill>
              </a:defRPr>
            </a:lvl1pPr>
          </a:lstStyle>
          <a:p>
            <a:r>
              <a:rPr lang="en-GB"/>
              <a:t>Click icon to add picture</a:t>
            </a:r>
            <a:endParaRPr lang="en-GB" dirty="0"/>
          </a:p>
        </p:txBody>
      </p:sp>
      <p:sp>
        <p:nvSpPr>
          <p:cNvPr id="6" name="Rectangle 5">
            <a:extLst>
              <a:ext uri="{FF2B5EF4-FFF2-40B4-BE49-F238E27FC236}">
                <a16:creationId xmlns:a16="http://schemas.microsoft.com/office/drawing/2014/main" id="{C30E9D85-FA01-435A-807C-2764FE1066EB}"/>
              </a:ext>
            </a:extLst>
          </p:cNvPr>
          <p:cNvSpPr/>
          <p:nvPr/>
        </p:nvSpPr>
        <p:spPr>
          <a:xfrm>
            <a:off x="670720" y="10069984"/>
            <a:ext cx="4896544" cy="3024336"/>
          </a:xfrm>
          <a:prstGeom prst="rect">
            <a:avLst/>
          </a:prstGeom>
          <a:solidFill>
            <a:srgbClr val="2E008B"/>
          </a:solidFill>
          <a:ln>
            <a:solidFill>
              <a:srgbClr val="2E00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a:p>
        </p:txBody>
      </p:sp>
      <p:sp>
        <p:nvSpPr>
          <p:cNvPr id="10" name="TextBox 9">
            <a:extLst>
              <a:ext uri="{FF2B5EF4-FFF2-40B4-BE49-F238E27FC236}">
                <a16:creationId xmlns:a16="http://schemas.microsoft.com/office/drawing/2014/main" id="{FE835EBC-EFF7-4C19-A824-ABA43CC01B6F}"/>
              </a:ext>
            </a:extLst>
          </p:cNvPr>
          <p:cNvSpPr txBox="1"/>
          <p:nvPr/>
        </p:nvSpPr>
        <p:spPr>
          <a:xfrm>
            <a:off x="382688" y="12953088"/>
            <a:ext cx="6058248" cy="492443"/>
          </a:xfrm>
          <a:prstGeom prst="rect">
            <a:avLst/>
          </a:prstGeom>
          <a:noFill/>
        </p:spPr>
        <p:txBody>
          <a:bodyPr wrap="square" rtlCol="0">
            <a:spAutoFit/>
          </a:bodyPr>
          <a:lstStyle/>
          <a:p>
            <a:r>
              <a:rPr lang="en-GB" sz="2600" dirty="0">
                <a:solidFill>
                  <a:schemeClr val="bg1"/>
                </a:solidFill>
                <a:latin typeface="Calibri" panose="020F0502020204030204" pitchFamily="34" charset="0"/>
                <a:cs typeface="Andalus" panose="02020603050405020304" pitchFamily="18" charset="-78"/>
              </a:rPr>
              <a:t>Together we will beat cancer </a:t>
            </a:r>
          </a:p>
        </p:txBody>
      </p:sp>
      <p:pic>
        <p:nvPicPr>
          <p:cNvPr id="9" name="Picture 8">
            <a:extLst>
              <a:ext uri="{FF2B5EF4-FFF2-40B4-BE49-F238E27FC236}">
                <a16:creationId xmlns:a16="http://schemas.microsoft.com/office/drawing/2014/main" id="{5EA8B399-06C1-4EA0-AC8F-1340D16BC3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688" y="11466512"/>
            <a:ext cx="5904656" cy="1302332"/>
          </a:xfrm>
          <a:prstGeom prst="rect">
            <a:avLst/>
          </a:prstGeom>
        </p:spPr>
      </p:pic>
    </p:spTree>
    <p:extLst>
      <p:ext uri="{BB962C8B-B14F-4D97-AF65-F5344CB8AC3E}">
        <p14:creationId xmlns:p14="http://schemas.microsoft.com/office/powerpoint/2010/main" val="3247653090"/>
      </p:ext>
    </p:extLst>
  </p:cSld>
  <p:clrMapOvr>
    <a:masterClrMapping/>
  </p:clrMapOvr>
  <p:hf sldNum="0" hdr="0" ftr="0" dt="0"/>
  <p:extLst>
    <p:ext uri="{DCECCB84-F9BA-43D5-87BE-67443E8EF086}">
      <p15:sldGuideLst xmlns:p15="http://schemas.microsoft.com/office/powerpoint/2012/main">
        <p15:guide id="1" pos="3840">
          <p15:clr>
            <a:srgbClr val="FBAE40"/>
          </p15:clr>
        </p15:guide>
        <p15:guide id="2" pos="2116">
          <p15:clr>
            <a:srgbClr val="FBAE40"/>
          </p15:clr>
        </p15:guide>
        <p15:guide id="3" pos="556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Header">
    <p:bg>
      <p:bgPr>
        <a:blipFill dpi="0" rotWithShape="1">
          <a:blip r:embed="rId2" cstate="print">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4D9D8-3ACA-459C-AA1E-A261DEDBD09F}"/>
              </a:ext>
            </a:extLst>
          </p:cNvPr>
          <p:cNvSpPr>
            <a:spLocks noGrp="1"/>
          </p:cNvSpPr>
          <p:nvPr>
            <p:ph type="title"/>
          </p:nvPr>
        </p:nvSpPr>
        <p:spPr>
          <a:xfrm>
            <a:off x="1679577" y="5523791"/>
            <a:ext cx="14976474" cy="2668422"/>
          </a:xfrm>
        </p:spPr>
        <p:txBody>
          <a:bodyPr wrap="square" anchor="ctr" anchorCtr="0">
            <a:spAutoFit/>
          </a:bodyPr>
          <a:lstStyle>
            <a:lvl1pPr algn="ctr">
              <a:lnSpc>
                <a:spcPct val="70000"/>
              </a:lnSpc>
              <a:defRPr sz="12000">
                <a:solidFill>
                  <a:schemeClr val="bg1"/>
                </a:solidFill>
              </a:defRPr>
            </a:lvl1pPr>
          </a:lstStyle>
          <a:p>
            <a:r>
              <a:rPr lang="en-GB"/>
              <a:t>Click to edit Master title style</a:t>
            </a:r>
            <a:endParaRPr lang="en-GB" dirty="0"/>
          </a:p>
        </p:txBody>
      </p:sp>
      <p:sp>
        <p:nvSpPr>
          <p:cNvPr id="4" name="Rectangle 3">
            <a:extLst>
              <a:ext uri="{FF2B5EF4-FFF2-40B4-BE49-F238E27FC236}">
                <a16:creationId xmlns:a16="http://schemas.microsoft.com/office/drawing/2014/main" id="{23CE970A-69F0-4380-B369-6E5245E60786}"/>
              </a:ext>
            </a:extLst>
          </p:cNvPr>
          <p:cNvSpPr/>
          <p:nvPr/>
        </p:nvSpPr>
        <p:spPr>
          <a:xfrm>
            <a:off x="18960752" y="10440550"/>
            <a:ext cx="4896544" cy="30243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dirty="0"/>
          </a:p>
        </p:txBody>
      </p:sp>
      <p:pic>
        <p:nvPicPr>
          <p:cNvPr id="6" name="Picture 5">
            <a:extLst>
              <a:ext uri="{FF2B5EF4-FFF2-40B4-BE49-F238E27FC236}">
                <a16:creationId xmlns:a16="http://schemas.microsoft.com/office/drawing/2014/main" id="{F3175505-2C65-4AA4-91A9-4D6D0D6AD1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96656" y="12042577"/>
            <a:ext cx="5629008" cy="1239414"/>
          </a:xfrm>
          <a:prstGeom prst="rect">
            <a:avLst/>
          </a:prstGeom>
        </p:spPr>
      </p:pic>
    </p:spTree>
    <p:extLst>
      <p:ext uri="{BB962C8B-B14F-4D97-AF65-F5344CB8AC3E}">
        <p14:creationId xmlns:p14="http://schemas.microsoft.com/office/powerpoint/2010/main" val="2522578031"/>
      </p:ext>
    </p:extLst>
  </p:cSld>
  <p:clrMapOvr>
    <a:masterClrMapping/>
  </p:clrMapOvr>
  <p:hf sldNum="0" hdr="0" ftr="0" dt="0"/>
  <p:extLst>
    <p:ext uri="{DCECCB84-F9BA-43D5-87BE-67443E8EF086}">
      <p15:sldGuideLst xmlns:p15="http://schemas.microsoft.com/office/powerpoint/2012/main">
        <p15:guide id="1" pos="524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 Header - option 2">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4D9D8-3ACA-459C-AA1E-A261DEDBD09F}"/>
              </a:ext>
            </a:extLst>
          </p:cNvPr>
          <p:cNvSpPr>
            <a:spLocks noGrp="1"/>
          </p:cNvSpPr>
          <p:nvPr>
            <p:ph type="title"/>
          </p:nvPr>
        </p:nvSpPr>
        <p:spPr>
          <a:xfrm>
            <a:off x="1679577" y="5523791"/>
            <a:ext cx="14976474" cy="2668422"/>
          </a:xfrm>
        </p:spPr>
        <p:txBody>
          <a:bodyPr wrap="square" anchor="ctr" anchorCtr="0">
            <a:spAutoFit/>
          </a:bodyPr>
          <a:lstStyle>
            <a:lvl1pPr algn="ctr">
              <a:lnSpc>
                <a:spcPct val="70000"/>
              </a:lnSpc>
              <a:defRPr sz="12000">
                <a:solidFill>
                  <a:schemeClr val="tx2"/>
                </a:solidFill>
              </a:defRPr>
            </a:lvl1pPr>
          </a:lstStyle>
          <a:p>
            <a:r>
              <a:rPr lang="en-GB"/>
              <a:t>Click to edit Master title style</a:t>
            </a:r>
            <a:endParaRPr lang="en-GB" dirty="0"/>
          </a:p>
        </p:txBody>
      </p:sp>
      <p:sp>
        <p:nvSpPr>
          <p:cNvPr id="3" name="Rectangle 2">
            <a:extLst>
              <a:ext uri="{FF2B5EF4-FFF2-40B4-BE49-F238E27FC236}">
                <a16:creationId xmlns:a16="http://schemas.microsoft.com/office/drawing/2014/main" id="{D1057045-282D-4894-93DF-38BEDA5FC206}"/>
              </a:ext>
            </a:extLst>
          </p:cNvPr>
          <p:cNvSpPr/>
          <p:nvPr/>
        </p:nvSpPr>
        <p:spPr>
          <a:xfrm>
            <a:off x="18960752" y="10440550"/>
            <a:ext cx="4896544" cy="3024336"/>
          </a:xfrm>
          <a:prstGeom prst="rect">
            <a:avLst/>
          </a:prstGeom>
          <a:solidFill>
            <a:srgbClr val="2E008B"/>
          </a:solidFill>
          <a:ln>
            <a:solidFill>
              <a:srgbClr val="2E00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dirty="0"/>
          </a:p>
        </p:txBody>
      </p:sp>
      <p:pic>
        <p:nvPicPr>
          <p:cNvPr id="6" name="Picture 5">
            <a:extLst>
              <a:ext uri="{FF2B5EF4-FFF2-40B4-BE49-F238E27FC236}">
                <a16:creationId xmlns:a16="http://schemas.microsoft.com/office/drawing/2014/main" id="{90F4F69F-2D00-4A70-A094-4F6050E9F5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2640" y="11952718"/>
            <a:ext cx="5904656" cy="1302332"/>
          </a:xfrm>
          <a:prstGeom prst="rect">
            <a:avLst/>
          </a:prstGeom>
        </p:spPr>
      </p:pic>
    </p:spTree>
    <p:extLst>
      <p:ext uri="{BB962C8B-B14F-4D97-AF65-F5344CB8AC3E}">
        <p14:creationId xmlns:p14="http://schemas.microsoft.com/office/powerpoint/2010/main" val="1245967905"/>
      </p:ext>
    </p:extLst>
  </p:cSld>
  <p:clrMapOvr>
    <a:masterClrMapping/>
  </p:clrMapOvr>
  <p:hf sldNum="0" hdr="0" ftr="0" dt="0"/>
  <p:extLst>
    <p:ext uri="{DCECCB84-F9BA-43D5-87BE-67443E8EF086}">
      <p15:sldGuideLst xmlns:p15="http://schemas.microsoft.com/office/powerpoint/2012/main">
        <p15:guide id="1" pos="524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 option 3">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4D9D8-3ACA-459C-AA1E-A261DEDBD09F}"/>
              </a:ext>
            </a:extLst>
          </p:cNvPr>
          <p:cNvSpPr>
            <a:spLocks noGrp="1"/>
          </p:cNvSpPr>
          <p:nvPr>
            <p:ph type="title"/>
          </p:nvPr>
        </p:nvSpPr>
        <p:spPr>
          <a:xfrm>
            <a:off x="1679577" y="5523791"/>
            <a:ext cx="14976474" cy="2668422"/>
          </a:xfrm>
        </p:spPr>
        <p:txBody>
          <a:bodyPr wrap="square" anchor="ctr" anchorCtr="0">
            <a:spAutoFit/>
          </a:bodyPr>
          <a:lstStyle>
            <a:lvl1pPr algn="ctr">
              <a:lnSpc>
                <a:spcPct val="70000"/>
              </a:lnSpc>
              <a:defRPr sz="12000">
                <a:solidFill>
                  <a:schemeClr val="tx2"/>
                </a:solidFill>
              </a:defRPr>
            </a:lvl1pPr>
          </a:lstStyle>
          <a:p>
            <a:r>
              <a:rPr lang="en-GB"/>
              <a:t>Click to edit Master title style</a:t>
            </a:r>
            <a:endParaRPr lang="en-GB" dirty="0"/>
          </a:p>
        </p:txBody>
      </p:sp>
      <p:sp>
        <p:nvSpPr>
          <p:cNvPr id="5" name="Rectangle 4">
            <a:extLst>
              <a:ext uri="{FF2B5EF4-FFF2-40B4-BE49-F238E27FC236}">
                <a16:creationId xmlns:a16="http://schemas.microsoft.com/office/drawing/2014/main" id="{25BDC983-CD54-481A-90C4-66C6E8002E4C}"/>
              </a:ext>
            </a:extLst>
          </p:cNvPr>
          <p:cNvSpPr/>
          <p:nvPr/>
        </p:nvSpPr>
        <p:spPr>
          <a:xfrm>
            <a:off x="18960752" y="10440550"/>
            <a:ext cx="4896544" cy="3024336"/>
          </a:xfrm>
          <a:prstGeom prst="rect">
            <a:avLst/>
          </a:prstGeom>
          <a:solidFill>
            <a:srgbClr val="A7A8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dirty="0"/>
          </a:p>
        </p:txBody>
      </p:sp>
      <p:pic>
        <p:nvPicPr>
          <p:cNvPr id="7" name="Picture 6">
            <a:extLst>
              <a:ext uri="{FF2B5EF4-FFF2-40B4-BE49-F238E27FC236}">
                <a16:creationId xmlns:a16="http://schemas.microsoft.com/office/drawing/2014/main" id="{1D34D5D9-5C59-429E-815C-3CEACC8702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2640" y="11952718"/>
            <a:ext cx="5904656" cy="1302332"/>
          </a:xfrm>
          <a:prstGeom prst="rect">
            <a:avLst/>
          </a:prstGeom>
        </p:spPr>
      </p:pic>
    </p:spTree>
    <p:extLst>
      <p:ext uri="{BB962C8B-B14F-4D97-AF65-F5344CB8AC3E}">
        <p14:creationId xmlns:p14="http://schemas.microsoft.com/office/powerpoint/2010/main" val="3474416428"/>
      </p:ext>
    </p:extLst>
  </p:cSld>
  <p:clrMapOvr>
    <a:masterClrMapping/>
  </p:clrMapOvr>
  <p:hf sldNum="0" hdr="0" ftr="0" dt="0"/>
  <p:extLst>
    <p:ext uri="{DCECCB84-F9BA-43D5-87BE-67443E8EF086}">
      <p15:sldGuideLst xmlns:p15="http://schemas.microsoft.com/office/powerpoint/2012/main">
        <p15:guide id="1" pos="524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 option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4D9D8-3ACA-459C-AA1E-A261DEDBD09F}"/>
              </a:ext>
            </a:extLst>
          </p:cNvPr>
          <p:cNvSpPr>
            <a:spLocks noGrp="1"/>
          </p:cNvSpPr>
          <p:nvPr>
            <p:ph type="title"/>
          </p:nvPr>
        </p:nvSpPr>
        <p:spPr>
          <a:xfrm>
            <a:off x="1679575" y="4877460"/>
            <a:ext cx="10512426" cy="3961084"/>
          </a:xfrm>
        </p:spPr>
        <p:txBody>
          <a:bodyPr wrap="square" anchor="ctr" anchorCtr="0">
            <a:spAutoFit/>
          </a:bodyPr>
          <a:lstStyle>
            <a:lvl1pPr algn="ctr">
              <a:lnSpc>
                <a:spcPct val="70000"/>
              </a:lnSpc>
              <a:defRPr sz="12000">
                <a:solidFill>
                  <a:schemeClr val="tx2"/>
                </a:solidFill>
              </a:defRPr>
            </a:lvl1pPr>
          </a:lstStyle>
          <a:p>
            <a:r>
              <a:rPr lang="en-GB"/>
              <a:t>Click to edit Master title style</a:t>
            </a:r>
            <a:endParaRPr lang="en-GB" dirty="0"/>
          </a:p>
        </p:txBody>
      </p:sp>
      <p:sp>
        <p:nvSpPr>
          <p:cNvPr id="3" name="Picture Placeholder 10">
            <a:extLst>
              <a:ext uri="{FF2B5EF4-FFF2-40B4-BE49-F238E27FC236}">
                <a16:creationId xmlns:a16="http://schemas.microsoft.com/office/drawing/2014/main" id="{1CEBE5DC-07E1-4B65-9518-961D2B3183AA}"/>
              </a:ext>
            </a:extLst>
          </p:cNvPr>
          <p:cNvSpPr>
            <a:spLocks noGrp="1"/>
          </p:cNvSpPr>
          <p:nvPr>
            <p:ph type="pic" sz="quarter" idx="10"/>
          </p:nvPr>
        </p:nvSpPr>
        <p:spPr>
          <a:xfrm>
            <a:off x="14496256" y="0"/>
            <a:ext cx="9887744" cy="137160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2281 w 12281"/>
              <a:gd name="connsiteY0" fmla="*/ 0 h 10000"/>
              <a:gd name="connsiteX1" fmla="*/ 12281 w 12281"/>
              <a:gd name="connsiteY1" fmla="*/ 0 h 10000"/>
              <a:gd name="connsiteX2" fmla="*/ 12281 w 12281"/>
              <a:gd name="connsiteY2" fmla="*/ 10000 h 10000"/>
              <a:gd name="connsiteX3" fmla="*/ 2281 w 12281"/>
              <a:gd name="connsiteY3" fmla="*/ 10000 h 10000"/>
              <a:gd name="connsiteX4" fmla="*/ 2281 w 12281"/>
              <a:gd name="connsiteY4" fmla="*/ 0 h 10000"/>
              <a:gd name="connsiteX0" fmla="*/ 2718 w 12718"/>
              <a:gd name="connsiteY0" fmla="*/ 0 h 10000"/>
              <a:gd name="connsiteX1" fmla="*/ 12718 w 12718"/>
              <a:gd name="connsiteY1" fmla="*/ 0 h 10000"/>
              <a:gd name="connsiteX2" fmla="*/ 12718 w 12718"/>
              <a:gd name="connsiteY2" fmla="*/ 10000 h 10000"/>
              <a:gd name="connsiteX3" fmla="*/ 2718 w 12718"/>
              <a:gd name="connsiteY3" fmla="*/ 10000 h 10000"/>
              <a:gd name="connsiteX4" fmla="*/ 2718 w 12718"/>
              <a:gd name="connsiteY4" fmla="*/ 0 h 10000"/>
              <a:gd name="connsiteX0" fmla="*/ 2205 w 12205"/>
              <a:gd name="connsiteY0" fmla="*/ 0 h 10000"/>
              <a:gd name="connsiteX1" fmla="*/ 12205 w 12205"/>
              <a:gd name="connsiteY1" fmla="*/ 0 h 10000"/>
              <a:gd name="connsiteX2" fmla="*/ 12205 w 12205"/>
              <a:gd name="connsiteY2" fmla="*/ 10000 h 10000"/>
              <a:gd name="connsiteX3" fmla="*/ 2205 w 12205"/>
              <a:gd name="connsiteY3" fmla="*/ 10000 h 10000"/>
              <a:gd name="connsiteX4" fmla="*/ 2205 w 12205"/>
              <a:gd name="connsiteY4" fmla="*/ 0 h 10000"/>
              <a:gd name="connsiteX0" fmla="*/ 2264 w 12264"/>
              <a:gd name="connsiteY0" fmla="*/ 0 h 10000"/>
              <a:gd name="connsiteX1" fmla="*/ 12264 w 12264"/>
              <a:gd name="connsiteY1" fmla="*/ 0 h 10000"/>
              <a:gd name="connsiteX2" fmla="*/ 12264 w 12264"/>
              <a:gd name="connsiteY2" fmla="*/ 10000 h 10000"/>
              <a:gd name="connsiteX3" fmla="*/ 2264 w 12264"/>
              <a:gd name="connsiteY3" fmla="*/ 10000 h 10000"/>
              <a:gd name="connsiteX4" fmla="*/ 2264 w 12264"/>
              <a:gd name="connsiteY4" fmla="*/ 0 h 10000"/>
              <a:gd name="connsiteX0" fmla="*/ 2303 w 12303"/>
              <a:gd name="connsiteY0" fmla="*/ 0 h 10000"/>
              <a:gd name="connsiteX1" fmla="*/ 12303 w 12303"/>
              <a:gd name="connsiteY1" fmla="*/ 0 h 10000"/>
              <a:gd name="connsiteX2" fmla="*/ 12303 w 12303"/>
              <a:gd name="connsiteY2" fmla="*/ 10000 h 10000"/>
              <a:gd name="connsiteX3" fmla="*/ 2303 w 12303"/>
              <a:gd name="connsiteY3" fmla="*/ 10000 h 10000"/>
              <a:gd name="connsiteX4" fmla="*/ 2303 w 12303"/>
              <a:gd name="connsiteY4" fmla="*/ 0 h 10000"/>
              <a:gd name="connsiteX0" fmla="*/ 2273 w 12273"/>
              <a:gd name="connsiteY0" fmla="*/ 0 h 10000"/>
              <a:gd name="connsiteX1" fmla="*/ 12273 w 12273"/>
              <a:gd name="connsiteY1" fmla="*/ 0 h 10000"/>
              <a:gd name="connsiteX2" fmla="*/ 12273 w 12273"/>
              <a:gd name="connsiteY2" fmla="*/ 10000 h 10000"/>
              <a:gd name="connsiteX3" fmla="*/ 2273 w 12273"/>
              <a:gd name="connsiteY3" fmla="*/ 10000 h 10000"/>
              <a:gd name="connsiteX4" fmla="*/ 2273 w 12273"/>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3" h="10000">
                <a:moveTo>
                  <a:pt x="2273" y="0"/>
                </a:moveTo>
                <a:lnTo>
                  <a:pt x="12273" y="0"/>
                </a:lnTo>
                <a:lnTo>
                  <a:pt x="12273" y="10000"/>
                </a:lnTo>
                <a:lnTo>
                  <a:pt x="2273" y="10000"/>
                </a:lnTo>
                <a:cubicBezTo>
                  <a:pt x="215" y="7508"/>
                  <a:pt x="-1596" y="4260"/>
                  <a:pt x="2273" y="0"/>
                </a:cubicBezTo>
                <a:close/>
              </a:path>
            </a:pathLst>
          </a:custGeom>
          <a:blipFill dpi="0" rotWithShape="1">
            <a:blip r:embed="rId2" cstate="print">
              <a:extLst>
                <a:ext uri="{28A0092B-C50C-407E-A947-70E740481C1C}">
                  <a14:useLocalDpi xmlns:a14="http://schemas.microsoft.com/office/drawing/2010/main"/>
                </a:ext>
              </a:extLst>
            </a:blip>
            <a:srcRect/>
            <a:stretch>
              <a:fillRect/>
            </a:stretch>
          </a:blipFill>
          <a:ln w="28575">
            <a:noFill/>
          </a:ln>
        </p:spPr>
        <p:txBody>
          <a:bodyPr anchor="ctr" anchorCtr="0">
            <a:noAutofit/>
          </a:bodyPr>
          <a:lstStyle>
            <a:lvl1pPr marL="0" indent="0" algn="ctr">
              <a:buNone/>
              <a:defRPr b="1">
                <a:solidFill>
                  <a:schemeClr val="bg1"/>
                </a:solidFill>
              </a:defRPr>
            </a:lvl1pPr>
          </a:lstStyle>
          <a:p>
            <a:r>
              <a:rPr lang="en-GB"/>
              <a:t>Click icon to add picture</a:t>
            </a:r>
            <a:endParaRPr lang="en-GB" dirty="0"/>
          </a:p>
        </p:txBody>
      </p:sp>
      <p:sp>
        <p:nvSpPr>
          <p:cNvPr id="5" name="Oval 4">
            <a:extLst>
              <a:ext uri="{FF2B5EF4-FFF2-40B4-BE49-F238E27FC236}">
                <a16:creationId xmlns:a16="http://schemas.microsoft.com/office/drawing/2014/main" id="{42CF35B7-1632-421B-8A62-A66970D923EA}"/>
              </a:ext>
            </a:extLst>
          </p:cNvPr>
          <p:cNvSpPr/>
          <p:nvPr/>
        </p:nvSpPr>
        <p:spPr>
          <a:xfrm>
            <a:off x="2542928" y="953344"/>
            <a:ext cx="829312" cy="829312"/>
          </a:xfrm>
          <a:prstGeom prst="ellipse">
            <a:avLst/>
          </a:prstGeom>
          <a:solidFill>
            <a:srgbClr val="17298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a:p>
        </p:txBody>
      </p:sp>
      <p:sp>
        <p:nvSpPr>
          <p:cNvPr id="6" name="Oval 5">
            <a:extLst>
              <a:ext uri="{FF2B5EF4-FFF2-40B4-BE49-F238E27FC236}">
                <a16:creationId xmlns:a16="http://schemas.microsoft.com/office/drawing/2014/main" id="{3762D73B-BBFA-449A-946A-8A819A1B7DF8}"/>
              </a:ext>
            </a:extLst>
          </p:cNvPr>
          <p:cNvSpPr/>
          <p:nvPr/>
        </p:nvSpPr>
        <p:spPr>
          <a:xfrm>
            <a:off x="3551040" y="1857132"/>
            <a:ext cx="340952" cy="340952"/>
          </a:xfrm>
          <a:prstGeom prst="ellipse">
            <a:avLst/>
          </a:prstGeom>
          <a:solidFill>
            <a:srgbClr val="00B6ED"/>
          </a:solidFill>
          <a:ln>
            <a:solidFill>
              <a:srgbClr val="00B6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a:p>
        </p:txBody>
      </p:sp>
      <p:sp>
        <p:nvSpPr>
          <p:cNvPr id="7" name="Oval 6">
            <a:extLst>
              <a:ext uri="{FF2B5EF4-FFF2-40B4-BE49-F238E27FC236}">
                <a16:creationId xmlns:a16="http://schemas.microsoft.com/office/drawing/2014/main" id="{1445F4B4-6C4B-4789-85A0-919776932321}"/>
              </a:ext>
            </a:extLst>
          </p:cNvPr>
          <p:cNvSpPr/>
          <p:nvPr/>
        </p:nvSpPr>
        <p:spPr>
          <a:xfrm>
            <a:off x="670720" y="2681536"/>
            <a:ext cx="533400" cy="533400"/>
          </a:xfrm>
          <a:prstGeom prst="ellipse">
            <a:avLst/>
          </a:prstGeom>
          <a:solidFill>
            <a:srgbClr val="EC008C"/>
          </a:solidFill>
          <a:ln>
            <a:solidFill>
              <a:srgbClr val="EC00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a:p>
        </p:txBody>
      </p:sp>
      <p:pic>
        <p:nvPicPr>
          <p:cNvPr id="9" name="Picture 8">
            <a:extLst>
              <a:ext uri="{FF2B5EF4-FFF2-40B4-BE49-F238E27FC236}">
                <a16:creationId xmlns:a16="http://schemas.microsoft.com/office/drawing/2014/main" id="{EEDF331A-3129-4180-9508-4892211266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704" y="12042577"/>
            <a:ext cx="5629008" cy="1239414"/>
          </a:xfrm>
          <a:prstGeom prst="rect">
            <a:avLst/>
          </a:prstGeom>
        </p:spPr>
      </p:pic>
    </p:spTree>
    <p:extLst>
      <p:ext uri="{BB962C8B-B14F-4D97-AF65-F5344CB8AC3E}">
        <p14:creationId xmlns:p14="http://schemas.microsoft.com/office/powerpoint/2010/main" val="2404825236"/>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pos="524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 option 5">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4D9D8-3ACA-459C-AA1E-A261DEDBD09F}"/>
              </a:ext>
            </a:extLst>
          </p:cNvPr>
          <p:cNvSpPr>
            <a:spLocks noGrp="1"/>
          </p:cNvSpPr>
          <p:nvPr>
            <p:ph type="title"/>
          </p:nvPr>
        </p:nvSpPr>
        <p:spPr>
          <a:xfrm>
            <a:off x="1679575" y="4877460"/>
            <a:ext cx="10512426" cy="3961084"/>
          </a:xfrm>
        </p:spPr>
        <p:txBody>
          <a:bodyPr wrap="square" anchor="ctr" anchorCtr="0">
            <a:spAutoFit/>
          </a:bodyPr>
          <a:lstStyle>
            <a:lvl1pPr algn="ctr">
              <a:lnSpc>
                <a:spcPct val="70000"/>
              </a:lnSpc>
              <a:defRPr sz="12000">
                <a:solidFill>
                  <a:schemeClr val="bg1"/>
                </a:solidFill>
              </a:defRPr>
            </a:lvl1pPr>
          </a:lstStyle>
          <a:p>
            <a:r>
              <a:rPr lang="en-GB"/>
              <a:t>Click to edit Master title style</a:t>
            </a:r>
            <a:endParaRPr lang="en-GB" dirty="0"/>
          </a:p>
        </p:txBody>
      </p:sp>
      <p:sp>
        <p:nvSpPr>
          <p:cNvPr id="3" name="Picture Placeholder 10">
            <a:extLst>
              <a:ext uri="{FF2B5EF4-FFF2-40B4-BE49-F238E27FC236}">
                <a16:creationId xmlns:a16="http://schemas.microsoft.com/office/drawing/2014/main" id="{EA36F336-08E4-4E71-B479-98F032E8E41B}"/>
              </a:ext>
            </a:extLst>
          </p:cNvPr>
          <p:cNvSpPr>
            <a:spLocks noGrp="1"/>
          </p:cNvSpPr>
          <p:nvPr>
            <p:ph type="pic" sz="quarter" idx="10"/>
          </p:nvPr>
        </p:nvSpPr>
        <p:spPr>
          <a:xfrm>
            <a:off x="14496256" y="0"/>
            <a:ext cx="9887744" cy="137160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2281 w 12281"/>
              <a:gd name="connsiteY0" fmla="*/ 0 h 10000"/>
              <a:gd name="connsiteX1" fmla="*/ 12281 w 12281"/>
              <a:gd name="connsiteY1" fmla="*/ 0 h 10000"/>
              <a:gd name="connsiteX2" fmla="*/ 12281 w 12281"/>
              <a:gd name="connsiteY2" fmla="*/ 10000 h 10000"/>
              <a:gd name="connsiteX3" fmla="*/ 2281 w 12281"/>
              <a:gd name="connsiteY3" fmla="*/ 10000 h 10000"/>
              <a:gd name="connsiteX4" fmla="*/ 2281 w 12281"/>
              <a:gd name="connsiteY4" fmla="*/ 0 h 10000"/>
              <a:gd name="connsiteX0" fmla="*/ 2718 w 12718"/>
              <a:gd name="connsiteY0" fmla="*/ 0 h 10000"/>
              <a:gd name="connsiteX1" fmla="*/ 12718 w 12718"/>
              <a:gd name="connsiteY1" fmla="*/ 0 h 10000"/>
              <a:gd name="connsiteX2" fmla="*/ 12718 w 12718"/>
              <a:gd name="connsiteY2" fmla="*/ 10000 h 10000"/>
              <a:gd name="connsiteX3" fmla="*/ 2718 w 12718"/>
              <a:gd name="connsiteY3" fmla="*/ 10000 h 10000"/>
              <a:gd name="connsiteX4" fmla="*/ 2718 w 12718"/>
              <a:gd name="connsiteY4" fmla="*/ 0 h 10000"/>
              <a:gd name="connsiteX0" fmla="*/ 2205 w 12205"/>
              <a:gd name="connsiteY0" fmla="*/ 0 h 10000"/>
              <a:gd name="connsiteX1" fmla="*/ 12205 w 12205"/>
              <a:gd name="connsiteY1" fmla="*/ 0 h 10000"/>
              <a:gd name="connsiteX2" fmla="*/ 12205 w 12205"/>
              <a:gd name="connsiteY2" fmla="*/ 10000 h 10000"/>
              <a:gd name="connsiteX3" fmla="*/ 2205 w 12205"/>
              <a:gd name="connsiteY3" fmla="*/ 10000 h 10000"/>
              <a:gd name="connsiteX4" fmla="*/ 2205 w 12205"/>
              <a:gd name="connsiteY4" fmla="*/ 0 h 10000"/>
              <a:gd name="connsiteX0" fmla="*/ 2264 w 12264"/>
              <a:gd name="connsiteY0" fmla="*/ 0 h 10000"/>
              <a:gd name="connsiteX1" fmla="*/ 12264 w 12264"/>
              <a:gd name="connsiteY1" fmla="*/ 0 h 10000"/>
              <a:gd name="connsiteX2" fmla="*/ 12264 w 12264"/>
              <a:gd name="connsiteY2" fmla="*/ 10000 h 10000"/>
              <a:gd name="connsiteX3" fmla="*/ 2264 w 12264"/>
              <a:gd name="connsiteY3" fmla="*/ 10000 h 10000"/>
              <a:gd name="connsiteX4" fmla="*/ 2264 w 12264"/>
              <a:gd name="connsiteY4" fmla="*/ 0 h 10000"/>
              <a:gd name="connsiteX0" fmla="*/ 2303 w 12303"/>
              <a:gd name="connsiteY0" fmla="*/ 0 h 10000"/>
              <a:gd name="connsiteX1" fmla="*/ 12303 w 12303"/>
              <a:gd name="connsiteY1" fmla="*/ 0 h 10000"/>
              <a:gd name="connsiteX2" fmla="*/ 12303 w 12303"/>
              <a:gd name="connsiteY2" fmla="*/ 10000 h 10000"/>
              <a:gd name="connsiteX3" fmla="*/ 2303 w 12303"/>
              <a:gd name="connsiteY3" fmla="*/ 10000 h 10000"/>
              <a:gd name="connsiteX4" fmla="*/ 2303 w 12303"/>
              <a:gd name="connsiteY4" fmla="*/ 0 h 10000"/>
              <a:gd name="connsiteX0" fmla="*/ 2273 w 12273"/>
              <a:gd name="connsiteY0" fmla="*/ 0 h 10000"/>
              <a:gd name="connsiteX1" fmla="*/ 12273 w 12273"/>
              <a:gd name="connsiteY1" fmla="*/ 0 h 10000"/>
              <a:gd name="connsiteX2" fmla="*/ 12273 w 12273"/>
              <a:gd name="connsiteY2" fmla="*/ 10000 h 10000"/>
              <a:gd name="connsiteX3" fmla="*/ 2273 w 12273"/>
              <a:gd name="connsiteY3" fmla="*/ 10000 h 10000"/>
              <a:gd name="connsiteX4" fmla="*/ 2273 w 12273"/>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3" h="10000">
                <a:moveTo>
                  <a:pt x="2273" y="0"/>
                </a:moveTo>
                <a:lnTo>
                  <a:pt x="12273" y="0"/>
                </a:lnTo>
                <a:lnTo>
                  <a:pt x="12273" y="10000"/>
                </a:lnTo>
                <a:lnTo>
                  <a:pt x="2273" y="10000"/>
                </a:lnTo>
                <a:cubicBezTo>
                  <a:pt x="215" y="7508"/>
                  <a:pt x="-1596" y="4260"/>
                  <a:pt x="2273" y="0"/>
                </a:cubicBezTo>
                <a:close/>
              </a:path>
            </a:pathLst>
          </a:custGeom>
          <a:blipFill dpi="0" rotWithShape="1">
            <a:blip r:embed="rId3" cstate="print">
              <a:extLst>
                <a:ext uri="{28A0092B-C50C-407E-A947-70E740481C1C}">
                  <a14:useLocalDpi xmlns:a14="http://schemas.microsoft.com/office/drawing/2010/main"/>
                </a:ext>
              </a:extLst>
            </a:blip>
            <a:srcRect/>
            <a:stretch>
              <a:fillRect/>
            </a:stretch>
          </a:blipFill>
          <a:ln w="28575">
            <a:noFill/>
          </a:ln>
        </p:spPr>
        <p:txBody>
          <a:bodyPr anchor="ctr" anchorCtr="0">
            <a:noAutofit/>
          </a:bodyPr>
          <a:lstStyle>
            <a:lvl1pPr marL="0" indent="0" algn="ctr">
              <a:buNone/>
              <a:defRPr b="1">
                <a:solidFill>
                  <a:schemeClr val="bg1"/>
                </a:solidFill>
              </a:defRPr>
            </a:lvl1pPr>
          </a:lstStyle>
          <a:p>
            <a:r>
              <a:rPr lang="en-GB"/>
              <a:t>Click icon to add picture</a:t>
            </a:r>
            <a:endParaRPr lang="en-GB" dirty="0"/>
          </a:p>
        </p:txBody>
      </p:sp>
      <p:sp>
        <p:nvSpPr>
          <p:cNvPr id="4" name="Rectangle 3">
            <a:extLst>
              <a:ext uri="{FF2B5EF4-FFF2-40B4-BE49-F238E27FC236}">
                <a16:creationId xmlns:a16="http://schemas.microsoft.com/office/drawing/2014/main" id="{1FEAE266-1AED-426B-ABE4-360FFA7DD1E2}"/>
              </a:ext>
            </a:extLst>
          </p:cNvPr>
          <p:cNvSpPr/>
          <p:nvPr/>
        </p:nvSpPr>
        <p:spPr>
          <a:xfrm>
            <a:off x="670720" y="10069984"/>
            <a:ext cx="4896544" cy="3412752"/>
          </a:xfrm>
          <a:prstGeom prst="rect">
            <a:avLst/>
          </a:prstGeom>
          <a:solidFill>
            <a:srgbClr val="2E008B"/>
          </a:solidFill>
          <a:ln>
            <a:solidFill>
              <a:srgbClr val="2E00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a:p>
        </p:txBody>
      </p:sp>
      <p:pic>
        <p:nvPicPr>
          <p:cNvPr id="7" name="Picture 6">
            <a:extLst>
              <a:ext uri="{FF2B5EF4-FFF2-40B4-BE49-F238E27FC236}">
                <a16:creationId xmlns:a16="http://schemas.microsoft.com/office/drawing/2014/main" id="{6B284D46-3FE0-4651-9122-7C3AAD129B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688" y="11952718"/>
            <a:ext cx="5904656" cy="1302332"/>
          </a:xfrm>
          <a:prstGeom prst="rect">
            <a:avLst/>
          </a:prstGeom>
        </p:spPr>
      </p:pic>
    </p:spTree>
    <p:extLst>
      <p:ext uri="{BB962C8B-B14F-4D97-AF65-F5344CB8AC3E}">
        <p14:creationId xmlns:p14="http://schemas.microsoft.com/office/powerpoint/2010/main" val="3914142882"/>
      </p:ext>
    </p:extLst>
  </p:cSld>
  <p:clrMapOvr>
    <a:masterClrMapping/>
  </p:clrMapOvr>
  <p:hf sldNum="0" hdr="0" ftr="0" dt="0"/>
  <p:extLst>
    <p:ext uri="{DCECCB84-F9BA-43D5-87BE-67443E8EF086}">
      <p15:sldGuideLst xmlns:p15="http://schemas.microsoft.com/office/powerpoint/2012/main">
        <p15:guide id="1" pos="524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Section Header - option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4D9D8-3ACA-459C-AA1E-A261DEDBD09F}"/>
              </a:ext>
            </a:extLst>
          </p:cNvPr>
          <p:cNvSpPr>
            <a:spLocks noGrp="1"/>
          </p:cNvSpPr>
          <p:nvPr>
            <p:ph type="title"/>
          </p:nvPr>
        </p:nvSpPr>
        <p:spPr>
          <a:xfrm>
            <a:off x="1679575" y="4877460"/>
            <a:ext cx="10512426" cy="3961084"/>
          </a:xfrm>
        </p:spPr>
        <p:txBody>
          <a:bodyPr wrap="square" anchor="ctr" anchorCtr="0">
            <a:spAutoFit/>
          </a:bodyPr>
          <a:lstStyle>
            <a:lvl1pPr algn="ctr">
              <a:lnSpc>
                <a:spcPct val="70000"/>
              </a:lnSpc>
              <a:defRPr sz="12000">
                <a:solidFill>
                  <a:schemeClr val="tx2"/>
                </a:solidFill>
              </a:defRPr>
            </a:lvl1pPr>
          </a:lstStyle>
          <a:p>
            <a:r>
              <a:rPr lang="en-GB"/>
              <a:t>Click to edit Master title style</a:t>
            </a:r>
            <a:endParaRPr lang="en-GB" dirty="0"/>
          </a:p>
        </p:txBody>
      </p:sp>
      <p:sp>
        <p:nvSpPr>
          <p:cNvPr id="3" name="Picture Placeholder 10">
            <a:extLst>
              <a:ext uri="{FF2B5EF4-FFF2-40B4-BE49-F238E27FC236}">
                <a16:creationId xmlns:a16="http://schemas.microsoft.com/office/drawing/2014/main" id="{1CEBE5DC-07E1-4B65-9518-961D2B3183AA}"/>
              </a:ext>
            </a:extLst>
          </p:cNvPr>
          <p:cNvSpPr>
            <a:spLocks noGrp="1"/>
          </p:cNvSpPr>
          <p:nvPr>
            <p:ph type="pic" sz="quarter" idx="10"/>
          </p:nvPr>
        </p:nvSpPr>
        <p:spPr>
          <a:xfrm>
            <a:off x="14496256" y="0"/>
            <a:ext cx="9887744" cy="137160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2281 w 12281"/>
              <a:gd name="connsiteY0" fmla="*/ 0 h 10000"/>
              <a:gd name="connsiteX1" fmla="*/ 12281 w 12281"/>
              <a:gd name="connsiteY1" fmla="*/ 0 h 10000"/>
              <a:gd name="connsiteX2" fmla="*/ 12281 w 12281"/>
              <a:gd name="connsiteY2" fmla="*/ 10000 h 10000"/>
              <a:gd name="connsiteX3" fmla="*/ 2281 w 12281"/>
              <a:gd name="connsiteY3" fmla="*/ 10000 h 10000"/>
              <a:gd name="connsiteX4" fmla="*/ 2281 w 12281"/>
              <a:gd name="connsiteY4" fmla="*/ 0 h 10000"/>
              <a:gd name="connsiteX0" fmla="*/ 2718 w 12718"/>
              <a:gd name="connsiteY0" fmla="*/ 0 h 10000"/>
              <a:gd name="connsiteX1" fmla="*/ 12718 w 12718"/>
              <a:gd name="connsiteY1" fmla="*/ 0 h 10000"/>
              <a:gd name="connsiteX2" fmla="*/ 12718 w 12718"/>
              <a:gd name="connsiteY2" fmla="*/ 10000 h 10000"/>
              <a:gd name="connsiteX3" fmla="*/ 2718 w 12718"/>
              <a:gd name="connsiteY3" fmla="*/ 10000 h 10000"/>
              <a:gd name="connsiteX4" fmla="*/ 2718 w 12718"/>
              <a:gd name="connsiteY4" fmla="*/ 0 h 10000"/>
              <a:gd name="connsiteX0" fmla="*/ 2205 w 12205"/>
              <a:gd name="connsiteY0" fmla="*/ 0 h 10000"/>
              <a:gd name="connsiteX1" fmla="*/ 12205 w 12205"/>
              <a:gd name="connsiteY1" fmla="*/ 0 h 10000"/>
              <a:gd name="connsiteX2" fmla="*/ 12205 w 12205"/>
              <a:gd name="connsiteY2" fmla="*/ 10000 h 10000"/>
              <a:gd name="connsiteX3" fmla="*/ 2205 w 12205"/>
              <a:gd name="connsiteY3" fmla="*/ 10000 h 10000"/>
              <a:gd name="connsiteX4" fmla="*/ 2205 w 12205"/>
              <a:gd name="connsiteY4" fmla="*/ 0 h 10000"/>
              <a:gd name="connsiteX0" fmla="*/ 2264 w 12264"/>
              <a:gd name="connsiteY0" fmla="*/ 0 h 10000"/>
              <a:gd name="connsiteX1" fmla="*/ 12264 w 12264"/>
              <a:gd name="connsiteY1" fmla="*/ 0 h 10000"/>
              <a:gd name="connsiteX2" fmla="*/ 12264 w 12264"/>
              <a:gd name="connsiteY2" fmla="*/ 10000 h 10000"/>
              <a:gd name="connsiteX3" fmla="*/ 2264 w 12264"/>
              <a:gd name="connsiteY3" fmla="*/ 10000 h 10000"/>
              <a:gd name="connsiteX4" fmla="*/ 2264 w 12264"/>
              <a:gd name="connsiteY4" fmla="*/ 0 h 10000"/>
              <a:gd name="connsiteX0" fmla="*/ 2303 w 12303"/>
              <a:gd name="connsiteY0" fmla="*/ 0 h 10000"/>
              <a:gd name="connsiteX1" fmla="*/ 12303 w 12303"/>
              <a:gd name="connsiteY1" fmla="*/ 0 h 10000"/>
              <a:gd name="connsiteX2" fmla="*/ 12303 w 12303"/>
              <a:gd name="connsiteY2" fmla="*/ 10000 h 10000"/>
              <a:gd name="connsiteX3" fmla="*/ 2303 w 12303"/>
              <a:gd name="connsiteY3" fmla="*/ 10000 h 10000"/>
              <a:gd name="connsiteX4" fmla="*/ 2303 w 12303"/>
              <a:gd name="connsiteY4" fmla="*/ 0 h 10000"/>
              <a:gd name="connsiteX0" fmla="*/ 2273 w 12273"/>
              <a:gd name="connsiteY0" fmla="*/ 0 h 10000"/>
              <a:gd name="connsiteX1" fmla="*/ 12273 w 12273"/>
              <a:gd name="connsiteY1" fmla="*/ 0 h 10000"/>
              <a:gd name="connsiteX2" fmla="*/ 12273 w 12273"/>
              <a:gd name="connsiteY2" fmla="*/ 10000 h 10000"/>
              <a:gd name="connsiteX3" fmla="*/ 2273 w 12273"/>
              <a:gd name="connsiteY3" fmla="*/ 10000 h 10000"/>
              <a:gd name="connsiteX4" fmla="*/ 2273 w 12273"/>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3" h="10000">
                <a:moveTo>
                  <a:pt x="2273" y="0"/>
                </a:moveTo>
                <a:lnTo>
                  <a:pt x="12273" y="0"/>
                </a:lnTo>
                <a:lnTo>
                  <a:pt x="12273" y="10000"/>
                </a:lnTo>
                <a:lnTo>
                  <a:pt x="2273" y="10000"/>
                </a:lnTo>
                <a:cubicBezTo>
                  <a:pt x="215" y="7508"/>
                  <a:pt x="-1596" y="4260"/>
                  <a:pt x="2273" y="0"/>
                </a:cubicBezTo>
                <a:close/>
              </a:path>
            </a:pathLst>
          </a:custGeom>
          <a:blipFill dpi="0" rotWithShape="1">
            <a:blip r:embed="rId2" cstate="print">
              <a:extLst>
                <a:ext uri="{28A0092B-C50C-407E-A947-70E740481C1C}">
                  <a14:useLocalDpi xmlns:a14="http://schemas.microsoft.com/office/drawing/2010/main"/>
                </a:ext>
              </a:extLst>
            </a:blip>
            <a:srcRect/>
            <a:stretch>
              <a:fillRect/>
            </a:stretch>
          </a:blipFill>
          <a:ln w="28575">
            <a:noFill/>
          </a:ln>
        </p:spPr>
        <p:txBody>
          <a:bodyPr anchor="ctr" anchorCtr="0">
            <a:noAutofit/>
          </a:bodyPr>
          <a:lstStyle>
            <a:lvl1pPr marL="0" indent="0" algn="ctr">
              <a:buNone/>
              <a:defRPr b="1">
                <a:solidFill>
                  <a:schemeClr val="bg1"/>
                </a:solidFill>
              </a:defRPr>
            </a:lvl1pPr>
          </a:lstStyle>
          <a:p>
            <a:r>
              <a:rPr lang="en-GB"/>
              <a:t>Click icon to add picture</a:t>
            </a:r>
            <a:endParaRPr lang="en-GB" dirty="0"/>
          </a:p>
        </p:txBody>
      </p:sp>
      <p:pic>
        <p:nvPicPr>
          <p:cNvPr id="15" name="Picture 14">
            <a:extLst>
              <a:ext uri="{FF2B5EF4-FFF2-40B4-BE49-F238E27FC236}">
                <a16:creationId xmlns:a16="http://schemas.microsoft.com/office/drawing/2014/main" id="{808B5E23-9338-459A-A8E7-4762B24C3E50}"/>
              </a:ext>
            </a:extLst>
          </p:cNvPr>
          <p:cNvPicPr>
            <a:picLocks noChangeAspect="1"/>
          </p:cNvPicPr>
          <p:nvPr/>
        </p:nvPicPr>
        <p:blipFill>
          <a:blip r:embed="rId3"/>
          <a:stretch>
            <a:fillRect/>
          </a:stretch>
        </p:blipFill>
        <p:spPr>
          <a:xfrm>
            <a:off x="12133714" y="2825552"/>
            <a:ext cx="365792" cy="365792"/>
          </a:xfrm>
          <a:prstGeom prst="rect">
            <a:avLst/>
          </a:prstGeom>
        </p:spPr>
      </p:pic>
      <p:sp>
        <p:nvSpPr>
          <p:cNvPr id="17" name="Oval 16">
            <a:extLst>
              <a:ext uri="{FF2B5EF4-FFF2-40B4-BE49-F238E27FC236}">
                <a16:creationId xmlns:a16="http://schemas.microsoft.com/office/drawing/2014/main" id="{FC321904-BDBE-419A-B400-DC1CF0C4B86D}"/>
              </a:ext>
            </a:extLst>
          </p:cNvPr>
          <p:cNvSpPr/>
          <p:nvPr/>
        </p:nvSpPr>
        <p:spPr>
          <a:xfrm>
            <a:off x="670720" y="2681536"/>
            <a:ext cx="533400" cy="533400"/>
          </a:xfrm>
          <a:prstGeom prst="ellipse">
            <a:avLst/>
          </a:prstGeom>
          <a:solidFill>
            <a:srgbClr val="EC008C"/>
          </a:solidFill>
          <a:ln>
            <a:solidFill>
              <a:srgbClr val="EC00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a:p>
        </p:txBody>
      </p:sp>
      <p:sp>
        <p:nvSpPr>
          <p:cNvPr id="18" name="Oval 17">
            <a:extLst>
              <a:ext uri="{FF2B5EF4-FFF2-40B4-BE49-F238E27FC236}">
                <a16:creationId xmlns:a16="http://schemas.microsoft.com/office/drawing/2014/main" id="{A85C9B4C-1761-4163-B0E9-E286F346BFDD}"/>
              </a:ext>
            </a:extLst>
          </p:cNvPr>
          <p:cNvSpPr/>
          <p:nvPr/>
        </p:nvSpPr>
        <p:spPr>
          <a:xfrm>
            <a:off x="2542928" y="953344"/>
            <a:ext cx="829312" cy="829312"/>
          </a:xfrm>
          <a:prstGeom prst="ellipse">
            <a:avLst/>
          </a:prstGeom>
          <a:solidFill>
            <a:srgbClr val="17298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a:p>
        </p:txBody>
      </p:sp>
      <p:pic>
        <p:nvPicPr>
          <p:cNvPr id="8" name="Picture 7">
            <a:extLst>
              <a:ext uri="{FF2B5EF4-FFF2-40B4-BE49-F238E27FC236}">
                <a16:creationId xmlns:a16="http://schemas.microsoft.com/office/drawing/2014/main" id="{3C77CE84-C8D0-4A59-B596-71C9205AD7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6704" y="12042577"/>
            <a:ext cx="5629008" cy="1239414"/>
          </a:xfrm>
          <a:prstGeom prst="rect">
            <a:avLst/>
          </a:prstGeom>
        </p:spPr>
      </p:pic>
    </p:spTree>
    <p:extLst>
      <p:ext uri="{BB962C8B-B14F-4D97-AF65-F5344CB8AC3E}">
        <p14:creationId xmlns:p14="http://schemas.microsoft.com/office/powerpoint/2010/main" val="1134566289"/>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pos="524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Section Header - option 5">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4D9D8-3ACA-459C-AA1E-A261DEDBD09F}"/>
              </a:ext>
            </a:extLst>
          </p:cNvPr>
          <p:cNvSpPr>
            <a:spLocks noGrp="1"/>
          </p:cNvSpPr>
          <p:nvPr>
            <p:ph type="title"/>
          </p:nvPr>
        </p:nvSpPr>
        <p:spPr>
          <a:xfrm>
            <a:off x="1679575" y="4877460"/>
            <a:ext cx="10512426" cy="3961084"/>
          </a:xfrm>
        </p:spPr>
        <p:txBody>
          <a:bodyPr wrap="square" anchor="ctr" anchorCtr="0">
            <a:spAutoFit/>
          </a:bodyPr>
          <a:lstStyle>
            <a:lvl1pPr algn="ctr">
              <a:lnSpc>
                <a:spcPct val="70000"/>
              </a:lnSpc>
              <a:defRPr sz="12000">
                <a:solidFill>
                  <a:schemeClr val="bg1"/>
                </a:solidFill>
              </a:defRPr>
            </a:lvl1pPr>
          </a:lstStyle>
          <a:p>
            <a:r>
              <a:rPr lang="en-GB"/>
              <a:t>Click to edit Master title style</a:t>
            </a:r>
            <a:endParaRPr lang="en-GB" dirty="0"/>
          </a:p>
        </p:txBody>
      </p:sp>
      <p:sp>
        <p:nvSpPr>
          <p:cNvPr id="3" name="Picture Placeholder 10">
            <a:extLst>
              <a:ext uri="{FF2B5EF4-FFF2-40B4-BE49-F238E27FC236}">
                <a16:creationId xmlns:a16="http://schemas.microsoft.com/office/drawing/2014/main" id="{EA36F336-08E4-4E71-B479-98F032E8E41B}"/>
              </a:ext>
            </a:extLst>
          </p:cNvPr>
          <p:cNvSpPr>
            <a:spLocks noGrp="1"/>
          </p:cNvSpPr>
          <p:nvPr>
            <p:ph type="pic" sz="quarter" idx="10"/>
          </p:nvPr>
        </p:nvSpPr>
        <p:spPr>
          <a:xfrm>
            <a:off x="14496256" y="0"/>
            <a:ext cx="9887744" cy="137160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2281 w 12281"/>
              <a:gd name="connsiteY0" fmla="*/ 0 h 10000"/>
              <a:gd name="connsiteX1" fmla="*/ 12281 w 12281"/>
              <a:gd name="connsiteY1" fmla="*/ 0 h 10000"/>
              <a:gd name="connsiteX2" fmla="*/ 12281 w 12281"/>
              <a:gd name="connsiteY2" fmla="*/ 10000 h 10000"/>
              <a:gd name="connsiteX3" fmla="*/ 2281 w 12281"/>
              <a:gd name="connsiteY3" fmla="*/ 10000 h 10000"/>
              <a:gd name="connsiteX4" fmla="*/ 2281 w 12281"/>
              <a:gd name="connsiteY4" fmla="*/ 0 h 10000"/>
              <a:gd name="connsiteX0" fmla="*/ 2718 w 12718"/>
              <a:gd name="connsiteY0" fmla="*/ 0 h 10000"/>
              <a:gd name="connsiteX1" fmla="*/ 12718 w 12718"/>
              <a:gd name="connsiteY1" fmla="*/ 0 h 10000"/>
              <a:gd name="connsiteX2" fmla="*/ 12718 w 12718"/>
              <a:gd name="connsiteY2" fmla="*/ 10000 h 10000"/>
              <a:gd name="connsiteX3" fmla="*/ 2718 w 12718"/>
              <a:gd name="connsiteY3" fmla="*/ 10000 h 10000"/>
              <a:gd name="connsiteX4" fmla="*/ 2718 w 12718"/>
              <a:gd name="connsiteY4" fmla="*/ 0 h 10000"/>
              <a:gd name="connsiteX0" fmla="*/ 2205 w 12205"/>
              <a:gd name="connsiteY0" fmla="*/ 0 h 10000"/>
              <a:gd name="connsiteX1" fmla="*/ 12205 w 12205"/>
              <a:gd name="connsiteY1" fmla="*/ 0 h 10000"/>
              <a:gd name="connsiteX2" fmla="*/ 12205 w 12205"/>
              <a:gd name="connsiteY2" fmla="*/ 10000 h 10000"/>
              <a:gd name="connsiteX3" fmla="*/ 2205 w 12205"/>
              <a:gd name="connsiteY3" fmla="*/ 10000 h 10000"/>
              <a:gd name="connsiteX4" fmla="*/ 2205 w 12205"/>
              <a:gd name="connsiteY4" fmla="*/ 0 h 10000"/>
              <a:gd name="connsiteX0" fmla="*/ 2264 w 12264"/>
              <a:gd name="connsiteY0" fmla="*/ 0 h 10000"/>
              <a:gd name="connsiteX1" fmla="*/ 12264 w 12264"/>
              <a:gd name="connsiteY1" fmla="*/ 0 h 10000"/>
              <a:gd name="connsiteX2" fmla="*/ 12264 w 12264"/>
              <a:gd name="connsiteY2" fmla="*/ 10000 h 10000"/>
              <a:gd name="connsiteX3" fmla="*/ 2264 w 12264"/>
              <a:gd name="connsiteY3" fmla="*/ 10000 h 10000"/>
              <a:gd name="connsiteX4" fmla="*/ 2264 w 12264"/>
              <a:gd name="connsiteY4" fmla="*/ 0 h 10000"/>
              <a:gd name="connsiteX0" fmla="*/ 2303 w 12303"/>
              <a:gd name="connsiteY0" fmla="*/ 0 h 10000"/>
              <a:gd name="connsiteX1" fmla="*/ 12303 w 12303"/>
              <a:gd name="connsiteY1" fmla="*/ 0 h 10000"/>
              <a:gd name="connsiteX2" fmla="*/ 12303 w 12303"/>
              <a:gd name="connsiteY2" fmla="*/ 10000 h 10000"/>
              <a:gd name="connsiteX3" fmla="*/ 2303 w 12303"/>
              <a:gd name="connsiteY3" fmla="*/ 10000 h 10000"/>
              <a:gd name="connsiteX4" fmla="*/ 2303 w 12303"/>
              <a:gd name="connsiteY4" fmla="*/ 0 h 10000"/>
              <a:gd name="connsiteX0" fmla="*/ 2273 w 12273"/>
              <a:gd name="connsiteY0" fmla="*/ 0 h 10000"/>
              <a:gd name="connsiteX1" fmla="*/ 12273 w 12273"/>
              <a:gd name="connsiteY1" fmla="*/ 0 h 10000"/>
              <a:gd name="connsiteX2" fmla="*/ 12273 w 12273"/>
              <a:gd name="connsiteY2" fmla="*/ 10000 h 10000"/>
              <a:gd name="connsiteX3" fmla="*/ 2273 w 12273"/>
              <a:gd name="connsiteY3" fmla="*/ 10000 h 10000"/>
              <a:gd name="connsiteX4" fmla="*/ 2273 w 12273"/>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3" h="10000">
                <a:moveTo>
                  <a:pt x="2273" y="0"/>
                </a:moveTo>
                <a:lnTo>
                  <a:pt x="12273" y="0"/>
                </a:lnTo>
                <a:lnTo>
                  <a:pt x="12273" y="10000"/>
                </a:lnTo>
                <a:lnTo>
                  <a:pt x="2273" y="10000"/>
                </a:lnTo>
                <a:cubicBezTo>
                  <a:pt x="215" y="7508"/>
                  <a:pt x="-1596" y="4260"/>
                  <a:pt x="2273" y="0"/>
                </a:cubicBezTo>
                <a:close/>
              </a:path>
            </a:pathLst>
          </a:custGeom>
          <a:blipFill dpi="0" rotWithShape="1">
            <a:blip r:embed="rId3" cstate="print">
              <a:extLst>
                <a:ext uri="{28A0092B-C50C-407E-A947-70E740481C1C}">
                  <a14:useLocalDpi xmlns:a14="http://schemas.microsoft.com/office/drawing/2010/main"/>
                </a:ext>
              </a:extLst>
            </a:blip>
            <a:srcRect/>
            <a:stretch>
              <a:fillRect/>
            </a:stretch>
          </a:blipFill>
          <a:ln w="28575">
            <a:noFill/>
          </a:ln>
        </p:spPr>
        <p:txBody>
          <a:bodyPr anchor="ctr" anchorCtr="0">
            <a:noAutofit/>
          </a:bodyPr>
          <a:lstStyle>
            <a:lvl1pPr marL="0" indent="0" algn="ctr">
              <a:buNone/>
              <a:defRPr b="1">
                <a:solidFill>
                  <a:schemeClr val="bg1"/>
                </a:solidFill>
              </a:defRPr>
            </a:lvl1pPr>
          </a:lstStyle>
          <a:p>
            <a:r>
              <a:rPr lang="en-GB"/>
              <a:t>Click icon to add picture</a:t>
            </a:r>
            <a:endParaRPr lang="en-GB" dirty="0"/>
          </a:p>
        </p:txBody>
      </p:sp>
      <p:sp>
        <p:nvSpPr>
          <p:cNvPr id="6" name="Rectangle 5">
            <a:extLst>
              <a:ext uri="{FF2B5EF4-FFF2-40B4-BE49-F238E27FC236}">
                <a16:creationId xmlns:a16="http://schemas.microsoft.com/office/drawing/2014/main" id="{D67BD166-F610-4586-9EE0-E9973EC99FEF}"/>
              </a:ext>
            </a:extLst>
          </p:cNvPr>
          <p:cNvSpPr/>
          <p:nvPr/>
        </p:nvSpPr>
        <p:spPr>
          <a:xfrm>
            <a:off x="670720" y="10069984"/>
            <a:ext cx="4896544" cy="3412752"/>
          </a:xfrm>
          <a:prstGeom prst="rect">
            <a:avLst/>
          </a:prstGeom>
          <a:solidFill>
            <a:srgbClr val="2E008B"/>
          </a:solidFill>
          <a:ln>
            <a:solidFill>
              <a:srgbClr val="2E00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a:p>
        </p:txBody>
      </p:sp>
      <p:pic>
        <p:nvPicPr>
          <p:cNvPr id="8" name="Picture 7">
            <a:extLst>
              <a:ext uri="{FF2B5EF4-FFF2-40B4-BE49-F238E27FC236}">
                <a16:creationId xmlns:a16="http://schemas.microsoft.com/office/drawing/2014/main" id="{AF241499-57D5-4B7B-84CD-D6C76928A6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688" y="11952718"/>
            <a:ext cx="5904656" cy="1302332"/>
          </a:xfrm>
          <a:prstGeom prst="rect">
            <a:avLst/>
          </a:prstGeom>
        </p:spPr>
      </p:pic>
    </p:spTree>
    <p:extLst>
      <p:ext uri="{BB962C8B-B14F-4D97-AF65-F5344CB8AC3E}">
        <p14:creationId xmlns:p14="http://schemas.microsoft.com/office/powerpoint/2010/main" val="1019322858"/>
      </p:ext>
    </p:extLst>
  </p:cSld>
  <p:clrMapOvr>
    <a:masterClrMapping/>
  </p:clrMapOvr>
  <p:hf sldNum="0" hdr="0" ftr="0" dt="0"/>
  <p:extLst>
    <p:ext uri="{DCECCB84-F9BA-43D5-87BE-67443E8EF086}">
      <p15:sldGuideLst xmlns:p15="http://schemas.microsoft.com/office/powerpoint/2012/main">
        <p15:guide id="1" pos="524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_Section Header - option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4D9D8-3ACA-459C-AA1E-A261DEDBD09F}"/>
              </a:ext>
            </a:extLst>
          </p:cNvPr>
          <p:cNvSpPr>
            <a:spLocks noGrp="1"/>
          </p:cNvSpPr>
          <p:nvPr>
            <p:ph type="title"/>
          </p:nvPr>
        </p:nvSpPr>
        <p:spPr>
          <a:xfrm>
            <a:off x="1679575" y="4877460"/>
            <a:ext cx="10512426" cy="3961084"/>
          </a:xfrm>
        </p:spPr>
        <p:txBody>
          <a:bodyPr wrap="square" anchor="ctr" anchorCtr="0">
            <a:spAutoFit/>
          </a:bodyPr>
          <a:lstStyle>
            <a:lvl1pPr algn="ctr">
              <a:lnSpc>
                <a:spcPct val="70000"/>
              </a:lnSpc>
              <a:defRPr sz="12000">
                <a:solidFill>
                  <a:schemeClr val="tx2"/>
                </a:solidFill>
              </a:defRPr>
            </a:lvl1pPr>
          </a:lstStyle>
          <a:p>
            <a:r>
              <a:rPr lang="en-GB"/>
              <a:t>Click to edit Master title style</a:t>
            </a:r>
            <a:endParaRPr lang="en-GB" dirty="0"/>
          </a:p>
        </p:txBody>
      </p:sp>
      <p:sp>
        <p:nvSpPr>
          <p:cNvPr id="3" name="Picture Placeholder 10">
            <a:extLst>
              <a:ext uri="{FF2B5EF4-FFF2-40B4-BE49-F238E27FC236}">
                <a16:creationId xmlns:a16="http://schemas.microsoft.com/office/drawing/2014/main" id="{1CEBE5DC-07E1-4B65-9518-961D2B3183AA}"/>
              </a:ext>
            </a:extLst>
          </p:cNvPr>
          <p:cNvSpPr>
            <a:spLocks noGrp="1"/>
          </p:cNvSpPr>
          <p:nvPr>
            <p:ph type="pic" sz="quarter" idx="10"/>
          </p:nvPr>
        </p:nvSpPr>
        <p:spPr>
          <a:xfrm>
            <a:off x="14496256" y="0"/>
            <a:ext cx="9887744" cy="137160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2281 w 12281"/>
              <a:gd name="connsiteY0" fmla="*/ 0 h 10000"/>
              <a:gd name="connsiteX1" fmla="*/ 12281 w 12281"/>
              <a:gd name="connsiteY1" fmla="*/ 0 h 10000"/>
              <a:gd name="connsiteX2" fmla="*/ 12281 w 12281"/>
              <a:gd name="connsiteY2" fmla="*/ 10000 h 10000"/>
              <a:gd name="connsiteX3" fmla="*/ 2281 w 12281"/>
              <a:gd name="connsiteY3" fmla="*/ 10000 h 10000"/>
              <a:gd name="connsiteX4" fmla="*/ 2281 w 12281"/>
              <a:gd name="connsiteY4" fmla="*/ 0 h 10000"/>
              <a:gd name="connsiteX0" fmla="*/ 2718 w 12718"/>
              <a:gd name="connsiteY0" fmla="*/ 0 h 10000"/>
              <a:gd name="connsiteX1" fmla="*/ 12718 w 12718"/>
              <a:gd name="connsiteY1" fmla="*/ 0 h 10000"/>
              <a:gd name="connsiteX2" fmla="*/ 12718 w 12718"/>
              <a:gd name="connsiteY2" fmla="*/ 10000 h 10000"/>
              <a:gd name="connsiteX3" fmla="*/ 2718 w 12718"/>
              <a:gd name="connsiteY3" fmla="*/ 10000 h 10000"/>
              <a:gd name="connsiteX4" fmla="*/ 2718 w 12718"/>
              <a:gd name="connsiteY4" fmla="*/ 0 h 10000"/>
              <a:gd name="connsiteX0" fmla="*/ 2205 w 12205"/>
              <a:gd name="connsiteY0" fmla="*/ 0 h 10000"/>
              <a:gd name="connsiteX1" fmla="*/ 12205 w 12205"/>
              <a:gd name="connsiteY1" fmla="*/ 0 h 10000"/>
              <a:gd name="connsiteX2" fmla="*/ 12205 w 12205"/>
              <a:gd name="connsiteY2" fmla="*/ 10000 h 10000"/>
              <a:gd name="connsiteX3" fmla="*/ 2205 w 12205"/>
              <a:gd name="connsiteY3" fmla="*/ 10000 h 10000"/>
              <a:gd name="connsiteX4" fmla="*/ 2205 w 12205"/>
              <a:gd name="connsiteY4" fmla="*/ 0 h 10000"/>
              <a:gd name="connsiteX0" fmla="*/ 2264 w 12264"/>
              <a:gd name="connsiteY0" fmla="*/ 0 h 10000"/>
              <a:gd name="connsiteX1" fmla="*/ 12264 w 12264"/>
              <a:gd name="connsiteY1" fmla="*/ 0 h 10000"/>
              <a:gd name="connsiteX2" fmla="*/ 12264 w 12264"/>
              <a:gd name="connsiteY2" fmla="*/ 10000 h 10000"/>
              <a:gd name="connsiteX3" fmla="*/ 2264 w 12264"/>
              <a:gd name="connsiteY3" fmla="*/ 10000 h 10000"/>
              <a:gd name="connsiteX4" fmla="*/ 2264 w 12264"/>
              <a:gd name="connsiteY4" fmla="*/ 0 h 10000"/>
              <a:gd name="connsiteX0" fmla="*/ 2303 w 12303"/>
              <a:gd name="connsiteY0" fmla="*/ 0 h 10000"/>
              <a:gd name="connsiteX1" fmla="*/ 12303 w 12303"/>
              <a:gd name="connsiteY1" fmla="*/ 0 h 10000"/>
              <a:gd name="connsiteX2" fmla="*/ 12303 w 12303"/>
              <a:gd name="connsiteY2" fmla="*/ 10000 h 10000"/>
              <a:gd name="connsiteX3" fmla="*/ 2303 w 12303"/>
              <a:gd name="connsiteY3" fmla="*/ 10000 h 10000"/>
              <a:gd name="connsiteX4" fmla="*/ 2303 w 12303"/>
              <a:gd name="connsiteY4" fmla="*/ 0 h 10000"/>
              <a:gd name="connsiteX0" fmla="*/ 2273 w 12273"/>
              <a:gd name="connsiteY0" fmla="*/ 0 h 10000"/>
              <a:gd name="connsiteX1" fmla="*/ 12273 w 12273"/>
              <a:gd name="connsiteY1" fmla="*/ 0 h 10000"/>
              <a:gd name="connsiteX2" fmla="*/ 12273 w 12273"/>
              <a:gd name="connsiteY2" fmla="*/ 10000 h 10000"/>
              <a:gd name="connsiteX3" fmla="*/ 2273 w 12273"/>
              <a:gd name="connsiteY3" fmla="*/ 10000 h 10000"/>
              <a:gd name="connsiteX4" fmla="*/ 2273 w 12273"/>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3" h="10000">
                <a:moveTo>
                  <a:pt x="2273" y="0"/>
                </a:moveTo>
                <a:lnTo>
                  <a:pt x="12273" y="0"/>
                </a:lnTo>
                <a:lnTo>
                  <a:pt x="12273" y="10000"/>
                </a:lnTo>
                <a:lnTo>
                  <a:pt x="2273" y="10000"/>
                </a:lnTo>
                <a:cubicBezTo>
                  <a:pt x="215" y="7508"/>
                  <a:pt x="-1596" y="4260"/>
                  <a:pt x="2273" y="0"/>
                </a:cubicBezTo>
                <a:close/>
              </a:path>
            </a:pathLst>
          </a:custGeom>
          <a:blipFill dpi="0" rotWithShape="1">
            <a:blip r:embed="rId2" cstate="print">
              <a:extLst>
                <a:ext uri="{28A0092B-C50C-407E-A947-70E740481C1C}">
                  <a14:useLocalDpi xmlns:a14="http://schemas.microsoft.com/office/drawing/2010/main"/>
                </a:ext>
              </a:extLst>
            </a:blip>
            <a:srcRect/>
            <a:stretch>
              <a:fillRect/>
            </a:stretch>
          </a:blipFill>
          <a:ln w="28575">
            <a:noFill/>
          </a:ln>
        </p:spPr>
        <p:txBody>
          <a:bodyPr anchor="ctr" anchorCtr="0">
            <a:noAutofit/>
          </a:bodyPr>
          <a:lstStyle>
            <a:lvl1pPr marL="0" indent="0" algn="ctr">
              <a:buNone/>
              <a:defRPr b="1">
                <a:solidFill>
                  <a:schemeClr val="bg1"/>
                </a:solidFill>
              </a:defRPr>
            </a:lvl1pPr>
          </a:lstStyle>
          <a:p>
            <a:r>
              <a:rPr lang="en-GB"/>
              <a:t>Click icon to add picture</a:t>
            </a:r>
            <a:endParaRPr lang="en-GB" dirty="0"/>
          </a:p>
        </p:txBody>
      </p:sp>
      <p:pic>
        <p:nvPicPr>
          <p:cNvPr id="6" name="Picture 5">
            <a:extLst>
              <a:ext uri="{FF2B5EF4-FFF2-40B4-BE49-F238E27FC236}">
                <a16:creationId xmlns:a16="http://schemas.microsoft.com/office/drawing/2014/main" id="{380FECDD-3436-426C-8DBD-F8CDDAB3141C}"/>
              </a:ext>
            </a:extLst>
          </p:cNvPr>
          <p:cNvPicPr>
            <a:picLocks noChangeAspect="1"/>
          </p:cNvPicPr>
          <p:nvPr/>
        </p:nvPicPr>
        <p:blipFill>
          <a:blip r:embed="rId3"/>
          <a:stretch>
            <a:fillRect/>
          </a:stretch>
        </p:blipFill>
        <p:spPr>
          <a:xfrm>
            <a:off x="12133714" y="2825552"/>
            <a:ext cx="365792" cy="365792"/>
          </a:xfrm>
          <a:prstGeom prst="rect">
            <a:avLst/>
          </a:prstGeom>
        </p:spPr>
      </p:pic>
      <p:sp>
        <p:nvSpPr>
          <p:cNvPr id="7" name="Oval 6">
            <a:extLst>
              <a:ext uri="{FF2B5EF4-FFF2-40B4-BE49-F238E27FC236}">
                <a16:creationId xmlns:a16="http://schemas.microsoft.com/office/drawing/2014/main" id="{8C377E3B-3FEB-4504-9826-BAC76041BEDA}"/>
              </a:ext>
            </a:extLst>
          </p:cNvPr>
          <p:cNvSpPr/>
          <p:nvPr/>
        </p:nvSpPr>
        <p:spPr>
          <a:xfrm>
            <a:off x="670720" y="2681536"/>
            <a:ext cx="533400" cy="533400"/>
          </a:xfrm>
          <a:prstGeom prst="ellipse">
            <a:avLst/>
          </a:prstGeom>
          <a:solidFill>
            <a:srgbClr val="EC008C"/>
          </a:solidFill>
          <a:ln>
            <a:solidFill>
              <a:srgbClr val="EC00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a:p>
        </p:txBody>
      </p:sp>
      <p:sp>
        <p:nvSpPr>
          <p:cNvPr id="8" name="Oval 7">
            <a:extLst>
              <a:ext uri="{FF2B5EF4-FFF2-40B4-BE49-F238E27FC236}">
                <a16:creationId xmlns:a16="http://schemas.microsoft.com/office/drawing/2014/main" id="{334D8866-A746-4452-BC0D-42B729C259A0}"/>
              </a:ext>
            </a:extLst>
          </p:cNvPr>
          <p:cNvSpPr/>
          <p:nvPr/>
        </p:nvSpPr>
        <p:spPr>
          <a:xfrm>
            <a:off x="2542928" y="953344"/>
            <a:ext cx="829312" cy="829312"/>
          </a:xfrm>
          <a:prstGeom prst="ellipse">
            <a:avLst/>
          </a:prstGeom>
          <a:solidFill>
            <a:srgbClr val="17298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a:p>
        </p:txBody>
      </p:sp>
      <p:pic>
        <p:nvPicPr>
          <p:cNvPr id="10" name="Picture 9">
            <a:extLst>
              <a:ext uri="{FF2B5EF4-FFF2-40B4-BE49-F238E27FC236}">
                <a16:creationId xmlns:a16="http://schemas.microsoft.com/office/drawing/2014/main" id="{BAAFEFBD-3898-4ED8-983A-068D023614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6704" y="12042577"/>
            <a:ext cx="5629008" cy="1239414"/>
          </a:xfrm>
          <a:prstGeom prst="rect">
            <a:avLst/>
          </a:prstGeom>
        </p:spPr>
      </p:pic>
    </p:spTree>
    <p:extLst>
      <p:ext uri="{BB962C8B-B14F-4D97-AF65-F5344CB8AC3E}">
        <p14:creationId xmlns:p14="http://schemas.microsoft.com/office/powerpoint/2010/main" val="2637379935"/>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pos="524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BE5FA-BEBB-4862-9C43-D14CCB29FFFA}"/>
              </a:ext>
            </a:extLst>
          </p:cNvPr>
          <p:cNvSpPr>
            <a:spLocks noGrp="1"/>
          </p:cNvSpPr>
          <p:nvPr>
            <p:ph type="title"/>
          </p:nvPr>
        </p:nvSpPr>
        <p:spPr/>
        <p:txBody>
          <a:bodyPr/>
          <a:lstStyle>
            <a:lvl1pPr>
              <a:defRPr>
                <a:solidFill>
                  <a:schemeClr val="tx2"/>
                </a:solidFill>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0D33DF61-D91B-41EB-AE86-A0DBDBFF582B}"/>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3BE4DDFD-0837-41FA-8FBA-D37B3BB687F1}"/>
              </a:ext>
            </a:extLst>
          </p:cNvPr>
          <p:cNvSpPr>
            <a:spLocks noGrp="1"/>
          </p:cNvSpPr>
          <p:nvPr>
            <p:ph type="dt" sz="half" idx="10"/>
          </p:nvPr>
        </p:nvSpPr>
        <p:spPr/>
        <p:txBody>
          <a:bodyPr/>
          <a:lstStyle>
            <a:lvl1pPr>
              <a:defRPr>
                <a:solidFill>
                  <a:schemeClr val="tx2"/>
                </a:solidFill>
              </a:defRPr>
            </a:lvl1pPr>
          </a:lstStyle>
          <a:p>
            <a:fld id="{3C404475-5ECB-4D36-A4F5-040C1856A096}" type="datetime2">
              <a:rPr lang="en-GB" smtClean="0"/>
              <a:pPr/>
              <a:t>Tuesday, 21 October 2025</a:t>
            </a:fld>
            <a:endParaRPr lang="en-GB"/>
          </a:p>
        </p:txBody>
      </p:sp>
      <p:sp>
        <p:nvSpPr>
          <p:cNvPr id="5" name="Footer Placeholder 4">
            <a:extLst>
              <a:ext uri="{FF2B5EF4-FFF2-40B4-BE49-F238E27FC236}">
                <a16:creationId xmlns:a16="http://schemas.microsoft.com/office/drawing/2014/main" id="{0A34EAA5-9395-4AA0-96B6-BD23C5245551}"/>
              </a:ext>
            </a:extLst>
          </p:cNvPr>
          <p:cNvSpPr>
            <a:spLocks noGrp="1"/>
          </p:cNvSpPr>
          <p:nvPr>
            <p:ph type="ftr" sz="quarter" idx="11"/>
          </p:nvPr>
        </p:nvSpPr>
        <p:spPr/>
        <p:txBody>
          <a:bodyPr/>
          <a:lstStyle>
            <a:lvl1pPr>
              <a:defRPr>
                <a:solidFill>
                  <a:schemeClr val="tx2"/>
                </a:solidFill>
              </a:defRPr>
            </a:lvl1pPr>
          </a:lstStyle>
          <a:p>
            <a:r>
              <a:rPr lang="en-GB"/>
              <a:t>Footer Goes Here</a:t>
            </a:r>
          </a:p>
        </p:txBody>
      </p:sp>
      <p:sp>
        <p:nvSpPr>
          <p:cNvPr id="6" name="Slide Number Placeholder 5">
            <a:extLst>
              <a:ext uri="{FF2B5EF4-FFF2-40B4-BE49-F238E27FC236}">
                <a16:creationId xmlns:a16="http://schemas.microsoft.com/office/drawing/2014/main" id="{031C2346-9DC9-4EFE-9CC7-58A873883353}"/>
              </a:ext>
            </a:extLst>
          </p:cNvPr>
          <p:cNvSpPr>
            <a:spLocks noGrp="1"/>
          </p:cNvSpPr>
          <p:nvPr>
            <p:ph type="sldNum" sz="quarter" idx="12"/>
          </p:nvPr>
        </p:nvSpPr>
        <p:spPr/>
        <p:txBody>
          <a:bodyPr/>
          <a:lstStyle>
            <a:lvl1pPr>
              <a:defRPr>
                <a:solidFill>
                  <a:schemeClr val="tx2"/>
                </a:solidFill>
              </a:defRPr>
            </a:lvl1pPr>
          </a:lstStyle>
          <a:p>
            <a:pPr marL="0" lvl="0" indent="0" algn="ctr" rtl="0">
              <a:spcBef>
                <a:spcPts val="0"/>
              </a:spcBef>
              <a:spcAft>
                <a:spcPts val="0"/>
              </a:spcAft>
              <a:buNone/>
            </a:pPr>
            <a:fld id="{00000000-1234-1234-1234-123412341234}" type="slidenum">
              <a:rPr lang="en-US" smtClean="0"/>
              <a:t>‹#›</a:t>
            </a:fld>
            <a:endParaRPr lang="en-US" sz="1400">
              <a:latin typeface="Arial"/>
              <a:ea typeface="Arial"/>
              <a:cs typeface="Arial"/>
              <a:sym typeface="Arial"/>
            </a:endParaRPr>
          </a:p>
        </p:txBody>
      </p:sp>
    </p:spTree>
    <p:extLst>
      <p:ext uri="{BB962C8B-B14F-4D97-AF65-F5344CB8AC3E}">
        <p14:creationId xmlns:p14="http://schemas.microsoft.com/office/powerpoint/2010/main" val="391032883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9FE78-1071-43B4-8733-6DC694827A7B}"/>
              </a:ext>
            </a:extLst>
          </p:cNvPr>
          <p:cNvSpPr>
            <a:spLocks noGrp="1"/>
          </p:cNvSpPr>
          <p:nvPr>
            <p:ph type="title"/>
          </p:nvPr>
        </p:nvSpPr>
        <p:spPr/>
        <p:txBody>
          <a:bodyPr/>
          <a:lstStyle>
            <a:lvl1pPr>
              <a:defRPr>
                <a:solidFill>
                  <a:schemeClr val="tx2"/>
                </a:solidFill>
              </a:defRPr>
            </a:lvl1pPr>
          </a:lstStyle>
          <a:p>
            <a:r>
              <a:rPr lang="en-GB"/>
              <a:t>Click to edit Master title style</a:t>
            </a:r>
          </a:p>
        </p:txBody>
      </p:sp>
      <p:sp>
        <p:nvSpPr>
          <p:cNvPr id="3" name="Content Placeholder 2">
            <a:extLst>
              <a:ext uri="{FF2B5EF4-FFF2-40B4-BE49-F238E27FC236}">
                <a16:creationId xmlns:a16="http://schemas.microsoft.com/office/drawing/2014/main" id="{EDFA8F19-6500-41F2-994F-0C0B8A75580F}"/>
              </a:ext>
            </a:extLst>
          </p:cNvPr>
          <p:cNvSpPr>
            <a:spLocks noGrp="1"/>
          </p:cNvSpPr>
          <p:nvPr>
            <p:ph sz="half" idx="1"/>
          </p:nvPr>
        </p:nvSpPr>
        <p:spPr>
          <a:xfrm>
            <a:off x="1676400" y="3545633"/>
            <a:ext cx="10363200" cy="3216265"/>
          </a:xfr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190A2526-AD2C-4E41-84D3-99AAD9431F23}"/>
              </a:ext>
            </a:extLst>
          </p:cNvPr>
          <p:cNvSpPr>
            <a:spLocks noGrp="1"/>
          </p:cNvSpPr>
          <p:nvPr>
            <p:ph sz="half" idx="2"/>
          </p:nvPr>
        </p:nvSpPr>
        <p:spPr>
          <a:xfrm>
            <a:off x="12344400" y="3545633"/>
            <a:ext cx="10363200" cy="3216265"/>
          </a:xfr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E0968D63-4560-490A-8851-3FAE68CDC0F5}"/>
              </a:ext>
            </a:extLst>
          </p:cNvPr>
          <p:cNvSpPr>
            <a:spLocks noGrp="1"/>
          </p:cNvSpPr>
          <p:nvPr>
            <p:ph type="dt" sz="half" idx="10"/>
          </p:nvPr>
        </p:nvSpPr>
        <p:spPr/>
        <p:txBody>
          <a:bodyPr/>
          <a:lstStyle>
            <a:lvl1pPr>
              <a:defRPr>
                <a:solidFill>
                  <a:schemeClr val="tx2"/>
                </a:solidFill>
              </a:defRPr>
            </a:lvl1pPr>
          </a:lstStyle>
          <a:p>
            <a:fld id="{09FCC7DF-DE0D-449C-BEB8-BE8530498216}" type="datetime2">
              <a:rPr lang="en-GB" smtClean="0"/>
              <a:pPr/>
              <a:t>Tuesday, 21 October 2025</a:t>
            </a:fld>
            <a:endParaRPr lang="en-GB"/>
          </a:p>
        </p:txBody>
      </p:sp>
      <p:sp>
        <p:nvSpPr>
          <p:cNvPr id="6" name="Footer Placeholder 5">
            <a:extLst>
              <a:ext uri="{FF2B5EF4-FFF2-40B4-BE49-F238E27FC236}">
                <a16:creationId xmlns:a16="http://schemas.microsoft.com/office/drawing/2014/main" id="{CF4C26FF-ADB8-40BD-B16C-6FD03308EF3E}"/>
              </a:ext>
            </a:extLst>
          </p:cNvPr>
          <p:cNvSpPr>
            <a:spLocks noGrp="1"/>
          </p:cNvSpPr>
          <p:nvPr>
            <p:ph type="ftr" sz="quarter" idx="11"/>
          </p:nvPr>
        </p:nvSpPr>
        <p:spPr/>
        <p:txBody>
          <a:bodyPr/>
          <a:lstStyle>
            <a:lvl1pPr>
              <a:defRPr>
                <a:solidFill>
                  <a:schemeClr val="tx2"/>
                </a:solidFill>
              </a:defRPr>
            </a:lvl1pPr>
          </a:lstStyle>
          <a:p>
            <a:r>
              <a:rPr lang="en-GB"/>
              <a:t>Footer Goes Here</a:t>
            </a:r>
          </a:p>
        </p:txBody>
      </p:sp>
      <p:sp>
        <p:nvSpPr>
          <p:cNvPr id="7" name="Slide Number Placeholder 6">
            <a:extLst>
              <a:ext uri="{FF2B5EF4-FFF2-40B4-BE49-F238E27FC236}">
                <a16:creationId xmlns:a16="http://schemas.microsoft.com/office/drawing/2014/main" id="{4633D376-5FFC-4424-BA90-E81E512C965B}"/>
              </a:ext>
            </a:extLst>
          </p:cNvPr>
          <p:cNvSpPr>
            <a:spLocks noGrp="1"/>
          </p:cNvSpPr>
          <p:nvPr>
            <p:ph type="sldNum" sz="quarter" idx="12"/>
          </p:nvPr>
        </p:nvSpPr>
        <p:spPr/>
        <p:txBody>
          <a:bodyPr/>
          <a:lstStyle>
            <a:lvl1pPr>
              <a:defRPr>
                <a:solidFill>
                  <a:schemeClr val="tx2"/>
                </a:solidFill>
              </a:defRPr>
            </a:lvl1pPr>
          </a:lstStyle>
          <a:p>
            <a:pPr marL="0" lvl="0" indent="0" algn="ctr" rtl="0">
              <a:spcBef>
                <a:spcPts val="0"/>
              </a:spcBef>
              <a:spcAft>
                <a:spcPts val="0"/>
              </a:spcAft>
              <a:buNone/>
            </a:pPr>
            <a:fld id="{00000000-1234-1234-1234-123412341234}" type="slidenum">
              <a:rPr lang="en-US" smtClean="0"/>
              <a:t>‹#›</a:t>
            </a:fld>
            <a:endParaRPr lang="en-US" sz="1400">
              <a:latin typeface="Arial"/>
              <a:ea typeface="Arial"/>
              <a:cs typeface="Arial"/>
              <a:sym typeface="Arial"/>
            </a:endParaRPr>
          </a:p>
        </p:txBody>
      </p:sp>
    </p:spTree>
    <p:extLst>
      <p:ext uri="{BB962C8B-B14F-4D97-AF65-F5344CB8AC3E}">
        <p14:creationId xmlns:p14="http://schemas.microsoft.com/office/powerpoint/2010/main" val="1246781212"/>
      </p:ext>
    </p:extLst>
  </p:cSld>
  <p:clrMapOvr>
    <a:masterClrMapping/>
  </p:clrMapOvr>
  <p:hf sldNum="0" hdr="0" ftr="0" dt="0"/>
  <p:extLst>
    <p:ext uri="{DCECCB84-F9BA-43D5-87BE-67443E8EF086}">
      <p15:sldGuideLst xmlns:p15="http://schemas.microsoft.com/office/powerpoint/2012/main">
        <p15:guide id="1" pos="3795">
          <p15:clr>
            <a:srgbClr val="FBAE40"/>
          </p15:clr>
        </p15:guide>
        <p15:guide id="2" pos="388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33BF9-E686-45D8-9BA8-4838328FAE1E}"/>
              </a:ext>
            </a:extLst>
          </p:cNvPr>
          <p:cNvSpPr>
            <a:spLocks noGrp="1"/>
          </p:cNvSpPr>
          <p:nvPr>
            <p:ph type="title"/>
          </p:nvPr>
        </p:nvSpPr>
        <p:spPr/>
        <p:txBody>
          <a:bodyPr/>
          <a:lstStyle>
            <a:lvl1pPr>
              <a:defRPr>
                <a:solidFill>
                  <a:schemeClr val="tx2"/>
                </a:solidFill>
              </a:defRPr>
            </a:lvl1pPr>
          </a:lstStyle>
          <a:p>
            <a:r>
              <a:rPr lang="en-GB"/>
              <a:t>Click to edit Master title style</a:t>
            </a:r>
            <a:endParaRPr lang="en-GB" dirty="0"/>
          </a:p>
        </p:txBody>
      </p:sp>
      <p:sp>
        <p:nvSpPr>
          <p:cNvPr id="3" name="Date Placeholder 2">
            <a:extLst>
              <a:ext uri="{FF2B5EF4-FFF2-40B4-BE49-F238E27FC236}">
                <a16:creationId xmlns:a16="http://schemas.microsoft.com/office/drawing/2014/main" id="{FD1EE3A2-B671-440F-82DD-2CC2477DB0F7}"/>
              </a:ext>
            </a:extLst>
          </p:cNvPr>
          <p:cNvSpPr>
            <a:spLocks noGrp="1"/>
          </p:cNvSpPr>
          <p:nvPr>
            <p:ph type="dt" sz="half" idx="10"/>
          </p:nvPr>
        </p:nvSpPr>
        <p:spPr/>
        <p:txBody>
          <a:bodyPr/>
          <a:lstStyle/>
          <a:p>
            <a:fld id="{D4F71593-4DB0-4D81-8C54-FC3441CD6A31}" type="datetime2">
              <a:rPr lang="en-GB" smtClean="0"/>
              <a:t>Tuesday, 21 October 2025</a:t>
            </a:fld>
            <a:endParaRPr lang="en-GB"/>
          </a:p>
        </p:txBody>
      </p:sp>
      <p:sp>
        <p:nvSpPr>
          <p:cNvPr id="4" name="Footer Placeholder 3">
            <a:extLst>
              <a:ext uri="{FF2B5EF4-FFF2-40B4-BE49-F238E27FC236}">
                <a16:creationId xmlns:a16="http://schemas.microsoft.com/office/drawing/2014/main" id="{AD45F141-88CC-4C9B-BCBF-9411DD6B735F}"/>
              </a:ext>
            </a:extLst>
          </p:cNvPr>
          <p:cNvSpPr>
            <a:spLocks noGrp="1"/>
          </p:cNvSpPr>
          <p:nvPr>
            <p:ph type="ftr" sz="quarter" idx="11"/>
          </p:nvPr>
        </p:nvSpPr>
        <p:spPr/>
        <p:txBody>
          <a:bodyPr/>
          <a:lstStyle/>
          <a:p>
            <a:r>
              <a:rPr lang="en-GB"/>
              <a:t>Footer Goes Here</a:t>
            </a:r>
          </a:p>
        </p:txBody>
      </p:sp>
      <p:sp>
        <p:nvSpPr>
          <p:cNvPr id="5" name="Slide Number Placeholder 4">
            <a:extLst>
              <a:ext uri="{FF2B5EF4-FFF2-40B4-BE49-F238E27FC236}">
                <a16:creationId xmlns:a16="http://schemas.microsoft.com/office/drawing/2014/main" id="{0951594B-2BB0-4059-A8A9-F6D669354563}"/>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sz="1400">
              <a:latin typeface="Arial"/>
              <a:ea typeface="Arial"/>
              <a:cs typeface="Arial"/>
              <a:sym typeface="Arial"/>
            </a:endParaRPr>
          </a:p>
        </p:txBody>
      </p:sp>
    </p:spTree>
    <p:extLst>
      <p:ext uri="{BB962C8B-B14F-4D97-AF65-F5344CB8AC3E}">
        <p14:creationId xmlns:p14="http://schemas.microsoft.com/office/powerpoint/2010/main" val="1471343691"/>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D4886D-F66E-4DA4-B896-2DD5F023B34E}"/>
              </a:ext>
            </a:extLst>
          </p:cNvPr>
          <p:cNvSpPr>
            <a:spLocks noGrp="1"/>
          </p:cNvSpPr>
          <p:nvPr>
            <p:ph type="dt" sz="half" idx="10"/>
          </p:nvPr>
        </p:nvSpPr>
        <p:spPr>
          <a:xfrm>
            <a:off x="1679576" y="12660451"/>
            <a:ext cx="10512000" cy="246222"/>
          </a:xfrm>
        </p:spPr>
        <p:txBody>
          <a:bodyPr/>
          <a:lstStyle/>
          <a:p>
            <a:fld id="{A97DCDC8-AA34-4254-B0FC-746FEFC2CCD2}" type="datetime2">
              <a:rPr lang="en-GB" smtClean="0"/>
              <a:t>Tuesday, 21 October 2025</a:t>
            </a:fld>
            <a:endParaRPr lang="en-GB"/>
          </a:p>
        </p:txBody>
      </p:sp>
      <p:sp>
        <p:nvSpPr>
          <p:cNvPr id="3" name="Footer Placeholder 2">
            <a:extLst>
              <a:ext uri="{FF2B5EF4-FFF2-40B4-BE49-F238E27FC236}">
                <a16:creationId xmlns:a16="http://schemas.microsoft.com/office/drawing/2014/main" id="{6CCFCCD3-B48C-4476-9A97-D76934AFE9F8}"/>
              </a:ext>
            </a:extLst>
          </p:cNvPr>
          <p:cNvSpPr>
            <a:spLocks noGrp="1"/>
          </p:cNvSpPr>
          <p:nvPr>
            <p:ph type="ftr" sz="quarter" idx="11"/>
          </p:nvPr>
        </p:nvSpPr>
        <p:spPr>
          <a:xfrm>
            <a:off x="1679576" y="13050689"/>
            <a:ext cx="10512424" cy="246222"/>
          </a:xfrm>
        </p:spPr>
        <p:txBody>
          <a:bodyPr/>
          <a:lstStyle/>
          <a:p>
            <a:r>
              <a:rPr lang="en-GB"/>
              <a:t>Footer Goes Here</a:t>
            </a:r>
          </a:p>
        </p:txBody>
      </p:sp>
      <p:sp>
        <p:nvSpPr>
          <p:cNvPr id="4" name="Slide Number Placeholder 3">
            <a:extLst>
              <a:ext uri="{FF2B5EF4-FFF2-40B4-BE49-F238E27FC236}">
                <a16:creationId xmlns:a16="http://schemas.microsoft.com/office/drawing/2014/main" id="{4B74CFAE-D0C0-468C-98D4-B14C14C4E676}"/>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228448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lank with Logo">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C056096-ABC1-404A-9892-9E48F602CB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96656" y="12042577"/>
            <a:ext cx="5629008" cy="1239414"/>
          </a:xfrm>
          <a:prstGeom prst="rect">
            <a:avLst/>
          </a:prstGeom>
        </p:spPr>
      </p:pic>
    </p:spTree>
    <p:extLst>
      <p:ext uri="{BB962C8B-B14F-4D97-AF65-F5344CB8AC3E}">
        <p14:creationId xmlns:p14="http://schemas.microsoft.com/office/powerpoint/2010/main" val="4206900492"/>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pos="3840">
          <p15:clr>
            <a:srgbClr val="FBAE40"/>
          </p15:clr>
        </p15:guide>
        <p15:guide id="2" pos="2116">
          <p15:clr>
            <a:srgbClr val="FBAE40"/>
          </p15:clr>
        </p15:guide>
        <p15:guide id="3" pos="556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wo Column White">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GB"/>
              <a:t>Click to edit Master title style</a:t>
            </a:r>
          </a:p>
        </p:txBody>
      </p:sp>
      <p:sp>
        <p:nvSpPr>
          <p:cNvPr id="5" name="Slide Number Placeholder 4"/>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sz="1400">
              <a:latin typeface="Arial"/>
              <a:ea typeface="Arial"/>
              <a:cs typeface="Arial"/>
              <a:sym typeface="Arial"/>
            </a:endParaRPr>
          </a:p>
        </p:txBody>
      </p:sp>
      <p:sp>
        <p:nvSpPr>
          <p:cNvPr id="7" name="Content Placeholder 6"/>
          <p:cNvSpPr>
            <a:spLocks noGrp="1"/>
          </p:cNvSpPr>
          <p:nvPr>
            <p:ph sz="quarter" idx="13"/>
          </p:nvPr>
        </p:nvSpPr>
        <p:spPr>
          <a:xfrm>
            <a:off x="1683283" y="3524753"/>
            <a:ext cx="10143106" cy="3216266"/>
          </a:xfrm>
        </p:spPr>
        <p:txBody>
          <a:bodyPr/>
          <a:lstStyle>
            <a:lvl1pPr>
              <a:defRPr>
                <a:solidFill>
                  <a:schemeClr val="tx1"/>
                </a:solidFill>
              </a:defRPr>
            </a:lvl1pPr>
            <a:lvl2pPr marL="648882" indent="-648882">
              <a:buFont typeface="Arial" panose="020B0604020202020204" pitchFamily="34" charset="0"/>
              <a:buChar char="•"/>
              <a:defRPr>
                <a:solidFill>
                  <a:schemeClr val="tx1"/>
                </a:solidFill>
              </a:defRPr>
            </a:lvl2pPr>
            <a:lvl3pPr marL="1301602" indent="-652720">
              <a:buFont typeface="Arial" panose="020B0604020202020204" pitchFamily="34" charset="0"/>
              <a:buChar char="•"/>
              <a:defRPr>
                <a:solidFill>
                  <a:schemeClr val="tx1"/>
                </a:solidFill>
              </a:defRPr>
            </a:lvl3pPr>
            <a:lvl4pPr marL="1950480" indent="-648882">
              <a:buFont typeface="Arial" panose="020B0604020202020204" pitchFamily="34" charset="0"/>
              <a:buChar char="•"/>
              <a:defRPr>
                <a:solidFill>
                  <a:schemeClr val="tx1"/>
                </a:solidFill>
              </a:defRPr>
            </a:lvl4pPr>
            <a:lvl5pPr marL="2603200" indent="-652720">
              <a:buFont typeface="Arial" panose="020B0604020202020204" pitchFamily="34" charset="0"/>
              <a:buChar cha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9" name="Content Placeholder 8"/>
          <p:cNvSpPr>
            <a:spLocks noGrp="1"/>
          </p:cNvSpPr>
          <p:nvPr>
            <p:ph sz="quarter" idx="14" hasCustomPrompt="1"/>
          </p:nvPr>
        </p:nvSpPr>
        <p:spPr>
          <a:xfrm>
            <a:off x="12557621" y="3524753"/>
            <a:ext cx="10143106" cy="3216266"/>
          </a:xfrm>
        </p:spPr>
        <p:txBody>
          <a:bodyPr/>
          <a:lstStyle>
            <a:lvl1pPr>
              <a:defRPr>
                <a:solidFill>
                  <a:schemeClr val="tx1"/>
                </a:solidFill>
              </a:defRPr>
            </a:lvl1pPr>
            <a:lvl2pPr marL="648882" indent="-648882">
              <a:buFont typeface="Arial" panose="020B0604020202020204" pitchFamily="34" charset="0"/>
              <a:buChar char="•"/>
              <a:defRPr>
                <a:solidFill>
                  <a:schemeClr val="tx1"/>
                </a:solidFill>
              </a:defRPr>
            </a:lvl2pPr>
            <a:lvl3pPr marL="1301602" indent="-652720">
              <a:buFont typeface="Arial" panose="020B0604020202020204" pitchFamily="34" charset="0"/>
              <a:buChar char="•"/>
              <a:defRPr>
                <a:solidFill>
                  <a:schemeClr val="tx1"/>
                </a:solidFill>
              </a:defRPr>
            </a:lvl3pPr>
            <a:lvl4pPr marL="1950480" indent="-648882">
              <a:buFont typeface="Arial" panose="020B0604020202020204" pitchFamily="34" charset="0"/>
              <a:buChar char="•"/>
              <a:defRPr>
                <a:solidFill>
                  <a:schemeClr val="tx1"/>
                </a:solidFill>
              </a:defRPr>
            </a:lvl4pPr>
            <a:lvl5pPr marL="2603200" indent="-652720">
              <a:buFont typeface="Arial" panose="020B0604020202020204" pitchFamily="34" charset="0"/>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649353151"/>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losing Slid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Picture Placeholder 10">
            <a:extLst>
              <a:ext uri="{FF2B5EF4-FFF2-40B4-BE49-F238E27FC236}">
                <a16:creationId xmlns:a16="http://schemas.microsoft.com/office/drawing/2014/main" id="{997D0358-D1A5-4615-A65D-68C0B35BE606}"/>
              </a:ext>
            </a:extLst>
          </p:cNvPr>
          <p:cNvSpPr>
            <a:spLocks noGrp="1"/>
          </p:cNvSpPr>
          <p:nvPr>
            <p:ph type="pic" sz="quarter" idx="10"/>
          </p:nvPr>
        </p:nvSpPr>
        <p:spPr>
          <a:xfrm>
            <a:off x="14544891" y="0"/>
            <a:ext cx="9839110" cy="137160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2281 w 12281"/>
              <a:gd name="connsiteY0" fmla="*/ 0 h 10000"/>
              <a:gd name="connsiteX1" fmla="*/ 12281 w 12281"/>
              <a:gd name="connsiteY1" fmla="*/ 0 h 10000"/>
              <a:gd name="connsiteX2" fmla="*/ 12281 w 12281"/>
              <a:gd name="connsiteY2" fmla="*/ 10000 h 10000"/>
              <a:gd name="connsiteX3" fmla="*/ 2281 w 12281"/>
              <a:gd name="connsiteY3" fmla="*/ 10000 h 10000"/>
              <a:gd name="connsiteX4" fmla="*/ 2281 w 12281"/>
              <a:gd name="connsiteY4" fmla="*/ 0 h 10000"/>
              <a:gd name="connsiteX0" fmla="*/ 2718 w 12718"/>
              <a:gd name="connsiteY0" fmla="*/ 0 h 10000"/>
              <a:gd name="connsiteX1" fmla="*/ 12718 w 12718"/>
              <a:gd name="connsiteY1" fmla="*/ 0 h 10000"/>
              <a:gd name="connsiteX2" fmla="*/ 12718 w 12718"/>
              <a:gd name="connsiteY2" fmla="*/ 10000 h 10000"/>
              <a:gd name="connsiteX3" fmla="*/ 2718 w 12718"/>
              <a:gd name="connsiteY3" fmla="*/ 10000 h 10000"/>
              <a:gd name="connsiteX4" fmla="*/ 2718 w 12718"/>
              <a:gd name="connsiteY4" fmla="*/ 0 h 10000"/>
              <a:gd name="connsiteX0" fmla="*/ 2205 w 12205"/>
              <a:gd name="connsiteY0" fmla="*/ 0 h 10000"/>
              <a:gd name="connsiteX1" fmla="*/ 12205 w 12205"/>
              <a:gd name="connsiteY1" fmla="*/ 0 h 10000"/>
              <a:gd name="connsiteX2" fmla="*/ 12205 w 12205"/>
              <a:gd name="connsiteY2" fmla="*/ 10000 h 10000"/>
              <a:gd name="connsiteX3" fmla="*/ 2205 w 12205"/>
              <a:gd name="connsiteY3" fmla="*/ 10000 h 10000"/>
              <a:gd name="connsiteX4" fmla="*/ 2205 w 12205"/>
              <a:gd name="connsiteY4" fmla="*/ 0 h 10000"/>
              <a:gd name="connsiteX0" fmla="*/ 2264 w 12264"/>
              <a:gd name="connsiteY0" fmla="*/ 0 h 10000"/>
              <a:gd name="connsiteX1" fmla="*/ 12264 w 12264"/>
              <a:gd name="connsiteY1" fmla="*/ 0 h 10000"/>
              <a:gd name="connsiteX2" fmla="*/ 12264 w 12264"/>
              <a:gd name="connsiteY2" fmla="*/ 10000 h 10000"/>
              <a:gd name="connsiteX3" fmla="*/ 2264 w 12264"/>
              <a:gd name="connsiteY3" fmla="*/ 10000 h 10000"/>
              <a:gd name="connsiteX4" fmla="*/ 2264 w 12264"/>
              <a:gd name="connsiteY4" fmla="*/ 0 h 10000"/>
              <a:gd name="connsiteX0" fmla="*/ 2303 w 12303"/>
              <a:gd name="connsiteY0" fmla="*/ 0 h 10000"/>
              <a:gd name="connsiteX1" fmla="*/ 12303 w 12303"/>
              <a:gd name="connsiteY1" fmla="*/ 0 h 10000"/>
              <a:gd name="connsiteX2" fmla="*/ 12303 w 12303"/>
              <a:gd name="connsiteY2" fmla="*/ 10000 h 10000"/>
              <a:gd name="connsiteX3" fmla="*/ 2303 w 12303"/>
              <a:gd name="connsiteY3" fmla="*/ 10000 h 10000"/>
              <a:gd name="connsiteX4" fmla="*/ 2303 w 12303"/>
              <a:gd name="connsiteY4" fmla="*/ 0 h 10000"/>
              <a:gd name="connsiteX0" fmla="*/ 2273 w 12273"/>
              <a:gd name="connsiteY0" fmla="*/ 0 h 10000"/>
              <a:gd name="connsiteX1" fmla="*/ 12273 w 12273"/>
              <a:gd name="connsiteY1" fmla="*/ 0 h 10000"/>
              <a:gd name="connsiteX2" fmla="*/ 12273 w 12273"/>
              <a:gd name="connsiteY2" fmla="*/ 10000 h 10000"/>
              <a:gd name="connsiteX3" fmla="*/ 2273 w 12273"/>
              <a:gd name="connsiteY3" fmla="*/ 10000 h 10000"/>
              <a:gd name="connsiteX4" fmla="*/ 2273 w 12273"/>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3" h="10000">
                <a:moveTo>
                  <a:pt x="2273" y="0"/>
                </a:moveTo>
                <a:lnTo>
                  <a:pt x="12273" y="0"/>
                </a:lnTo>
                <a:lnTo>
                  <a:pt x="12273" y="10000"/>
                </a:lnTo>
                <a:lnTo>
                  <a:pt x="2273" y="10000"/>
                </a:lnTo>
                <a:cubicBezTo>
                  <a:pt x="215" y="7508"/>
                  <a:pt x="-1596" y="4260"/>
                  <a:pt x="2273" y="0"/>
                </a:cubicBezTo>
                <a:close/>
              </a:path>
            </a:pathLst>
          </a:custGeom>
          <a:blipFill dpi="0" rotWithShape="1">
            <a:blip r:embed="rId3" cstate="print">
              <a:extLst>
                <a:ext uri="{28A0092B-C50C-407E-A947-70E740481C1C}">
                  <a14:useLocalDpi xmlns:a14="http://schemas.microsoft.com/office/drawing/2010/main"/>
                </a:ext>
              </a:extLst>
            </a:blip>
            <a:srcRect/>
            <a:stretch>
              <a:fillRect/>
            </a:stretch>
          </a:blipFill>
          <a:ln w="28575">
            <a:noFill/>
          </a:ln>
        </p:spPr>
        <p:txBody>
          <a:bodyPr anchor="ctr" anchorCtr="0">
            <a:noAutofit/>
          </a:bodyPr>
          <a:lstStyle>
            <a:lvl1pPr marL="0" indent="0" algn="ctr">
              <a:buNone/>
              <a:defRPr b="1">
                <a:solidFill>
                  <a:schemeClr val="bg1"/>
                </a:solidFill>
              </a:defRPr>
            </a:lvl1pPr>
          </a:lstStyle>
          <a:p>
            <a:r>
              <a:rPr lang="en-GB"/>
              <a:t>Click icon to add picture</a:t>
            </a:r>
            <a:endParaRPr lang="en-GB" dirty="0"/>
          </a:p>
        </p:txBody>
      </p:sp>
      <p:sp>
        <p:nvSpPr>
          <p:cNvPr id="6" name="Title 1">
            <a:extLst>
              <a:ext uri="{FF2B5EF4-FFF2-40B4-BE49-F238E27FC236}">
                <a16:creationId xmlns:a16="http://schemas.microsoft.com/office/drawing/2014/main" id="{13936653-3080-447B-B85A-CA4AC2D8E173}"/>
              </a:ext>
            </a:extLst>
          </p:cNvPr>
          <p:cNvSpPr>
            <a:spLocks noGrp="1"/>
          </p:cNvSpPr>
          <p:nvPr>
            <p:ph type="ctrTitle"/>
          </p:nvPr>
        </p:nvSpPr>
        <p:spPr>
          <a:xfrm>
            <a:off x="1678832" y="3689648"/>
            <a:ext cx="10944000" cy="4176464"/>
          </a:xfrm>
          <a:prstGeom prst="rect">
            <a:avLst/>
          </a:prstGeom>
          <a:ln>
            <a:noFill/>
          </a:ln>
        </p:spPr>
        <p:txBody>
          <a:bodyPr bIns="0" anchor="ctr" anchorCtr="0">
            <a:noAutofit/>
          </a:bodyPr>
          <a:lstStyle>
            <a:lvl1pPr algn="ctr">
              <a:lnSpc>
                <a:spcPct val="70000"/>
              </a:lnSpc>
              <a:defRPr sz="12000">
                <a:solidFill>
                  <a:schemeClr val="bg1"/>
                </a:solidFill>
              </a:defRPr>
            </a:lvl1pPr>
          </a:lstStyle>
          <a:p>
            <a:r>
              <a:rPr lang="en-GB"/>
              <a:t>Click to edit Master title style</a:t>
            </a:r>
            <a:endParaRPr lang="en-GB" dirty="0"/>
          </a:p>
        </p:txBody>
      </p:sp>
      <p:sp>
        <p:nvSpPr>
          <p:cNvPr id="7" name="Rectangle 6">
            <a:extLst>
              <a:ext uri="{FF2B5EF4-FFF2-40B4-BE49-F238E27FC236}">
                <a16:creationId xmlns:a16="http://schemas.microsoft.com/office/drawing/2014/main" id="{1B083680-74B4-4455-AFC5-36F2C960F739}"/>
              </a:ext>
            </a:extLst>
          </p:cNvPr>
          <p:cNvSpPr/>
          <p:nvPr/>
        </p:nvSpPr>
        <p:spPr>
          <a:xfrm>
            <a:off x="670720" y="10069984"/>
            <a:ext cx="4896544" cy="3412752"/>
          </a:xfrm>
          <a:prstGeom prst="rect">
            <a:avLst/>
          </a:prstGeom>
          <a:solidFill>
            <a:srgbClr val="2E008B"/>
          </a:solidFill>
          <a:ln>
            <a:solidFill>
              <a:srgbClr val="2E00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a:p>
        </p:txBody>
      </p:sp>
      <p:pic>
        <p:nvPicPr>
          <p:cNvPr id="9" name="Picture 8">
            <a:extLst>
              <a:ext uri="{FF2B5EF4-FFF2-40B4-BE49-F238E27FC236}">
                <a16:creationId xmlns:a16="http://schemas.microsoft.com/office/drawing/2014/main" id="{344253DF-1ABC-4174-A75F-C3973F2D57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688" y="11952718"/>
            <a:ext cx="5904656" cy="1302332"/>
          </a:xfrm>
          <a:prstGeom prst="rect">
            <a:avLst/>
          </a:prstGeom>
        </p:spPr>
      </p:pic>
    </p:spTree>
    <p:extLst>
      <p:ext uri="{BB962C8B-B14F-4D97-AF65-F5344CB8AC3E}">
        <p14:creationId xmlns:p14="http://schemas.microsoft.com/office/powerpoint/2010/main" val="2236538997"/>
      </p:ext>
    </p:extLst>
  </p:cSld>
  <p:clrMapOvr>
    <a:masterClrMapping/>
  </p:clrMapOvr>
  <p:hf sldNum="0" hdr="0" ftr="0" dt="0"/>
  <p:extLst>
    <p:ext uri="{DCECCB84-F9BA-43D5-87BE-67443E8EF086}">
      <p15:sldGuideLst xmlns:p15="http://schemas.microsoft.com/office/powerpoint/2012/main">
        <p15:guide id="1" pos="3840">
          <p15:clr>
            <a:srgbClr val="FBAE40"/>
          </p15:clr>
        </p15:guide>
        <p15:guide id="2" pos="2116">
          <p15:clr>
            <a:srgbClr val="FBAE40"/>
          </p15:clr>
        </p15:guide>
        <p15:guide id="3" pos="5564">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body" idx="1"/>
          </p:nvPr>
        </p:nvSpPr>
        <p:spPr>
          <a:xfrm>
            <a:off x="1201340" y="11859862"/>
            <a:ext cx="21971003" cy="636979"/>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3600"/>
              <a:buFont typeface="Helvetica Neue"/>
              <a:buNone/>
              <a:defRPr sz="36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11" name="Google Shape;11;p2"/>
          <p:cNvSpPr txBox="1">
            <a:spLocks noGrp="1"/>
          </p:cNvSpPr>
          <p:nvPr>
            <p:ph type="title"/>
          </p:nvPr>
        </p:nvSpPr>
        <p:spPr>
          <a:xfrm>
            <a:off x="1206496" y="2574991"/>
            <a:ext cx="21971004" cy="4648201"/>
          </a:xfrm>
          <a:prstGeom prst="rect">
            <a:avLst/>
          </a:prstGeom>
          <a:noFill/>
          <a:ln>
            <a:noFill/>
          </a:ln>
        </p:spPr>
        <p:txBody>
          <a:bodyPr spcFirstLastPara="1" wrap="square" lIns="50800" tIns="50800" rIns="50800" bIns="50800" anchor="b" anchorCtr="0">
            <a:normAutofit/>
          </a:bodyPr>
          <a:lstStyle>
            <a:lvl1pPr lvl="0" algn="l">
              <a:lnSpc>
                <a:spcPct val="80000"/>
              </a:lnSpc>
              <a:spcBef>
                <a:spcPts val="0"/>
              </a:spcBef>
              <a:spcAft>
                <a:spcPts val="0"/>
              </a:spcAft>
              <a:buClr>
                <a:srgbClr val="000000"/>
              </a:buClr>
              <a:buSzPts val="11600"/>
              <a:buFont typeface="Helvetica Neue"/>
              <a:buNone/>
              <a:defRPr sz="11600"/>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12" name="Google Shape;12;p2"/>
          <p:cNvSpPr txBox="1">
            <a:spLocks noGrp="1"/>
          </p:cNvSpPr>
          <p:nvPr>
            <p:ph type="body" idx="2"/>
          </p:nvPr>
        </p:nvSpPr>
        <p:spPr>
          <a:xfrm>
            <a:off x="1201342" y="7223190"/>
            <a:ext cx="21971001" cy="1905001"/>
          </a:xfrm>
          <a:prstGeom prst="rect">
            <a:avLst/>
          </a:prstGeom>
          <a:noFill/>
          <a:ln>
            <a:noFill/>
          </a:ln>
        </p:spPr>
        <p:txBody>
          <a:bodyPr spcFirstLastPara="1" wrap="square" lIns="50800" tIns="50800" rIns="50800" bIns="508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228600" algn="l">
              <a:lnSpc>
                <a:spcPct val="100000"/>
              </a:lnSpc>
              <a:spcBef>
                <a:spcPts val="0"/>
              </a:spcBef>
              <a:spcAft>
                <a:spcPts val="0"/>
              </a:spcAft>
              <a:buClr>
                <a:srgbClr val="000000"/>
              </a:buClr>
              <a:buSzPts val="5500"/>
              <a:buFont typeface="Helvetica Neue"/>
              <a:buNone/>
              <a:defRPr sz="5500" b="1"/>
            </a:lvl2pPr>
            <a:lvl3pPr marL="1371600" lvl="2" indent="-228600" algn="l">
              <a:lnSpc>
                <a:spcPct val="100000"/>
              </a:lnSpc>
              <a:spcBef>
                <a:spcPts val="0"/>
              </a:spcBef>
              <a:spcAft>
                <a:spcPts val="0"/>
              </a:spcAft>
              <a:buClr>
                <a:srgbClr val="000000"/>
              </a:buClr>
              <a:buSzPts val="5500"/>
              <a:buFont typeface="Helvetica Neue"/>
              <a:buNone/>
              <a:defRPr sz="5500" b="1"/>
            </a:lvl3pPr>
            <a:lvl4pPr marL="1828800" lvl="3" indent="-228600" algn="l">
              <a:lnSpc>
                <a:spcPct val="100000"/>
              </a:lnSpc>
              <a:spcBef>
                <a:spcPts val="0"/>
              </a:spcBef>
              <a:spcAft>
                <a:spcPts val="0"/>
              </a:spcAft>
              <a:buClr>
                <a:srgbClr val="000000"/>
              </a:buClr>
              <a:buSzPts val="5500"/>
              <a:buFont typeface="Helvetica Neue"/>
              <a:buNone/>
              <a:defRPr sz="5500" b="1"/>
            </a:lvl4pPr>
            <a:lvl5pPr marL="2286000" lvl="4" indent="-228600" algn="l">
              <a:lnSpc>
                <a:spcPct val="100000"/>
              </a:lnSpc>
              <a:spcBef>
                <a:spcPts val="0"/>
              </a:spcBef>
              <a:spcAft>
                <a:spcPts val="0"/>
              </a:spcAft>
              <a:buClr>
                <a:srgbClr val="000000"/>
              </a:buClr>
              <a:buSzPts val="5500"/>
              <a:buFont typeface="Helvetica Neue"/>
              <a:buNone/>
              <a:defRPr sz="5500" b="1"/>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13" name="Google Shape;13;p2"/>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solidFill>
                  <a:srgbClr val="000000"/>
                </a:solidFill>
              </a:defRPr>
            </a:lvl1pPr>
            <a:lvl2pPr marL="0" lvl="1" indent="0" algn="ctr">
              <a:lnSpc>
                <a:spcPct val="100000"/>
              </a:lnSpc>
              <a:spcBef>
                <a:spcPts val="0"/>
              </a:spcBef>
              <a:spcAft>
                <a:spcPts val="0"/>
              </a:spcAft>
              <a:buClr>
                <a:srgbClr val="000000"/>
              </a:buClr>
              <a:buSzPts val="1800"/>
              <a:buFont typeface="Helvetica Neue"/>
              <a:buNone/>
              <a:defRPr sz="1800">
                <a:solidFill>
                  <a:srgbClr val="000000"/>
                </a:solidFill>
              </a:defRPr>
            </a:lvl2pPr>
            <a:lvl3pPr marL="0" lvl="2" indent="0" algn="ctr">
              <a:lnSpc>
                <a:spcPct val="100000"/>
              </a:lnSpc>
              <a:spcBef>
                <a:spcPts val="0"/>
              </a:spcBef>
              <a:spcAft>
                <a:spcPts val="0"/>
              </a:spcAft>
              <a:buClr>
                <a:srgbClr val="000000"/>
              </a:buClr>
              <a:buSzPts val="1800"/>
              <a:buFont typeface="Helvetica Neue"/>
              <a:buNone/>
              <a:defRPr sz="1800">
                <a:solidFill>
                  <a:srgbClr val="000000"/>
                </a:solidFill>
              </a:defRPr>
            </a:lvl3pPr>
            <a:lvl4pPr marL="0" lvl="3" indent="0" algn="ctr">
              <a:lnSpc>
                <a:spcPct val="100000"/>
              </a:lnSpc>
              <a:spcBef>
                <a:spcPts val="0"/>
              </a:spcBef>
              <a:spcAft>
                <a:spcPts val="0"/>
              </a:spcAft>
              <a:buClr>
                <a:srgbClr val="000000"/>
              </a:buClr>
              <a:buSzPts val="1800"/>
              <a:buFont typeface="Helvetica Neue"/>
              <a:buNone/>
              <a:defRPr sz="1800">
                <a:solidFill>
                  <a:srgbClr val="000000"/>
                </a:solidFill>
              </a:defRPr>
            </a:lvl4pPr>
            <a:lvl5pPr marL="0" lvl="4" indent="0" algn="ctr">
              <a:lnSpc>
                <a:spcPct val="100000"/>
              </a:lnSpc>
              <a:spcBef>
                <a:spcPts val="0"/>
              </a:spcBef>
              <a:spcAft>
                <a:spcPts val="0"/>
              </a:spcAft>
              <a:buClr>
                <a:srgbClr val="000000"/>
              </a:buClr>
              <a:buSzPts val="1800"/>
              <a:buFont typeface="Helvetica Neue"/>
              <a:buNone/>
              <a:defRPr sz="1800">
                <a:solidFill>
                  <a:srgbClr val="000000"/>
                </a:solidFill>
              </a:defRPr>
            </a:lvl5pPr>
            <a:lvl6pPr marL="0" lvl="5" indent="0" algn="ctr">
              <a:lnSpc>
                <a:spcPct val="100000"/>
              </a:lnSpc>
              <a:spcBef>
                <a:spcPts val="0"/>
              </a:spcBef>
              <a:spcAft>
                <a:spcPts val="0"/>
              </a:spcAft>
              <a:buClr>
                <a:srgbClr val="000000"/>
              </a:buClr>
              <a:buSzPts val="1800"/>
              <a:buFont typeface="Helvetica Neue"/>
              <a:buNone/>
              <a:defRPr sz="1800">
                <a:solidFill>
                  <a:srgbClr val="000000"/>
                </a:solidFill>
              </a:defRPr>
            </a:lvl6pPr>
            <a:lvl7pPr marL="0" lvl="6" indent="0" algn="ctr">
              <a:lnSpc>
                <a:spcPct val="100000"/>
              </a:lnSpc>
              <a:spcBef>
                <a:spcPts val="0"/>
              </a:spcBef>
              <a:spcAft>
                <a:spcPts val="0"/>
              </a:spcAft>
              <a:buClr>
                <a:srgbClr val="000000"/>
              </a:buClr>
              <a:buSzPts val="1800"/>
              <a:buFont typeface="Helvetica Neue"/>
              <a:buNone/>
              <a:defRPr sz="1800">
                <a:solidFill>
                  <a:srgbClr val="000000"/>
                </a:solidFill>
              </a:defRPr>
            </a:lvl7pPr>
            <a:lvl8pPr marL="0" lvl="7" indent="0" algn="ctr">
              <a:lnSpc>
                <a:spcPct val="100000"/>
              </a:lnSpc>
              <a:spcBef>
                <a:spcPts val="0"/>
              </a:spcBef>
              <a:spcAft>
                <a:spcPts val="0"/>
              </a:spcAft>
              <a:buClr>
                <a:srgbClr val="000000"/>
              </a:buClr>
              <a:buSzPts val="1800"/>
              <a:buFont typeface="Helvetica Neue"/>
              <a:buNone/>
              <a:defRPr sz="1800">
                <a:solidFill>
                  <a:srgbClr val="000000"/>
                </a:solidFill>
              </a:defRPr>
            </a:lvl8pPr>
            <a:lvl9pPr marL="0" lvl="8" indent="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marL="0" lvl="0" indent="0" algn="ct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8113233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Title &amp; Bullets" type="tx">
  <p:cSld name="Title &amp; Bullets">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1206500" y="1079500"/>
            <a:ext cx="21971000" cy="1433163"/>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16" name="Google Shape;16;p3"/>
          <p:cNvSpPr txBox="1">
            <a:spLocks noGrp="1"/>
          </p:cNvSpPr>
          <p:nvPr>
            <p:ph type="body" idx="1"/>
          </p:nvPr>
        </p:nvSpPr>
        <p:spPr>
          <a:xfrm>
            <a:off x="1206500" y="2372962"/>
            <a:ext cx="21971000" cy="93478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17" name="Google Shape;17;p3"/>
          <p:cNvSpPr txBox="1">
            <a:spLocks noGrp="1"/>
          </p:cNvSpPr>
          <p:nvPr>
            <p:ph type="body" idx="2"/>
          </p:nvPr>
        </p:nvSpPr>
        <p:spPr>
          <a:xfrm>
            <a:off x="1206500" y="4248504"/>
            <a:ext cx="21971000" cy="8256012"/>
          </a:xfrm>
          <a:prstGeom prst="rect">
            <a:avLst/>
          </a:prstGeom>
          <a:noFill/>
          <a:ln>
            <a:noFill/>
          </a:ln>
        </p:spPr>
        <p:txBody>
          <a:bodyPr spcFirstLastPara="1" wrap="square" lIns="50800" tIns="50800" rIns="50800" bIns="50800" anchor="t" anchorCtr="0">
            <a:normAutofit/>
          </a:bodyPr>
          <a:lstStyle>
            <a:lvl1pPr marL="457200" lvl="0" indent="-369189" algn="l">
              <a:lnSpc>
                <a:spcPct val="90000"/>
              </a:lnSpc>
              <a:spcBef>
                <a:spcPts val="4500"/>
              </a:spcBef>
              <a:spcAft>
                <a:spcPts val="0"/>
              </a:spcAft>
              <a:buClr>
                <a:srgbClr val="000000"/>
              </a:buClr>
              <a:buSzPts val="2214"/>
              <a:buChar char="•"/>
              <a:defRPr/>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18" name="Google Shape;18;p3"/>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solidFill>
                  <a:srgbClr val="000000"/>
                </a:solidFill>
              </a:defRPr>
            </a:lvl1pPr>
            <a:lvl2pPr marL="0" lvl="1" indent="0" algn="ctr">
              <a:lnSpc>
                <a:spcPct val="100000"/>
              </a:lnSpc>
              <a:spcBef>
                <a:spcPts val="0"/>
              </a:spcBef>
              <a:spcAft>
                <a:spcPts val="0"/>
              </a:spcAft>
              <a:buClr>
                <a:srgbClr val="000000"/>
              </a:buClr>
              <a:buSzPts val="1800"/>
              <a:buFont typeface="Helvetica Neue"/>
              <a:buNone/>
              <a:defRPr sz="1800">
                <a:solidFill>
                  <a:srgbClr val="000000"/>
                </a:solidFill>
              </a:defRPr>
            </a:lvl2pPr>
            <a:lvl3pPr marL="0" lvl="2" indent="0" algn="ctr">
              <a:lnSpc>
                <a:spcPct val="100000"/>
              </a:lnSpc>
              <a:spcBef>
                <a:spcPts val="0"/>
              </a:spcBef>
              <a:spcAft>
                <a:spcPts val="0"/>
              </a:spcAft>
              <a:buClr>
                <a:srgbClr val="000000"/>
              </a:buClr>
              <a:buSzPts val="1800"/>
              <a:buFont typeface="Helvetica Neue"/>
              <a:buNone/>
              <a:defRPr sz="1800">
                <a:solidFill>
                  <a:srgbClr val="000000"/>
                </a:solidFill>
              </a:defRPr>
            </a:lvl3pPr>
            <a:lvl4pPr marL="0" lvl="3" indent="0" algn="ctr">
              <a:lnSpc>
                <a:spcPct val="100000"/>
              </a:lnSpc>
              <a:spcBef>
                <a:spcPts val="0"/>
              </a:spcBef>
              <a:spcAft>
                <a:spcPts val="0"/>
              </a:spcAft>
              <a:buClr>
                <a:srgbClr val="000000"/>
              </a:buClr>
              <a:buSzPts val="1800"/>
              <a:buFont typeface="Helvetica Neue"/>
              <a:buNone/>
              <a:defRPr sz="1800">
                <a:solidFill>
                  <a:srgbClr val="000000"/>
                </a:solidFill>
              </a:defRPr>
            </a:lvl4pPr>
            <a:lvl5pPr marL="0" lvl="4" indent="0" algn="ctr">
              <a:lnSpc>
                <a:spcPct val="100000"/>
              </a:lnSpc>
              <a:spcBef>
                <a:spcPts val="0"/>
              </a:spcBef>
              <a:spcAft>
                <a:spcPts val="0"/>
              </a:spcAft>
              <a:buClr>
                <a:srgbClr val="000000"/>
              </a:buClr>
              <a:buSzPts val="1800"/>
              <a:buFont typeface="Helvetica Neue"/>
              <a:buNone/>
              <a:defRPr sz="1800">
                <a:solidFill>
                  <a:srgbClr val="000000"/>
                </a:solidFill>
              </a:defRPr>
            </a:lvl5pPr>
            <a:lvl6pPr marL="0" lvl="5" indent="0" algn="ctr">
              <a:lnSpc>
                <a:spcPct val="100000"/>
              </a:lnSpc>
              <a:spcBef>
                <a:spcPts val="0"/>
              </a:spcBef>
              <a:spcAft>
                <a:spcPts val="0"/>
              </a:spcAft>
              <a:buClr>
                <a:srgbClr val="000000"/>
              </a:buClr>
              <a:buSzPts val="1800"/>
              <a:buFont typeface="Helvetica Neue"/>
              <a:buNone/>
              <a:defRPr sz="1800">
                <a:solidFill>
                  <a:srgbClr val="000000"/>
                </a:solidFill>
              </a:defRPr>
            </a:lvl6pPr>
            <a:lvl7pPr marL="0" lvl="6" indent="0" algn="ctr">
              <a:lnSpc>
                <a:spcPct val="100000"/>
              </a:lnSpc>
              <a:spcBef>
                <a:spcPts val="0"/>
              </a:spcBef>
              <a:spcAft>
                <a:spcPts val="0"/>
              </a:spcAft>
              <a:buClr>
                <a:srgbClr val="000000"/>
              </a:buClr>
              <a:buSzPts val="1800"/>
              <a:buFont typeface="Helvetica Neue"/>
              <a:buNone/>
              <a:defRPr sz="1800">
                <a:solidFill>
                  <a:srgbClr val="000000"/>
                </a:solidFill>
              </a:defRPr>
            </a:lvl7pPr>
            <a:lvl8pPr marL="0" lvl="7" indent="0" algn="ctr">
              <a:lnSpc>
                <a:spcPct val="100000"/>
              </a:lnSpc>
              <a:spcBef>
                <a:spcPts val="0"/>
              </a:spcBef>
              <a:spcAft>
                <a:spcPts val="0"/>
              </a:spcAft>
              <a:buClr>
                <a:srgbClr val="000000"/>
              </a:buClr>
              <a:buSzPts val="1800"/>
              <a:buFont typeface="Helvetica Neue"/>
              <a:buNone/>
              <a:defRPr sz="1800">
                <a:solidFill>
                  <a:srgbClr val="000000"/>
                </a:solidFill>
              </a:defRPr>
            </a:lvl8pPr>
            <a:lvl9pPr marL="0" lvl="8" indent="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marL="0" lvl="0" indent="0" algn="ct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6581823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Click to edit Master title style</a:t>
            </a:r>
          </a:p>
        </p:txBody>
      </p:sp>
      <p:sp>
        <p:nvSpPr>
          <p:cNvPr id="3" name="Content Placeholder 2"/>
          <p:cNvSpPr>
            <a:spLocks noGrp="1"/>
          </p:cNvSpPr>
          <p:nvPr>
            <p:ph sz="half" idx="1"/>
          </p:nvPr>
        </p:nvSpPr>
        <p:spPr>
          <a:xfrm>
            <a:off x="1219200" y="3454403"/>
            <a:ext cx="10160000" cy="8229598"/>
          </a:xfrm>
        </p:spPr>
        <p:txBody>
          <a:bodyPr/>
          <a:lstStyle>
            <a:lvl1pPr>
              <a:defRPr sz="4800"/>
            </a:lvl1pPr>
            <a:lvl2pPr>
              <a:defRPr sz="4000"/>
            </a:lvl2pPr>
            <a:lvl3pPr>
              <a:defRPr sz="4000"/>
            </a:lvl3pPr>
            <a:lvl4pPr>
              <a:defRPr sz="3200"/>
            </a:lvl4pPr>
            <a:lvl5pPr>
              <a:defRPr sz="3200"/>
            </a:lvl5pPr>
            <a:lvl6pPr>
              <a:defRPr sz="3600"/>
            </a:lvl6pPr>
            <a:lvl7pPr>
              <a:defRPr sz="3600"/>
            </a:lvl7pPr>
            <a:lvl8pPr>
              <a:defRPr sz="3600"/>
            </a:lvl8pPr>
            <a:lvl9pPr>
              <a:defRPr sz="36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3" name="Date Placeholder 3"/>
          <p:cNvSpPr>
            <a:spLocks noGrp="1"/>
          </p:cNvSpPr>
          <p:nvPr>
            <p:ph type="dt" sz="half" idx="10"/>
          </p:nvPr>
        </p:nvSpPr>
        <p:spPr>
          <a:xfrm>
            <a:off x="2235200" y="12293600"/>
            <a:ext cx="9956800" cy="355600"/>
          </a:xfrm>
          <a:prstGeom prst="rect">
            <a:avLst/>
          </a:prstGeom>
        </p:spPr>
        <p:txBody>
          <a:bodyPr vert="horz" lIns="0" tIns="0" rIns="0" bIns="0" rtlCol="0" anchor="t" anchorCtr="0"/>
          <a:lstStyle>
            <a:lvl1pPr algn="l">
              <a:defRPr sz="2000">
                <a:solidFill>
                  <a:schemeClr val="accent6"/>
                </a:solidFill>
              </a:defRPr>
            </a:lvl1pPr>
          </a:lstStyle>
          <a:p>
            <a:fld id="{750CEE6D-10F8-E84E-B244-45BE4C072FAD}" type="datetime2">
              <a:rPr lang="en-GB" smtClean="0"/>
              <a:t>Tuesday, 21 October 2025</a:t>
            </a:fld>
            <a:endParaRPr lang="en-GB" dirty="0"/>
          </a:p>
        </p:txBody>
      </p:sp>
      <p:sp>
        <p:nvSpPr>
          <p:cNvPr id="15" name="Footer Placeholder 4"/>
          <p:cNvSpPr>
            <a:spLocks noGrp="1"/>
          </p:cNvSpPr>
          <p:nvPr>
            <p:ph type="ftr" sz="quarter" idx="3"/>
          </p:nvPr>
        </p:nvSpPr>
        <p:spPr>
          <a:xfrm>
            <a:off x="2235201" y="12649198"/>
            <a:ext cx="9956802" cy="762000"/>
          </a:xfrm>
          <a:prstGeom prst="rect">
            <a:avLst/>
          </a:prstGeom>
        </p:spPr>
        <p:txBody>
          <a:bodyPr vert="horz" lIns="0" tIns="0" rIns="0" bIns="0" rtlCol="0" anchor="t" anchorCtr="0"/>
          <a:lstStyle>
            <a:lvl1pPr algn="l">
              <a:defRPr sz="2000">
                <a:solidFill>
                  <a:schemeClr val="tx1"/>
                </a:solidFill>
              </a:defRPr>
            </a:lvl1pPr>
          </a:lstStyle>
          <a:p>
            <a:r>
              <a:rPr lang="en-US"/>
              <a:t>View &lt;Headers and Footers&gt; to alter this text</a:t>
            </a:r>
            <a:endParaRPr lang="en-GB" dirty="0"/>
          </a:p>
        </p:txBody>
      </p:sp>
      <p:sp>
        <p:nvSpPr>
          <p:cNvPr id="16" name="Slide Number Placeholder 5"/>
          <p:cNvSpPr>
            <a:spLocks noGrp="1"/>
          </p:cNvSpPr>
          <p:nvPr>
            <p:ph type="sldNum" sz="quarter" idx="4"/>
          </p:nvPr>
        </p:nvSpPr>
        <p:spPr>
          <a:xfrm>
            <a:off x="15456363" y="12330608"/>
            <a:ext cx="677334" cy="307777"/>
          </a:xfrm>
          <a:prstGeom prst="rect">
            <a:avLst/>
          </a:prstGeom>
        </p:spPr>
        <p:txBody>
          <a:bodyPr vert="horz" lIns="0" tIns="0" rIns="0" bIns="0" rtlCol="0" anchor="t" anchorCtr="0"/>
          <a:lstStyle>
            <a:lvl1pPr algn="l">
              <a:defRPr sz="2000">
                <a:solidFill>
                  <a:srgbClr val="5D5C5C"/>
                </a:solidFill>
              </a:defRPr>
            </a:lvl1pPr>
          </a:lstStyle>
          <a:p>
            <a:fld id="{C231324C-4752-C242-8156-5E21DB4253A5}" type="slidenum">
              <a:rPr lang="en-GB" smtClean="0"/>
              <a:pPr/>
              <a:t>‹#›</a:t>
            </a:fld>
            <a:endParaRPr lang="en-GB" dirty="0"/>
          </a:p>
        </p:txBody>
      </p:sp>
      <p:sp>
        <p:nvSpPr>
          <p:cNvPr id="9" name="Content Placeholder 2"/>
          <p:cNvSpPr>
            <a:spLocks noGrp="1"/>
          </p:cNvSpPr>
          <p:nvPr>
            <p:ph sz="half" idx="11"/>
          </p:nvPr>
        </p:nvSpPr>
        <p:spPr>
          <a:xfrm>
            <a:off x="12192000" y="3454403"/>
            <a:ext cx="10972800" cy="8229598"/>
          </a:xfrm>
        </p:spPr>
        <p:txBody>
          <a:bodyPr/>
          <a:lstStyle>
            <a:lvl1pPr>
              <a:defRPr sz="4800"/>
            </a:lvl1pPr>
            <a:lvl2pPr>
              <a:defRPr sz="4000"/>
            </a:lvl2pPr>
            <a:lvl3pPr>
              <a:defRPr sz="4000"/>
            </a:lvl3pPr>
            <a:lvl4pPr>
              <a:defRPr sz="3200"/>
            </a:lvl4pPr>
            <a:lvl5pPr>
              <a:defRPr sz="3200"/>
            </a:lvl5pPr>
            <a:lvl6pPr>
              <a:defRPr sz="3600"/>
            </a:lvl6pPr>
            <a:lvl7pPr>
              <a:defRPr sz="3600"/>
            </a:lvl7pPr>
            <a:lvl8pPr>
              <a:defRPr sz="3600"/>
            </a:lvl8pPr>
            <a:lvl9pPr>
              <a:defRPr sz="36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pic>
        <p:nvPicPr>
          <p:cNvPr id="10" name="Picture 9"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6032427" y="11754544"/>
            <a:ext cx="7680854" cy="1668240"/>
          </a:xfrm>
          <a:prstGeom prst="rect">
            <a:avLst/>
          </a:prstGeom>
        </p:spPr>
      </p:pic>
    </p:spTree>
    <p:extLst>
      <p:ext uri="{BB962C8B-B14F-4D97-AF65-F5344CB8AC3E}">
        <p14:creationId xmlns:p14="http://schemas.microsoft.com/office/powerpoint/2010/main" val="36290928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F5FA3-A20D-40FB-8BE3-44CD88DDEC22}"/>
              </a:ext>
            </a:extLst>
          </p:cNvPr>
          <p:cNvSpPr>
            <a:spLocks noGrp="1"/>
          </p:cNvSpPr>
          <p:nvPr>
            <p:ph type="ctrTitle"/>
          </p:nvPr>
        </p:nvSpPr>
        <p:spPr>
          <a:xfrm>
            <a:off x="7584000" y="4553744"/>
            <a:ext cx="9216000" cy="4176464"/>
          </a:xfrm>
          <a:prstGeom prst="rect">
            <a:avLst/>
          </a:prstGeom>
          <a:ln>
            <a:noFill/>
          </a:ln>
        </p:spPr>
        <p:txBody>
          <a:bodyPr bIns="0" anchor="ctr" anchorCtr="0">
            <a:noAutofit/>
          </a:bodyPr>
          <a:lstStyle>
            <a:lvl1pPr algn="ctr">
              <a:lnSpc>
                <a:spcPct val="70000"/>
              </a:lnSpc>
              <a:defRPr sz="12000">
                <a:solidFill>
                  <a:schemeClr val="bg1"/>
                </a:solidFill>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2EE91C51-1E93-4B29-9242-2D33D6D5A8FE}"/>
              </a:ext>
            </a:extLst>
          </p:cNvPr>
          <p:cNvSpPr>
            <a:spLocks noGrp="1"/>
          </p:cNvSpPr>
          <p:nvPr>
            <p:ph type="subTitle" idx="1"/>
          </p:nvPr>
        </p:nvSpPr>
        <p:spPr>
          <a:xfrm>
            <a:off x="7584000" y="9266783"/>
            <a:ext cx="9216000" cy="615554"/>
          </a:xfrm>
        </p:spPr>
        <p:txBody>
          <a:bodyPr/>
          <a:lstStyle>
            <a:lvl1pPr marL="0" indent="0" algn="ctr">
              <a:buNone/>
              <a:defRPr sz="4000">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GB"/>
              <a:t>Click to edit Master subtitle style</a:t>
            </a:r>
            <a:endParaRPr lang="en-GB" dirty="0"/>
          </a:p>
        </p:txBody>
      </p:sp>
      <p:sp>
        <p:nvSpPr>
          <p:cNvPr id="4" name="Rectangle 3">
            <a:extLst>
              <a:ext uri="{FF2B5EF4-FFF2-40B4-BE49-F238E27FC236}">
                <a16:creationId xmlns:a16="http://schemas.microsoft.com/office/drawing/2014/main" id="{B4DD3CDD-D029-482B-B0C7-8148556A2425}"/>
              </a:ext>
            </a:extLst>
          </p:cNvPr>
          <p:cNvSpPr/>
          <p:nvPr/>
        </p:nvSpPr>
        <p:spPr>
          <a:xfrm>
            <a:off x="18960752" y="10221140"/>
            <a:ext cx="5040560" cy="30243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sp>
        <p:nvSpPr>
          <p:cNvPr id="7" name="TextBox 6">
            <a:extLst>
              <a:ext uri="{FF2B5EF4-FFF2-40B4-BE49-F238E27FC236}">
                <a16:creationId xmlns:a16="http://schemas.microsoft.com/office/drawing/2014/main" id="{6794953F-E8C8-4237-823E-C80F854F92B8}"/>
              </a:ext>
            </a:extLst>
          </p:cNvPr>
          <p:cNvSpPr txBox="1"/>
          <p:nvPr/>
        </p:nvSpPr>
        <p:spPr>
          <a:xfrm>
            <a:off x="17943064" y="12906672"/>
            <a:ext cx="6058248" cy="492443"/>
          </a:xfrm>
          <a:prstGeom prst="rect">
            <a:avLst/>
          </a:prstGeom>
          <a:noFill/>
        </p:spPr>
        <p:txBody>
          <a:bodyPr wrap="square" rtlCol="0">
            <a:spAutoFit/>
          </a:bodyPr>
          <a:lstStyle/>
          <a:p>
            <a:r>
              <a:rPr lang="en-GB" sz="2600" dirty="0">
                <a:solidFill>
                  <a:schemeClr val="tx2"/>
                </a:solidFill>
                <a:latin typeface="Calibri" panose="020F0502020204030204" pitchFamily="34" charset="0"/>
              </a:rPr>
              <a:t>Together we will beat cancer </a:t>
            </a:r>
          </a:p>
        </p:txBody>
      </p:sp>
      <p:pic>
        <p:nvPicPr>
          <p:cNvPr id="10" name="Picture 9">
            <a:extLst>
              <a:ext uri="{FF2B5EF4-FFF2-40B4-BE49-F238E27FC236}">
                <a16:creationId xmlns:a16="http://schemas.microsoft.com/office/drawing/2014/main" id="{F4799656-09DB-4783-B27C-7BAA814B5A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96656" y="11466513"/>
            <a:ext cx="5629008" cy="1239414"/>
          </a:xfrm>
          <a:prstGeom prst="rect">
            <a:avLst/>
          </a:prstGeom>
        </p:spPr>
      </p:pic>
    </p:spTree>
    <p:extLst>
      <p:ext uri="{BB962C8B-B14F-4D97-AF65-F5344CB8AC3E}">
        <p14:creationId xmlns:p14="http://schemas.microsoft.com/office/powerpoint/2010/main" val="2410047316"/>
      </p:ext>
    </p:extLst>
  </p:cSld>
  <p:clrMapOvr>
    <a:masterClrMapping/>
  </p:clrMapOvr>
  <p:hf sldNum="0" hdr="0" ftr="0" dt="0"/>
  <p:extLst>
    <p:ext uri="{DCECCB84-F9BA-43D5-87BE-67443E8EF086}">
      <p15:sldGuideLst xmlns:p15="http://schemas.microsoft.com/office/powerpoint/2012/main">
        <p15:guide id="1" pos="3840">
          <p15:clr>
            <a:srgbClr val="FBAE40"/>
          </p15:clr>
        </p15:guide>
        <p15:guide id="2" pos="2116">
          <p15:clr>
            <a:srgbClr val="FBAE40"/>
          </p15:clr>
        </p15:guide>
        <p15:guide id="3" pos="5564">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 option 2">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F5FA3-A20D-40FB-8BE3-44CD88DDEC22}"/>
              </a:ext>
            </a:extLst>
          </p:cNvPr>
          <p:cNvSpPr>
            <a:spLocks noGrp="1"/>
          </p:cNvSpPr>
          <p:nvPr>
            <p:ph type="ctrTitle"/>
          </p:nvPr>
        </p:nvSpPr>
        <p:spPr>
          <a:xfrm>
            <a:off x="7584000" y="4553744"/>
            <a:ext cx="9216000" cy="4176464"/>
          </a:xfrm>
          <a:prstGeom prst="rect">
            <a:avLst/>
          </a:prstGeom>
          <a:ln>
            <a:noFill/>
          </a:ln>
        </p:spPr>
        <p:txBody>
          <a:bodyPr bIns="0" anchor="ctr" anchorCtr="0">
            <a:noAutofit/>
          </a:bodyPr>
          <a:lstStyle>
            <a:lvl1pPr algn="ctr">
              <a:lnSpc>
                <a:spcPct val="70000"/>
              </a:lnSpc>
              <a:defRPr sz="12000">
                <a:solidFill>
                  <a:schemeClr val="tx2"/>
                </a:solidFill>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2EE91C51-1E93-4B29-9242-2D33D6D5A8FE}"/>
              </a:ext>
            </a:extLst>
          </p:cNvPr>
          <p:cNvSpPr>
            <a:spLocks noGrp="1"/>
          </p:cNvSpPr>
          <p:nvPr>
            <p:ph type="subTitle" idx="1"/>
          </p:nvPr>
        </p:nvSpPr>
        <p:spPr>
          <a:xfrm>
            <a:off x="7584000" y="9266783"/>
            <a:ext cx="9216000" cy="615554"/>
          </a:xfrm>
        </p:spPr>
        <p:txBody>
          <a:bodyPr/>
          <a:lstStyle>
            <a:lvl1pPr marL="0" indent="0" algn="ctr">
              <a:buNone/>
              <a:defRPr sz="4000">
                <a:solidFill>
                  <a:schemeClr val="tx2"/>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GB"/>
              <a:t>Click to edit Master subtitle style</a:t>
            </a:r>
            <a:endParaRPr lang="en-GB" dirty="0"/>
          </a:p>
        </p:txBody>
      </p:sp>
      <p:sp>
        <p:nvSpPr>
          <p:cNvPr id="4" name="Rectangle 3">
            <a:extLst>
              <a:ext uri="{FF2B5EF4-FFF2-40B4-BE49-F238E27FC236}">
                <a16:creationId xmlns:a16="http://schemas.microsoft.com/office/drawing/2014/main" id="{5D9CB002-D45B-4635-A81B-DEACB25146DD}"/>
              </a:ext>
            </a:extLst>
          </p:cNvPr>
          <p:cNvSpPr/>
          <p:nvPr/>
        </p:nvSpPr>
        <p:spPr>
          <a:xfrm>
            <a:off x="18960752" y="10170368"/>
            <a:ext cx="4896544" cy="3024336"/>
          </a:xfrm>
          <a:prstGeom prst="rect">
            <a:avLst/>
          </a:prstGeom>
          <a:solidFill>
            <a:srgbClr val="2E008B"/>
          </a:solidFill>
          <a:ln>
            <a:solidFill>
              <a:srgbClr val="2E00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sp>
        <p:nvSpPr>
          <p:cNvPr id="8" name="TextBox 7">
            <a:extLst>
              <a:ext uri="{FF2B5EF4-FFF2-40B4-BE49-F238E27FC236}">
                <a16:creationId xmlns:a16="http://schemas.microsoft.com/office/drawing/2014/main" id="{DE2ACE78-9094-4BAB-88B0-2409CB7F7313}"/>
              </a:ext>
            </a:extLst>
          </p:cNvPr>
          <p:cNvSpPr txBox="1"/>
          <p:nvPr/>
        </p:nvSpPr>
        <p:spPr>
          <a:xfrm>
            <a:off x="17808624" y="12906672"/>
            <a:ext cx="6058248" cy="492443"/>
          </a:xfrm>
          <a:prstGeom prst="rect">
            <a:avLst/>
          </a:prstGeom>
          <a:noFill/>
        </p:spPr>
        <p:txBody>
          <a:bodyPr wrap="square" rtlCol="0">
            <a:spAutoFit/>
          </a:bodyPr>
          <a:lstStyle/>
          <a:p>
            <a:r>
              <a:rPr lang="en-GB" sz="2600" dirty="0">
                <a:solidFill>
                  <a:schemeClr val="bg1"/>
                </a:solidFill>
                <a:latin typeface="Calibri" panose="020F0502020204030204" pitchFamily="34" charset="0"/>
                <a:cs typeface="Andalus" panose="02020603050405020304" pitchFamily="18" charset="-78"/>
              </a:rPr>
              <a:t>Together we will beat cancer </a:t>
            </a:r>
          </a:p>
        </p:txBody>
      </p:sp>
      <p:pic>
        <p:nvPicPr>
          <p:cNvPr id="7" name="Picture 6">
            <a:extLst>
              <a:ext uri="{FF2B5EF4-FFF2-40B4-BE49-F238E27FC236}">
                <a16:creationId xmlns:a16="http://schemas.microsoft.com/office/drawing/2014/main" id="{D5312D3E-807A-4A52-A8B7-5C9E772107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90198" y="11466512"/>
            <a:ext cx="5904656" cy="1302332"/>
          </a:xfrm>
          <a:prstGeom prst="rect">
            <a:avLst/>
          </a:prstGeom>
        </p:spPr>
      </p:pic>
    </p:spTree>
    <p:extLst>
      <p:ext uri="{BB962C8B-B14F-4D97-AF65-F5344CB8AC3E}">
        <p14:creationId xmlns:p14="http://schemas.microsoft.com/office/powerpoint/2010/main" val="3051293647"/>
      </p:ext>
    </p:extLst>
  </p:cSld>
  <p:clrMapOvr>
    <a:masterClrMapping/>
  </p:clrMapOvr>
  <p:hf sldNum="0" hdr="0" ftr="0" dt="0"/>
  <p:extLst>
    <p:ext uri="{DCECCB84-F9BA-43D5-87BE-67443E8EF086}">
      <p15:sldGuideLst xmlns:p15="http://schemas.microsoft.com/office/powerpoint/2012/main">
        <p15:guide id="1" pos="3840">
          <p15:clr>
            <a:srgbClr val="FBAE40"/>
          </p15:clr>
        </p15:guide>
        <p15:guide id="2" pos="2116">
          <p15:clr>
            <a:srgbClr val="FBAE40"/>
          </p15:clr>
        </p15:guide>
        <p15:guide id="3" pos="5564">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Slide - option 3">
    <p:bg>
      <p:bgRef idx="1002">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F5FA3-A20D-40FB-8BE3-44CD88DDEC22}"/>
              </a:ext>
            </a:extLst>
          </p:cNvPr>
          <p:cNvSpPr>
            <a:spLocks noGrp="1"/>
          </p:cNvSpPr>
          <p:nvPr>
            <p:ph type="ctrTitle"/>
          </p:nvPr>
        </p:nvSpPr>
        <p:spPr>
          <a:xfrm>
            <a:off x="1678832" y="3689648"/>
            <a:ext cx="10944000" cy="4176464"/>
          </a:xfrm>
          <a:prstGeom prst="rect">
            <a:avLst/>
          </a:prstGeom>
          <a:ln>
            <a:noFill/>
          </a:ln>
        </p:spPr>
        <p:txBody>
          <a:bodyPr bIns="0" anchor="ctr" anchorCtr="0">
            <a:noAutofit/>
          </a:bodyPr>
          <a:lstStyle>
            <a:lvl1pPr algn="ctr">
              <a:lnSpc>
                <a:spcPct val="70000"/>
              </a:lnSpc>
              <a:defRPr sz="12000">
                <a:solidFill>
                  <a:schemeClr val="tx2"/>
                </a:solidFill>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2EE91C51-1E93-4B29-9242-2D33D6D5A8FE}"/>
              </a:ext>
            </a:extLst>
          </p:cNvPr>
          <p:cNvSpPr>
            <a:spLocks noGrp="1"/>
          </p:cNvSpPr>
          <p:nvPr>
            <p:ph type="subTitle" idx="1"/>
          </p:nvPr>
        </p:nvSpPr>
        <p:spPr>
          <a:xfrm>
            <a:off x="2110832" y="8010129"/>
            <a:ext cx="10080000" cy="615554"/>
          </a:xfrm>
        </p:spPr>
        <p:txBody>
          <a:bodyPr/>
          <a:lstStyle>
            <a:lvl1pPr marL="0" indent="0" algn="ctr">
              <a:buNone/>
              <a:defRPr sz="4000">
                <a:solidFill>
                  <a:schemeClr val="tx2"/>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GB"/>
              <a:t>Click to edit Master subtitle style</a:t>
            </a:r>
            <a:endParaRPr lang="en-GB" dirty="0"/>
          </a:p>
        </p:txBody>
      </p:sp>
      <p:sp>
        <p:nvSpPr>
          <p:cNvPr id="8" name="Picture Placeholder 10">
            <a:extLst>
              <a:ext uri="{FF2B5EF4-FFF2-40B4-BE49-F238E27FC236}">
                <a16:creationId xmlns:a16="http://schemas.microsoft.com/office/drawing/2014/main" id="{4A112773-0389-44C1-9A6C-D346A4A5026D}"/>
              </a:ext>
            </a:extLst>
          </p:cNvPr>
          <p:cNvSpPr>
            <a:spLocks noGrp="1"/>
          </p:cNvSpPr>
          <p:nvPr>
            <p:ph type="pic" sz="quarter" idx="10"/>
          </p:nvPr>
        </p:nvSpPr>
        <p:spPr>
          <a:xfrm>
            <a:off x="14544891" y="0"/>
            <a:ext cx="9839110" cy="137160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2281 w 12281"/>
              <a:gd name="connsiteY0" fmla="*/ 0 h 10000"/>
              <a:gd name="connsiteX1" fmla="*/ 12281 w 12281"/>
              <a:gd name="connsiteY1" fmla="*/ 0 h 10000"/>
              <a:gd name="connsiteX2" fmla="*/ 12281 w 12281"/>
              <a:gd name="connsiteY2" fmla="*/ 10000 h 10000"/>
              <a:gd name="connsiteX3" fmla="*/ 2281 w 12281"/>
              <a:gd name="connsiteY3" fmla="*/ 10000 h 10000"/>
              <a:gd name="connsiteX4" fmla="*/ 2281 w 12281"/>
              <a:gd name="connsiteY4" fmla="*/ 0 h 10000"/>
              <a:gd name="connsiteX0" fmla="*/ 2718 w 12718"/>
              <a:gd name="connsiteY0" fmla="*/ 0 h 10000"/>
              <a:gd name="connsiteX1" fmla="*/ 12718 w 12718"/>
              <a:gd name="connsiteY1" fmla="*/ 0 h 10000"/>
              <a:gd name="connsiteX2" fmla="*/ 12718 w 12718"/>
              <a:gd name="connsiteY2" fmla="*/ 10000 h 10000"/>
              <a:gd name="connsiteX3" fmla="*/ 2718 w 12718"/>
              <a:gd name="connsiteY3" fmla="*/ 10000 h 10000"/>
              <a:gd name="connsiteX4" fmla="*/ 2718 w 12718"/>
              <a:gd name="connsiteY4" fmla="*/ 0 h 10000"/>
              <a:gd name="connsiteX0" fmla="*/ 2205 w 12205"/>
              <a:gd name="connsiteY0" fmla="*/ 0 h 10000"/>
              <a:gd name="connsiteX1" fmla="*/ 12205 w 12205"/>
              <a:gd name="connsiteY1" fmla="*/ 0 h 10000"/>
              <a:gd name="connsiteX2" fmla="*/ 12205 w 12205"/>
              <a:gd name="connsiteY2" fmla="*/ 10000 h 10000"/>
              <a:gd name="connsiteX3" fmla="*/ 2205 w 12205"/>
              <a:gd name="connsiteY3" fmla="*/ 10000 h 10000"/>
              <a:gd name="connsiteX4" fmla="*/ 2205 w 12205"/>
              <a:gd name="connsiteY4" fmla="*/ 0 h 10000"/>
              <a:gd name="connsiteX0" fmla="*/ 2264 w 12264"/>
              <a:gd name="connsiteY0" fmla="*/ 0 h 10000"/>
              <a:gd name="connsiteX1" fmla="*/ 12264 w 12264"/>
              <a:gd name="connsiteY1" fmla="*/ 0 h 10000"/>
              <a:gd name="connsiteX2" fmla="*/ 12264 w 12264"/>
              <a:gd name="connsiteY2" fmla="*/ 10000 h 10000"/>
              <a:gd name="connsiteX3" fmla="*/ 2264 w 12264"/>
              <a:gd name="connsiteY3" fmla="*/ 10000 h 10000"/>
              <a:gd name="connsiteX4" fmla="*/ 2264 w 12264"/>
              <a:gd name="connsiteY4" fmla="*/ 0 h 10000"/>
              <a:gd name="connsiteX0" fmla="*/ 2303 w 12303"/>
              <a:gd name="connsiteY0" fmla="*/ 0 h 10000"/>
              <a:gd name="connsiteX1" fmla="*/ 12303 w 12303"/>
              <a:gd name="connsiteY1" fmla="*/ 0 h 10000"/>
              <a:gd name="connsiteX2" fmla="*/ 12303 w 12303"/>
              <a:gd name="connsiteY2" fmla="*/ 10000 h 10000"/>
              <a:gd name="connsiteX3" fmla="*/ 2303 w 12303"/>
              <a:gd name="connsiteY3" fmla="*/ 10000 h 10000"/>
              <a:gd name="connsiteX4" fmla="*/ 2303 w 12303"/>
              <a:gd name="connsiteY4" fmla="*/ 0 h 10000"/>
              <a:gd name="connsiteX0" fmla="*/ 2273 w 12273"/>
              <a:gd name="connsiteY0" fmla="*/ 0 h 10000"/>
              <a:gd name="connsiteX1" fmla="*/ 12273 w 12273"/>
              <a:gd name="connsiteY1" fmla="*/ 0 h 10000"/>
              <a:gd name="connsiteX2" fmla="*/ 12273 w 12273"/>
              <a:gd name="connsiteY2" fmla="*/ 10000 h 10000"/>
              <a:gd name="connsiteX3" fmla="*/ 2273 w 12273"/>
              <a:gd name="connsiteY3" fmla="*/ 10000 h 10000"/>
              <a:gd name="connsiteX4" fmla="*/ 2273 w 12273"/>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3" h="10000">
                <a:moveTo>
                  <a:pt x="2273" y="0"/>
                </a:moveTo>
                <a:lnTo>
                  <a:pt x="12273" y="0"/>
                </a:lnTo>
                <a:lnTo>
                  <a:pt x="12273" y="10000"/>
                </a:lnTo>
                <a:lnTo>
                  <a:pt x="2273" y="10000"/>
                </a:lnTo>
                <a:cubicBezTo>
                  <a:pt x="215" y="7508"/>
                  <a:pt x="-1596" y="4260"/>
                  <a:pt x="2273" y="0"/>
                </a:cubicBezTo>
                <a:close/>
              </a:path>
            </a:pathLst>
          </a:custGeom>
          <a:blipFill dpi="0" rotWithShape="1">
            <a:blip r:embed="rId2" cstate="print">
              <a:extLst>
                <a:ext uri="{28A0092B-C50C-407E-A947-70E740481C1C}">
                  <a14:useLocalDpi xmlns:a14="http://schemas.microsoft.com/office/drawing/2010/main"/>
                </a:ext>
              </a:extLst>
            </a:blip>
            <a:srcRect/>
            <a:stretch>
              <a:fillRect/>
            </a:stretch>
          </a:blipFill>
          <a:ln w="28575">
            <a:noFill/>
          </a:ln>
        </p:spPr>
        <p:txBody>
          <a:bodyPr anchor="ctr" anchorCtr="0">
            <a:noAutofit/>
          </a:bodyPr>
          <a:lstStyle>
            <a:lvl1pPr marL="0" indent="0" algn="ctr">
              <a:buNone/>
              <a:defRPr b="1">
                <a:solidFill>
                  <a:schemeClr val="bg1"/>
                </a:solidFill>
              </a:defRPr>
            </a:lvl1pPr>
          </a:lstStyle>
          <a:p>
            <a:r>
              <a:rPr lang="en-GB"/>
              <a:t>Click icon to add picture</a:t>
            </a:r>
            <a:endParaRPr lang="en-GB" dirty="0"/>
          </a:p>
        </p:txBody>
      </p:sp>
      <p:sp>
        <p:nvSpPr>
          <p:cNvPr id="5" name="Oval 4">
            <a:extLst>
              <a:ext uri="{FF2B5EF4-FFF2-40B4-BE49-F238E27FC236}">
                <a16:creationId xmlns:a16="http://schemas.microsoft.com/office/drawing/2014/main" id="{F0892D67-F81D-4EAF-91FC-295D8C2F6020}"/>
              </a:ext>
            </a:extLst>
          </p:cNvPr>
          <p:cNvSpPr/>
          <p:nvPr/>
        </p:nvSpPr>
        <p:spPr>
          <a:xfrm>
            <a:off x="13310162" y="1014588"/>
            <a:ext cx="829312" cy="829312"/>
          </a:xfrm>
          <a:prstGeom prst="ellipse">
            <a:avLst/>
          </a:prstGeom>
          <a:solidFill>
            <a:srgbClr val="17298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sp>
        <p:nvSpPr>
          <p:cNvPr id="6" name="Oval 5">
            <a:extLst>
              <a:ext uri="{FF2B5EF4-FFF2-40B4-BE49-F238E27FC236}">
                <a16:creationId xmlns:a16="http://schemas.microsoft.com/office/drawing/2014/main" id="{673C406D-B215-4935-8E9E-66DD87522B2E}"/>
              </a:ext>
            </a:extLst>
          </p:cNvPr>
          <p:cNvSpPr/>
          <p:nvPr/>
        </p:nvSpPr>
        <p:spPr>
          <a:xfrm>
            <a:off x="13751428" y="3347894"/>
            <a:ext cx="340952" cy="340952"/>
          </a:xfrm>
          <a:prstGeom prst="ellipse">
            <a:avLst/>
          </a:prstGeom>
          <a:solidFill>
            <a:srgbClr val="00B6ED"/>
          </a:solidFill>
          <a:ln>
            <a:solidFill>
              <a:srgbClr val="00B6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sp>
        <p:nvSpPr>
          <p:cNvPr id="7" name="Oval 6">
            <a:extLst>
              <a:ext uri="{FF2B5EF4-FFF2-40B4-BE49-F238E27FC236}">
                <a16:creationId xmlns:a16="http://schemas.microsoft.com/office/drawing/2014/main" id="{68AEAD39-6F92-40BC-B53B-719F85124F3E}"/>
              </a:ext>
            </a:extLst>
          </p:cNvPr>
          <p:cNvSpPr/>
          <p:nvPr/>
        </p:nvSpPr>
        <p:spPr>
          <a:xfrm>
            <a:off x="12255152" y="747888"/>
            <a:ext cx="533400" cy="533400"/>
          </a:xfrm>
          <a:prstGeom prst="ellipse">
            <a:avLst/>
          </a:prstGeom>
          <a:solidFill>
            <a:srgbClr val="EC008C"/>
          </a:solidFill>
          <a:ln>
            <a:solidFill>
              <a:srgbClr val="EC00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sp>
        <p:nvSpPr>
          <p:cNvPr id="10" name="TextBox 9">
            <a:extLst>
              <a:ext uri="{FF2B5EF4-FFF2-40B4-BE49-F238E27FC236}">
                <a16:creationId xmlns:a16="http://schemas.microsoft.com/office/drawing/2014/main" id="{45336AE6-2107-40DE-99F8-D4EE744CD5C2}"/>
              </a:ext>
            </a:extLst>
          </p:cNvPr>
          <p:cNvSpPr txBox="1"/>
          <p:nvPr/>
        </p:nvSpPr>
        <p:spPr>
          <a:xfrm>
            <a:off x="436208" y="12953088"/>
            <a:ext cx="6058248" cy="492443"/>
          </a:xfrm>
          <a:prstGeom prst="rect">
            <a:avLst/>
          </a:prstGeom>
          <a:noFill/>
        </p:spPr>
        <p:txBody>
          <a:bodyPr wrap="square" rtlCol="0">
            <a:spAutoFit/>
          </a:bodyPr>
          <a:lstStyle/>
          <a:p>
            <a:r>
              <a:rPr lang="en-GB" sz="2600" dirty="0">
                <a:solidFill>
                  <a:schemeClr val="tx2"/>
                </a:solidFill>
                <a:latin typeface="Calibri" panose="020F0502020204030204" pitchFamily="34" charset="0"/>
              </a:rPr>
              <a:t>Together we will beat cancer </a:t>
            </a:r>
          </a:p>
        </p:txBody>
      </p:sp>
      <p:pic>
        <p:nvPicPr>
          <p:cNvPr id="12" name="Picture 11">
            <a:extLst>
              <a:ext uri="{FF2B5EF4-FFF2-40B4-BE49-F238E27FC236}">
                <a16:creationId xmlns:a16="http://schemas.microsoft.com/office/drawing/2014/main" id="{F91263D7-559D-4BEC-80C9-175F6C07A3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704" y="11466513"/>
            <a:ext cx="5629008" cy="1239414"/>
          </a:xfrm>
          <a:prstGeom prst="rect">
            <a:avLst/>
          </a:prstGeom>
        </p:spPr>
      </p:pic>
    </p:spTree>
    <p:extLst>
      <p:ext uri="{BB962C8B-B14F-4D97-AF65-F5344CB8AC3E}">
        <p14:creationId xmlns:p14="http://schemas.microsoft.com/office/powerpoint/2010/main" val="2719900616"/>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pos="3840">
          <p15:clr>
            <a:srgbClr val="FBAE40"/>
          </p15:clr>
        </p15:guide>
        <p15:guide id="2" pos="2116">
          <p15:clr>
            <a:srgbClr val="FBAE40"/>
          </p15:clr>
        </p15:guide>
        <p15:guide id="3" pos="556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2_Title Slide - option 4">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F5FA3-A20D-40FB-8BE3-44CD88DDEC22}"/>
              </a:ext>
            </a:extLst>
          </p:cNvPr>
          <p:cNvSpPr>
            <a:spLocks noGrp="1"/>
          </p:cNvSpPr>
          <p:nvPr>
            <p:ph type="ctrTitle"/>
          </p:nvPr>
        </p:nvSpPr>
        <p:spPr>
          <a:xfrm>
            <a:off x="1678832" y="3689648"/>
            <a:ext cx="10944000" cy="4176464"/>
          </a:xfrm>
          <a:prstGeom prst="rect">
            <a:avLst/>
          </a:prstGeom>
          <a:ln>
            <a:noFill/>
          </a:ln>
        </p:spPr>
        <p:txBody>
          <a:bodyPr bIns="0" anchor="ctr" anchorCtr="0">
            <a:noAutofit/>
          </a:bodyPr>
          <a:lstStyle>
            <a:lvl1pPr algn="ctr">
              <a:lnSpc>
                <a:spcPct val="70000"/>
              </a:lnSpc>
              <a:defRPr sz="12000">
                <a:solidFill>
                  <a:schemeClr val="bg1"/>
                </a:solidFill>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2EE91C51-1E93-4B29-9242-2D33D6D5A8FE}"/>
              </a:ext>
            </a:extLst>
          </p:cNvPr>
          <p:cNvSpPr>
            <a:spLocks noGrp="1"/>
          </p:cNvSpPr>
          <p:nvPr>
            <p:ph type="subTitle" idx="1"/>
          </p:nvPr>
        </p:nvSpPr>
        <p:spPr>
          <a:xfrm>
            <a:off x="2110832" y="8010129"/>
            <a:ext cx="10080000" cy="615554"/>
          </a:xfrm>
        </p:spPr>
        <p:txBody>
          <a:bodyPr/>
          <a:lstStyle>
            <a:lvl1pPr marL="0" indent="0" algn="ctr">
              <a:buNone/>
              <a:defRPr sz="4000">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GB"/>
              <a:t>Click to edit Master subtitle style</a:t>
            </a:r>
            <a:endParaRPr lang="en-GB" dirty="0"/>
          </a:p>
        </p:txBody>
      </p:sp>
      <p:sp>
        <p:nvSpPr>
          <p:cNvPr id="5" name="Picture Placeholder 10">
            <a:extLst>
              <a:ext uri="{FF2B5EF4-FFF2-40B4-BE49-F238E27FC236}">
                <a16:creationId xmlns:a16="http://schemas.microsoft.com/office/drawing/2014/main" id="{997D0358-D1A5-4615-A65D-68C0B35BE606}"/>
              </a:ext>
            </a:extLst>
          </p:cNvPr>
          <p:cNvSpPr>
            <a:spLocks noGrp="1"/>
          </p:cNvSpPr>
          <p:nvPr>
            <p:ph type="pic" sz="quarter" idx="10"/>
          </p:nvPr>
        </p:nvSpPr>
        <p:spPr>
          <a:xfrm>
            <a:off x="14544891" y="0"/>
            <a:ext cx="9839110" cy="137160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2281 w 12281"/>
              <a:gd name="connsiteY0" fmla="*/ 0 h 10000"/>
              <a:gd name="connsiteX1" fmla="*/ 12281 w 12281"/>
              <a:gd name="connsiteY1" fmla="*/ 0 h 10000"/>
              <a:gd name="connsiteX2" fmla="*/ 12281 w 12281"/>
              <a:gd name="connsiteY2" fmla="*/ 10000 h 10000"/>
              <a:gd name="connsiteX3" fmla="*/ 2281 w 12281"/>
              <a:gd name="connsiteY3" fmla="*/ 10000 h 10000"/>
              <a:gd name="connsiteX4" fmla="*/ 2281 w 12281"/>
              <a:gd name="connsiteY4" fmla="*/ 0 h 10000"/>
              <a:gd name="connsiteX0" fmla="*/ 2718 w 12718"/>
              <a:gd name="connsiteY0" fmla="*/ 0 h 10000"/>
              <a:gd name="connsiteX1" fmla="*/ 12718 w 12718"/>
              <a:gd name="connsiteY1" fmla="*/ 0 h 10000"/>
              <a:gd name="connsiteX2" fmla="*/ 12718 w 12718"/>
              <a:gd name="connsiteY2" fmla="*/ 10000 h 10000"/>
              <a:gd name="connsiteX3" fmla="*/ 2718 w 12718"/>
              <a:gd name="connsiteY3" fmla="*/ 10000 h 10000"/>
              <a:gd name="connsiteX4" fmla="*/ 2718 w 12718"/>
              <a:gd name="connsiteY4" fmla="*/ 0 h 10000"/>
              <a:gd name="connsiteX0" fmla="*/ 2205 w 12205"/>
              <a:gd name="connsiteY0" fmla="*/ 0 h 10000"/>
              <a:gd name="connsiteX1" fmla="*/ 12205 w 12205"/>
              <a:gd name="connsiteY1" fmla="*/ 0 h 10000"/>
              <a:gd name="connsiteX2" fmla="*/ 12205 w 12205"/>
              <a:gd name="connsiteY2" fmla="*/ 10000 h 10000"/>
              <a:gd name="connsiteX3" fmla="*/ 2205 w 12205"/>
              <a:gd name="connsiteY3" fmla="*/ 10000 h 10000"/>
              <a:gd name="connsiteX4" fmla="*/ 2205 w 12205"/>
              <a:gd name="connsiteY4" fmla="*/ 0 h 10000"/>
              <a:gd name="connsiteX0" fmla="*/ 2264 w 12264"/>
              <a:gd name="connsiteY0" fmla="*/ 0 h 10000"/>
              <a:gd name="connsiteX1" fmla="*/ 12264 w 12264"/>
              <a:gd name="connsiteY1" fmla="*/ 0 h 10000"/>
              <a:gd name="connsiteX2" fmla="*/ 12264 w 12264"/>
              <a:gd name="connsiteY2" fmla="*/ 10000 h 10000"/>
              <a:gd name="connsiteX3" fmla="*/ 2264 w 12264"/>
              <a:gd name="connsiteY3" fmla="*/ 10000 h 10000"/>
              <a:gd name="connsiteX4" fmla="*/ 2264 w 12264"/>
              <a:gd name="connsiteY4" fmla="*/ 0 h 10000"/>
              <a:gd name="connsiteX0" fmla="*/ 2303 w 12303"/>
              <a:gd name="connsiteY0" fmla="*/ 0 h 10000"/>
              <a:gd name="connsiteX1" fmla="*/ 12303 w 12303"/>
              <a:gd name="connsiteY1" fmla="*/ 0 h 10000"/>
              <a:gd name="connsiteX2" fmla="*/ 12303 w 12303"/>
              <a:gd name="connsiteY2" fmla="*/ 10000 h 10000"/>
              <a:gd name="connsiteX3" fmla="*/ 2303 w 12303"/>
              <a:gd name="connsiteY3" fmla="*/ 10000 h 10000"/>
              <a:gd name="connsiteX4" fmla="*/ 2303 w 12303"/>
              <a:gd name="connsiteY4" fmla="*/ 0 h 10000"/>
              <a:gd name="connsiteX0" fmla="*/ 2273 w 12273"/>
              <a:gd name="connsiteY0" fmla="*/ 0 h 10000"/>
              <a:gd name="connsiteX1" fmla="*/ 12273 w 12273"/>
              <a:gd name="connsiteY1" fmla="*/ 0 h 10000"/>
              <a:gd name="connsiteX2" fmla="*/ 12273 w 12273"/>
              <a:gd name="connsiteY2" fmla="*/ 10000 h 10000"/>
              <a:gd name="connsiteX3" fmla="*/ 2273 w 12273"/>
              <a:gd name="connsiteY3" fmla="*/ 10000 h 10000"/>
              <a:gd name="connsiteX4" fmla="*/ 2273 w 12273"/>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3" h="10000">
                <a:moveTo>
                  <a:pt x="2273" y="0"/>
                </a:moveTo>
                <a:lnTo>
                  <a:pt x="12273" y="0"/>
                </a:lnTo>
                <a:lnTo>
                  <a:pt x="12273" y="10000"/>
                </a:lnTo>
                <a:lnTo>
                  <a:pt x="2273" y="10000"/>
                </a:lnTo>
                <a:cubicBezTo>
                  <a:pt x="215" y="7508"/>
                  <a:pt x="-1596" y="4260"/>
                  <a:pt x="2273" y="0"/>
                </a:cubicBezTo>
                <a:close/>
              </a:path>
            </a:pathLst>
          </a:custGeom>
          <a:blipFill dpi="0" rotWithShape="1">
            <a:blip r:embed="rId3" cstate="print">
              <a:extLst>
                <a:ext uri="{28A0092B-C50C-407E-A947-70E740481C1C}">
                  <a14:useLocalDpi xmlns:a14="http://schemas.microsoft.com/office/drawing/2010/main"/>
                </a:ext>
              </a:extLst>
            </a:blip>
            <a:srcRect/>
            <a:stretch>
              <a:fillRect/>
            </a:stretch>
          </a:blipFill>
          <a:ln w="28575">
            <a:noFill/>
          </a:ln>
        </p:spPr>
        <p:txBody>
          <a:bodyPr anchor="ctr" anchorCtr="0">
            <a:noAutofit/>
          </a:bodyPr>
          <a:lstStyle>
            <a:lvl1pPr marL="0" indent="0" algn="ctr">
              <a:buNone/>
              <a:defRPr b="1">
                <a:solidFill>
                  <a:schemeClr val="bg1"/>
                </a:solidFill>
              </a:defRPr>
            </a:lvl1pPr>
          </a:lstStyle>
          <a:p>
            <a:r>
              <a:rPr lang="en-GB"/>
              <a:t>Click icon to add picture</a:t>
            </a:r>
            <a:endParaRPr lang="en-GB" dirty="0"/>
          </a:p>
        </p:txBody>
      </p:sp>
      <p:sp>
        <p:nvSpPr>
          <p:cNvPr id="6" name="Rectangle 5">
            <a:extLst>
              <a:ext uri="{FF2B5EF4-FFF2-40B4-BE49-F238E27FC236}">
                <a16:creationId xmlns:a16="http://schemas.microsoft.com/office/drawing/2014/main" id="{44BCF2C7-D150-4547-98EB-CC87532E06F2}"/>
              </a:ext>
            </a:extLst>
          </p:cNvPr>
          <p:cNvSpPr/>
          <p:nvPr/>
        </p:nvSpPr>
        <p:spPr>
          <a:xfrm>
            <a:off x="670720" y="10069984"/>
            <a:ext cx="4896544" cy="3024336"/>
          </a:xfrm>
          <a:prstGeom prst="rect">
            <a:avLst/>
          </a:prstGeom>
          <a:solidFill>
            <a:srgbClr val="2E008B"/>
          </a:solidFill>
          <a:ln>
            <a:solidFill>
              <a:srgbClr val="2E00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sp>
        <p:nvSpPr>
          <p:cNvPr id="8" name="TextBox 7">
            <a:extLst>
              <a:ext uri="{FF2B5EF4-FFF2-40B4-BE49-F238E27FC236}">
                <a16:creationId xmlns:a16="http://schemas.microsoft.com/office/drawing/2014/main" id="{BF7201BF-9504-4E8A-B769-8C83E1A8EB01}"/>
              </a:ext>
            </a:extLst>
          </p:cNvPr>
          <p:cNvSpPr txBox="1"/>
          <p:nvPr/>
        </p:nvSpPr>
        <p:spPr>
          <a:xfrm>
            <a:off x="382688" y="12953088"/>
            <a:ext cx="6058248" cy="492443"/>
          </a:xfrm>
          <a:prstGeom prst="rect">
            <a:avLst/>
          </a:prstGeom>
          <a:noFill/>
        </p:spPr>
        <p:txBody>
          <a:bodyPr wrap="square" rtlCol="0">
            <a:spAutoFit/>
          </a:bodyPr>
          <a:lstStyle/>
          <a:p>
            <a:r>
              <a:rPr lang="en-GB" sz="2600" dirty="0">
                <a:solidFill>
                  <a:schemeClr val="bg1"/>
                </a:solidFill>
                <a:latin typeface="Calibri" panose="020F0502020204030204" pitchFamily="34" charset="0"/>
                <a:cs typeface="Andalus" panose="02020603050405020304" pitchFamily="18" charset="-78"/>
              </a:rPr>
              <a:t>Together we will beat cancer </a:t>
            </a:r>
          </a:p>
        </p:txBody>
      </p:sp>
      <p:pic>
        <p:nvPicPr>
          <p:cNvPr id="10" name="Picture 9">
            <a:extLst>
              <a:ext uri="{FF2B5EF4-FFF2-40B4-BE49-F238E27FC236}">
                <a16:creationId xmlns:a16="http://schemas.microsoft.com/office/drawing/2014/main" id="{98DF14C7-60D8-4D88-B7AB-897F26D5E9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688" y="11466512"/>
            <a:ext cx="5904656" cy="1302332"/>
          </a:xfrm>
          <a:prstGeom prst="rect">
            <a:avLst/>
          </a:prstGeom>
        </p:spPr>
      </p:pic>
    </p:spTree>
    <p:extLst>
      <p:ext uri="{BB962C8B-B14F-4D97-AF65-F5344CB8AC3E}">
        <p14:creationId xmlns:p14="http://schemas.microsoft.com/office/powerpoint/2010/main" val="4110918228"/>
      </p:ext>
    </p:extLst>
  </p:cSld>
  <p:clrMapOvr>
    <a:masterClrMapping/>
  </p:clrMapOvr>
  <p:hf sldNum="0" hdr="0" ftr="0" dt="0"/>
  <p:extLst>
    <p:ext uri="{DCECCB84-F9BA-43D5-87BE-67443E8EF086}">
      <p15:sldGuideLst xmlns:p15="http://schemas.microsoft.com/office/powerpoint/2012/main">
        <p15:guide id="1" pos="3840">
          <p15:clr>
            <a:srgbClr val="FBAE40"/>
          </p15:clr>
        </p15:guide>
        <p15:guide id="2" pos="2116">
          <p15:clr>
            <a:srgbClr val="FBAE40"/>
          </p15:clr>
        </p15:guide>
        <p15:guide id="3" pos="556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Slide - option 4">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F5FA3-A20D-40FB-8BE3-44CD88DDEC22}"/>
              </a:ext>
            </a:extLst>
          </p:cNvPr>
          <p:cNvSpPr>
            <a:spLocks noGrp="1"/>
          </p:cNvSpPr>
          <p:nvPr>
            <p:ph type="ctrTitle"/>
          </p:nvPr>
        </p:nvSpPr>
        <p:spPr>
          <a:xfrm>
            <a:off x="1678832" y="3689648"/>
            <a:ext cx="10944000" cy="4176464"/>
          </a:xfrm>
          <a:prstGeom prst="rect">
            <a:avLst/>
          </a:prstGeom>
          <a:ln>
            <a:noFill/>
          </a:ln>
        </p:spPr>
        <p:txBody>
          <a:bodyPr bIns="0" anchor="ctr" anchorCtr="0">
            <a:noAutofit/>
          </a:bodyPr>
          <a:lstStyle>
            <a:lvl1pPr algn="ctr">
              <a:lnSpc>
                <a:spcPct val="70000"/>
              </a:lnSpc>
              <a:defRPr sz="12000">
                <a:solidFill>
                  <a:schemeClr val="bg1"/>
                </a:solidFill>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2EE91C51-1E93-4B29-9242-2D33D6D5A8FE}"/>
              </a:ext>
            </a:extLst>
          </p:cNvPr>
          <p:cNvSpPr>
            <a:spLocks noGrp="1"/>
          </p:cNvSpPr>
          <p:nvPr>
            <p:ph type="subTitle" idx="1"/>
          </p:nvPr>
        </p:nvSpPr>
        <p:spPr>
          <a:xfrm>
            <a:off x="2110832" y="8010129"/>
            <a:ext cx="10080000" cy="615554"/>
          </a:xfrm>
        </p:spPr>
        <p:txBody>
          <a:bodyPr/>
          <a:lstStyle>
            <a:lvl1pPr marL="0" indent="0" algn="ctr">
              <a:buNone/>
              <a:defRPr sz="4000">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GB"/>
              <a:t>Click to edit Master subtitle style</a:t>
            </a:r>
            <a:endParaRPr lang="en-GB" dirty="0"/>
          </a:p>
        </p:txBody>
      </p:sp>
      <p:sp>
        <p:nvSpPr>
          <p:cNvPr id="5" name="Picture Placeholder 10">
            <a:extLst>
              <a:ext uri="{FF2B5EF4-FFF2-40B4-BE49-F238E27FC236}">
                <a16:creationId xmlns:a16="http://schemas.microsoft.com/office/drawing/2014/main" id="{997D0358-D1A5-4615-A65D-68C0B35BE606}"/>
              </a:ext>
            </a:extLst>
          </p:cNvPr>
          <p:cNvSpPr>
            <a:spLocks noGrp="1"/>
          </p:cNvSpPr>
          <p:nvPr>
            <p:ph type="pic" sz="quarter" idx="10"/>
          </p:nvPr>
        </p:nvSpPr>
        <p:spPr>
          <a:xfrm>
            <a:off x="14544891" y="0"/>
            <a:ext cx="9839110" cy="137160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2281 w 12281"/>
              <a:gd name="connsiteY0" fmla="*/ 0 h 10000"/>
              <a:gd name="connsiteX1" fmla="*/ 12281 w 12281"/>
              <a:gd name="connsiteY1" fmla="*/ 0 h 10000"/>
              <a:gd name="connsiteX2" fmla="*/ 12281 w 12281"/>
              <a:gd name="connsiteY2" fmla="*/ 10000 h 10000"/>
              <a:gd name="connsiteX3" fmla="*/ 2281 w 12281"/>
              <a:gd name="connsiteY3" fmla="*/ 10000 h 10000"/>
              <a:gd name="connsiteX4" fmla="*/ 2281 w 12281"/>
              <a:gd name="connsiteY4" fmla="*/ 0 h 10000"/>
              <a:gd name="connsiteX0" fmla="*/ 2718 w 12718"/>
              <a:gd name="connsiteY0" fmla="*/ 0 h 10000"/>
              <a:gd name="connsiteX1" fmla="*/ 12718 w 12718"/>
              <a:gd name="connsiteY1" fmla="*/ 0 h 10000"/>
              <a:gd name="connsiteX2" fmla="*/ 12718 w 12718"/>
              <a:gd name="connsiteY2" fmla="*/ 10000 h 10000"/>
              <a:gd name="connsiteX3" fmla="*/ 2718 w 12718"/>
              <a:gd name="connsiteY3" fmla="*/ 10000 h 10000"/>
              <a:gd name="connsiteX4" fmla="*/ 2718 w 12718"/>
              <a:gd name="connsiteY4" fmla="*/ 0 h 10000"/>
              <a:gd name="connsiteX0" fmla="*/ 2205 w 12205"/>
              <a:gd name="connsiteY0" fmla="*/ 0 h 10000"/>
              <a:gd name="connsiteX1" fmla="*/ 12205 w 12205"/>
              <a:gd name="connsiteY1" fmla="*/ 0 h 10000"/>
              <a:gd name="connsiteX2" fmla="*/ 12205 w 12205"/>
              <a:gd name="connsiteY2" fmla="*/ 10000 h 10000"/>
              <a:gd name="connsiteX3" fmla="*/ 2205 w 12205"/>
              <a:gd name="connsiteY3" fmla="*/ 10000 h 10000"/>
              <a:gd name="connsiteX4" fmla="*/ 2205 w 12205"/>
              <a:gd name="connsiteY4" fmla="*/ 0 h 10000"/>
              <a:gd name="connsiteX0" fmla="*/ 2264 w 12264"/>
              <a:gd name="connsiteY0" fmla="*/ 0 h 10000"/>
              <a:gd name="connsiteX1" fmla="*/ 12264 w 12264"/>
              <a:gd name="connsiteY1" fmla="*/ 0 h 10000"/>
              <a:gd name="connsiteX2" fmla="*/ 12264 w 12264"/>
              <a:gd name="connsiteY2" fmla="*/ 10000 h 10000"/>
              <a:gd name="connsiteX3" fmla="*/ 2264 w 12264"/>
              <a:gd name="connsiteY3" fmla="*/ 10000 h 10000"/>
              <a:gd name="connsiteX4" fmla="*/ 2264 w 12264"/>
              <a:gd name="connsiteY4" fmla="*/ 0 h 10000"/>
              <a:gd name="connsiteX0" fmla="*/ 2303 w 12303"/>
              <a:gd name="connsiteY0" fmla="*/ 0 h 10000"/>
              <a:gd name="connsiteX1" fmla="*/ 12303 w 12303"/>
              <a:gd name="connsiteY1" fmla="*/ 0 h 10000"/>
              <a:gd name="connsiteX2" fmla="*/ 12303 w 12303"/>
              <a:gd name="connsiteY2" fmla="*/ 10000 h 10000"/>
              <a:gd name="connsiteX3" fmla="*/ 2303 w 12303"/>
              <a:gd name="connsiteY3" fmla="*/ 10000 h 10000"/>
              <a:gd name="connsiteX4" fmla="*/ 2303 w 12303"/>
              <a:gd name="connsiteY4" fmla="*/ 0 h 10000"/>
              <a:gd name="connsiteX0" fmla="*/ 2273 w 12273"/>
              <a:gd name="connsiteY0" fmla="*/ 0 h 10000"/>
              <a:gd name="connsiteX1" fmla="*/ 12273 w 12273"/>
              <a:gd name="connsiteY1" fmla="*/ 0 h 10000"/>
              <a:gd name="connsiteX2" fmla="*/ 12273 w 12273"/>
              <a:gd name="connsiteY2" fmla="*/ 10000 h 10000"/>
              <a:gd name="connsiteX3" fmla="*/ 2273 w 12273"/>
              <a:gd name="connsiteY3" fmla="*/ 10000 h 10000"/>
              <a:gd name="connsiteX4" fmla="*/ 2273 w 12273"/>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3" h="10000">
                <a:moveTo>
                  <a:pt x="2273" y="0"/>
                </a:moveTo>
                <a:lnTo>
                  <a:pt x="12273" y="0"/>
                </a:lnTo>
                <a:lnTo>
                  <a:pt x="12273" y="10000"/>
                </a:lnTo>
                <a:lnTo>
                  <a:pt x="2273" y="10000"/>
                </a:lnTo>
                <a:cubicBezTo>
                  <a:pt x="215" y="7508"/>
                  <a:pt x="-1596" y="4260"/>
                  <a:pt x="2273" y="0"/>
                </a:cubicBezTo>
                <a:close/>
              </a:path>
            </a:pathLst>
          </a:custGeom>
          <a:blipFill dpi="0" rotWithShape="1">
            <a:blip r:embed="rId3" cstate="print">
              <a:extLst>
                <a:ext uri="{28A0092B-C50C-407E-A947-70E740481C1C}">
                  <a14:useLocalDpi xmlns:a14="http://schemas.microsoft.com/office/drawing/2010/main"/>
                </a:ext>
              </a:extLst>
            </a:blip>
            <a:srcRect/>
            <a:stretch>
              <a:fillRect/>
            </a:stretch>
          </a:blipFill>
          <a:ln w="28575">
            <a:noFill/>
          </a:ln>
        </p:spPr>
        <p:txBody>
          <a:bodyPr anchor="ctr" anchorCtr="0">
            <a:noAutofit/>
          </a:bodyPr>
          <a:lstStyle>
            <a:lvl1pPr marL="0" indent="0" algn="ctr">
              <a:buNone/>
              <a:defRPr b="1">
                <a:solidFill>
                  <a:schemeClr val="bg1"/>
                </a:solidFill>
              </a:defRPr>
            </a:lvl1pPr>
          </a:lstStyle>
          <a:p>
            <a:r>
              <a:rPr lang="en-GB"/>
              <a:t>Click icon to add picture</a:t>
            </a:r>
            <a:endParaRPr lang="en-GB" dirty="0"/>
          </a:p>
        </p:txBody>
      </p:sp>
      <p:sp>
        <p:nvSpPr>
          <p:cNvPr id="6" name="Rectangle 5">
            <a:extLst>
              <a:ext uri="{FF2B5EF4-FFF2-40B4-BE49-F238E27FC236}">
                <a16:creationId xmlns:a16="http://schemas.microsoft.com/office/drawing/2014/main" id="{C30E9D85-FA01-435A-807C-2764FE1066EB}"/>
              </a:ext>
            </a:extLst>
          </p:cNvPr>
          <p:cNvSpPr/>
          <p:nvPr/>
        </p:nvSpPr>
        <p:spPr>
          <a:xfrm>
            <a:off x="670720" y="10069984"/>
            <a:ext cx="4896544" cy="3024336"/>
          </a:xfrm>
          <a:prstGeom prst="rect">
            <a:avLst/>
          </a:prstGeom>
          <a:solidFill>
            <a:srgbClr val="2E008B"/>
          </a:solidFill>
          <a:ln>
            <a:solidFill>
              <a:srgbClr val="2E00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sp>
        <p:nvSpPr>
          <p:cNvPr id="10" name="TextBox 9">
            <a:extLst>
              <a:ext uri="{FF2B5EF4-FFF2-40B4-BE49-F238E27FC236}">
                <a16:creationId xmlns:a16="http://schemas.microsoft.com/office/drawing/2014/main" id="{FE835EBC-EFF7-4C19-A824-ABA43CC01B6F}"/>
              </a:ext>
            </a:extLst>
          </p:cNvPr>
          <p:cNvSpPr txBox="1"/>
          <p:nvPr/>
        </p:nvSpPr>
        <p:spPr>
          <a:xfrm>
            <a:off x="382688" y="12953088"/>
            <a:ext cx="6058248" cy="492443"/>
          </a:xfrm>
          <a:prstGeom prst="rect">
            <a:avLst/>
          </a:prstGeom>
          <a:noFill/>
        </p:spPr>
        <p:txBody>
          <a:bodyPr wrap="square" rtlCol="0">
            <a:spAutoFit/>
          </a:bodyPr>
          <a:lstStyle/>
          <a:p>
            <a:r>
              <a:rPr lang="en-GB" sz="2600" dirty="0">
                <a:solidFill>
                  <a:schemeClr val="bg1"/>
                </a:solidFill>
                <a:latin typeface="Calibri" panose="020F0502020204030204" pitchFamily="34" charset="0"/>
                <a:cs typeface="Andalus" panose="02020603050405020304" pitchFamily="18" charset="-78"/>
              </a:rPr>
              <a:t>Together we will beat cancer </a:t>
            </a:r>
          </a:p>
        </p:txBody>
      </p:sp>
      <p:pic>
        <p:nvPicPr>
          <p:cNvPr id="9" name="Picture 8">
            <a:extLst>
              <a:ext uri="{FF2B5EF4-FFF2-40B4-BE49-F238E27FC236}">
                <a16:creationId xmlns:a16="http://schemas.microsoft.com/office/drawing/2014/main" id="{5EA8B399-06C1-4EA0-AC8F-1340D16BC3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688" y="11466512"/>
            <a:ext cx="5904656" cy="1302332"/>
          </a:xfrm>
          <a:prstGeom prst="rect">
            <a:avLst/>
          </a:prstGeom>
        </p:spPr>
      </p:pic>
    </p:spTree>
    <p:extLst>
      <p:ext uri="{BB962C8B-B14F-4D97-AF65-F5344CB8AC3E}">
        <p14:creationId xmlns:p14="http://schemas.microsoft.com/office/powerpoint/2010/main" val="2154102379"/>
      </p:ext>
    </p:extLst>
  </p:cSld>
  <p:clrMapOvr>
    <a:masterClrMapping/>
  </p:clrMapOvr>
  <p:hf sldNum="0" hdr="0" ftr="0" dt="0"/>
  <p:extLst>
    <p:ext uri="{DCECCB84-F9BA-43D5-87BE-67443E8EF086}">
      <p15:sldGuideLst xmlns:p15="http://schemas.microsoft.com/office/powerpoint/2012/main">
        <p15:guide id="1" pos="3840">
          <p15:clr>
            <a:srgbClr val="FBAE40"/>
          </p15:clr>
        </p15:guide>
        <p15:guide id="2" pos="2116">
          <p15:clr>
            <a:srgbClr val="FBAE40"/>
          </p15:clr>
        </p15:guide>
        <p15:guide id="3" pos="556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ection Header">
    <p:bg>
      <p:bgPr>
        <a:blipFill dpi="0" rotWithShape="1">
          <a:blip r:embed="rId2" cstate="print">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4D9D8-3ACA-459C-AA1E-A261DEDBD09F}"/>
              </a:ext>
            </a:extLst>
          </p:cNvPr>
          <p:cNvSpPr>
            <a:spLocks noGrp="1"/>
          </p:cNvSpPr>
          <p:nvPr>
            <p:ph type="title"/>
          </p:nvPr>
        </p:nvSpPr>
        <p:spPr>
          <a:xfrm>
            <a:off x="1679577" y="5523791"/>
            <a:ext cx="14976474" cy="2668422"/>
          </a:xfrm>
        </p:spPr>
        <p:txBody>
          <a:bodyPr wrap="square" anchor="ctr" anchorCtr="0">
            <a:spAutoFit/>
          </a:bodyPr>
          <a:lstStyle>
            <a:lvl1pPr algn="ctr">
              <a:lnSpc>
                <a:spcPct val="70000"/>
              </a:lnSpc>
              <a:defRPr sz="12000">
                <a:solidFill>
                  <a:schemeClr val="bg1"/>
                </a:solidFill>
              </a:defRPr>
            </a:lvl1pPr>
          </a:lstStyle>
          <a:p>
            <a:r>
              <a:rPr lang="en-GB"/>
              <a:t>Click to edit Master title style</a:t>
            </a:r>
            <a:endParaRPr lang="en-GB" dirty="0"/>
          </a:p>
        </p:txBody>
      </p:sp>
      <p:sp>
        <p:nvSpPr>
          <p:cNvPr id="4" name="Rectangle 3">
            <a:extLst>
              <a:ext uri="{FF2B5EF4-FFF2-40B4-BE49-F238E27FC236}">
                <a16:creationId xmlns:a16="http://schemas.microsoft.com/office/drawing/2014/main" id="{23CE970A-69F0-4380-B369-6E5245E60786}"/>
              </a:ext>
            </a:extLst>
          </p:cNvPr>
          <p:cNvSpPr/>
          <p:nvPr/>
        </p:nvSpPr>
        <p:spPr>
          <a:xfrm>
            <a:off x="18960752" y="10440550"/>
            <a:ext cx="4896544" cy="30243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dirty="0"/>
          </a:p>
        </p:txBody>
      </p:sp>
      <p:pic>
        <p:nvPicPr>
          <p:cNvPr id="6" name="Picture 5">
            <a:extLst>
              <a:ext uri="{FF2B5EF4-FFF2-40B4-BE49-F238E27FC236}">
                <a16:creationId xmlns:a16="http://schemas.microsoft.com/office/drawing/2014/main" id="{F3175505-2C65-4AA4-91A9-4D6D0D6AD1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96656" y="12042577"/>
            <a:ext cx="5629008" cy="1239414"/>
          </a:xfrm>
          <a:prstGeom prst="rect">
            <a:avLst/>
          </a:prstGeom>
        </p:spPr>
      </p:pic>
    </p:spTree>
    <p:extLst>
      <p:ext uri="{BB962C8B-B14F-4D97-AF65-F5344CB8AC3E}">
        <p14:creationId xmlns:p14="http://schemas.microsoft.com/office/powerpoint/2010/main" val="4135822703"/>
      </p:ext>
    </p:extLst>
  </p:cSld>
  <p:clrMapOvr>
    <a:masterClrMapping/>
  </p:clrMapOvr>
  <p:hf sldNum="0" hdr="0" ftr="0" dt="0"/>
  <p:extLst>
    <p:ext uri="{DCECCB84-F9BA-43D5-87BE-67443E8EF086}">
      <p15:sldGuideLst xmlns:p15="http://schemas.microsoft.com/office/powerpoint/2012/main">
        <p15:guide id="1" pos="5246">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ection Header - option 2">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4D9D8-3ACA-459C-AA1E-A261DEDBD09F}"/>
              </a:ext>
            </a:extLst>
          </p:cNvPr>
          <p:cNvSpPr>
            <a:spLocks noGrp="1"/>
          </p:cNvSpPr>
          <p:nvPr>
            <p:ph type="title"/>
          </p:nvPr>
        </p:nvSpPr>
        <p:spPr>
          <a:xfrm>
            <a:off x="1679577" y="5523791"/>
            <a:ext cx="14976474" cy="2668422"/>
          </a:xfrm>
        </p:spPr>
        <p:txBody>
          <a:bodyPr wrap="square" anchor="ctr" anchorCtr="0">
            <a:spAutoFit/>
          </a:bodyPr>
          <a:lstStyle>
            <a:lvl1pPr algn="ctr">
              <a:lnSpc>
                <a:spcPct val="70000"/>
              </a:lnSpc>
              <a:defRPr sz="12000">
                <a:solidFill>
                  <a:schemeClr val="tx2"/>
                </a:solidFill>
              </a:defRPr>
            </a:lvl1pPr>
          </a:lstStyle>
          <a:p>
            <a:r>
              <a:rPr lang="en-GB"/>
              <a:t>Click to edit Master title style</a:t>
            </a:r>
            <a:endParaRPr lang="en-GB" dirty="0"/>
          </a:p>
        </p:txBody>
      </p:sp>
      <p:sp>
        <p:nvSpPr>
          <p:cNvPr id="3" name="Rectangle 2">
            <a:extLst>
              <a:ext uri="{FF2B5EF4-FFF2-40B4-BE49-F238E27FC236}">
                <a16:creationId xmlns:a16="http://schemas.microsoft.com/office/drawing/2014/main" id="{D1057045-282D-4894-93DF-38BEDA5FC206}"/>
              </a:ext>
            </a:extLst>
          </p:cNvPr>
          <p:cNvSpPr/>
          <p:nvPr/>
        </p:nvSpPr>
        <p:spPr>
          <a:xfrm>
            <a:off x="18960752" y="10440550"/>
            <a:ext cx="4896544" cy="3024336"/>
          </a:xfrm>
          <a:prstGeom prst="rect">
            <a:avLst/>
          </a:prstGeom>
          <a:solidFill>
            <a:srgbClr val="2E008B"/>
          </a:solidFill>
          <a:ln>
            <a:solidFill>
              <a:srgbClr val="2E00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dirty="0"/>
          </a:p>
        </p:txBody>
      </p:sp>
      <p:pic>
        <p:nvPicPr>
          <p:cNvPr id="6" name="Picture 5">
            <a:extLst>
              <a:ext uri="{FF2B5EF4-FFF2-40B4-BE49-F238E27FC236}">
                <a16:creationId xmlns:a16="http://schemas.microsoft.com/office/drawing/2014/main" id="{90F4F69F-2D00-4A70-A094-4F6050E9F5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2640" y="11952718"/>
            <a:ext cx="5904656" cy="1302332"/>
          </a:xfrm>
          <a:prstGeom prst="rect">
            <a:avLst/>
          </a:prstGeom>
        </p:spPr>
      </p:pic>
    </p:spTree>
    <p:extLst>
      <p:ext uri="{BB962C8B-B14F-4D97-AF65-F5344CB8AC3E}">
        <p14:creationId xmlns:p14="http://schemas.microsoft.com/office/powerpoint/2010/main" val="3598926067"/>
      </p:ext>
    </p:extLst>
  </p:cSld>
  <p:clrMapOvr>
    <a:masterClrMapping/>
  </p:clrMapOvr>
  <p:hf sldNum="0" hdr="0" ftr="0" dt="0"/>
  <p:extLst>
    <p:ext uri="{DCECCB84-F9BA-43D5-87BE-67443E8EF086}">
      <p15:sldGuideLst xmlns:p15="http://schemas.microsoft.com/office/powerpoint/2012/main">
        <p15:guide id="1" pos="5246">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ection Header - option 3">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4D9D8-3ACA-459C-AA1E-A261DEDBD09F}"/>
              </a:ext>
            </a:extLst>
          </p:cNvPr>
          <p:cNvSpPr>
            <a:spLocks noGrp="1"/>
          </p:cNvSpPr>
          <p:nvPr>
            <p:ph type="title"/>
          </p:nvPr>
        </p:nvSpPr>
        <p:spPr>
          <a:xfrm>
            <a:off x="1679577" y="5523791"/>
            <a:ext cx="14976474" cy="2668422"/>
          </a:xfrm>
        </p:spPr>
        <p:txBody>
          <a:bodyPr wrap="square" anchor="ctr" anchorCtr="0">
            <a:spAutoFit/>
          </a:bodyPr>
          <a:lstStyle>
            <a:lvl1pPr algn="ctr">
              <a:lnSpc>
                <a:spcPct val="70000"/>
              </a:lnSpc>
              <a:defRPr sz="12000">
                <a:solidFill>
                  <a:schemeClr val="tx2"/>
                </a:solidFill>
              </a:defRPr>
            </a:lvl1pPr>
          </a:lstStyle>
          <a:p>
            <a:r>
              <a:rPr lang="en-GB"/>
              <a:t>Click to edit Master title style</a:t>
            </a:r>
            <a:endParaRPr lang="en-GB" dirty="0"/>
          </a:p>
        </p:txBody>
      </p:sp>
      <p:sp>
        <p:nvSpPr>
          <p:cNvPr id="5" name="Rectangle 4">
            <a:extLst>
              <a:ext uri="{FF2B5EF4-FFF2-40B4-BE49-F238E27FC236}">
                <a16:creationId xmlns:a16="http://schemas.microsoft.com/office/drawing/2014/main" id="{25BDC983-CD54-481A-90C4-66C6E8002E4C}"/>
              </a:ext>
            </a:extLst>
          </p:cNvPr>
          <p:cNvSpPr/>
          <p:nvPr/>
        </p:nvSpPr>
        <p:spPr>
          <a:xfrm>
            <a:off x="18960752" y="10440550"/>
            <a:ext cx="4896544" cy="3024336"/>
          </a:xfrm>
          <a:prstGeom prst="rect">
            <a:avLst/>
          </a:prstGeom>
          <a:solidFill>
            <a:srgbClr val="A7A8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dirty="0"/>
          </a:p>
        </p:txBody>
      </p:sp>
      <p:pic>
        <p:nvPicPr>
          <p:cNvPr id="7" name="Picture 6">
            <a:extLst>
              <a:ext uri="{FF2B5EF4-FFF2-40B4-BE49-F238E27FC236}">
                <a16:creationId xmlns:a16="http://schemas.microsoft.com/office/drawing/2014/main" id="{1D34D5D9-5C59-429E-815C-3CEACC8702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2640" y="11952718"/>
            <a:ext cx="5904656" cy="1302332"/>
          </a:xfrm>
          <a:prstGeom prst="rect">
            <a:avLst/>
          </a:prstGeom>
        </p:spPr>
      </p:pic>
    </p:spTree>
    <p:extLst>
      <p:ext uri="{BB962C8B-B14F-4D97-AF65-F5344CB8AC3E}">
        <p14:creationId xmlns:p14="http://schemas.microsoft.com/office/powerpoint/2010/main" val="2683919315"/>
      </p:ext>
    </p:extLst>
  </p:cSld>
  <p:clrMapOvr>
    <a:masterClrMapping/>
  </p:clrMapOvr>
  <p:hf sldNum="0" hdr="0" ftr="0" dt="0"/>
  <p:extLst>
    <p:ext uri="{DCECCB84-F9BA-43D5-87BE-67443E8EF086}">
      <p15:sldGuideLst xmlns:p15="http://schemas.microsoft.com/office/powerpoint/2012/main">
        <p15:guide id="1" pos="524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ection Header - option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4D9D8-3ACA-459C-AA1E-A261DEDBD09F}"/>
              </a:ext>
            </a:extLst>
          </p:cNvPr>
          <p:cNvSpPr>
            <a:spLocks noGrp="1"/>
          </p:cNvSpPr>
          <p:nvPr>
            <p:ph type="title"/>
          </p:nvPr>
        </p:nvSpPr>
        <p:spPr>
          <a:xfrm>
            <a:off x="1679575" y="4877460"/>
            <a:ext cx="10512426" cy="3961084"/>
          </a:xfrm>
        </p:spPr>
        <p:txBody>
          <a:bodyPr wrap="square" anchor="ctr" anchorCtr="0">
            <a:spAutoFit/>
          </a:bodyPr>
          <a:lstStyle>
            <a:lvl1pPr algn="ctr">
              <a:lnSpc>
                <a:spcPct val="70000"/>
              </a:lnSpc>
              <a:defRPr sz="12000">
                <a:solidFill>
                  <a:schemeClr val="tx2"/>
                </a:solidFill>
              </a:defRPr>
            </a:lvl1pPr>
          </a:lstStyle>
          <a:p>
            <a:r>
              <a:rPr lang="en-GB"/>
              <a:t>Click to edit Master title style</a:t>
            </a:r>
            <a:endParaRPr lang="en-GB" dirty="0"/>
          </a:p>
        </p:txBody>
      </p:sp>
      <p:sp>
        <p:nvSpPr>
          <p:cNvPr id="3" name="Picture Placeholder 10">
            <a:extLst>
              <a:ext uri="{FF2B5EF4-FFF2-40B4-BE49-F238E27FC236}">
                <a16:creationId xmlns:a16="http://schemas.microsoft.com/office/drawing/2014/main" id="{1CEBE5DC-07E1-4B65-9518-961D2B3183AA}"/>
              </a:ext>
            </a:extLst>
          </p:cNvPr>
          <p:cNvSpPr>
            <a:spLocks noGrp="1"/>
          </p:cNvSpPr>
          <p:nvPr>
            <p:ph type="pic" sz="quarter" idx="10"/>
          </p:nvPr>
        </p:nvSpPr>
        <p:spPr>
          <a:xfrm>
            <a:off x="14496256" y="0"/>
            <a:ext cx="9887744" cy="137160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2281 w 12281"/>
              <a:gd name="connsiteY0" fmla="*/ 0 h 10000"/>
              <a:gd name="connsiteX1" fmla="*/ 12281 w 12281"/>
              <a:gd name="connsiteY1" fmla="*/ 0 h 10000"/>
              <a:gd name="connsiteX2" fmla="*/ 12281 w 12281"/>
              <a:gd name="connsiteY2" fmla="*/ 10000 h 10000"/>
              <a:gd name="connsiteX3" fmla="*/ 2281 w 12281"/>
              <a:gd name="connsiteY3" fmla="*/ 10000 h 10000"/>
              <a:gd name="connsiteX4" fmla="*/ 2281 w 12281"/>
              <a:gd name="connsiteY4" fmla="*/ 0 h 10000"/>
              <a:gd name="connsiteX0" fmla="*/ 2718 w 12718"/>
              <a:gd name="connsiteY0" fmla="*/ 0 h 10000"/>
              <a:gd name="connsiteX1" fmla="*/ 12718 w 12718"/>
              <a:gd name="connsiteY1" fmla="*/ 0 h 10000"/>
              <a:gd name="connsiteX2" fmla="*/ 12718 w 12718"/>
              <a:gd name="connsiteY2" fmla="*/ 10000 h 10000"/>
              <a:gd name="connsiteX3" fmla="*/ 2718 w 12718"/>
              <a:gd name="connsiteY3" fmla="*/ 10000 h 10000"/>
              <a:gd name="connsiteX4" fmla="*/ 2718 w 12718"/>
              <a:gd name="connsiteY4" fmla="*/ 0 h 10000"/>
              <a:gd name="connsiteX0" fmla="*/ 2205 w 12205"/>
              <a:gd name="connsiteY0" fmla="*/ 0 h 10000"/>
              <a:gd name="connsiteX1" fmla="*/ 12205 w 12205"/>
              <a:gd name="connsiteY1" fmla="*/ 0 h 10000"/>
              <a:gd name="connsiteX2" fmla="*/ 12205 w 12205"/>
              <a:gd name="connsiteY2" fmla="*/ 10000 h 10000"/>
              <a:gd name="connsiteX3" fmla="*/ 2205 w 12205"/>
              <a:gd name="connsiteY3" fmla="*/ 10000 h 10000"/>
              <a:gd name="connsiteX4" fmla="*/ 2205 w 12205"/>
              <a:gd name="connsiteY4" fmla="*/ 0 h 10000"/>
              <a:gd name="connsiteX0" fmla="*/ 2264 w 12264"/>
              <a:gd name="connsiteY0" fmla="*/ 0 h 10000"/>
              <a:gd name="connsiteX1" fmla="*/ 12264 w 12264"/>
              <a:gd name="connsiteY1" fmla="*/ 0 h 10000"/>
              <a:gd name="connsiteX2" fmla="*/ 12264 w 12264"/>
              <a:gd name="connsiteY2" fmla="*/ 10000 h 10000"/>
              <a:gd name="connsiteX3" fmla="*/ 2264 w 12264"/>
              <a:gd name="connsiteY3" fmla="*/ 10000 h 10000"/>
              <a:gd name="connsiteX4" fmla="*/ 2264 w 12264"/>
              <a:gd name="connsiteY4" fmla="*/ 0 h 10000"/>
              <a:gd name="connsiteX0" fmla="*/ 2303 w 12303"/>
              <a:gd name="connsiteY0" fmla="*/ 0 h 10000"/>
              <a:gd name="connsiteX1" fmla="*/ 12303 w 12303"/>
              <a:gd name="connsiteY1" fmla="*/ 0 h 10000"/>
              <a:gd name="connsiteX2" fmla="*/ 12303 w 12303"/>
              <a:gd name="connsiteY2" fmla="*/ 10000 h 10000"/>
              <a:gd name="connsiteX3" fmla="*/ 2303 w 12303"/>
              <a:gd name="connsiteY3" fmla="*/ 10000 h 10000"/>
              <a:gd name="connsiteX4" fmla="*/ 2303 w 12303"/>
              <a:gd name="connsiteY4" fmla="*/ 0 h 10000"/>
              <a:gd name="connsiteX0" fmla="*/ 2273 w 12273"/>
              <a:gd name="connsiteY0" fmla="*/ 0 h 10000"/>
              <a:gd name="connsiteX1" fmla="*/ 12273 w 12273"/>
              <a:gd name="connsiteY1" fmla="*/ 0 h 10000"/>
              <a:gd name="connsiteX2" fmla="*/ 12273 w 12273"/>
              <a:gd name="connsiteY2" fmla="*/ 10000 h 10000"/>
              <a:gd name="connsiteX3" fmla="*/ 2273 w 12273"/>
              <a:gd name="connsiteY3" fmla="*/ 10000 h 10000"/>
              <a:gd name="connsiteX4" fmla="*/ 2273 w 12273"/>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3" h="10000">
                <a:moveTo>
                  <a:pt x="2273" y="0"/>
                </a:moveTo>
                <a:lnTo>
                  <a:pt x="12273" y="0"/>
                </a:lnTo>
                <a:lnTo>
                  <a:pt x="12273" y="10000"/>
                </a:lnTo>
                <a:lnTo>
                  <a:pt x="2273" y="10000"/>
                </a:lnTo>
                <a:cubicBezTo>
                  <a:pt x="215" y="7508"/>
                  <a:pt x="-1596" y="4260"/>
                  <a:pt x="2273" y="0"/>
                </a:cubicBezTo>
                <a:close/>
              </a:path>
            </a:pathLst>
          </a:custGeom>
          <a:blipFill dpi="0" rotWithShape="1">
            <a:blip r:embed="rId2" cstate="print">
              <a:extLst>
                <a:ext uri="{28A0092B-C50C-407E-A947-70E740481C1C}">
                  <a14:useLocalDpi xmlns:a14="http://schemas.microsoft.com/office/drawing/2010/main"/>
                </a:ext>
              </a:extLst>
            </a:blip>
            <a:srcRect/>
            <a:stretch>
              <a:fillRect/>
            </a:stretch>
          </a:blipFill>
          <a:ln w="28575">
            <a:noFill/>
          </a:ln>
        </p:spPr>
        <p:txBody>
          <a:bodyPr anchor="ctr" anchorCtr="0">
            <a:noAutofit/>
          </a:bodyPr>
          <a:lstStyle>
            <a:lvl1pPr marL="0" indent="0" algn="ctr">
              <a:buNone/>
              <a:defRPr b="1">
                <a:solidFill>
                  <a:schemeClr val="bg1"/>
                </a:solidFill>
              </a:defRPr>
            </a:lvl1pPr>
          </a:lstStyle>
          <a:p>
            <a:r>
              <a:rPr lang="en-GB"/>
              <a:t>Click icon to add picture</a:t>
            </a:r>
            <a:endParaRPr lang="en-GB" dirty="0"/>
          </a:p>
        </p:txBody>
      </p:sp>
      <p:sp>
        <p:nvSpPr>
          <p:cNvPr id="5" name="Oval 4">
            <a:extLst>
              <a:ext uri="{FF2B5EF4-FFF2-40B4-BE49-F238E27FC236}">
                <a16:creationId xmlns:a16="http://schemas.microsoft.com/office/drawing/2014/main" id="{42CF35B7-1632-421B-8A62-A66970D923EA}"/>
              </a:ext>
            </a:extLst>
          </p:cNvPr>
          <p:cNvSpPr/>
          <p:nvPr/>
        </p:nvSpPr>
        <p:spPr>
          <a:xfrm>
            <a:off x="2542928" y="953344"/>
            <a:ext cx="829312" cy="829312"/>
          </a:xfrm>
          <a:prstGeom prst="ellipse">
            <a:avLst/>
          </a:prstGeom>
          <a:solidFill>
            <a:srgbClr val="17298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sp>
        <p:nvSpPr>
          <p:cNvPr id="6" name="Oval 5">
            <a:extLst>
              <a:ext uri="{FF2B5EF4-FFF2-40B4-BE49-F238E27FC236}">
                <a16:creationId xmlns:a16="http://schemas.microsoft.com/office/drawing/2014/main" id="{3762D73B-BBFA-449A-946A-8A819A1B7DF8}"/>
              </a:ext>
            </a:extLst>
          </p:cNvPr>
          <p:cNvSpPr/>
          <p:nvPr/>
        </p:nvSpPr>
        <p:spPr>
          <a:xfrm>
            <a:off x="3551040" y="1857132"/>
            <a:ext cx="340952" cy="340952"/>
          </a:xfrm>
          <a:prstGeom prst="ellipse">
            <a:avLst/>
          </a:prstGeom>
          <a:solidFill>
            <a:srgbClr val="00B6ED"/>
          </a:solidFill>
          <a:ln>
            <a:solidFill>
              <a:srgbClr val="00B6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sp>
        <p:nvSpPr>
          <p:cNvPr id="7" name="Oval 6">
            <a:extLst>
              <a:ext uri="{FF2B5EF4-FFF2-40B4-BE49-F238E27FC236}">
                <a16:creationId xmlns:a16="http://schemas.microsoft.com/office/drawing/2014/main" id="{1445F4B4-6C4B-4789-85A0-919776932321}"/>
              </a:ext>
            </a:extLst>
          </p:cNvPr>
          <p:cNvSpPr/>
          <p:nvPr/>
        </p:nvSpPr>
        <p:spPr>
          <a:xfrm>
            <a:off x="670720" y="2681536"/>
            <a:ext cx="533400" cy="533400"/>
          </a:xfrm>
          <a:prstGeom prst="ellipse">
            <a:avLst/>
          </a:prstGeom>
          <a:solidFill>
            <a:srgbClr val="EC008C"/>
          </a:solidFill>
          <a:ln>
            <a:solidFill>
              <a:srgbClr val="EC00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pic>
        <p:nvPicPr>
          <p:cNvPr id="9" name="Picture 8">
            <a:extLst>
              <a:ext uri="{FF2B5EF4-FFF2-40B4-BE49-F238E27FC236}">
                <a16:creationId xmlns:a16="http://schemas.microsoft.com/office/drawing/2014/main" id="{EEDF331A-3129-4180-9508-4892211266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704" y="12042577"/>
            <a:ext cx="5629008" cy="1239414"/>
          </a:xfrm>
          <a:prstGeom prst="rect">
            <a:avLst/>
          </a:prstGeom>
        </p:spPr>
      </p:pic>
    </p:spTree>
    <p:extLst>
      <p:ext uri="{BB962C8B-B14F-4D97-AF65-F5344CB8AC3E}">
        <p14:creationId xmlns:p14="http://schemas.microsoft.com/office/powerpoint/2010/main" val="230469941"/>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pos="524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ection Header - option 5">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4D9D8-3ACA-459C-AA1E-A261DEDBD09F}"/>
              </a:ext>
            </a:extLst>
          </p:cNvPr>
          <p:cNvSpPr>
            <a:spLocks noGrp="1"/>
          </p:cNvSpPr>
          <p:nvPr>
            <p:ph type="title"/>
          </p:nvPr>
        </p:nvSpPr>
        <p:spPr>
          <a:xfrm>
            <a:off x="1679575" y="4877460"/>
            <a:ext cx="10512426" cy="3961084"/>
          </a:xfrm>
        </p:spPr>
        <p:txBody>
          <a:bodyPr wrap="square" anchor="ctr" anchorCtr="0">
            <a:spAutoFit/>
          </a:bodyPr>
          <a:lstStyle>
            <a:lvl1pPr algn="ctr">
              <a:lnSpc>
                <a:spcPct val="70000"/>
              </a:lnSpc>
              <a:defRPr sz="12000">
                <a:solidFill>
                  <a:schemeClr val="bg1"/>
                </a:solidFill>
              </a:defRPr>
            </a:lvl1pPr>
          </a:lstStyle>
          <a:p>
            <a:r>
              <a:rPr lang="en-GB"/>
              <a:t>Click to edit Master title style</a:t>
            </a:r>
            <a:endParaRPr lang="en-GB" dirty="0"/>
          </a:p>
        </p:txBody>
      </p:sp>
      <p:sp>
        <p:nvSpPr>
          <p:cNvPr id="3" name="Picture Placeholder 10">
            <a:extLst>
              <a:ext uri="{FF2B5EF4-FFF2-40B4-BE49-F238E27FC236}">
                <a16:creationId xmlns:a16="http://schemas.microsoft.com/office/drawing/2014/main" id="{EA36F336-08E4-4E71-B479-98F032E8E41B}"/>
              </a:ext>
            </a:extLst>
          </p:cNvPr>
          <p:cNvSpPr>
            <a:spLocks noGrp="1"/>
          </p:cNvSpPr>
          <p:nvPr>
            <p:ph type="pic" sz="quarter" idx="10"/>
          </p:nvPr>
        </p:nvSpPr>
        <p:spPr>
          <a:xfrm>
            <a:off x="14496256" y="0"/>
            <a:ext cx="9887744" cy="137160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2281 w 12281"/>
              <a:gd name="connsiteY0" fmla="*/ 0 h 10000"/>
              <a:gd name="connsiteX1" fmla="*/ 12281 w 12281"/>
              <a:gd name="connsiteY1" fmla="*/ 0 h 10000"/>
              <a:gd name="connsiteX2" fmla="*/ 12281 w 12281"/>
              <a:gd name="connsiteY2" fmla="*/ 10000 h 10000"/>
              <a:gd name="connsiteX3" fmla="*/ 2281 w 12281"/>
              <a:gd name="connsiteY3" fmla="*/ 10000 h 10000"/>
              <a:gd name="connsiteX4" fmla="*/ 2281 w 12281"/>
              <a:gd name="connsiteY4" fmla="*/ 0 h 10000"/>
              <a:gd name="connsiteX0" fmla="*/ 2718 w 12718"/>
              <a:gd name="connsiteY0" fmla="*/ 0 h 10000"/>
              <a:gd name="connsiteX1" fmla="*/ 12718 w 12718"/>
              <a:gd name="connsiteY1" fmla="*/ 0 h 10000"/>
              <a:gd name="connsiteX2" fmla="*/ 12718 w 12718"/>
              <a:gd name="connsiteY2" fmla="*/ 10000 h 10000"/>
              <a:gd name="connsiteX3" fmla="*/ 2718 w 12718"/>
              <a:gd name="connsiteY3" fmla="*/ 10000 h 10000"/>
              <a:gd name="connsiteX4" fmla="*/ 2718 w 12718"/>
              <a:gd name="connsiteY4" fmla="*/ 0 h 10000"/>
              <a:gd name="connsiteX0" fmla="*/ 2205 w 12205"/>
              <a:gd name="connsiteY0" fmla="*/ 0 h 10000"/>
              <a:gd name="connsiteX1" fmla="*/ 12205 w 12205"/>
              <a:gd name="connsiteY1" fmla="*/ 0 h 10000"/>
              <a:gd name="connsiteX2" fmla="*/ 12205 w 12205"/>
              <a:gd name="connsiteY2" fmla="*/ 10000 h 10000"/>
              <a:gd name="connsiteX3" fmla="*/ 2205 w 12205"/>
              <a:gd name="connsiteY3" fmla="*/ 10000 h 10000"/>
              <a:gd name="connsiteX4" fmla="*/ 2205 w 12205"/>
              <a:gd name="connsiteY4" fmla="*/ 0 h 10000"/>
              <a:gd name="connsiteX0" fmla="*/ 2264 w 12264"/>
              <a:gd name="connsiteY0" fmla="*/ 0 h 10000"/>
              <a:gd name="connsiteX1" fmla="*/ 12264 w 12264"/>
              <a:gd name="connsiteY1" fmla="*/ 0 h 10000"/>
              <a:gd name="connsiteX2" fmla="*/ 12264 w 12264"/>
              <a:gd name="connsiteY2" fmla="*/ 10000 h 10000"/>
              <a:gd name="connsiteX3" fmla="*/ 2264 w 12264"/>
              <a:gd name="connsiteY3" fmla="*/ 10000 h 10000"/>
              <a:gd name="connsiteX4" fmla="*/ 2264 w 12264"/>
              <a:gd name="connsiteY4" fmla="*/ 0 h 10000"/>
              <a:gd name="connsiteX0" fmla="*/ 2303 w 12303"/>
              <a:gd name="connsiteY0" fmla="*/ 0 h 10000"/>
              <a:gd name="connsiteX1" fmla="*/ 12303 w 12303"/>
              <a:gd name="connsiteY1" fmla="*/ 0 h 10000"/>
              <a:gd name="connsiteX2" fmla="*/ 12303 w 12303"/>
              <a:gd name="connsiteY2" fmla="*/ 10000 h 10000"/>
              <a:gd name="connsiteX3" fmla="*/ 2303 w 12303"/>
              <a:gd name="connsiteY3" fmla="*/ 10000 h 10000"/>
              <a:gd name="connsiteX4" fmla="*/ 2303 w 12303"/>
              <a:gd name="connsiteY4" fmla="*/ 0 h 10000"/>
              <a:gd name="connsiteX0" fmla="*/ 2273 w 12273"/>
              <a:gd name="connsiteY0" fmla="*/ 0 h 10000"/>
              <a:gd name="connsiteX1" fmla="*/ 12273 w 12273"/>
              <a:gd name="connsiteY1" fmla="*/ 0 h 10000"/>
              <a:gd name="connsiteX2" fmla="*/ 12273 w 12273"/>
              <a:gd name="connsiteY2" fmla="*/ 10000 h 10000"/>
              <a:gd name="connsiteX3" fmla="*/ 2273 w 12273"/>
              <a:gd name="connsiteY3" fmla="*/ 10000 h 10000"/>
              <a:gd name="connsiteX4" fmla="*/ 2273 w 12273"/>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3" h="10000">
                <a:moveTo>
                  <a:pt x="2273" y="0"/>
                </a:moveTo>
                <a:lnTo>
                  <a:pt x="12273" y="0"/>
                </a:lnTo>
                <a:lnTo>
                  <a:pt x="12273" y="10000"/>
                </a:lnTo>
                <a:lnTo>
                  <a:pt x="2273" y="10000"/>
                </a:lnTo>
                <a:cubicBezTo>
                  <a:pt x="215" y="7508"/>
                  <a:pt x="-1596" y="4260"/>
                  <a:pt x="2273" y="0"/>
                </a:cubicBezTo>
                <a:close/>
              </a:path>
            </a:pathLst>
          </a:custGeom>
          <a:blipFill dpi="0" rotWithShape="1">
            <a:blip r:embed="rId3" cstate="print">
              <a:extLst>
                <a:ext uri="{28A0092B-C50C-407E-A947-70E740481C1C}">
                  <a14:useLocalDpi xmlns:a14="http://schemas.microsoft.com/office/drawing/2010/main"/>
                </a:ext>
              </a:extLst>
            </a:blip>
            <a:srcRect/>
            <a:stretch>
              <a:fillRect/>
            </a:stretch>
          </a:blipFill>
          <a:ln w="28575">
            <a:noFill/>
          </a:ln>
        </p:spPr>
        <p:txBody>
          <a:bodyPr anchor="ctr" anchorCtr="0">
            <a:noAutofit/>
          </a:bodyPr>
          <a:lstStyle>
            <a:lvl1pPr marL="0" indent="0" algn="ctr">
              <a:buNone/>
              <a:defRPr b="1">
                <a:solidFill>
                  <a:schemeClr val="bg1"/>
                </a:solidFill>
              </a:defRPr>
            </a:lvl1pPr>
          </a:lstStyle>
          <a:p>
            <a:r>
              <a:rPr lang="en-GB"/>
              <a:t>Click icon to add picture</a:t>
            </a:r>
            <a:endParaRPr lang="en-GB" dirty="0"/>
          </a:p>
        </p:txBody>
      </p:sp>
      <p:sp>
        <p:nvSpPr>
          <p:cNvPr id="4" name="Rectangle 3">
            <a:extLst>
              <a:ext uri="{FF2B5EF4-FFF2-40B4-BE49-F238E27FC236}">
                <a16:creationId xmlns:a16="http://schemas.microsoft.com/office/drawing/2014/main" id="{1FEAE266-1AED-426B-ABE4-360FFA7DD1E2}"/>
              </a:ext>
            </a:extLst>
          </p:cNvPr>
          <p:cNvSpPr/>
          <p:nvPr/>
        </p:nvSpPr>
        <p:spPr>
          <a:xfrm>
            <a:off x="670720" y="10069984"/>
            <a:ext cx="4896544" cy="3412752"/>
          </a:xfrm>
          <a:prstGeom prst="rect">
            <a:avLst/>
          </a:prstGeom>
          <a:solidFill>
            <a:srgbClr val="2E008B"/>
          </a:solidFill>
          <a:ln>
            <a:solidFill>
              <a:srgbClr val="2E00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pic>
        <p:nvPicPr>
          <p:cNvPr id="7" name="Picture 6">
            <a:extLst>
              <a:ext uri="{FF2B5EF4-FFF2-40B4-BE49-F238E27FC236}">
                <a16:creationId xmlns:a16="http://schemas.microsoft.com/office/drawing/2014/main" id="{6B284D46-3FE0-4651-9122-7C3AAD129B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688" y="11952718"/>
            <a:ext cx="5904656" cy="1302332"/>
          </a:xfrm>
          <a:prstGeom prst="rect">
            <a:avLst/>
          </a:prstGeom>
        </p:spPr>
      </p:pic>
    </p:spTree>
    <p:extLst>
      <p:ext uri="{BB962C8B-B14F-4D97-AF65-F5344CB8AC3E}">
        <p14:creationId xmlns:p14="http://schemas.microsoft.com/office/powerpoint/2010/main" val="2522823912"/>
      </p:ext>
    </p:extLst>
  </p:cSld>
  <p:clrMapOvr>
    <a:masterClrMapping/>
  </p:clrMapOvr>
  <p:hf sldNum="0" hdr="0" ftr="0" dt="0"/>
  <p:extLst>
    <p:ext uri="{DCECCB84-F9BA-43D5-87BE-67443E8EF086}">
      <p15:sldGuideLst xmlns:p15="http://schemas.microsoft.com/office/powerpoint/2012/main">
        <p15:guide id="1" pos="5246">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_Section Header - option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4D9D8-3ACA-459C-AA1E-A261DEDBD09F}"/>
              </a:ext>
            </a:extLst>
          </p:cNvPr>
          <p:cNvSpPr>
            <a:spLocks noGrp="1"/>
          </p:cNvSpPr>
          <p:nvPr>
            <p:ph type="title"/>
          </p:nvPr>
        </p:nvSpPr>
        <p:spPr>
          <a:xfrm>
            <a:off x="1679575" y="4877460"/>
            <a:ext cx="10512426" cy="3961084"/>
          </a:xfrm>
        </p:spPr>
        <p:txBody>
          <a:bodyPr wrap="square" anchor="ctr" anchorCtr="0">
            <a:spAutoFit/>
          </a:bodyPr>
          <a:lstStyle>
            <a:lvl1pPr algn="ctr">
              <a:lnSpc>
                <a:spcPct val="70000"/>
              </a:lnSpc>
              <a:defRPr sz="12000">
                <a:solidFill>
                  <a:schemeClr val="tx2"/>
                </a:solidFill>
              </a:defRPr>
            </a:lvl1pPr>
          </a:lstStyle>
          <a:p>
            <a:r>
              <a:rPr lang="en-GB"/>
              <a:t>Click to edit Master title style</a:t>
            </a:r>
            <a:endParaRPr lang="en-GB" dirty="0"/>
          </a:p>
        </p:txBody>
      </p:sp>
      <p:sp>
        <p:nvSpPr>
          <p:cNvPr id="3" name="Picture Placeholder 10">
            <a:extLst>
              <a:ext uri="{FF2B5EF4-FFF2-40B4-BE49-F238E27FC236}">
                <a16:creationId xmlns:a16="http://schemas.microsoft.com/office/drawing/2014/main" id="{1CEBE5DC-07E1-4B65-9518-961D2B3183AA}"/>
              </a:ext>
            </a:extLst>
          </p:cNvPr>
          <p:cNvSpPr>
            <a:spLocks noGrp="1"/>
          </p:cNvSpPr>
          <p:nvPr>
            <p:ph type="pic" sz="quarter" idx="10"/>
          </p:nvPr>
        </p:nvSpPr>
        <p:spPr>
          <a:xfrm>
            <a:off x="14496256" y="0"/>
            <a:ext cx="9887744" cy="137160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2281 w 12281"/>
              <a:gd name="connsiteY0" fmla="*/ 0 h 10000"/>
              <a:gd name="connsiteX1" fmla="*/ 12281 w 12281"/>
              <a:gd name="connsiteY1" fmla="*/ 0 h 10000"/>
              <a:gd name="connsiteX2" fmla="*/ 12281 w 12281"/>
              <a:gd name="connsiteY2" fmla="*/ 10000 h 10000"/>
              <a:gd name="connsiteX3" fmla="*/ 2281 w 12281"/>
              <a:gd name="connsiteY3" fmla="*/ 10000 h 10000"/>
              <a:gd name="connsiteX4" fmla="*/ 2281 w 12281"/>
              <a:gd name="connsiteY4" fmla="*/ 0 h 10000"/>
              <a:gd name="connsiteX0" fmla="*/ 2718 w 12718"/>
              <a:gd name="connsiteY0" fmla="*/ 0 h 10000"/>
              <a:gd name="connsiteX1" fmla="*/ 12718 w 12718"/>
              <a:gd name="connsiteY1" fmla="*/ 0 h 10000"/>
              <a:gd name="connsiteX2" fmla="*/ 12718 w 12718"/>
              <a:gd name="connsiteY2" fmla="*/ 10000 h 10000"/>
              <a:gd name="connsiteX3" fmla="*/ 2718 w 12718"/>
              <a:gd name="connsiteY3" fmla="*/ 10000 h 10000"/>
              <a:gd name="connsiteX4" fmla="*/ 2718 w 12718"/>
              <a:gd name="connsiteY4" fmla="*/ 0 h 10000"/>
              <a:gd name="connsiteX0" fmla="*/ 2205 w 12205"/>
              <a:gd name="connsiteY0" fmla="*/ 0 h 10000"/>
              <a:gd name="connsiteX1" fmla="*/ 12205 w 12205"/>
              <a:gd name="connsiteY1" fmla="*/ 0 h 10000"/>
              <a:gd name="connsiteX2" fmla="*/ 12205 w 12205"/>
              <a:gd name="connsiteY2" fmla="*/ 10000 h 10000"/>
              <a:gd name="connsiteX3" fmla="*/ 2205 w 12205"/>
              <a:gd name="connsiteY3" fmla="*/ 10000 h 10000"/>
              <a:gd name="connsiteX4" fmla="*/ 2205 w 12205"/>
              <a:gd name="connsiteY4" fmla="*/ 0 h 10000"/>
              <a:gd name="connsiteX0" fmla="*/ 2264 w 12264"/>
              <a:gd name="connsiteY0" fmla="*/ 0 h 10000"/>
              <a:gd name="connsiteX1" fmla="*/ 12264 w 12264"/>
              <a:gd name="connsiteY1" fmla="*/ 0 h 10000"/>
              <a:gd name="connsiteX2" fmla="*/ 12264 w 12264"/>
              <a:gd name="connsiteY2" fmla="*/ 10000 h 10000"/>
              <a:gd name="connsiteX3" fmla="*/ 2264 w 12264"/>
              <a:gd name="connsiteY3" fmla="*/ 10000 h 10000"/>
              <a:gd name="connsiteX4" fmla="*/ 2264 w 12264"/>
              <a:gd name="connsiteY4" fmla="*/ 0 h 10000"/>
              <a:gd name="connsiteX0" fmla="*/ 2303 w 12303"/>
              <a:gd name="connsiteY0" fmla="*/ 0 h 10000"/>
              <a:gd name="connsiteX1" fmla="*/ 12303 w 12303"/>
              <a:gd name="connsiteY1" fmla="*/ 0 h 10000"/>
              <a:gd name="connsiteX2" fmla="*/ 12303 w 12303"/>
              <a:gd name="connsiteY2" fmla="*/ 10000 h 10000"/>
              <a:gd name="connsiteX3" fmla="*/ 2303 w 12303"/>
              <a:gd name="connsiteY3" fmla="*/ 10000 h 10000"/>
              <a:gd name="connsiteX4" fmla="*/ 2303 w 12303"/>
              <a:gd name="connsiteY4" fmla="*/ 0 h 10000"/>
              <a:gd name="connsiteX0" fmla="*/ 2273 w 12273"/>
              <a:gd name="connsiteY0" fmla="*/ 0 h 10000"/>
              <a:gd name="connsiteX1" fmla="*/ 12273 w 12273"/>
              <a:gd name="connsiteY1" fmla="*/ 0 h 10000"/>
              <a:gd name="connsiteX2" fmla="*/ 12273 w 12273"/>
              <a:gd name="connsiteY2" fmla="*/ 10000 h 10000"/>
              <a:gd name="connsiteX3" fmla="*/ 2273 w 12273"/>
              <a:gd name="connsiteY3" fmla="*/ 10000 h 10000"/>
              <a:gd name="connsiteX4" fmla="*/ 2273 w 12273"/>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3" h="10000">
                <a:moveTo>
                  <a:pt x="2273" y="0"/>
                </a:moveTo>
                <a:lnTo>
                  <a:pt x="12273" y="0"/>
                </a:lnTo>
                <a:lnTo>
                  <a:pt x="12273" y="10000"/>
                </a:lnTo>
                <a:lnTo>
                  <a:pt x="2273" y="10000"/>
                </a:lnTo>
                <a:cubicBezTo>
                  <a:pt x="215" y="7508"/>
                  <a:pt x="-1596" y="4260"/>
                  <a:pt x="2273" y="0"/>
                </a:cubicBezTo>
                <a:close/>
              </a:path>
            </a:pathLst>
          </a:custGeom>
          <a:blipFill dpi="0" rotWithShape="1">
            <a:blip r:embed="rId2" cstate="print">
              <a:extLst>
                <a:ext uri="{28A0092B-C50C-407E-A947-70E740481C1C}">
                  <a14:useLocalDpi xmlns:a14="http://schemas.microsoft.com/office/drawing/2010/main"/>
                </a:ext>
              </a:extLst>
            </a:blip>
            <a:srcRect/>
            <a:stretch>
              <a:fillRect/>
            </a:stretch>
          </a:blipFill>
          <a:ln w="28575">
            <a:noFill/>
          </a:ln>
        </p:spPr>
        <p:txBody>
          <a:bodyPr anchor="ctr" anchorCtr="0">
            <a:noAutofit/>
          </a:bodyPr>
          <a:lstStyle>
            <a:lvl1pPr marL="0" indent="0" algn="ctr">
              <a:buNone/>
              <a:defRPr b="1">
                <a:solidFill>
                  <a:schemeClr val="bg1"/>
                </a:solidFill>
              </a:defRPr>
            </a:lvl1pPr>
          </a:lstStyle>
          <a:p>
            <a:r>
              <a:rPr lang="en-GB"/>
              <a:t>Click icon to add picture</a:t>
            </a:r>
            <a:endParaRPr lang="en-GB" dirty="0"/>
          </a:p>
        </p:txBody>
      </p:sp>
      <p:pic>
        <p:nvPicPr>
          <p:cNvPr id="15" name="Picture 14">
            <a:extLst>
              <a:ext uri="{FF2B5EF4-FFF2-40B4-BE49-F238E27FC236}">
                <a16:creationId xmlns:a16="http://schemas.microsoft.com/office/drawing/2014/main" id="{808B5E23-9338-459A-A8E7-4762B24C3E50}"/>
              </a:ext>
            </a:extLst>
          </p:cNvPr>
          <p:cNvPicPr>
            <a:picLocks noChangeAspect="1"/>
          </p:cNvPicPr>
          <p:nvPr/>
        </p:nvPicPr>
        <p:blipFill>
          <a:blip r:embed="rId3"/>
          <a:stretch>
            <a:fillRect/>
          </a:stretch>
        </p:blipFill>
        <p:spPr>
          <a:xfrm>
            <a:off x="12133714" y="2825552"/>
            <a:ext cx="365792" cy="365792"/>
          </a:xfrm>
          <a:prstGeom prst="rect">
            <a:avLst/>
          </a:prstGeom>
        </p:spPr>
      </p:pic>
      <p:sp>
        <p:nvSpPr>
          <p:cNvPr id="17" name="Oval 16">
            <a:extLst>
              <a:ext uri="{FF2B5EF4-FFF2-40B4-BE49-F238E27FC236}">
                <a16:creationId xmlns:a16="http://schemas.microsoft.com/office/drawing/2014/main" id="{FC321904-BDBE-419A-B400-DC1CF0C4B86D}"/>
              </a:ext>
            </a:extLst>
          </p:cNvPr>
          <p:cNvSpPr/>
          <p:nvPr/>
        </p:nvSpPr>
        <p:spPr>
          <a:xfrm>
            <a:off x="670720" y="2681536"/>
            <a:ext cx="533400" cy="533400"/>
          </a:xfrm>
          <a:prstGeom prst="ellipse">
            <a:avLst/>
          </a:prstGeom>
          <a:solidFill>
            <a:srgbClr val="EC008C"/>
          </a:solidFill>
          <a:ln>
            <a:solidFill>
              <a:srgbClr val="EC00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sp>
        <p:nvSpPr>
          <p:cNvPr id="18" name="Oval 17">
            <a:extLst>
              <a:ext uri="{FF2B5EF4-FFF2-40B4-BE49-F238E27FC236}">
                <a16:creationId xmlns:a16="http://schemas.microsoft.com/office/drawing/2014/main" id="{A85C9B4C-1761-4163-B0E9-E286F346BFDD}"/>
              </a:ext>
            </a:extLst>
          </p:cNvPr>
          <p:cNvSpPr/>
          <p:nvPr/>
        </p:nvSpPr>
        <p:spPr>
          <a:xfrm>
            <a:off x="2542928" y="953344"/>
            <a:ext cx="829312" cy="829312"/>
          </a:xfrm>
          <a:prstGeom prst="ellipse">
            <a:avLst/>
          </a:prstGeom>
          <a:solidFill>
            <a:srgbClr val="17298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pic>
        <p:nvPicPr>
          <p:cNvPr id="8" name="Picture 7">
            <a:extLst>
              <a:ext uri="{FF2B5EF4-FFF2-40B4-BE49-F238E27FC236}">
                <a16:creationId xmlns:a16="http://schemas.microsoft.com/office/drawing/2014/main" id="{3C77CE84-C8D0-4A59-B596-71C9205AD7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6704" y="12042577"/>
            <a:ext cx="5629008" cy="1239414"/>
          </a:xfrm>
          <a:prstGeom prst="rect">
            <a:avLst/>
          </a:prstGeom>
        </p:spPr>
      </p:pic>
    </p:spTree>
    <p:extLst>
      <p:ext uri="{BB962C8B-B14F-4D97-AF65-F5344CB8AC3E}">
        <p14:creationId xmlns:p14="http://schemas.microsoft.com/office/powerpoint/2010/main" val="3666845691"/>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pos="5246">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Section Header - option 5">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4D9D8-3ACA-459C-AA1E-A261DEDBD09F}"/>
              </a:ext>
            </a:extLst>
          </p:cNvPr>
          <p:cNvSpPr>
            <a:spLocks noGrp="1"/>
          </p:cNvSpPr>
          <p:nvPr>
            <p:ph type="title"/>
          </p:nvPr>
        </p:nvSpPr>
        <p:spPr>
          <a:xfrm>
            <a:off x="1679575" y="4877460"/>
            <a:ext cx="10512426" cy="3961084"/>
          </a:xfrm>
        </p:spPr>
        <p:txBody>
          <a:bodyPr wrap="square" anchor="ctr" anchorCtr="0">
            <a:spAutoFit/>
          </a:bodyPr>
          <a:lstStyle>
            <a:lvl1pPr algn="ctr">
              <a:lnSpc>
                <a:spcPct val="70000"/>
              </a:lnSpc>
              <a:defRPr sz="12000">
                <a:solidFill>
                  <a:schemeClr val="bg1"/>
                </a:solidFill>
              </a:defRPr>
            </a:lvl1pPr>
          </a:lstStyle>
          <a:p>
            <a:r>
              <a:rPr lang="en-GB"/>
              <a:t>Click to edit Master title style</a:t>
            </a:r>
            <a:endParaRPr lang="en-GB" dirty="0"/>
          </a:p>
        </p:txBody>
      </p:sp>
      <p:sp>
        <p:nvSpPr>
          <p:cNvPr id="3" name="Picture Placeholder 10">
            <a:extLst>
              <a:ext uri="{FF2B5EF4-FFF2-40B4-BE49-F238E27FC236}">
                <a16:creationId xmlns:a16="http://schemas.microsoft.com/office/drawing/2014/main" id="{EA36F336-08E4-4E71-B479-98F032E8E41B}"/>
              </a:ext>
            </a:extLst>
          </p:cNvPr>
          <p:cNvSpPr>
            <a:spLocks noGrp="1"/>
          </p:cNvSpPr>
          <p:nvPr>
            <p:ph type="pic" sz="quarter" idx="10"/>
          </p:nvPr>
        </p:nvSpPr>
        <p:spPr>
          <a:xfrm>
            <a:off x="14496256" y="0"/>
            <a:ext cx="9887744" cy="137160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2281 w 12281"/>
              <a:gd name="connsiteY0" fmla="*/ 0 h 10000"/>
              <a:gd name="connsiteX1" fmla="*/ 12281 w 12281"/>
              <a:gd name="connsiteY1" fmla="*/ 0 h 10000"/>
              <a:gd name="connsiteX2" fmla="*/ 12281 w 12281"/>
              <a:gd name="connsiteY2" fmla="*/ 10000 h 10000"/>
              <a:gd name="connsiteX3" fmla="*/ 2281 w 12281"/>
              <a:gd name="connsiteY3" fmla="*/ 10000 h 10000"/>
              <a:gd name="connsiteX4" fmla="*/ 2281 w 12281"/>
              <a:gd name="connsiteY4" fmla="*/ 0 h 10000"/>
              <a:gd name="connsiteX0" fmla="*/ 2718 w 12718"/>
              <a:gd name="connsiteY0" fmla="*/ 0 h 10000"/>
              <a:gd name="connsiteX1" fmla="*/ 12718 w 12718"/>
              <a:gd name="connsiteY1" fmla="*/ 0 h 10000"/>
              <a:gd name="connsiteX2" fmla="*/ 12718 w 12718"/>
              <a:gd name="connsiteY2" fmla="*/ 10000 h 10000"/>
              <a:gd name="connsiteX3" fmla="*/ 2718 w 12718"/>
              <a:gd name="connsiteY3" fmla="*/ 10000 h 10000"/>
              <a:gd name="connsiteX4" fmla="*/ 2718 w 12718"/>
              <a:gd name="connsiteY4" fmla="*/ 0 h 10000"/>
              <a:gd name="connsiteX0" fmla="*/ 2205 w 12205"/>
              <a:gd name="connsiteY0" fmla="*/ 0 h 10000"/>
              <a:gd name="connsiteX1" fmla="*/ 12205 w 12205"/>
              <a:gd name="connsiteY1" fmla="*/ 0 h 10000"/>
              <a:gd name="connsiteX2" fmla="*/ 12205 w 12205"/>
              <a:gd name="connsiteY2" fmla="*/ 10000 h 10000"/>
              <a:gd name="connsiteX3" fmla="*/ 2205 w 12205"/>
              <a:gd name="connsiteY3" fmla="*/ 10000 h 10000"/>
              <a:gd name="connsiteX4" fmla="*/ 2205 w 12205"/>
              <a:gd name="connsiteY4" fmla="*/ 0 h 10000"/>
              <a:gd name="connsiteX0" fmla="*/ 2264 w 12264"/>
              <a:gd name="connsiteY0" fmla="*/ 0 h 10000"/>
              <a:gd name="connsiteX1" fmla="*/ 12264 w 12264"/>
              <a:gd name="connsiteY1" fmla="*/ 0 h 10000"/>
              <a:gd name="connsiteX2" fmla="*/ 12264 w 12264"/>
              <a:gd name="connsiteY2" fmla="*/ 10000 h 10000"/>
              <a:gd name="connsiteX3" fmla="*/ 2264 w 12264"/>
              <a:gd name="connsiteY3" fmla="*/ 10000 h 10000"/>
              <a:gd name="connsiteX4" fmla="*/ 2264 w 12264"/>
              <a:gd name="connsiteY4" fmla="*/ 0 h 10000"/>
              <a:gd name="connsiteX0" fmla="*/ 2303 w 12303"/>
              <a:gd name="connsiteY0" fmla="*/ 0 h 10000"/>
              <a:gd name="connsiteX1" fmla="*/ 12303 w 12303"/>
              <a:gd name="connsiteY1" fmla="*/ 0 h 10000"/>
              <a:gd name="connsiteX2" fmla="*/ 12303 w 12303"/>
              <a:gd name="connsiteY2" fmla="*/ 10000 h 10000"/>
              <a:gd name="connsiteX3" fmla="*/ 2303 w 12303"/>
              <a:gd name="connsiteY3" fmla="*/ 10000 h 10000"/>
              <a:gd name="connsiteX4" fmla="*/ 2303 w 12303"/>
              <a:gd name="connsiteY4" fmla="*/ 0 h 10000"/>
              <a:gd name="connsiteX0" fmla="*/ 2273 w 12273"/>
              <a:gd name="connsiteY0" fmla="*/ 0 h 10000"/>
              <a:gd name="connsiteX1" fmla="*/ 12273 w 12273"/>
              <a:gd name="connsiteY1" fmla="*/ 0 h 10000"/>
              <a:gd name="connsiteX2" fmla="*/ 12273 w 12273"/>
              <a:gd name="connsiteY2" fmla="*/ 10000 h 10000"/>
              <a:gd name="connsiteX3" fmla="*/ 2273 w 12273"/>
              <a:gd name="connsiteY3" fmla="*/ 10000 h 10000"/>
              <a:gd name="connsiteX4" fmla="*/ 2273 w 12273"/>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3" h="10000">
                <a:moveTo>
                  <a:pt x="2273" y="0"/>
                </a:moveTo>
                <a:lnTo>
                  <a:pt x="12273" y="0"/>
                </a:lnTo>
                <a:lnTo>
                  <a:pt x="12273" y="10000"/>
                </a:lnTo>
                <a:lnTo>
                  <a:pt x="2273" y="10000"/>
                </a:lnTo>
                <a:cubicBezTo>
                  <a:pt x="215" y="7508"/>
                  <a:pt x="-1596" y="4260"/>
                  <a:pt x="2273" y="0"/>
                </a:cubicBezTo>
                <a:close/>
              </a:path>
            </a:pathLst>
          </a:custGeom>
          <a:blipFill dpi="0" rotWithShape="1">
            <a:blip r:embed="rId3" cstate="print">
              <a:extLst>
                <a:ext uri="{28A0092B-C50C-407E-A947-70E740481C1C}">
                  <a14:useLocalDpi xmlns:a14="http://schemas.microsoft.com/office/drawing/2010/main"/>
                </a:ext>
              </a:extLst>
            </a:blip>
            <a:srcRect/>
            <a:stretch>
              <a:fillRect/>
            </a:stretch>
          </a:blipFill>
          <a:ln w="28575">
            <a:noFill/>
          </a:ln>
        </p:spPr>
        <p:txBody>
          <a:bodyPr anchor="ctr" anchorCtr="0">
            <a:noAutofit/>
          </a:bodyPr>
          <a:lstStyle>
            <a:lvl1pPr marL="0" indent="0" algn="ctr">
              <a:buNone/>
              <a:defRPr b="1">
                <a:solidFill>
                  <a:schemeClr val="bg1"/>
                </a:solidFill>
              </a:defRPr>
            </a:lvl1pPr>
          </a:lstStyle>
          <a:p>
            <a:r>
              <a:rPr lang="en-GB"/>
              <a:t>Click icon to add picture</a:t>
            </a:r>
            <a:endParaRPr lang="en-GB" dirty="0"/>
          </a:p>
        </p:txBody>
      </p:sp>
      <p:sp>
        <p:nvSpPr>
          <p:cNvPr id="6" name="Rectangle 5">
            <a:extLst>
              <a:ext uri="{FF2B5EF4-FFF2-40B4-BE49-F238E27FC236}">
                <a16:creationId xmlns:a16="http://schemas.microsoft.com/office/drawing/2014/main" id="{D67BD166-F610-4586-9EE0-E9973EC99FEF}"/>
              </a:ext>
            </a:extLst>
          </p:cNvPr>
          <p:cNvSpPr/>
          <p:nvPr/>
        </p:nvSpPr>
        <p:spPr>
          <a:xfrm>
            <a:off x="670720" y="10069984"/>
            <a:ext cx="4896544" cy="3412752"/>
          </a:xfrm>
          <a:prstGeom prst="rect">
            <a:avLst/>
          </a:prstGeom>
          <a:solidFill>
            <a:srgbClr val="2E008B"/>
          </a:solidFill>
          <a:ln>
            <a:solidFill>
              <a:srgbClr val="2E00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pic>
        <p:nvPicPr>
          <p:cNvPr id="8" name="Picture 7">
            <a:extLst>
              <a:ext uri="{FF2B5EF4-FFF2-40B4-BE49-F238E27FC236}">
                <a16:creationId xmlns:a16="http://schemas.microsoft.com/office/drawing/2014/main" id="{AF241499-57D5-4B7B-84CD-D6C76928A6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688" y="11952718"/>
            <a:ext cx="5904656" cy="1302332"/>
          </a:xfrm>
          <a:prstGeom prst="rect">
            <a:avLst/>
          </a:prstGeom>
        </p:spPr>
      </p:pic>
    </p:spTree>
    <p:extLst>
      <p:ext uri="{BB962C8B-B14F-4D97-AF65-F5344CB8AC3E}">
        <p14:creationId xmlns:p14="http://schemas.microsoft.com/office/powerpoint/2010/main" val="104815161"/>
      </p:ext>
    </p:extLst>
  </p:cSld>
  <p:clrMapOvr>
    <a:masterClrMapping/>
  </p:clrMapOvr>
  <p:hf sldNum="0" hdr="0" ftr="0" dt="0"/>
  <p:extLst>
    <p:ext uri="{DCECCB84-F9BA-43D5-87BE-67443E8EF086}">
      <p15:sldGuideLst xmlns:p15="http://schemas.microsoft.com/office/powerpoint/2012/main">
        <p15:guide id="1" pos="5246">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2_Section Header - option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4D9D8-3ACA-459C-AA1E-A261DEDBD09F}"/>
              </a:ext>
            </a:extLst>
          </p:cNvPr>
          <p:cNvSpPr>
            <a:spLocks noGrp="1"/>
          </p:cNvSpPr>
          <p:nvPr>
            <p:ph type="title"/>
          </p:nvPr>
        </p:nvSpPr>
        <p:spPr>
          <a:xfrm>
            <a:off x="1679575" y="4877460"/>
            <a:ext cx="10512426" cy="3961084"/>
          </a:xfrm>
        </p:spPr>
        <p:txBody>
          <a:bodyPr wrap="square" anchor="ctr" anchorCtr="0">
            <a:spAutoFit/>
          </a:bodyPr>
          <a:lstStyle>
            <a:lvl1pPr algn="ctr">
              <a:lnSpc>
                <a:spcPct val="70000"/>
              </a:lnSpc>
              <a:defRPr sz="12000">
                <a:solidFill>
                  <a:schemeClr val="tx2"/>
                </a:solidFill>
              </a:defRPr>
            </a:lvl1pPr>
          </a:lstStyle>
          <a:p>
            <a:r>
              <a:rPr lang="en-GB"/>
              <a:t>Click to edit Master title style</a:t>
            </a:r>
            <a:endParaRPr lang="en-GB" dirty="0"/>
          </a:p>
        </p:txBody>
      </p:sp>
      <p:sp>
        <p:nvSpPr>
          <p:cNvPr id="3" name="Picture Placeholder 10">
            <a:extLst>
              <a:ext uri="{FF2B5EF4-FFF2-40B4-BE49-F238E27FC236}">
                <a16:creationId xmlns:a16="http://schemas.microsoft.com/office/drawing/2014/main" id="{1CEBE5DC-07E1-4B65-9518-961D2B3183AA}"/>
              </a:ext>
            </a:extLst>
          </p:cNvPr>
          <p:cNvSpPr>
            <a:spLocks noGrp="1"/>
          </p:cNvSpPr>
          <p:nvPr>
            <p:ph type="pic" sz="quarter" idx="10"/>
          </p:nvPr>
        </p:nvSpPr>
        <p:spPr>
          <a:xfrm>
            <a:off x="14496256" y="0"/>
            <a:ext cx="9887744" cy="137160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2281 w 12281"/>
              <a:gd name="connsiteY0" fmla="*/ 0 h 10000"/>
              <a:gd name="connsiteX1" fmla="*/ 12281 w 12281"/>
              <a:gd name="connsiteY1" fmla="*/ 0 h 10000"/>
              <a:gd name="connsiteX2" fmla="*/ 12281 w 12281"/>
              <a:gd name="connsiteY2" fmla="*/ 10000 h 10000"/>
              <a:gd name="connsiteX3" fmla="*/ 2281 w 12281"/>
              <a:gd name="connsiteY3" fmla="*/ 10000 h 10000"/>
              <a:gd name="connsiteX4" fmla="*/ 2281 w 12281"/>
              <a:gd name="connsiteY4" fmla="*/ 0 h 10000"/>
              <a:gd name="connsiteX0" fmla="*/ 2718 w 12718"/>
              <a:gd name="connsiteY0" fmla="*/ 0 h 10000"/>
              <a:gd name="connsiteX1" fmla="*/ 12718 w 12718"/>
              <a:gd name="connsiteY1" fmla="*/ 0 h 10000"/>
              <a:gd name="connsiteX2" fmla="*/ 12718 w 12718"/>
              <a:gd name="connsiteY2" fmla="*/ 10000 h 10000"/>
              <a:gd name="connsiteX3" fmla="*/ 2718 w 12718"/>
              <a:gd name="connsiteY3" fmla="*/ 10000 h 10000"/>
              <a:gd name="connsiteX4" fmla="*/ 2718 w 12718"/>
              <a:gd name="connsiteY4" fmla="*/ 0 h 10000"/>
              <a:gd name="connsiteX0" fmla="*/ 2205 w 12205"/>
              <a:gd name="connsiteY0" fmla="*/ 0 h 10000"/>
              <a:gd name="connsiteX1" fmla="*/ 12205 w 12205"/>
              <a:gd name="connsiteY1" fmla="*/ 0 h 10000"/>
              <a:gd name="connsiteX2" fmla="*/ 12205 w 12205"/>
              <a:gd name="connsiteY2" fmla="*/ 10000 h 10000"/>
              <a:gd name="connsiteX3" fmla="*/ 2205 w 12205"/>
              <a:gd name="connsiteY3" fmla="*/ 10000 h 10000"/>
              <a:gd name="connsiteX4" fmla="*/ 2205 w 12205"/>
              <a:gd name="connsiteY4" fmla="*/ 0 h 10000"/>
              <a:gd name="connsiteX0" fmla="*/ 2264 w 12264"/>
              <a:gd name="connsiteY0" fmla="*/ 0 h 10000"/>
              <a:gd name="connsiteX1" fmla="*/ 12264 w 12264"/>
              <a:gd name="connsiteY1" fmla="*/ 0 h 10000"/>
              <a:gd name="connsiteX2" fmla="*/ 12264 w 12264"/>
              <a:gd name="connsiteY2" fmla="*/ 10000 h 10000"/>
              <a:gd name="connsiteX3" fmla="*/ 2264 w 12264"/>
              <a:gd name="connsiteY3" fmla="*/ 10000 h 10000"/>
              <a:gd name="connsiteX4" fmla="*/ 2264 w 12264"/>
              <a:gd name="connsiteY4" fmla="*/ 0 h 10000"/>
              <a:gd name="connsiteX0" fmla="*/ 2303 w 12303"/>
              <a:gd name="connsiteY0" fmla="*/ 0 h 10000"/>
              <a:gd name="connsiteX1" fmla="*/ 12303 w 12303"/>
              <a:gd name="connsiteY1" fmla="*/ 0 h 10000"/>
              <a:gd name="connsiteX2" fmla="*/ 12303 w 12303"/>
              <a:gd name="connsiteY2" fmla="*/ 10000 h 10000"/>
              <a:gd name="connsiteX3" fmla="*/ 2303 w 12303"/>
              <a:gd name="connsiteY3" fmla="*/ 10000 h 10000"/>
              <a:gd name="connsiteX4" fmla="*/ 2303 w 12303"/>
              <a:gd name="connsiteY4" fmla="*/ 0 h 10000"/>
              <a:gd name="connsiteX0" fmla="*/ 2273 w 12273"/>
              <a:gd name="connsiteY0" fmla="*/ 0 h 10000"/>
              <a:gd name="connsiteX1" fmla="*/ 12273 w 12273"/>
              <a:gd name="connsiteY1" fmla="*/ 0 h 10000"/>
              <a:gd name="connsiteX2" fmla="*/ 12273 w 12273"/>
              <a:gd name="connsiteY2" fmla="*/ 10000 h 10000"/>
              <a:gd name="connsiteX3" fmla="*/ 2273 w 12273"/>
              <a:gd name="connsiteY3" fmla="*/ 10000 h 10000"/>
              <a:gd name="connsiteX4" fmla="*/ 2273 w 12273"/>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3" h="10000">
                <a:moveTo>
                  <a:pt x="2273" y="0"/>
                </a:moveTo>
                <a:lnTo>
                  <a:pt x="12273" y="0"/>
                </a:lnTo>
                <a:lnTo>
                  <a:pt x="12273" y="10000"/>
                </a:lnTo>
                <a:lnTo>
                  <a:pt x="2273" y="10000"/>
                </a:lnTo>
                <a:cubicBezTo>
                  <a:pt x="215" y="7508"/>
                  <a:pt x="-1596" y="4260"/>
                  <a:pt x="2273" y="0"/>
                </a:cubicBezTo>
                <a:close/>
              </a:path>
            </a:pathLst>
          </a:custGeom>
          <a:blipFill dpi="0" rotWithShape="1">
            <a:blip r:embed="rId2" cstate="print">
              <a:extLst>
                <a:ext uri="{28A0092B-C50C-407E-A947-70E740481C1C}">
                  <a14:useLocalDpi xmlns:a14="http://schemas.microsoft.com/office/drawing/2010/main"/>
                </a:ext>
              </a:extLst>
            </a:blip>
            <a:srcRect/>
            <a:stretch>
              <a:fillRect/>
            </a:stretch>
          </a:blipFill>
          <a:ln w="28575">
            <a:noFill/>
          </a:ln>
        </p:spPr>
        <p:txBody>
          <a:bodyPr anchor="ctr" anchorCtr="0">
            <a:noAutofit/>
          </a:bodyPr>
          <a:lstStyle>
            <a:lvl1pPr marL="0" indent="0" algn="ctr">
              <a:buNone/>
              <a:defRPr b="1">
                <a:solidFill>
                  <a:schemeClr val="bg1"/>
                </a:solidFill>
              </a:defRPr>
            </a:lvl1pPr>
          </a:lstStyle>
          <a:p>
            <a:r>
              <a:rPr lang="en-GB"/>
              <a:t>Click icon to add picture</a:t>
            </a:r>
            <a:endParaRPr lang="en-GB" dirty="0"/>
          </a:p>
        </p:txBody>
      </p:sp>
      <p:pic>
        <p:nvPicPr>
          <p:cNvPr id="6" name="Picture 5">
            <a:extLst>
              <a:ext uri="{FF2B5EF4-FFF2-40B4-BE49-F238E27FC236}">
                <a16:creationId xmlns:a16="http://schemas.microsoft.com/office/drawing/2014/main" id="{380FECDD-3436-426C-8DBD-F8CDDAB3141C}"/>
              </a:ext>
            </a:extLst>
          </p:cNvPr>
          <p:cNvPicPr>
            <a:picLocks noChangeAspect="1"/>
          </p:cNvPicPr>
          <p:nvPr/>
        </p:nvPicPr>
        <p:blipFill>
          <a:blip r:embed="rId3"/>
          <a:stretch>
            <a:fillRect/>
          </a:stretch>
        </p:blipFill>
        <p:spPr>
          <a:xfrm>
            <a:off x="12133714" y="2825552"/>
            <a:ext cx="365792" cy="365792"/>
          </a:xfrm>
          <a:prstGeom prst="rect">
            <a:avLst/>
          </a:prstGeom>
        </p:spPr>
      </p:pic>
      <p:sp>
        <p:nvSpPr>
          <p:cNvPr id="7" name="Oval 6">
            <a:extLst>
              <a:ext uri="{FF2B5EF4-FFF2-40B4-BE49-F238E27FC236}">
                <a16:creationId xmlns:a16="http://schemas.microsoft.com/office/drawing/2014/main" id="{8C377E3B-3FEB-4504-9826-BAC76041BEDA}"/>
              </a:ext>
            </a:extLst>
          </p:cNvPr>
          <p:cNvSpPr/>
          <p:nvPr/>
        </p:nvSpPr>
        <p:spPr>
          <a:xfrm>
            <a:off x="670720" y="2681536"/>
            <a:ext cx="533400" cy="533400"/>
          </a:xfrm>
          <a:prstGeom prst="ellipse">
            <a:avLst/>
          </a:prstGeom>
          <a:solidFill>
            <a:srgbClr val="EC008C"/>
          </a:solidFill>
          <a:ln>
            <a:solidFill>
              <a:srgbClr val="EC00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sp>
        <p:nvSpPr>
          <p:cNvPr id="8" name="Oval 7">
            <a:extLst>
              <a:ext uri="{FF2B5EF4-FFF2-40B4-BE49-F238E27FC236}">
                <a16:creationId xmlns:a16="http://schemas.microsoft.com/office/drawing/2014/main" id="{334D8866-A746-4452-BC0D-42B729C259A0}"/>
              </a:ext>
            </a:extLst>
          </p:cNvPr>
          <p:cNvSpPr/>
          <p:nvPr/>
        </p:nvSpPr>
        <p:spPr>
          <a:xfrm>
            <a:off x="2542928" y="953344"/>
            <a:ext cx="829312" cy="829312"/>
          </a:xfrm>
          <a:prstGeom prst="ellipse">
            <a:avLst/>
          </a:prstGeom>
          <a:solidFill>
            <a:srgbClr val="17298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pic>
        <p:nvPicPr>
          <p:cNvPr id="10" name="Picture 9">
            <a:extLst>
              <a:ext uri="{FF2B5EF4-FFF2-40B4-BE49-F238E27FC236}">
                <a16:creationId xmlns:a16="http://schemas.microsoft.com/office/drawing/2014/main" id="{BAAFEFBD-3898-4ED8-983A-068D023614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6704" y="12042577"/>
            <a:ext cx="5629008" cy="1239414"/>
          </a:xfrm>
          <a:prstGeom prst="rect">
            <a:avLst/>
          </a:prstGeom>
        </p:spPr>
      </p:pic>
    </p:spTree>
    <p:extLst>
      <p:ext uri="{BB962C8B-B14F-4D97-AF65-F5344CB8AC3E}">
        <p14:creationId xmlns:p14="http://schemas.microsoft.com/office/powerpoint/2010/main" val="1602510887"/>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pos="5246">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BE5FA-BEBB-4862-9C43-D14CCB29FFFA}"/>
              </a:ext>
            </a:extLst>
          </p:cNvPr>
          <p:cNvSpPr>
            <a:spLocks noGrp="1"/>
          </p:cNvSpPr>
          <p:nvPr>
            <p:ph type="title"/>
          </p:nvPr>
        </p:nvSpPr>
        <p:spPr/>
        <p:txBody>
          <a:bodyPr/>
          <a:lstStyle>
            <a:lvl1pPr>
              <a:defRPr>
                <a:solidFill>
                  <a:schemeClr val="tx2"/>
                </a:solidFill>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0D33DF61-D91B-41EB-AE86-A0DBDBFF582B}"/>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3BE4DDFD-0837-41FA-8FBA-D37B3BB687F1}"/>
              </a:ext>
            </a:extLst>
          </p:cNvPr>
          <p:cNvSpPr>
            <a:spLocks noGrp="1"/>
          </p:cNvSpPr>
          <p:nvPr>
            <p:ph type="dt" sz="half" idx="10"/>
          </p:nvPr>
        </p:nvSpPr>
        <p:spPr/>
        <p:txBody>
          <a:bodyPr/>
          <a:lstStyle>
            <a:lvl1pPr>
              <a:defRPr>
                <a:solidFill>
                  <a:schemeClr val="tx2"/>
                </a:solidFill>
              </a:defRPr>
            </a:lvl1pPr>
          </a:lstStyle>
          <a:p>
            <a:fld id="{3C404475-5ECB-4D36-A4F5-040C1856A096}" type="datetime2">
              <a:rPr lang="en-GB" smtClean="0"/>
              <a:pPr/>
              <a:t>Tuesday, 21 October 2025</a:t>
            </a:fld>
            <a:endParaRPr lang="en-GB"/>
          </a:p>
        </p:txBody>
      </p:sp>
      <p:sp>
        <p:nvSpPr>
          <p:cNvPr id="5" name="Footer Placeholder 4">
            <a:extLst>
              <a:ext uri="{FF2B5EF4-FFF2-40B4-BE49-F238E27FC236}">
                <a16:creationId xmlns:a16="http://schemas.microsoft.com/office/drawing/2014/main" id="{0A34EAA5-9395-4AA0-96B6-BD23C5245551}"/>
              </a:ext>
            </a:extLst>
          </p:cNvPr>
          <p:cNvSpPr>
            <a:spLocks noGrp="1"/>
          </p:cNvSpPr>
          <p:nvPr>
            <p:ph type="ftr" sz="quarter" idx="11"/>
          </p:nvPr>
        </p:nvSpPr>
        <p:spPr/>
        <p:txBody>
          <a:bodyPr/>
          <a:lstStyle>
            <a:lvl1pPr>
              <a:defRPr>
                <a:solidFill>
                  <a:schemeClr val="tx2"/>
                </a:solidFill>
              </a:defRPr>
            </a:lvl1pPr>
          </a:lstStyle>
          <a:p>
            <a:r>
              <a:rPr lang="en-GB"/>
              <a:t>Footer Goes Here</a:t>
            </a:r>
          </a:p>
        </p:txBody>
      </p:sp>
      <p:sp>
        <p:nvSpPr>
          <p:cNvPr id="6" name="Slide Number Placeholder 5">
            <a:extLst>
              <a:ext uri="{FF2B5EF4-FFF2-40B4-BE49-F238E27FC236}">
                <a16:creationId xmlns:a16="http://schemas.microsoft.com/office/drawing/2014/main" id="{031C2346-9DC9-4EFE-9CC7-58A873883353}"/>
              </a:ext>
            </a:extLst>
          </p:cNvPr>
          <p:cNvSpPr>
            <a:spLocks noGrp="1"/>
          </p:cNvSpPr>
          <p:nvPr>
            <p:ph type="sldNum" sz="quarter" idx="12"/>
          </p:nvPr>
        </p:nvSpPr>
        <p:spPr/>
        <p:txBody>
          <a:bodyPr/>
          <a:lstStyle>
            <a:lvl1pPr>
              <a:defRPr>
                <a:solidFill>
                  <a:schemeClr val="tx2"/>
                </a:solidFill>
              </a:defRPr>
            </a:lvl1pPr>
          </a:lstStyle>
          <a:p>
            <a:pPr marL="0" lvl="0" indent="0" algn="ctr" rtl="0">
              <a:spcBef>
                <a:spcPts val="0"/>
              </a:spcBef>
              <a:spcAft>
                <a:spcPts val="0"/>
              </a:spcAft>
              <a:buNone/>
            </a:pPr>
            <a:fld id="{00000000-1234-1234-1234-123412341234}" type="slidenum">
              <a:rPr lang="en-US" smtClean="0"/>
              <a:t>‹#›</a:t>
            </a:fld>
            <a:endParaRPr lang="en-US" sz="1400">
              <a:latin typeface="Arial"/>
              <a:ea typeface="Arial"/>
              <a:cs typeface="Arial"/>
              <a:sym typeface="Arial"/>
            </a:endParaRPr>
          </a:p>
        </p:txBody>
      </p:sp>
    </p:spTree>
    <p:extLst>
      <p:ext uri="{BB962C8B-B14F-4D97-AF65-F5344CB8AC3E}">
        <p14:creationId xmlns:p14="http://schemas.microsoft.com/office/powerpoint/2010/main" val="2282759063"/>
      </p:ext>
    </p:extLst>
  </p:cSld>
  <p:clrMapOvr>
    <a:masterClrMapping/>
  </p:clrMapOvr>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9FE78-1071-43B4-8733-6DC694827A7B}"/>
              </a:ext>
            </a:extLst>
          </p:cNvPr>
          <p:cNvSpPr>
            <a:spLocks noGrp="1"/>
          </p:cNvSpPr>
          <p:nvPr>
            <p:ph type="title"/>
          </p:nvPr>
        </p:nvSpPr>
        <p:spPr/>
        <p:txBody>
          <a:bodyPr/>
          <a:lstStyle>
            <a:lvl1pPr>
              <a:defRPr>
                <a:solidFill>
                  <a:schemeClr val="tx2"/>
                </a:solidFill>
              </a:defRPr>
            </a:lvl1pPr>
          </a:lstStyle>
          <a:p>
            <a:r>
              <a:rPr lang="en-GB"/>
              <a:t>Click to edit Master title style</a:t>
            </a:r>
          </a:p>
        </p:txBody>
      </p:sp>
      <p:sp>
        <p:nvSpPr>
          <p:cNvPr id="3" name="Content Placeholder 2">
            <a:extLst>
              <a:ext uri="{FF2B5EF4-FFF2-40B4-BE49-F238E27FC236}">
                <a16:creationId xmlns:a16="http://schemas.microsoft.com/office/drawing/2014/main" id="{EDFA8F19-6500-41F2-994F-0C0B8A75580F}"/>
              </a:ext>
            </a:extLst>
          </p:cNvPr>
          <p:cNvSpPr>
            <a:spLocks noGrp="1"/>
          </p:cNvSpPr>
          <p:nvPr>
            <p:ph sz="half" idx="1"/>
          </p:nvPr>
        </p:nvSpPr>
        <p:spPr>
          <a:xfrm>
            <a:off x="1676400" y="3545633"/>
            <a:ext cx="10363200" cy="3216265"/>
          </a:xfr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190A2526-AD2C-4E41-84D3-99AAD9431F23}"/>
              </a:ext>
            </a:extLst>
          </p:cNvPr>
          <p:cNvSpPr>
            <a:spLocks noGrp="1"/>
          </p:cNvSpPr>
          <p:nvPr>
            <p:ph sz="half" idx="2"/>
          </p:nvPr>
        </p:nvSpPr>
        <p:spPr>
          <a:xfrm>
            <a:off x="12344400" y="3545633"/>
            <a:ext cx="10363200" cy="3216265"/>
          </a:xfr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E0968D63-4560-490A-8851-3FAE68CDC0F5}"/>
              </a:ext>
            </a:extLst>
          </p:cNvPr>
          <p:cNvSpPr>
            <a:spLocks noGrp="1"/>
          </p:cNvSpPr>
          <p:nvPr>
            <p:ph type="dt" sz="half" idx="10"/>
          </p:nvPr>
        </p:nvSpPr>
        <p:spPr/>
        <p:txBody>
          <a:bodyPr/>
          <a:lstStyle>
            <a:lvl1pPr>
              <a:defRPr>
                <a:solidFill>
                  <a:schemeClr val="tx2"/>
                </a:solidFill>
              </a:defRPr>
            </a:lvl1pPr>
          </a:lstStyle>
          <a:p>
            <a:fld id="{09FCC7DF-DE0D-449C-BEB8-BE8530498216}" type="datetime2">
              <a:rPr lang="en-GB" smtClean="0"/>
              <a:pPr/>
              <a:t>Tuesday, 21 October 2025</a:t>
            </a:fld>
            <a:endParaRPr lang="en-GB"/>
          </a:p>
        </p:txBody>
      </p:sp>
      <p:sp>
        <p:nvSpPr>
          <p:cNvPr id="6" name="Footer Placeholder 5">
            <a:extLst>
              <a:ext uri="{FF2B5EF4-FFF2-40B4-BE49-F238E27FC236}">
                <a16:creationId xmlns:a16="http://schemas.microsoft.com/office/drawing/2014/main" id="{CF4C26FF-ADB8-40BD-B16C-6FD03308EF3E}"/>
              </a:ext>
            </a:extLst>
          </p:cNvPr>
          <p:cNvSpPr>
            <a:spLocks noGrp="1"/>
          </p:cNvSpPr>
          <p:nvPr>
            <p:ph type="ftr" sz="quarter" idx="11"/>
          </p:nvPr>
        </p:nvSpPr>
        <p:spPr/>
        <p:txBody>
          <a:bodyPr/>
          <a:lstStyle>
            <a:lvl1pPr>
              <a:defRPr>
                <a:solidFill>
                  <a:schemeClr val="tx2"/>
                </a:solidFill>
              </a:defRPr>
            </a:lvl1pPr>
          </a:lstStyle>
          <a:p>
            <a:r>
              <a:rPr lang="en-GB"/>
              <a:t>Footer Goes Here</a:t>
            </a:r>
          </a:p>
        </p:txBody>
      </p:sp>
      <p:sp>
        <p:nvSpPr>
          <p:cNvPr id="7" name="Slide Number Placeholder 6">
            <a:extLst>
              <a:ext uri="{FF2B5EF4-FFF2-40B4-BE49-F238E27FC236}">
                <a16:creationId xmlns:a16="http://schemas.microsoft.com/office/drawing/2014/main" id="{4633D376-5FFC-4424-BA90-E81E512C965B}"/>
              </a:ext>
            </a:extLst>
          </p:cNvPr>
          <p:cNvSpPr>
            <a:spLocks noGrp="1"/>
          </p:cNvSpPr>
          <p:nvPr>
            <p:ph type="sldNum" sz="quarter" idx="12"/>
          </p:nvPr>
        </p:nvSpPr>
        <p:spPr/>
        <p:txBody>
          <a:bodyPr/>
          <a:lstStyle>
            <a:lvl1pPr>
              <a:defRPr>
                <a:solidFill>
                  <a:schemeClr val="tx2"/>
                </a:solidFill>
              </a:defRPr>
            </a:lvl1pPr>
          </a:lstStyle>
          <a:p>
            <a:pPr marL="0" lvl="0" indent="0" algn="ctr" rtl="0">
              <a:spcBef>
                <a:spcPts val="0"/>
              </a:spcBef>
              <a:spcAft>
                <a:spcPts val="0"/>
              </a:spcAft>
              <a:buNone/>
            </a:pPr>
            <a:fld id="{00000000-1234-1234-1234-123412341234}" type="slidenum">
              <a:rPr lang="en-US" smtClean="0"/>
              <a:t>‹#›</a:t>
            </a:fld>
            <a:endParaRPr lang="en-US" sz="1400">
              <a:latin typeface="Arial"/>
              <a:ea typeface="Arial"/>
              <a:cs typeface="Arial"/>
              <a:sym typeface="Arial"/>
            </a:endParaRPr>
          </a:p>
        </p:txBody>
      </p:sp>
    </p:spTree>
    <p:extLst>
      <p:ext uri="{BB962C8B-B14F-4D97-AF65-F5344CB8AC3E}">
        <p14:creationId xmlns:p14="http://schemas.microsoft.com/office/powerpoint/2010/main" val="4229280587"/>
      </p:ext>
    </p:extLst>
  </p:cSld>
  <p:clrMapOvr>
    <a:masterClrMapping/>
  </p:clrMapOvr>
  <p:hf sldNum="0" hdr="0" ftr="0" dt="0"/>
  <p:extLst>
    <p:ext uri="{DCECCB84-F9BA-43D5-87BE-67443E8EF086}">
      <p15:sldGuideLst xmlns:p15="http://schemas.microsoft.com/office/powerpoint/2012/main">
        <p15:guide id="1" pos="3795">
          <p15:clr>
            <a:srgbClr val="FBAE40"/>
          </p15:clr>
        </p15:guide>
        <p15:guide id="2" pos="3885">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33BF9-E686-45D8-9BA8-4838328FAE1E}"/>
              </a:ext>
            </a:extLst>
          </p:cNvPr>
          <p:cNvSpPr>
            <a:spLocks noGrp="1"/>
          </p:cNvSpPr>
          <p:nvPr>
            <p:ph type="title"/>
          </p:nvPr>
        </p:nvSpPr>
        <p:spPr/>
        <p:txBody>
          <a:bodyPr/>
          <a:lstStyle>
            <a:lvl1pPr>
              <a:defRPr>
                <a:solidFill>
                  <a:schemeClr val="tx2"/>
                </a:solidFill>
              </a:defRPr>
            </a:lvl1pPr>
          </a:lstStyle>
          <a:p>
            <a:r>
              <a:rPr lang="en-GB"/>
              <a:t>Click to edit Master title style</a:t>
            </a:r>
            <a:endParaRPr lang="en-GB" dirty="0"/>
          </a:p>
        </p:txBody>
      </p:sp>
      <p:sp>
        <p:nvSpPr>
          <p:cNvPr id="3" name="Date Placeholder 2">
            <a:extLst>
              <a:ext uri="{FF2B5EF4-FFF2-40B4-BE49-F238E27FC236}">
                <a16:creationId xmlns:a16="http://schemas.microsoft.com/office/drawing/2014/main" id="{FD1EE3A2-B671-440F-82DD-2CC2477DB0F7}"/>
              </a:ext>
            </a:extLst>
          </p:cNvPr>
          <p:cNvSpPr>
            <a:spLocks noGrp="1"/>
          </p:cNvSpPr>
          <p:nvPr>
            <p:ph type="dt" sz="half" idx="10"/>
          </p:nvPr>
        </p:nvSpPr>
        <p:spPr/>
        <p:txBody>
          <a:bodyPr/>
          <a:lstStyle/>
          <a:p>
            <a:fld id="{D4F71593-4DB0-4D81-8C54-FC3441CD6A31}" type="datetime2">
              <a:rPr lang="en-GB" smtClean="0"/>
              <a:t>Tuesday, 21 October 2025</a:t>
            </a:fld>
            <a:endParaRPr lang="en-GB"/>
          </a:p>
        </p:txBody>
      </p:sp>
      <p:sp>
        <p:nvSpPr>
          <p:cNvPr id="4" name="Footer Placeholder 3">
            <a:extLst>
              <a:ext uri="{FF2B5EF4-FFF2-40B4-BE49-F238E27FC236}">
                <a16:creationId xmlns:a16="http://schemas.microsoft.com/office/drawing/2014/main" id="{AD45F141-88CC-4C9B-BCBF-9411DD6B735F}"/>
              </a:ext>
            </a:extLst>
          </p:cNvPr>
          <p:cNvSpPr>
            <a:spLocks noGrp="1"/>
          </p:cNvSpPr>
          <p:nvPr>
            <p:ph type="ftr" sz="quarter" idx="11"/>
          </p:nvPr>
        </p:nvSpPr>
        <p:spPr/>
        <p:txBody>
          <a:bodyPr/>
          <a:lstStyle/>
          <a:p>
            <a:r>
              <a:rPr lang="en-GB"/>
              <a:t>Footer Goes Here</a:t>
            </a:r>
          </a:p>
        </p:txBody>
      </p:sp>
      <p:sp>
        <p:nvSpPr>
          <p:cNvPr id="5" name="Slide Number Placeholder 4">
            <a:extLst>
              <a:ext uri="{FF2B5EF4-FFF2-40B4-BE49-F238E27FC236}">
                <a16:creationId xmlns:a16="http://schemas.microsoft.com/office/drawing/2014/main" id="{0951594B-2BB0-4059-A8A9-F6D669354563}"/>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sz="1400">
              <a:latin typeface="Arial"/>
              <a:ea typeface="Arial"/>
              <a:cs typeface="Arial"/>
              <a:sym typeface="Arial"/>
            </a:endParaRPr>
          </a:p>
        </p:txBody>
      </p:sp>
    </p:spTree>
    <p:extLst>
      <p:ext uri="{BB962C8B-B14F-4D97-AF65-F5344CB8AC3E}">
        <p14:creationId xmlns:p14="http://schemas.microsoft.com/office/powerpoint/2010/main" val="3404362887"/>
      </p:ext>
    </p:extLst>
  </p:cSld>
  <p:clrMapOvr>
    <a:masterClrMapping/>
  </p:clrMapOvr>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D4886D-F66E-4DA4-B896-2DD5F023B34E}"/>
              </a:ext>
            </a:extLst>
          </p:cNvPr>
          <p:cNvSpPr>
            <a:spLocks noGrp="1"/>
          </p:cNvSpPr>
          <p:nvPr>
            <p:ph type="dt" sz="half" idx="10"/>
          </p:nvPr>
        </p:nvSpPr>
        <p:spPr>
          <a:xfrm>
            <a:off x="1679576" y="12660451"/>
            <a:ext cx="10512000" cy="246222"/>
          </a:xfrm>
        </p:spPr>
        <p:txBody>
          <a:bodyPr/>
          <a:lstStyle/>
          <a:p>
            <a:fld id="{A97DCDC8-AA34-4254-B0FC-746FEFC2CCD2}" type="datetime2">
              <a:rPr lang="en-GB" smtClean="0"/>
              <a:t>Tuesday, 21 October 2025</a:t>
            </a:fld>
            <a:endParaRPr lang="en-GB"/>
          </a:p>
        </p:txBody>
      </p:sp>
      <p:sp>
        <p:nvSpPr>
          <p:cNvPr id="3" name="Footer Placeholder 2">
            <a:extLst>
              <a:ext uri="{FF2B5EF4-FFF2-40B4-BE49-F238E27FC236}">
                <a16:creationId xmlns:a16="http://schemas.microsoft.com/office/drawing/2014/main" id="{6CCFCCD3-B48C-4476-9A97-D76934AFE9F8}"/>
              </a:ext>
            </a:extLst>
          </p:cNvPr>
          <p:cNvSpPr>
            <a:spLocks noGrp="1"/>
          </p:cNvSpPr>
          <p:nvPr>
            <p:ph type="ftr" sz="quarter" idx="11"/>
          </p:nvPr>
        </p:nvSpPr>
        <p:spPr>
          <a:xfrm>
            <a:off x="1679576" y="13050689"/>
            <a:ext cx="10512424" cy="246222"/>
          </a:xfrm>
        </p:spPr>
        <p:txBody>
          <a:bodyPr/>
          <a:lstStyle/>
          <a:p>
            <a:r>
              <a:rPr lang="en-GB"/>
              <a:t>Footer Goes Here</a:t>
            </a:r>
          </a:p>
        </p:txBody>
      </p:sp>
      <p:sp>
        <p:nvSpPr>
          <p:cNvPr id="4" name="Slide Number Placeholder 3">
            <a:extLst>
              <a:ext uri="{FF2B5EF4-FFF2-40B4-BE49-F238E27FC236}">
                <a16:creationId xmlns:a16="http://schemas.microsoft.com/office/drawing/2014/main" id="{4B74CFAE-D0C0-468C-98D4-B14C14C4E676}"/>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9143206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with Logo">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C056096-ABC1-404A-9892-9E48F602CB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96656" y="12042577"/>
            <a:ext cx="5629008" cy="1239414"/>
          </a:xfrm>
          <a:prstGeom prst="rect">
            <a:avLst/>
          </a:prstGeom>
        </p:spPr>
      </p:pic>
    </p:spTree>
    <p:extLst>
      <p:ext uri="{BB962C8B-B14F-4D97-AF65-F5344CB8AC3E}">
        <p14:creationId xmlns:p14="http://schemas.microsoft.com/office/powerpoint/2010/main" val="958030876"/>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pos="3840">
          <p15:clr>
            <a:srgbClr val="FBAE40"/>
          </p15:clr>
        </p15:guide>
        <p15:guide id="2" pos="2116">
          <p15:clr>
            <a:srgbClr val="FBAE40"/>
          </p15:clr>
        </p15:guide>
        <p15:guide id="3" pos="5564">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Two Column White">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GB"/>
              <a:t>Click to edit Master title style</a:t>
            </a:r>
          </a:p>
        </p:txBody>
      </p:sp>
      <p:sp>
        <p:nvSpPr>
          <p:cNvPr id="5" name="Slide Number Placeholder 4"/>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sz="1400">
              <a:latin typeface="Arial"/>
              <a:ea typeface="Arial"/>
              <a:cs typeface="Arial"/>
              <a:sym typeface="Arial"/>
            </a:endParaRPr>
          </a:p>
        </p:txBody>
      </p:sp>
      <p:sp>
        <p:nvSpPr>
          <p:cNvPr id="7" name="Content Placeholder 6"/>
          <p:cNvSpPr>
            <a:spLocks noGrp="1"/>
          </p:cNvSpPr>
          <p:nvPr>
            <p:ph sz="quarter" idx="13"/>
          </p:nvPr>
        </p:nvSpPr>
        <p:spPr>
          <a:xfrm>
            <a:off x="1683283" y="3524753"/>
            <a:ext cx="10143106" cy="3216266"/>
          </a:xfrm>
        </p:spPr>
        <p:txBody>
          <a:bodyPr/>
          <a:lstStyle>
            <a:lvl1pPr>
              <a:defRPr>
                <a:solidFill>
                  <a:schemeClr val="tx1"/>
                </a:solidFill>
              </a:defRPr>
            </a:lvl1pPr>
            <a:lvl2pPr marL="648882" indent="-648882">
              <a:buFont typeface="Arial" panose="020B0604020202020204" pitchFamily="34" charset="0"/>
              <a:buChar char="•"/>
              <a:defRPr>
                <a:solidFill>
                  <a:schemeClr val="tx1"/>
                </a:solidFill>
              </a:defRPr>
            </a:lvl2pPr>
            <a:lvl3pPr marL="1301602" indent="-652720">
              <a:buFont typeface="Arial" panose="020B0604020202020204" pitchFamily="34" charset="0"/>
              <a:buChar char="•"/>
              <a:defRPr>
                <a:solidFill>
                  <a:schemeClr val="tx1"/>
                </a:solidFill>
              </a:defRPr>
            </a:lvl3pPr>
            <a:lvl4pPr marL="1950480" indent="-648882">
              <a:buFont typeface="Arial" panose="020B0604020202020204" pitchFamily="34" charset="0"/>
              <a:buChar char="•"/>
              <a:defRPr>
                <a:solidFill>
                  <a:schemeClr val="tx1"/>
                </a:solidFill>
              </a:defRPr>
            </a:lvl4pPr>
            <a:lvl5pPr marL="2603200" indent="-652720">
              <a:buFont typeface="Arial" panose="020B0604020202020204" pitchFamily="34" charset="0"/>
              <a:buChar cha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9" name="Content Placeholder 8"/>
          <p:cNvSpPr>
            <a:spLocks noGrp="1"/>
          </p:cNvSpPr>
          <p:nvPr>
            <p:ph sz="quarter" idx="14" hasCustomPrompt="1"/>
          </p:nvPr>
        </p:nvSpPr>
        <p:spPr>
          <a:xfrm>
            <a:off x="12557621" y="3524753"/>
            <a:ext cx="10143106" cy="3216266"/>
          </a:xfrm>
        </p:spPr>
        <p:txBody>
          <a:bodyPr/>
          <a:lstStyle>
            <a:lvl1pPr>
              <a:defRPr>
                <a:solidFill>
                  <a:schemeClr val="tx1"/>
                </a:solidFill>
              </a:defRPr>
            </a:lvl1pPr>
            <a:lvl2pPr marL="648882" indent="-648882">
              <a:buFont typeface="Arial" panose="020B0604020202020204" pitchFamily="34" charset="0"/>
              <a:buChar char="•"/>
              <a:defRPr>
                <a:solidFill>
                  <a:schemeClr val="tx1"/>
                </a:solidFill>
              </a:defRPr>
            </a:lvl2pPr>
            <a:lvl3pPr marL="1301602" indent="-652720">
              <a:buFont typeface="Arial" panose="020B0604020202020204" pitchFamily="34" charset="0"/>
              <a:buChar char="•"/>
              <a:defRPr>
                <a:solidFill>
                  <a:schemeClr val="tx1"/>
                </a:solidFill>
              </a:defRPr>
            </a:lvl3pPr>
            <a:lvl4pPr marL="1950480" indent="-648882">
              <a:buFont typeface="Arial" panose="020B0604020202020204" pitchFamily="34" charset="0"/>
              <a:buChar char="•"/>
              <a:defRPr>
                <a:solidFill>
                  <a:schemeClr val="tx1"/>
                </a:solidFill>
              </a:defRPr>
            </a:lvl4pPr>
            <a:lvl5pPr marL="2603200" indent="-652720">
              <a:buFont typeface="Arial" panose="020B0604020202020204" pitchFamily="34" charset="0"/>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512551616"/>
      </p:ext>
    </p:extLst>
  </p:cSld>
  <p:clrMapOvr>
    <a:masterClrMapping/>
  </p:clrMapOvr>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losing Slid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Picture Placeholder 10">
            <a:extLst>
              <a:ext uri="{FF2B5EF4-FFF2-40B4-BE49-F238E27FC236}">
                <a16:creationId xmlns:a16="http://schemas.microsoft.com/office/drawing/2014/main" id="{997D0358-D1A5-4615-A65D-68C0B35BE606}"/>
              </a:ext>
            </a:extLst>
          </p:cNvPr>
          <p:cNvSpPr>
            <a:spLocks noGrp="1"/>
          </p:cNvSpPr>
          <p:nvPr>
            <p:ph type="pic" sz="quarter" idx="10"/>
          </p:nvPr>
        </p:nvSpPr>
        <p:spPr>
          <a:xfrm>
            <a:off x="14544891" y="0"/>
            <a:ext cx="9839110" cy="137160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2281 w 12281"/>
              <a:gd name="connsiteY0" fmla="*/ 0 h 10000"/>
              <a:gd name="connsiteX1" fmla="*/ 12281 w 12281"/>
              <a:gd name="connsiteY1" fmla="*/ 0 h 10000"/>
              <a:gd name="connsiteX2" fmla="*/ 12281 w 12281"/>
              <a:gd name="connsiteY2" fmla="*/ 10000 h 10000"/>
              <a:gd name="connsiteX3" fmla="*/ 2281 w 12281"/>
              <a:gd name="connsiteY3" fmla="*/ 10000 h 10000"/>
              <a:gd name="connsiteX4" fmla="*/ 2281 w 12281"/>
              <a:gd name="connsiteY4" fmla="*/ 0 h 10000"/>
              <a:gd name="connsiteX0" fmla="*/ 2718 w 12718"/>
              <a:gd name="connsiteY0" fmla="*/ 0 h 10000"/>
              <a:gd name="connsiteX1" fmla="*/ 12718 w 12718"/>
              <a:gd name="connsiteY1" fmla="*/ 0 h 10000"/>
              <a:gd name="connsiteX2" fmla="*/ 12718 w 12718"/>
              <a:gd name="connsiteY2" fmla="*/ 10000 h 10000"/>
              <a:gd name="connsiteX3" fmla="*/ 2718 w 12718"/>
              <a:gd name="connsiteY3" fmla="*/ 10000 h 10000"/>
              <a:gd name="connsiteX4" fmla="*/ 2718 w 12718"/>
              <a:gd name="connsiteY4" fmla="*/ 0 h 10000"/>
              <a:gd name="connsiteX0" fmla="*/ 2205 w 12205"/>
              <a:gd name="connsiteY0" fmla="*/ 0 h 10000"/>
              <a:gd name="connsiteX1" fmla="*/ 12205 w 12205"/>
              <a:gd name="connsiteY1" fmla="*/ 0 h 10000"/>
              <a:gd name="connsiteX2" fmla="*/ 12205 w 12205"/>
              <a:gd name="connsiteY2" fmla="*/ 10000 h 10000"/>
              <a:gd name="connsiteX3" fmla="*/ 2205 w 12205"/>
              <a:gd name="connsiteY3" fmla="*/ 10000 h 10000"/>
              <a:gd name="connsiteX4" fmla="*/ 2205 w 12205"/>
              <a:gd name="connsiteY4" fmla="*/ 0 h 10000"/>
              <a:gd name="connsiteX0" fmla="*/ 2264 w 12264"/>
              <a:gd name="connsiteY0" fmla="*/ 0 h 10000"/>
              <a:gd name="connsiteX1" fmla="*/ 12264 w 12264"/>
              <a:gd name="connsiteY1" fmla="*/ 0 h 10000"/>
              <a:gd name="connsiteX2" fmla="*/ 12264 w 12264"/>
              <a:gd name="connsiteY2" fmla="*/ 10000 h 10000"/>
              <a:gd name="connsiteX3" fmla="*/ 2264 w 12264"/>
              <a:gd name="connsiteY3" fmla="*/ 10000 h 10000"/>
              <a:gd name="connsiteX4" fmla="*/ 2264 w 12264"/>
              <a:gd name="connsiteY4" fmla="*/ 0 h 10000"/>
              <a:gd name="connsiteX0" fmla="*/ 2303 w 12303"/>
              <a:gd name="connsiteY0" fmla="*/ 0 h 10000"/>
              <a:gd name="connsiteX1" fmla="*/ 12303 w 12303"/>
              <a:gd name="connsiteY1" fmla="*/ 0 h 10000"/>
              <a:gd name="connsiteX2" fmla="*/ 12303 w 12303"/>
              <a:gd name="connsiteY2" fmla="*/ 10000 h 10000"/>
              <a:gd name="connsiteX3" fmla="*/ 2303 w 12303"/>
              <a:gd name="connsiteY3" fmla="*/ 10000 h 10000"/>
              <a:gd name="connsiteX4" fmla="*/ 2303 w 12303"/>
              <a:gd name="connsiteY4" fmla="*/ 0 h 10000"/>
              <a:gd name="connsiteX0" fmla="*/ 2273 w 12273"/>
              <a:gd name="connsiteY0" fmla="*/ 0 h 10000"/>
              <a:gd name="connsiteX1" fmla="*/ 12273 w 12273"/>
              <a:gd name="connsiteY1" fmla="*/ 0 h 10000"/>
              <a:gd name="connsiteX2" fmla="*/ 12273 w 12273"/>
              <a:gd name="connsiteY2" fmla="*/ 10000 h 10000"/>
              <a:gd name="connsiteX3" fmla="*/ 2273 w 12273"/>
              <a:gd name="connsiteY3" fmla="*/ 10000 h 10000"/>
              <a:gd name="connsiteX4" fmla="*/ 2273 w 12273"/>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3" h="10000">
                <a:moveTo>
                  <a:pt x="2273" y="0"/>
                </a:moveTo>
                <a:lnTo>
                  <a:pt x="12273" y="0"/>
                </a:lnTo>
                <a:lnTo>
                  <a:pt x="12273" y="10000"/>
                </a:lnTo>
                <a:lnTo>
                  <a:pt x="2273" y="10000"/>
                </a:lnTo>
                <a:cubicBezTo>
                  <a:pt x="215" y="7508"/>
                  <a:pt x="-1596" y="4260"/>
                  <a:pt x="2273" y="0"/>
                </a:cubicBezTo>
                <a:close/>
              </a:path>
            </a:pathLst>
          </a:custGeom>
          <a:blipFill dpi="0" rotWithShape="1">
            <a:blip r:embed="rId3" cstate="print">
              <a:extLst>
                <a:ext uri="{28A0092B-C50C-407E-A947-70E740481C1C}">
                  <a14:useLocalDpi xmlns:a14="http://schemas.microsoft.com/office/drawing/2010/main"/>
                </a:ext>
              </a:extLst>
            </a:blip>
            <a:srcRect/>
            <a:stretch>
              <a:fillRect/>
            </a:stretch>
          </a:blipFill>
          <a:ln w="28575">
            <a:noFill/>
          </a:ln>
        </p:spPr>
        <p:txBody>
          <a:bodyPr anchor="ctr" anchorCtr="0">
            <a:noAutofit/>
          </a:bodyPr>
          <a:lstStyle>
            <a:lvl1pPr marL="0" indent="0" algn="ctr">
              <a:buNone/>
              <a:defRPr b="1">
                <a:solidFill>
                  <a:schemeClr val="bg1"/>
                </a:solidFill>
              </a:defRPr>
            </a:lvl1pPr>
          </a:lstStyle>
          <a:p>
            <a:r>
              <a:rPr lang="en-GB"/>
              <a:t>Click icon to add picture</a:t>
            </a:r>
            <a:endParaRPr lang="en-GB" dirty="0"/>
          </a:p>
        </p:txBody>
      </p:sp>
      <p:sp>
        <p:nvSpPr>
          <p:cNvPr id="6" name="Title 1">
            <a:extLst>
              <a:ext uri="{FF2B5EF4-FFF2-40B4-BE49-F238E27FC236}">
                <a16:creationId xmlns:a16="http://schemas.microsoft.com/office/drawing/2014/main" id="{13936653-3080-447B-B85A-CA4AC2D8E173}"/>
              </a:ext>
            </a:extLst>
          </p:cNvPr>
          <p:cNvSpPr>
            <a:spLocks noGrp="1"/>
          </p:cNvSpPr>
          <p:nvPr>
            <p:ph type="ctrTitle"/>
          </p:nvPr>
        </p:nvSpPr>
        <p:spPr>
          <a:xfrm>
            <a:off x="1678832" y="3689648"/>
            <a:ext cx="10944000" cy="4176464"/>
          </a:xfrm>
          <a:prstGeom prst="rect">
            <a:avLst/>
          </a:prstGeom>
          <a:ln>
            <a:noFill/>
          </a:ln>
        </p:spPr>
        <p:txBody>
          <a:bodyPr bIns="0" anchor="ctr" anchorCtr="0">
            <a:noAutofit/>
          </a:bodyPr>
          <a:lstStyle>
            <a:lvl1pPr algn="ctr">
              <a:lnSpc>
                <a:spcPct val="70000"/>
              </a:lnSpc>
              <a:defRPr sz="12000">
                <a:solidFill>
                  <a:schemeClr val="bg1"/>
                </a:solidFill>
              </a:defRPr>
            </a:lvl1pPr>
          </a:lstStyle>
          <a:p>
            <a:r>
              <a:rPr lang="en-GB"/>
              <a:t>Click to edit Master title style</a:t>
            </a:r>
            <a:endParaRPr lang="en-GB" dirty="0"/>
          </a:p>
        </p:txBody>
      </p:sp>
      <p:sp>
        <p:nvSpPr>
          <p:cNvPr id="7" name="Rectangle 6">
            <a:extLst>
              <a:ext uri="{FF2B5EF4-FFF2-40B4-BE49-F238E27FC236}">
                <a16:creationId xmlns:a16="http://schemas.microsoft.com/office/drawing/2014/main" id="{1B083680-74B4-4455-AFC5-36F2C960F739}"/>
              </a:ext>
            </a:extLst>
          </p:cNvPr>
          <p:cNvSpPr/>
          <p:nvPr/>
        </p:nvSpPr>
        <p:spPr>
          <a:xfrm>
            <a:off x="670720" y="10069984"/>
            <a:ext cx="4896544" cy="3412752"/>
          </a:xfrm>
          <a:prstGeom prst="rect">
            <a:avLst/>
          </a:prstGeom>
          <a:solidFill>
            <a:srgbClr val="2E008B"/>
          </a:solidFill>
          <a:ln>
            <a:solidFill>
              <a:srgbClr val="2E00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pic>
        <p:nvPicPr>
          <p:cNvPr id="9" name="Picture 8">
            <a:extLst>
              <a:ext uri="{FF2B5EF4-FFF2-40B4-BE49-F238E27FC236}">
                <a16:creationId xmlns:a16="http://schemas.microsoft.com/office/drawing/2014/main" id="{344253DF-1ABC-4174-A75F-C3973F2D57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688" y="11952718"/>
            <a:ext cx="5904656" cy="1302332"/>
          </a:xfrm>
          <a:prstGeom prst="rect">
            <a:avLst/>
          </a:prstGeom>
        </p:spPr>
      </p:pic>
    </p:spTree>
    <p:extLst>
      <p:ext uri="{BB962C8B-B14F-4D97-AF65-F5344CB8AC3E}">
        <p14:creationId xmlns:p14="http://schemas.microsoft.com/office/powerpoint/2010/main" val="4065685779"/>
      </p:ext>
    </p:extLst>
  </p:cSld>
  <p:clrMapOvr>
    <a:masterClrMapping/>
  </p:clrMapOvr>
  <p:hf sldNum="0" hdr="0" ftr="0" dt="0"/>
  <p:extLst>
    <p:ext uri="{DCECCB84-F9BA-43D5-87BE-67443E8EF086}">
      <p15:sldGuideLst xmlns:p15="http://schemas.microsoft.com/office/powerpoint/2012/main">
        <p15:guide id="1" pos="3840">
          <p15:clr>
            <a:srgbClr val="FBAE40"/>
          </p15:clr>
        </p15:guide>
        <p15:guide id="2" pos="2116">
          <p15:clr>
            <a:srgbClr val="FBAE40"/>
          </p15:clr>
        </p15:guide>
        <p15:guide id="3" pos="5564">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body" idx="1"/>
          </p:nvPr>
        </p:nvSpPr>
        <p:spPr>
          <a:xfrm>
            <a:off x="1201340" y="11859862"/>
            <a:ext cx="21971003" cy="636979"/>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3600"/>
              <a:buFont typeface="Helvetica Neue"/>
              <a:buNone/>
              <a:defRPr sz="36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11" name="Google Shape;11;p2"/>
          <p:cNvSpPr txBox="1">
            <a:spLocks noGrp="1"/>
          </p:cNvSpPr>
          <p:nvPr>
            <p:ph type="title"/>
          </p:nvPr>
        </p:nvSpPr>
        <p:spPr>
          <a:xfrm>
            <a:off x="1206496" y="2574991"/>
            <a:ext cx="21971004" cy="4648201"/>
          </a:xfrm>
          <a:prstGeom prst="rect">
            <a:avLst/>
          </a:prstGeom>
          <a:noFill/>
          <a:ln>
            <a:noFill/>
          </a:ln>
        </p:spPr>
        <p:txBody>
          <a:bodyPr spcFirstLastPara="1" wrap="square" lIns="50800" tIns="50800" rIns="50800" bIns="50800" anchor="b" anchorCtr="0">
            <a:normAutofit/>
          </a:bodyPr>
          <a:lstStyle>
            <a:lvl1pPr lvl="0" algn="l">
              <a:lnSpc>
                <a:spcPct val="80000"/>
              </a:lnSpc>
              <a:spcBef>
                <a:spcPts val="0"/>
              </a:spcBef>
              <a:spcAft>
                <a:spcPts val="0"/>
              </a:spcAft>
              <a:buClr>
                <a:srgbClr val="000000"/>
              </a:buClr>
              <a:buSzPts val="11600"/>
              <a:buFont typeface="Helvetica Neue"/>
              <a:buNone/>
              <a:defRPr sz="11600"/>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12" name="Google Shape;12;p2"/>
          <p:cNvSpPr txBox="1">
            <a:spLocks noGrp="1"/>
          </p:cNvSpPr>
          <p:nvPr>
            <p:ph type="body" idx="2"/>
          </p:nvPr>
        </p:nvSpPr>
        <p:spPr>
          <a:xfrm>
            <a:off x="1201342" y="7223190"/>
            <a:ext cx="21971001" cy="1905001"/>
          </a:xfrm>
          <a:prstGeom prst="rect">
            <a:avLst/>
          </a:prstGeom>
          <a:noFill/>
          <a:ln>
            <a:noFill/>
          </a:ln>
        </p:spPr>
        <p:txBody>
          <a:bodyPr spcFirstLastPara="1" wrap="square" lIns="50800" tIns="50800" rIns="50800" bIns="508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228600" algn="l">
              <a:lnSpc>
                <a:spcPct val="100000"/>
              </a:lnSpc>
              <a:spcBef>
                <a:spcPts val="0"/>
              </a:spcBef>
              <a:spcAft>
                <a:spcPts val="0"/>
              </a:spcAft>
              <a:buClr>
                <a:srgbClr val="000000"/>
              </a:buClr>
              <a:buSzPts val="5500"/>
              <a:buFont typeface="Helvetica Neue"/>
              <a:buNone/>
              <a:defRPr sz="5500" b="1"/>
            </a:lvl2pPr>
            <a:lvl3pPr marL="1371600" lvl="2" indent="-228600" algn="l">
              <a:lnSpc>
                <a:spcPct val="100000"/>
              </a:lnSpc>
              <a:spcBef>
                <a:spcPts val="0"/>
              </a:spcBef>
              <a:spcAft>
                <a:spcPts val="0"/>
              </a:spcAft>
              <a:buClr>
                <a:srgbClr val="000000"/>
              </a:buClr>
              <a:buSzPts val="5500"/>
              <a:buFont typeface="Helvetica Neue"/>
              <a:buNone/>
              <a:defRPr sz="5500" b="1"/>
            </a:lvl3pPr>
            <a:lvl4pPr marL="1828800" lvl="3" indent="-228600" algn="l">
              <a:lnSpc>
                <a:spcPct val="100000"/>
              </a:lnSpc>
              <a:spcBef>
                <a:spcPts val="0"/>
              </a:spcBef>
              <a:spcAft>
                <a:spcPts val="0"/>
              </a:spcAft>
              <a:buClr>
                <a:srgbClr val="000000"/>
              </a:buClr>
              <a:buSzPts val="5500"/>
              <a:buFont typeface="Helvetica Neue"/>
              <a:buNone/>
              <a:defRPr sz="5500" b="1"/>
            </a:lvl4pPr>
            <a:lvl5pPr marL="2286000" lvl="4" indent="-228600" algn="l">
              <a:lnSpc>
                <a:spcPct val="100000"/>
              </a:lnSpc>
              <a:spcBef>
                <a:spcPts val="0"/>
              </a:spcBef>
              <a:spcAft>
                <a:spcPts val="0"/>
              </a:spcAft>
              <a:buClr>
                <a:srgbClr val="000000"/>
              </a:buClr>
              <a:buSzPts val="5500"/>
              <a:buFont typeface="Helvetica Neue"/>
              <a:buNone/>
              <a:defRPr sz="5500" b="1"/>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13" name="Google Shape;13;p2"/>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solidFill>
                  <a:srgbClr val="000000"/>
                </a:solidFill>
              </a:defRPr>
            </a:lvl1pPr>
            <a:lvl2pPr marL="0" lvl="1" indent="0" algn="ctr">
              <a:lnSpc>
                <a:spcPct val="100000"/>
              </a:lnSpc>
              <a:spcBef>
                <a:spcPts val="0"/>
              </a:spcBef>
              <a:spcAft>
                <a:spcPts val="0"/>
              </a:spcAft>
              <a:buClr>
                <a:srgbClr val="000000"/>
              </a:buClr>
              <a:buSzPts val="1800"/>
              <a:buFont typeface="Helvetica Neue"/>
              <a:buNone/>
              <a:defRPr sz="1800">
                <a:solidFill>
                  <a:srgbClr val="000000"/>
                </a:solidFill>
              </a:defRPr>
            </a:lvl2pPr>
            <a:lvl3pPr marL="0" lvl="2" indent="0" algn="ctr">
              <a:lnSpc>
                <a:spcPct val="100000"/>
              </a:lnSpc>
              <a:spcBef>
                <a:spcPts val="0"/>
              </a:spcBef>
              <a:spcAft>
                <a:spcPts val="0"/>
              </a:spcAft>
              <a:buClr>
                <a:srgbClr val="000000"/>
              </a:buClr>
              <a:buSzPts val="1800"/>
              <a:buFont typeface="Helvetica Neue"/>
              <a:buNone/>
              <a:defRPr sz="1800">
                <a:solidFill>
                  <a:srgbClr val="000000"/>
                </a:solidFill>
              </a:defRPr>
            </a:lvl3pPr>
            <a:lvl4pPr marL="0" lvl="3" indent="0" algn="ctr">
              <a:lnSpc>
                <a:spcPct val="100000"/>
              </a:lnSpc>
              <a:spcBef>
                <a:spcPts val="0"/>
              </a:spcBef>
              <a:spcAft>
                <a:spcPts val="0"/>
              </a:spcAft>
              <a:buClr>
                <a:srgbClr val="000000"/>
              </a:buClr>
              <a:buSzPts val="1800"/>
              <a:buFont typeface="Helvetica Neue"/>
              <a:buNone/>
              <a:defRPr sz="1800">
                <a:solidFill>
                  <a:srgbClr val="000000"/>
                </a:solidFill>
              </a:defRPr>
            </a:lvl4pPr>
            <a:lvl5pPr marL="0" lvl="4" indent="0" algn="ctr">
              <a:lnSpc>
                <a:spcPct val="100000"/>
              </a:lnSpc>
              <a:spcBef>
                <a:spcPts val="0"/>
              </a:spcBef>
              <a:spcAft>
                <a:spcPts val="0"/>
              </a:spcAft>
              <a:buClr>
                <a:srgbClr val="000000"/>
              </a:buClr>
              <a:buSzPts val="1800"/>
              <a:buFont typeface="Helvetica Neue"/>
              <a:buNone/>
              <a:defRPr sz="1800">
                <a:solidFill>
                  <a:srgbClr val="000000"/>
                </a:solidFill>
              </a:defRPr>
            </a:lvl5pPr>
            <a:lvl6pPr marL="0" lvl="5" indent="0" algn="ctr">
              <a:lnSpc>
                <a:spcPct val="100000"/>
              </a:lnSpc>
              <a:spcBef>
                <a:spcPts val="0"/>
              </a:spcBef>
              <a:spcAft>
                <a:spcPts val="0"/>
              </a:spcAft>
              <a:buClr>
                <a:srgbClr val="000000"/>
              </a:buClr>
              <a:buSzPts val="1800"/>
              <a:buFont typeface="Helvetica Neue"/>
              <a:buNone/>
              <a:defRPr sz="1800">
                <a:solidFill>
                  <a:srgbClr val="000000"/>
                </a:solidFill>
              </a:defRPr>
            </a:lvl6pPr>
            <a:lvl7pPr marL="0" lvl="6" indent="0" algn="ctr">
              <a:lnSpc>
                <a:spcPct val="100000"/>
              </a:lnSpc>
              <a:spcBef>
                <a:spcPts val="0"/>
              </a:spcBef>
              <a:spcAft>
                <a:spcPts val="0"/>
              </a:spcAft>
              <a:buClr>
                <a:srgbClr val="000000"/>
              </a:buClr>
              <a:buSzPts val="1800"/>
              <a:buFont typeface="Helvetica Neue"/>
              <a:buNone/>
              <a:defRPr sz="1800">
                <a:solidFill>
                  <a:srgbClr val="000000"/>
                </a:solidFill>
              </a:defRPr>
            </a:lvl7pPr>
            <a:lvl8pPr marL="0" lvl="7" indent="0" algn="ctr">
              <a:lnSpc>
                <a:spcPct val="100000"/>
              </a:lnSpc>
              <a:spcBef>
                <a:spcPts val="0"/>
              </a:spcBef>
              <a:spcAft>
                <a:spcPts val="0"/>
              </a:spcAft>
              <a:buClr>
                <a:srgbClr val="000000"/>
              </a:buClr>
              <a:buSzPts val="1800"/>
              <a:buFont typeface="Helvetica Neue"/>
              <a:buNone/>
              <a:defRPr sz="1800">
                <a:solidFill>
                  <a:srgbClr val="000000"/>
                </a:solidFill>
              </a:defRPr>
            </a:lvl8pPr>
            <a:lvl9pPr marL="0" lvl="8" indent="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marL="0" lvl="0" indent="0" algn="ct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37280165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matchingName="Title &amp; Bullets" type="tx">
  <p:cSld name="Title &amp; Bullets">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1206500" y="1079500"/>
            <a:ext cx="21971000" cy="1433163"/>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16" name="Google Shape;16;p3"/>
          <p:cNvSpPr txBox="1">
            <a:spLocks noGrp="1"/>
          </p:cNvSpPr>
          <p:nvPr>
            <p:ph type="body" idx="1"/>
          </p:nvPr>
        </p:nvSpPr>
        <p:spPr>
          <a:xfrm>
            <a:off x="1206500" y="2372962"/>
            <a:ext cx="21971000" cy="93478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17" name="Google Shape;17;p3"/>
          <p:cNvSpPr txBox="1">
            <a:spLocks noGrp="1"/>
          </p:cNvSpPr>
          <p:nvPr>
            <p:ph type="body" idx="2"/>
          </p:nvPr>
        </p:nvSpPr>
        <p:spPr>
          <a:xfrm>
            <a:off x="1206500" y="4248504"/>
            <a:ext cx="21971000" cy="8256012"/>
          </a:xfrm>
          <a:prstGeom prst="rect">
            <a:avLst/>
          </a:prstGeom>
          <a:noFill/>
          <a:ln>
            <a:noFill/>
          </a:ln>
        </p:spPr>
        <p:txBody>
          <a:bodyPr spcFirstLastPara="1" wrap="square" lIns="50800" tIns="50800" rIns="50800" bIns="50800" anchor="t" anchorCtr="0">
            <a:normAutofit/>
          </a:bodyPr>
          <a:lstStyle>
            <a:lvl1pPr marL="457200" lvl="0" indent="-369189" algn="l">
              <a:lnSpc>
                <a:spcPct val="90000"/>
              </a:lnSpc>
              <a:spcBef>
                <a:spcPts val="4500"/>
              </a:spcBef>
              <a:spcAft>
                <a:spcPts val="0"/>
              </a:spcAft>
              <a:buClr>
                <a:srgbClr val="000000"/>
              </a:buClr>
              <a:buSzPts val="2214"/>
              <a:buChar char="•"/>
              <a:defRPr/>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18" name="Google Shape;18;p3"/>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solidFill>
                  <a:srgbClr val="000000"/>
                </a:solidFill>
              </a:defRPr>
            </a:lvl1pPr>
            <a:lvl2pPr marL="0" lvl="1" indent="0" algn="ctr">
              <a:lnSpc>
                <a:spcPct val="100000"/>
              </a:lnSpc>
              <a:spcBef>
                <a:spcPts val="0"/>
              </a:spcBef>
              <a:spcAft>
                <a:spcPts val="0"/>
              </a:spcAft>
              <a:buClr>
                <a:srgbClr val="000000"/>
              </a:buClr>
              <a:buSzPts val="1800"/>
              <a:buFont typeface="Helvetica Neue"/>
              <a:buNone/>
              <a:defRPr sz="1800">
                <a:solidFill>
                  <a:srgbClr val="000000"/>
                </a:solidFill>
              </a:defRPr>
            </a:lvl2pPr>
            <a:lvl3pPr marL="0" lvl="2" indent="0" algn="ctr">
              <a:lnSpc>
                <a:spcPct val="100000"/>
              </a:lnSpc>
              <a:spcBef>
                <a:spcPts val="0"/>
              </a:spcBef>
              <a:spcAft>
                <a:spcPts val="0"/>
              </a:spcAft>
              <a:buClr>
                <a:srgbClr val="000000"/>
              </a:buClr>
              <a:buSzPts val="1800"/>
              <a:buFont typeface="Helvetica Neue"/>
              <a:buNone/>
              <a:defRPr sz="1800">
                <a:solidFill>
                  <a:srgbClr val="000000"/>
                </a:solidFill>
              </a:defRPr>
            </a:lvl3pPr>
            <a:lvl4pPr marL="0" lvl="3" indent="0" algn="ctr">
              <a:lnSpc>
                <a:spcPct val="100000"/>
              </a:lnSpc>
              <a:spcBef>
                <a:spcPts val="0"/>
              </a:spcBef>
              <a:spcAft>
                <a:spcPts val="0"/>
              </a:spcAft>
              <a:buClr>
                <a:srgbClr val="000000"/>
              </a:buClr>
              <a:buSzPts val="1800"/>
              <a:buFont typeface="Helvetica Neue"/>
              <a:buNone/>
              <a:defRPr sz="1800">
                <a:solidFill>
                  <a:srgbClr val="000000"/>
                </a:solidFill>
              </a:defRPr>
            </a:lvl4pPr>
            <a:lvl5pPr marL="0" lvl="4" indent="0" algn="ctr">
              <a:lnSpc>
                <a:spcPct val="100000"/>
              </a:lnSpc>
              <a:spcBef>
                <a:spcPts val="0"/>
              </a:spcBef>
              <a:spcAft>
                <a:spcPts val="0"/>
              </a:spcAft>
              <a:buClr>
                <a:srgbClr val="000000"/>
              </a:buClr>
              <a:buSzPts val="1800"/>
              <a:buFont typeface="Helvetica Neue"/>
              <a:buNone/>
              <a:defRPr sz="1800">
                <a:solidFill>
                  <a:srgbClr val="000000"/>
                </a:solidFill>
              </a:defRPr>
            </a:lvl5pPr>
            <a:lvl6pPr marL="0" lvl="5" indent="0" algn="ctr">
              <a:lnSpc>
                <a:spcPct val="100000"/>
              </a:lnSpc>
              <a:spcBef>
                <a:spcPts val="0"/>
              </a:spcBef>
              <a:spcAft>
                <a:spcPts val="0"/>
              </a:spcAft>
              <a:buClr>
                <a:srgbClr val="000000"/>
              </a:buClr>
              <a:buSzPts val="1800"/>
              <a:buFont typeface="Helvetica Neue"/>
              <a:buNone/>
              <a:defRPr sz="1800">
                <a:solidFill>
                  <a:srgbClr val="000000"/>
                </a:solidFill>
              </a:defRPr>
            </a:lvl6pPr>
            <a:lvl7pPr marL="0" lvl="6" indent="0" algn="ctr">
              <a:lnSpc>
                <a:spcPct val="100000"/>
              </a:lnSpc>
              <a:spcBef>
                <a:spcPts val="0"/>
              </a:spcBef>
              <a:spcAft>
                <a:spcPts val="0"/>
              </a:spcAft>
              <a:buClr>
                <a:srgbClr val="000000"/>
              </a:buClr>
              <a:buSzPts val="1800"/>
              <a:buFont typeface="Helvetica Neue"/>
              <a:buNone/>
              <a:defRPr sz="1800">
                <a:solidFill>
                  <a:srgbClr val="000000"/>
                </a:solidFill>
              </a:defRPr>
            </a:lvl7pPr>
            <a:lvl8pPr marL="0" lvl="7" indent="0" algn="ctr">
              <a:lnSpc>
                <a:spcPct val="100000"/>
              </a:lnSpc>
              <a:spcBef>
                <a:spcPts val="0"/>
              </a:spcBef>
              <a:spcAft>
                <a:spcPts val="0"/>
              </a:spcAft>
              <a:buClr>
                <a:srgbClr val="000000"/>
              </a:buClr>
              <a:buSzPts val="1800"/>
              <a:buFont typeface="Helvetica Neue"/>
              <a:buNone/>
              <a:defRPr sz="1800">
                <a:solidFill>
                  <a:srgbClr val="000000"/>
                </a:solidFill>
              </a:defRPr>
            </a:lvl8pPr>
            <a:lvl9pPr marL="0" lvl="8" indent="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marL="0" lvl="0" indent="0" algn="ct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60943173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Click to edit Master title style</a:t>
            </a:r>
          </a:p>
        </p:txBody>
      </p:sp>
      <p:sp>
        <p:nvSpPr>
          <p:cNvPr id="3" name="Content Placeholder 2"/>
          <p:cNvSpPr>
            <a:spLocks noGrp="1"/>
          </p:cNvSpPr>
          <p:nvPr>
            <p:ph sz="half" idx="1"/>
          </p:nvPr>
        </p:nvSpPr>
        <p:spPr>
          <a:xfrm>
            <a:off x="1219200" y="3454403"/>
            <a:ext cx="10160000" cy="8229598"/>
          </a:xfrm>
        </p:spPr>
        <p:txBody>
          <a:bodyPr/>
          <a:lstStyle>
            <a:lvl1pPr>
              <a:defRPr sz="4800"/>
            </a:lvl1pPr>
            <a:lvl2pPr>
              <a:defRPr sz="4000"/>
            </a:lvl2pPr>
            <a:lvl3pPr>
              <a:defRPr sz="4000"/>
            </a:lvl3pPr>
            <a:lvl4pPr>
              <a:defRPr sz="3200"/>
            </a:lvl4pPr>
            <a:lvl5pPr>
              <a:defRPr sz="3200"/>
            </a:lvl5pPr>
            <a:lvl6pPr>
              <a:defRPr sz="3600"/>
            </a:lvl6pPr>
            <a:lvl7pPr>
              <a:defRPr sz="3600"/>
            </a:lvl7pPr>
            <a:lvl8pPr>
              <a:defRPr sz="3600"/>
            </a:lvl8pPr>
            <a:lvl9pPr>
              <a:defRPr sz="36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3" name="Date Placeholder 3"/>
          <p:cNvSpPr>
            <a:spLocks noGrp="1"/>
          </p:cNvSpPr>
          <p:nvPr>
            <p:ph type="dt" sz="half" idx="10"/>
          </p:nvPr>
        </p:nvSpPr>
        <p:spPr>
          <a:xfrm>
            <a:off x="2235200" y="12293600"/>
            <a:ext cx="9956800" cy="355600"/>
          </a:xfrm>
          <a:prstGeom prst="rect">
            <a:avLst/>
          </a:prstGeom>
        </p:spPr>
        <p:txBody>
          <a:bodyPr vert="horz" lIns="0" tIns="0" rIns="0" bIns="0" rtlCol="0" anchor="t" anchorCtr="0"/>
          <a:lstStyle>
            <a:lvl1pPr algn="l">
              <a:defRPr sz="2000">
                <a:solidFill>
                  <a:schemeClr val="accent6"/>
                </a:solidFill>
              </a:defRPr>
            </a:lvl1pPr>
          </a:lstStyle>
          <a:p>
            <a:fld id="{750CEE6D-10F8-E84E-B244-45BE4C072FAD}" type="datetime2">
              <a:rPr lang="en-GB" smtClean="0"/>
              <a:t>Tuesday, 21 October 2025</a:t>
            </a:fld>
            <a:endParaRPr lang="en-GB" dirty="0"/>
          </a:p>
        </p:txBody>
      </p:sp>
      <p:sp>
        <p:nvSpPr>
          <p:cNvPr id="15" name="Footer Placeholder 4"/>
          <p:cNvSpPr>
            <a:spLocks noGrp="1"/>
          </p:cNvSpPr>
          <p:nvPr>
            <p:ph type="ftr" sz="quarter" idx="3"/>
          </p:nvPr>
        </p:nvSpPr>
        <p:spPr>
          <a:xfrm>
            <a:off x="2235201" y="12649198"/>
            <a:ext cx="9956802" cy="762000"/>
          </a:xfrm>
          <a:prstGeom prst="rect">
            <a:avLst/>
          </a:prstGeom>
        </p:spPr>
        <p:txBody>
          <a:bodyPr vert="horz" lIns="0" tIns="0" rIns="0" bIns="0" rtlCol="0" anchor="t" anchorCtr="0"/>
          <a:lstStyle>
            <a:lvl1pPr algn="l">
              <a:defRPr sz="2000">
                <a:solidFill>
                  <a:schemeClr val="tx1"/>
                </a:solidFill>
              </a:defRPr>
            </a:lvl1pPr>
          </a:lstStyle>
          <a:p>
            <a:r>
              <a:rPr lang="en-US"/>
              <a:t>View &lt;Headers and Footers&gt; to alter this text</a:t>
            </a:r>
            <a:endParaRPr lang="en-GB" dirty="0"/>
          </a:p>
        </p:txBody>
      </p:sp>
      <p:sp>
        <p:nvSpPr>
          <p:cNvPr id="16" name="Slide Number Placeholder 5"/>
          <p:cNvSpPr>
            <a:spLocks noGrp="1"/>
          </p:cNvSpPr>
          <p:nvPr>
            <p:ph type="sldNum" sz="quarter" idx="4"/>
          </p:nvPr>
        </p:nvSpPr>
        <p:spPr>
          <a:xfrm>
            <a:off x="15456363" y="12330608"/>
            <a:ext cx="677334" cy="307777"/>
          </a:xfrm>
          <a:prstGeom prst="rect">
            <a:avLst/>
          </a:prstGeom>
        </p:spPr>
        <p:txBody>
          <a:bodyPr vert="horz" lIns="0" tIns="0" rIns="0" bIns="0" rtlCol="0" anchor="t" anchorCtr="0"/>
          <a:lstStyle>
            <a:lvl1pPr algn="l">
              <a:defRPr sz="2000">
                <a:solidFill>
                  <a:srgbClr val="5D5C5C"/>
                </a:solidFill>
              </a:defRPr>
            </a:lvl1pPr>
          </a:lstStyle>
          <a:p>
            <a:fld id="{C231324C-4752-C242-8156-5E21DB4253A5}" type="slidenum">
              <a:rPr lang="en-GB" smtClean="0"/>
              <a:pPr/>
              <a:t>‹#›</a:t>
            </a:fld>
            <a:endParaRPr lang="en-GB" dirty="0"/>
          </a:p>
        </p:txBody>
      </p:sp>
      <p:sp>
        <p:nvSpPr>
          <p:cNvPr id="9" name="Content Placeholder 2"/>
          <p:cNvSpPr>
            <a:spLocks noGrp="1"/>
          </p:cNvSpPr>
          <p:nvPr>
            <p:ph sz="half" idx="11"/>
          </p:nvPr>
        </p:nvSpPr>
        <p:spPr>
          <a:xfrm>
            <a:off x="12192000" y="3454403"/>
            <a:ext cx="10972800" cy="8229598"/>
          </a:xfrm>
        </p:spPr>
        <p:txBody>
          <a:bodyPr/>
          <a:lstStyle>
            <a:lvl1pPr>
              <a:defRPr sz="4800"/>
            </a:lvl1pPr>
            <a:lvl2pPr>
              <a:defRPr sz="4000"/>
            </a:lvl2pPr>
            <a:lvl3pPr>
              <a:defRPr sz="4000"/>
            </a:lvl3pPr>
            <a:lvl4pPr>
              <a:defRPr sz="3200"/>
            </a:lvl4pPr>
            <a:lvl5pPr>
              <a:defRPr sz="3200"/>
            </a:lvl5pPr>
            <a:lvl6pPr>
              <a:defRPr sz="3600"/>
            </a:lvl6pPr>
            <a:lvl7pPr>
              <a:defRPr sz="3600"/>
            </a:lvl7pPr>
            <a:lvl8pPr>
              <a:defRPr sz="3600"/>
            </a:lvl8pPr>
            <a:lvl9pPr>
              <a:defRPr sz="36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pic>
        <p:nvPicPr>
          <p:cNvPr id="10" name="Picture 9"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6032427" y="11754544"/>
            <a:ext cx="7680854" cy="1668240"/>
          </a:xfrm>
          <a:prstGeom prst="rect">
            <a:avLst/>
          </a:prstGeom>
        </p:spPr>
      </p:pic>
    </p:spTree>
    <p:extLst>
      <p:ext uri="{BB962C8B-B14F-4D97-AF65-F5344CB8AC3E}">
        <p14:creationId xmlns:p14="http://schemas.microsoft.com/office/powerpoint/2010/main" val="1893422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theme" Target="../theme/theme2.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25EF75-4D52-440A-A177-AD7D86E621B3}"/>
              </a:ext>
            </a:extLst>
          </p:cNvPr>
          <p:cNvSpPr>
            <a:spLocks noGrp="1"/>
          </p:cNvSpPr>
          <p:nvPr>
            <p:ph type="title"/>
          </p:nvPr>
        </p:nvSpPr>
        <p:spPr>
          <a:xfrm>
            <a:off x="1676400" y="809329"/>
            <a:ext cx="21031200" cy="1231106"/>
          </a:xfrm>
          <a:prstGeom prst="rect">
            <a:avLst/>
          </a:prstGeom>
        </p:spPr>
        <p:txBody>
          <a:bodyPr vert="horz" lIns="0" tIns="0" rIns="0" bIns="0" rtlCol="0" anchor="t" anchorCtr="0">
            <a:sp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A660E384-7329-4F48-9513-487423506C14}"/>
              </a:ext>
            </a:extLst>
          </p:cNvPr>
          <p:cNvSpPr>
            <a:spLocks noGrp="1"/>
          </p:cNvSpPr>
          <p:nvPr>
            <p:ph type="body" idx="1"/>
          </p:nvPr>
        </p:nvSpPr>
        <p:spPr>
          <a:xfrm>
            <a:off x="1676400" y="3545633"/>
            <a:ext cx="21031200" cy="3216266"/>
          </a:xfrm>
          <a:prstGeom prst="rect">
            <a:avLst/>
          </a:prstGeom>
        </p:spPr>
        <p:txBody>
          <a:bodyPr vert="horz" lIns="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8A02CADF-0F3F-4A6D-8357-3E5A35796082}"/>
              </a:ext>
            </a:extLst>
          </p:cNvPr>
          <p:cNvSpPr>
            <a:spLocks noGrp="1"/>
          </p:cNvSpPr>
          <p:nvPr>
            <p:ph type="dt" sz="half" idx="2"/>
          </p:nvPr>
        </p:nvSpPr>
        <p:spPr>
          <a:xfrm>
            <a:off x="1679576" y="12660451"/>
            <a:ext cx="10512000" cy="246222"/>
          </a:xfrm>
          <a:prstGeom prst="rect">
            <a:avLst/>
          </a:prstGeom>
        </p:spPr>
        <p:txBody>
          <a:bodyPr vert="horz" wrap="square" lIns="0" tIns="0" rIns="0" bIns="0" rtlCol="0" anchor="b" anchorCtr="0">
            <a:spAutoFit/>
          </a:bodyPr>
          <a:lstStyle>
            <a:lvl1pPr algn="l">
              <a:defRPr sz="1600">
                <a:solidFill>
                  <a:schemeClr val="tx2"/>
                </a:solidFill>
              </a:defRPr>
            </a:lvl1pPr>
          </a:lstStyle>
          <a:p>
            <a:fld id="{7BFF6A76-928D-4240-A973-B16EE178E0D9}" type="datetime2">
              <a:rPr lang="en-GB" smtClean="0"/>
              <a:pPr/>
              <a:t>Tuesday, 21 October 2025</a:t>
            </a:fld>
            <a:endParaRPr lang="en-GB" dirty="0"/>
          </a:p>
        </p:txBody>
      </p:sp>
      <p:sp>
        <p:nvSpPr>
          <p:cNvPr id="5" name="Footer Placeholder 4">
            <a:extLst>
              <a:ext uri="{FF2B5EF4-FFF2-40B4-BE49-F238E27FC236}">
                <a16:creationId xmlns:a16="http://schemas.microsoft.com/office/drawing/2014/main" id="{99B8B8C9-4F22-4557-AE82-C88DC9015F8B}"/>
              </a:ext>
            </a:extLst>
          </p:cNvPr>
          <p:cNvSpPr>
            <a:spLocks noGrp="1"/>
          </p:cNvSpPr>
          <p:nvPr>
            <p:ph type="ftr" sz="quarter" idx="3"/>
          </p:nvPr>
        </p:nvSpPr>
        <p:spPr>
          <a:xfrm>
            <a:off x="1679576" y="13050689"/>
            <a:ext cx="21024000" cy="246222"/>
          </a:xfrm>
          <a:prstGeom prst="rect">
            <a:avLst/>
          </a:prstGeom>
        </p:spPr>
        <p:txBody>
          <a:bodyPr vert="horz" wrap="square" lIns="0" tIns="0" rIns="0" bIns="0" rtlCol="0" anchor="t" anchorCtr="0">
            <a:spAutoFit/>
          </a:bodyPr>
          <a:lstStyle>
            <a:lvl1pPr algn="l">
              <a:defRPr sz="1600">
                <a:solidFill>
                  <a:schemeClr val="tx2"/>
                </a:solidFill>
              </a:defRPr>
            </a:lvl1pPr>
          </a:lstStyle>
          <a:p>
            <a:r>
              <a:rPr lang="en-GB"/>
              <a:t>Footer Goes Here</a:t>
            </a:r>
            <a:endParaRPr lang="en-GB" dirty="0"/>
          </a:p>
        </p:txBody>
      </p:sp>
      <p:sp>
        <p:nvSpPr>
          <p:cNvPr id="6" name="Slide Number Placeholder 5">
            <a:extLst>
              <a:ext uri="{FF2B5EF4-FFF2-40B4-BE49-F238E27FC236}">
                <a16:creationId xmlns:a16="http://schemas.microsoft.com/office/drawing/2014/main" id="{3B240DCD-F5B7-4664-87EE-F1FFDD430D8C}"/>
              </a:ext>
            </a:extLst>
          </p:cNvPr>
          <p:cNvSpPr>
            <a:spLocks noGrp="1"/>
          </p:cNvSpPr>
          <p:nvPr>
            <p:ph type="sldNum" sz="quarter" idx="4"/>
          </p:nvPr>
        </p:nvSpPr>
        <p:spPr>
          <a:xfrm>
            <a:off x="0" y="12660451"/>
            <a:ext cx="1534816" cy="246222"/>
          </a:xfrm>
          <a:prstGeom prst="rect">
            <a:avLst/>
          </a:prstGeom>
        </p:spPr>
        <p:txBody>
          <a:bodyPr vert="horz" wrap="square" lIns="0" tIns="0" rIns="0" bIns="0" rtlCol="0" anchor="b" anchorCtr="0">
            <a:spAutoFit/>
          </a:bodyPr>
          <a:lstStyle>
            <a:lvl1pPr algn="r">
              <a:defRPr sz="1600">
                <a:solidFill>
                  <a:schemeClr val="tx2"/>
                </a:solidFill>
              </a:defRPr>
            </a:lvl1pPr>
          </a:lstStyle>
          <a:p>
            <a:pPr marL="0" lvl="0" indent="0" algn="ctr" rtl="0">
              <a:spcBef>
                <a:spcPts val="0"/>
              </a:spcBef>
              <a:spcAft>
                <a:spcPts val="0"/>
              </a:spcAft>
              <a:buNone/>
            </a:pPr>
            <a:fld id="{00000000-1234-1234-1234-123412341234}" type="slidenum">
              <a:rPr lang="en-US" smtClean="0"/>
              <a:t>‹#›</a:t>
            </a:fld>
            <a:endParaRPr lang="en-US" sz="1400">
              <a:latin typeface="Arial"/>
              <a:ea typeface="Arial"/>
              <a:cs typeface="Arial"/>
              <a:sym typeface="Arial"/>
            </a:endParaRPr>
          </a:p>
        </p:txBody>
      </p:sp>
    </p:spTree>
    <p:extLst>
      <p:ext uri="{BB962C8B-B14F-4D97-AF65-F5344CB8AC3E}">
        <p14:creationId xmlns:p14="http://schemas.microsoft.com/office/powerpoint/2010/main" val="281248431"/>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 id="2147483682" r:id="rId17"/>
    <p:sldLayoutId id="2147483683" r:id="rId18"/>
    <p:sldLayoutId id="2147483684" r:id="rId19"/>
    <p:sldLayoutId id="2147483685" r:id="rId20"/>
    <p:sldLayoutId id="2147483686" r:id="rId21"/>
    <p:sldLayoutId id="2147483687" r:id="rId22"/>
    <p:sldLayoutId id="2147483688" r:id="rId23"/>
  </p:sldLayoutIdLst>
  <p:hf sldNum="0" hdr="0" ftr="0" dt="0"/>
  <p:txStyles>
    <p:titleStyle>
      <a:lvl1pPr algn="l" defTabSz="1828800" rtl="0" eaLnBrk="1" latinLnBrk="0" hangingPunct="1">
        <a:lnSpc>
          <a:spcPct val="100000"/>
        </a:lnSpc>
        <a:spcBef>
          <a:spcPct val="0"/>
        </a:spcBef>
        <a:buNone/>
        <a:defRPr sz="8000" kern="1200" cap="all" baseline="0">
          <a:solidFill>
            <a:schemeClr val="accent3"/>
          </a:solidFill>
          <a:latin typeface="+mj-lt"/>
          <a:ea typeface="+mj-ea"/>
          <a:cs typeface="+mj-cs"/>
        </a:defRPr>
      </a:lvl1pPr>
    </p:titleStyle>
    <p:bodyStyle>
      <a:lvl1pPr marL="0" indent="0" algn="l" defTabSz="1828800" rtl="0" eaLnBrk="1" latinLnBrk="0" hangingPunct="1">
        <a:lnSpc>
          <a:spcPct val="100000"/>
        </a:lnSpc>
        <a:spcBef>
          <a:spcPts val="1200"/>
        </a:spcBef>
        <a:buFont typeface="Arial" panose="020B0604020202020204" pitchFamily="34" charset="0"/>
        <a:buNone/>
        <a:defRPr sz="4800" kern="1200">
          <a:solidFill>
            <a:schemeClr val="tx1"/>
          </a:solidFill>
          <a:latin typeface="+mn-lt"/>
          <a:ea typeface="+mn-ea"/>
          <a:cs typeface="+mn-cs"/>
        </a:defRPr>
      </a:lvl1pPr>
      <a:lvl2pPr marL="717550" indent="-717550" algn="l" defTabSz="1828800" rtl="0" eaLnBrk="1" latinLnBrk="0" hangingPunct="1">
        <a:lnSpc>
          <a:spcPct val="100000"/>
        </a:lnSpc>
        <a:spcBef>
          <a:spcPts val="1200"/>
        </a:spcBef>
        <a:spcAft>
          <a:spcPts val="600"/>
        </a:spcAft>
        <a:buClr>
          <a:schemeClr val="bg2"/>
        </a:buClr>
        <a:buFont typeface="Arial" panose="020B0604020202020204" pitchFamily="34" charset="0"/>
        <a:buChar char="‒"/>
        <a:defRPr sz="4000" kern="1200">
          <a:solidFill>
            <a:schemeClr val="tx1"/>
          </a:solidFill>
          <a:latin typeface="+mn-lt"/>
          <a:ea typeface="+mn-ea"/>
          <a:cs typeface="+mn-cs"/>
        </a:defRPr>
      </a:lvl2pPr>
      <a:lvl3pPr marL="1263650" indent="-546100" algn="l" defTabSz="1828800" rtl="0" eaLnBrk="1" latinLnBrk="0" hangingPunct="1">
        <a:lnSpc>
          <a:spcPct val="100000"/>
        </a:lnSpc>
        <a:spcBef>
          <a:spcPts val="0"/>
        </a:spcBef>
        <a:spcAft>
          <a:spcPts val="600"/>
        </a:spcAft>
        <a:buClr>
          <a:schemeClr val="bg2"/>
        </a:buClr>
        <a:buFont typeface="Arial" panose="020B0604020202020204" pitchFamily="34" charset="0"/>
        <a:buChar char="•"/>
        <a:defRPr sz="3600" kern="1200">
          <a:solidFill>
            <a:schemeClr val="tx1"/>
          </a:solidFill>
          <a:latin typeface="+mn-lt"/>
          <a:ea typeface="+mn-ea"/>
          <a:cs typeface="+mn-cs"/>
        </a:defRPr>
      </a:lvl3pPr>
      <a:lvl4pPr marL="1981200" indent="-717550" algn="l" defTabSz="1828800" rtl="0" eaLnBrk="1" latinLnBrk="0" hangingPunct="1">
        <a:lnSpc>
          <a:spcPct val="100000"/>
        </a:lnSpc>
        <a:spcBef>
          <a:spcPts val="0"/>
        </a:spcBef>
        <a:spcAft>
          <a:spcPts val="600"/>
        </a:spcAft>
        <a:buClr>
          <a:schemeClr val="bg2"/>
        </a:buClr>
        <a:buFont typeface="Arial" panose="020B0604020202020204" pitchFamily="34" charset="0"/>
        <a:buChar char="‒"/>
        <a:defRPr sz="3200" kern="1200">
          <a:solidFill>
            <a:schemeClr val="tx1"/>
          </a:solidFill>
          <a:latin typeface="+mn-lt"/>
          <a:ea typeface="+mn-ea"/>
          <a:cs typeface="+mn-cs"/>
        </a:defRPr>
      </a:lvl4pPr>
      <a:lvl5pPr marL="2508250" indent="-527050" algn="l" defTabSz="1828800" rtl="0" eaLnBrk="1" latinLnBrk="0" hangingPunct="1">
        <a:lnSpc>
          <a:spcPct val="100000"/>
        </a:lnSpc>
        <a:spcBef>
          <a:spcPts val="0"/>
        </a:spcBef>
        <a:spcAft>
          <a:spcPts val="600"/>
        </a:spcAft>
        <a:buClr>
          <a:schemeClr val="bg2"/>
        </a:buClr>
        <a:buFont typeface="Arial" panose="020B0604020202020204" pitchFamily="34" charset="0"/>
        <a:buChar char="•"/>
        <a:defRPr sz="28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9">
          <p15:clr>
            <a:srgbClr val="F26B43"/>
          </p15:clr>
        </p15:guide>
        <p15:guide id="2" pos="7151">
          <p15:clr>
            <a:srgbClr val="F26B43"/>
          </p15:clr>
        </p15:guide>
        <p15:guide id="3" pos="3840">
          <p15:clr>
            <a:srgbClr val="F26B43"/>
          </p15:clr>
        </p15:guide>
        <p15:guide id="4" orient="horz" pos="1117">
          <p15:clr>
            <a:srgbClr val="F26B43"/>
          </p15:clr>
        </p15:guide>
        <p15:guide id="5" orient="horz" pos="4065">
          <p15:clr>
            <a:srgbClr val="F26B43"/>
          </p15:clr>
        </p15:guide>
        <p15:guide id="7" orient="horz" pos="411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25EF75-4D52-440A-A177-AD7D86E621B3}"/>
              </a:ext>
            </a:extLst>
          </p:cNvPr>
          <p:cNvSpPr>
            <a:spLocks noGrp="1"/>
          </p:cNvSpPr>
          <p:nvPr>
            <p:ph type="title"/>
          </p:nvPr>
        </p:nvSpPr>
        <p:spPr>
          <a:xfrm>
            <a:off x="1676400" y="809329"/>
            <a:ext cx="21031200" cy="1231106"/>
          </a:xfrm>
          <a:prstGeom prst="rect">
            <a:avLst/>
          </a:prstGeom>
        </p:spPr>
        <p:txBody>
          <a:bodyPr vert="horz" lIns="0" tIns="0" rIns="0" bIns="0" rtlCol="0" anchor="t" anchorCtr="0">
            <a:sp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A660E384-7329-4F48-9513-487423506C14}"/>
              </a:ext>
            </a:extLst>
          </p:cNvPr>
          <p:cNvSpPr>
            <a:spLocks noGrp="1"/>
          </p:cNvSpPr>
          <p:nvPr>
            <p:ph type="body" idx="1"/>
          </p:nvPr>
        </p:nvSpPr>
        <p:spPr>
          <a:xfrm>
            <a:off x="1676400" y="3545633"/>
            <a:ext cx="21031200" cy="3216266"/>
          </a:xfrm>
          <a:prstGeom prst="rect">
            <a:avLst/>
          </a:prstGeom>
        </p:spPr>
        <p:txBody>
          <a:bodyPr vert="horz" lIns="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8A02CADF-0F3F-4A6D-8357-3E5A35796082}"/>
              </a:ext>
            </a:extLst>
          </p:cNvPr>
          <p:cNvSpPr>
            <a:spLocks noGrp="1"/>
          </p:cNvSpPr>
          <p:nvPr>
            <p:ph type="dt" sz="half" idx="2"/>
          </p:nvPr>
        </p:nvSpPr>
        <p:spPr>
          <a:xfrm>
            <a:off x="1679576" y="12660451"/>
            <a:ext cx="10512000" cy="246222"/>
          </a:xfrm>
          <a:prstGeom prst="rect">
            <a:avLst/>
          </a:prstGeom>
        </p:spPr>
        <p:txBody>
          <a:bodyPr vert="horz" wrap="square" lIns="0" tIns="0" rIns="0" bIns="0" rtlCol="0" anchor="b" anchorCtr="0">
            <a:spAutoFit/>
          </a:bodyPr>
          <a:lstStyle>
            <a:lvl1pPr algn="l">
              <a:defRPr sz="1600">
                <a:solidFill>
                  <a:schemeClr val="tx2"/>
                </a:solidFill>
              </a:defRPr>
            </a:lvl1pPr>
          </a:lstStyle>
          <a:p>
            <a:fld id="{7BFF6A76-928D-4240-A973-B16EE178E0D9}" type="datetime2">
              <a:rPr lang="en-GB" smtClean="0"/>
              <a:pPr/>
              <a:t>Tuesday, 21 October 2025</a:t>
            </a:fld>
            <a:endParaRPr lang="en-GB" dirty="0"/>
          </a:p>
        </p:txBody>
      </p:sp>
      <p:sp>
        <p:nvSpPr>
          <p:cNvPr id="5" name="Footer Placeholder 4">
            <a:extLst>
              <a:ext uri="{FF2B5EF4-FFF2-40B4-BE49-F238E27FC236}">
                <a16:creationId xmlns:a16="http://schemas.microsoft.com/office/drawing/2014/main" id="{99B8B8C9-4F22-4557-AE82-C88DC9015F8B}"/>
              </a:ext>
            </a:extLst>
          </p:cNvPr>
          <p:cNvSpPr>
            <a:spLocks noGrp="1"/>
          </p:cNvSpPr>
          <p:nvPr>
            <p:ph type="ftr" sz="quarter" idx="3"/>
          </p:nvPr>
        </p:nvSpPr>
        <p:spPr>
          <a:xfrm>
            <a:off x="1679576" y="13050689"/>
            <a:ext cx="21024000" cy="246222"/>
          </a:xfrm>
          <a:prstGeom prst="rect">
            <a:avLst/>
          </a:prstGeom>
        </p:spPr>
        <p:txBody>
          <a:bodyPr vert="horz" wrap="square" lIns="0" tIns="0" rIns="0" bIns="0" rtlCol="0" anchor="t" anchorCtr="0">
            <a:spAutoFit/>
          </a:bodyPr>
          <a:lstStyle>
            <a:lvl1pPr algn="l">
              <a:defRPr sz="1600">
                <a:solidFill>
                  <a:schemeClr val="tx2"/>
                </a:solidFill>
              </a:defRPr>
            </a:lvl1pPr>
          </a:lstStyle>
          <a:p>
            <a:r>
              <a:rPr lang="en-GB"/>
              <a:t>Footer Goes Here</a:t>
            </a:r>
            <a:endParaRPr lang="en-GB" dirty="0"/>
          </a:p>
        </p:txBody>
      </p:sp>
      <p:sp>
        <p:nvSpPr>
          <p:cNvPr id="6" name="Slide Number Placeholder 5">
            <a:extLst>
              <a:ext uri="{FF2B5EF4-FFF2-40B4-BE49-F238E27FC236}">
                <a16:creationId xmlns:a16="http://schemas.microsoft.com/office/drawing/2014/main" id="{3B240DCD-F5B7-4664-87EE-F1FFDD430D8C}"/>
              </a:ext>
            </a:extLst>
          </p:cNvPr>
          <p:cNvSpPr>
            <a:spLocks noGrp="1"/>
          </p:cNvSpPr>
          <p:nvPr>
            <p:ph type="sldNum" sz="quarter" idx="4"/>
          </p:nvPr>
        </p:nvSpPr>
        <p:spPr>
          <a:xfrm>
            <a:off x="0" y="12660451"/>
            <a:ext cx="1534816" cy="246222"/>
          </a:xfrm>
          <a:prstGeom prst="rect">
            <a:avLst/>
          </a:prstGeom>
        </p:spPr>
        <p:txBody>
          <a:bodyPr vert="horz" wrap="square" lIns="0" tIns="0" rIns="0" bIns="0" rtlCol="0" anchor="b" anchorCtr="0">
            <a:spAutoFit/>
          </a:bodyPr>
          <a:lstStyle>
            <a:lvl1pPr algn="r">
              <a:defRPr sz="1600">
                <a:solidFill>
                  <a:schemeClr val="tx2"/>
                </a:solidFill>
              </a:defRPr>
            </a:lvl1pPr>
          </a:lstStyle>
          <a:p>
            <a:pPr marL="0" lvl="0" indent="0" algn="ctr" rtl="0">
              <a:spcBef>
                <a:spcPts val="0"/>
              </a:spcBef>
              <a:spcAft>
                <a:spcPts val="0"/>
              </a:spcAft>
              <a:buNone/>
            </a:pPr>
            <a:fld id="{00000000-1234-1234-1234-123412341234}" type="slidenum">
              <a:rPr lang="en-US" smtClean="0"/>
              <a:t>‹#›</a:t>
            </a:fld>
            <a:endParaRPr lang="en-US" sz="1400">
              <a:latin typeface="Arial"/>
              <a:ea typeface="Arial"/>
              <a:cs typeface="Arial"/>
              <a:sym typeface="Arial"/>
            </a:endParaRPr>
          </a:p>
        </p:txBody>
      </p:sp>
    </p:spTree>
    <p:extLst>
      <p:ext uri="{BB962C8B-B14F-4D97-AF65-F5344CB8AC3E}">
        <p14:creationId xmlns:p14="http://schemas.microsoft.com/office/powerpoint/2010/main" val="3163311096"/>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 id="2147483707" r:id="rId18"/>
    <p:sldLayoutId id="2147483708" r:id="rId19"/>
    <p:sldLayoutId id="2147483709" r:id="rId20"/>
    <p:sldLayoutId id="2147483710" r:id="rId21"/>
    <p:sldLayoutId id="2147483711" r:id="rId22"/>
    <p:sldLayoutId id="2147483712" r:id="rId23"/>
  </p:sldLayoutIdLst>
  <p:hf sldNum="0" hdr="0" ftr="0" dt="0"/>
  <p:txStyles>
    <p:titleStyle>
      <a:lvl1pPr algn="l" defTabSz="1828800" rtl="0" eaLnBrk="1" latinLnBrk="0" hangingPunct="1">
        <a:lnSpc>
          <a:spcPct val="100000"/>
        </a:lnSpc>
        <a:spcBef>
          <a:spcPct val="0"/>
        </a:spcBef>
        <a:buNone/>
        <a:defRPr sz="8000" kern="1200" cap="all" baseline="0">
          <a:solidFill>
            <a:schemeClr val="accent3"/>
          </a:solidFill>
          <a:latin typeface="+mj-lt"/>
          <a:ea typeface="+mj-ea"/>
          <a:cs typeface="+mj-cs"/>
        </a:defRPr>
      </a:lvl1pPr>
    </p:titleStyle>
    <p:bodyStyle>
      <a:lvl1pPr marL="0" indent="0" algn="l" defTabSz="1828800" rtl="0" eaLnBrk="1" latinLnBrk="0" hangingPunct="1">
        <a:lnSpc>
          <a:spcPct val="100000"/>
        </a:lnSpc>
        <a:spcBef>
          <a:spcPts val="1200"/>
        </a:spcBef>
        <a:buFont typeface="Arial" panose="020B0604020202020204" pitchFamily="34" charset="0"/>
        <a:buNone/>
        <a:defRPr sz="4800" kern="1200">
          <a:solidFill>
            <a:schemeClr val="tx1"/>
          </a:solidFill>
          <a:latin typeface="+mn-lt"/>
          <a:ea typeface="+mn-ea"/>
          <a:cs typeface="+mn-cs"/>
        </a:defRPr>
      </a:lvl1pPr>
      <a:lvl2pPr marL="717550" indent="-717550" algn="l" defTabSz="1828800" rtl="0" eaLnBrk="1" latinLnBrk="0" hangingPunct="1">
        <a:lnSpc>
          <a:spcPct val="100000"/>
        </a:lnSpc>
        <a:spcBef>
          <a:spcPts val="1200"/>
        </a:spcBef>
        <a:spcAft>
          <a:spcPts val="600"/>
        </a:spcAft>
        <a:buClr>
          <a:schemeClr val="bg2"/>
        </a:buClr>
        <a:buFont typeface="Arial" panose="020B0604020202020204" pitchFamily="34" charset="0"/>
        <a:buChar char="‒"/>
        <a:defRPr sz="4000" kern="1200">
          <a:solidFill>
            <a:schemeClr val="tx1"/>
          </a:solidFill>
          <a:latin typeface="+mn-lt"/>
          <a:ea typeface="+mn-ea"/>
          <a:cs typeface="+mn-cs"/>
        </a:defRPr>
      </a:lvl2pPr>
      <a:lvl3pPr marL="1263650" indent="-546100" algn="l" defTabSz="1828800" rtl="0" eaLnBrk="1" latinLnBrk="0" hangingPunct="1">
        <a:lnSpc>
          <a:spcPct val="100000"/>
        </a:lnSpc>
        <a:spcBef>
          <a:spcPts val="0"/>
        </a:spcBef>
        <a:spcAft>
          <a:spcPts val="600"/>
        </a:spcAft>
        <a:buClr>
          <a:schemeClr val="bg2"/>
        </a:buClr>
        <a:buFont typeface="Arial" panose="020B0604020202020204" pitchFamily="34" charset="0"/>
        <a:buChar char="•"/>
        <a:defRPr sz="3600" kern="1200">
          <a:solidFill>
            <a:schemeClr val="tx1"/>
          </a:solidFill>
          <a:latin typeface="+mn-lt"/>
          <a:ea typeface="+mn-ea"/>
          <a:cs typeface="+mn-cs"/>
        </a:defRPr>
      </a:lvl3pPr>
      <a:lvl4pPr marL="1981200" indent="-717550" algn="l" defTabSz="1828800" rtl="0" eaLnBrk="1" latinLnBrk="0" hangingPunct="1">
        <a:lnSpc>
          <a:spcPct val="100000"/>
        </a:lnSpc>
        <a:spcBef>
          <a:spcPts val="0"/>
        </a:spcBef>
        <a:spcAft>
          <a:spcPts val="600"/>
        </a:spcAft>
        <a:buClr>
          <a:schemeClr val="bg2"/>
        </a:buClr>
        <a:buFont typeface="Arial" panose="020B0604020202020204" pitchFamily="34" charset="0"/>
        <a:buChar char="‒"/>
        <a:defRPr sz="3200" kern="1200">
          <a:solidFill>
            <a:schemeClr val="tx1"/>
          </a:solidFill>
          <a:latin typeface="+mn-lt"/>
          <a:ea typeface="+mn-ea"/>
          <a:cs typeface="+mn-cs"/>
        </a:defRPr>
      </a:lvl4pPr>
      <a:lvl5pPr marL="2508250" indent="-527050" algn="l" defTabSz="1828800" rtl="0" eaLnBrk="1" latinLnBrk="0" hangingPunct="1">
        <a:lnSpc>
          <a:spcPct val="100000"/>
        </a:lnSpc>
        <a:spcBef>
          <a:spcPts val="0"/>
        </a:spcBef>
        <a:spcAft>
          <a:spcPts val="600"/>
        </a:spcAft>
        <a:buClr>
          <a:schemeClr val="bg2"/>
        </a:buClr>
        <a:buFont typeface="Arial" panose="020B0604020202020204" pitchFamily="34" charset="0"/>
        <a:buChar char="•"/>
        <a:defRPr sz="28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9">
          <p15:clr>
            <a:srgbClr val="F26B43"/>
          </p15:clr>
        </p15:guide>
        <p15:guide id="2" pos="7151">
          <p15:clr>
            <a:srgbClr val="F26B43"/>
          </p15:clr>
        </p15:guide>
        <p15:guide id="3" pos="3840">
          <p15:clr>
            <a:srgbClr val="F26B43"/>
          </p15:clr>
        </p15:guide>
        <p15:guide id="4" orient="horz" pos="1117">
          <p15:clr>
            <a:srgbClr val="F26B43"/>
          </p15:clr>
        </p15:guide>
        <p15:guide id="5" orient="horz" pos="4065">
          <p15:clr>
            <a:srgbClr val="F26B43"/>
          </p15:clr>
        </p15:guide>
        <p15:guide id="7" orient="horz" pos="411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30.xml"/></Relationships>
</file>

<file path=ppt/slides/_rels/slide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4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5.xml"/></Relationships>
</file>

<file path=ppt/slides/_rels/slide5.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4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0.xml"/></Relationships>
</file>

<file path=ppt/slides/_rels/slide8.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4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0.xml"/></Relationships>
</file>

<file path=ppt/slides/_rels/slide10.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8.xml"/><Relationship Id="rId1" Type="http://schemas.openxmlformats.org/officeDocument/2006/relationships/slideLayout" Target="../slideLayouts/slideLayout40.xml"/><Relationship Id="rId4" Type="http://schemas.openxmlformats.org/officeDocument/2006/relationships/image" Target="../media/image23.jp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40.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40.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3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0.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40.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40.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40.xml"/><Relationship Id="rId5" Type="http://schemas.openxmlformats.org/officeDocument/2006/relationships/image" Target="../media/image30.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5.xml"/></Relationships>
</file>

<file path=ppt/slides/_rels/slide21.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18.xml"/><Relationship Id="rId1" Type="http://schemas.openxmlformats.org/officeDocument/2006/relationships/slideLayout" Target="../slideLayouts/slideLayout46.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45.xml"/><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45.xm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5.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45.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45.xml"/><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45.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45.xml"/><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45.xml"/><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45.xml"/><Relationship Id="rId5" Type="http://schemas.openxmlformats.org/officeDocument/2006/relationships/image" Target="../media/image41.png"/><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5.png"/><Relationship Id="rId7"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45.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36.png"/></Relationships>
</file>

<file path=ppt/slides/_rels/slide33.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5.png"/><Relationship Id="rId7" Type="http://schemas.openxmlformats.org/officeDocument/2006/relationships/image" Target="../media/image41.png"/><Relationship Id="rId2" Type="http://schemas.openxmlformats.org/officeDocument/2006/relationships/notesSlide" Target="../notesSlides/notesSlide30.xml"/><Relationship Id="rId1" Type="http://schemas.openxmlformats.org/officeDocument/2006/relationships/slideLayout" Target="../slideLayouts/slideLayout45.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5.png"/><Relationship Id="rId7" Type="http://schemas.openxmlformats.org/officeDocument/2006/relationships/image" Target="../media/image41.png"/><Relationship Id="rId12" Type="http://schemas.openxmlformats.org/officeDocument/2006/relationships/image" Target="../media/image48.png"/><Relationship Id="rId2" Type="http://schemas.openxmlformats.org/officeDocument/2006/relationships/notesSlide" Target="../notesSlides/notesSlide31.xml"/><Relationship Id="rId1" Type="http://schemas.openxmlformats.org/officeDocument/2006/relationships/slideLayout" Target="../slideLayouts/slideLayout45.xml"/><Relationship Id="rId6" Type="http://schemas.openxmlformats.org/officeDocument/2006/relationships/image" Target="../media/image43.png"/><Relationship Id="rId11" Type="http://schemas.openxmlformats.org/officeDocument/2006/relationships/image" Target="../media/image47.png"/><Relationship Id="rId5" Type="http://schemas.openxmlformats.org/officeDocument/2006/relationships/image" Target="../media/image42.png"/><Relationship Id="rId10" Type="http://schemas.openxmlformats.org/officeDocument/2006/relationships/image" Target="../media/image46.png"/><Relationship Id="rId4" Type="http://schemas.openxmlformats.org/officeDocument/2006/relationships/image" Target="../media/image36.png"/><Relationship Id="rId9" Type="http://schemas.openxmlformats.org/officeDocument/2006/relationships/image" Target="../media/image45.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5.xml"/></Relationships>
</file>

<file path=ppt/slides/_rels/slide36.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9.png"/><Relationship Id="rId7" Type="http://schemas.openxmlformats.org/officeDocument/2006/relationships/image" Target="../media/image52.png"/><Relationship Id="rId2" Type="http://schemas.openxmlformats.org/officeDocument/2006/relationships/notesSlide" Target="../notesSlides/notesSlide33.xml"/><Relationship Id="rId1" Type="http://schemas.openxmlformats.org/officeDocument/2006/relationships/slideLayout" Target="../slideLayouts/slideLayout40.xml"/><Relationship Id="rId6" Type="http://schemas.openxmlformats.org/officeDocument/2006/relationships/image" Target="../media/image41.png"/><Relationship Id="rId5" Type="http://schemas.openxmlformats.org/officeDocument/2006/relationships/image" Target="../media/image51.png"/><Relationship Id="rId4" Type="http://schemas.openxmlformats.org/officeDocument/2006/relationships/image" Target="../media/image50.png"/><Relationship Id="rId9" Type="http://schemas.openxmlformats.org/officeDocument/2006/relationships/image" Target="../media/image33.png"/></Relationships>
</file>

<file path=ppt/slides/_rels/slide37.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2.png"/><Relationship Id="rId2" Type="http://schemas.openxmlformats.org/officeDocument/2006/relationships/notesSlide" Target="../notesSlides/notesSlide34.xml"/><Relationship Id="rId1" Type="http://schemas.openxmlformats.org/officeDocument/2006/relationships/slideLayout" Target="../slideLayouts/slideLayout40.xml"/><Relationship Id="rId6" Type="http://schemas.openxmlformats.org/officeDocument/2006/relationships/image" Target="../media/image41.png"/><Relationship Id="rId5" Type="http://schemas.openxmlformats.org/officeDocument/2006/relationships/image" Target="../media/image51.png"/><Relationship Id="rId4" Type="http://schemas.openxmlformats.org/officeDocument/2006/relationships/image" Target="../media/image50.png"/></Relationships>
</file>

<file path=ppt/slides/_rels/slide38.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2.png"/><Relationship Id="rId2" Type="http://schemas.openxmlformats.org/officeDocument/2006/relationships/notesSlide" Target="../notesSlides/notesSlide35.xml"/><Relationship Id="rId1" Type="http://schemas.openxmlformats.org/officeDocument/2006/relationships/slideLayout" Target="../slideLayouts/slideLayout40.xml"/><Relationship Id="rId6" Type="http://schemas.openxmlformats.org/officeDocument/2006/relationships/image" Target="../media/image41.png"/><Relationship Id="rId5" Type="http://schemas.openxmlformats.org/officeDocument/2006/relationships/image" Target="../media/image51.png"/><Relationship Id="rId4" Type="http://schemas.openxmlformats.org/officeDocument/2006/relationships/image" Target="../media/image50.png"/><Relationship Id="rId9" Type="http://schemas.openxmlformats.org/officeDocument/2006/relationships/image" Target="../media/image55.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0.xml"/></Relationships>
</file>

<file path=ppt/slides/_rels/slide4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7.xml"/><Relationship Id="rId1" Type="http://schemas.openxmlformats.org/officeDocument/2006/relationships/slideLayout" Target="../slideLayouts/slideLayout4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5.xml"/></Relationships>
</file>

<file path=ppt/slides/_rels/slide4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4.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image" Target="../media/image58.png"/><Relationship Id="rId1" Type="http://schemas.openxmlformats.org/officeDocument/2006/relationships/slideLayout" Target="../slideLayouts/slideLayout40.xml"/></Relationships>
</file>

<file path=ppt/slides/_rels/slide4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4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7.xml"/></Relationships>
</file>

<file path=ppt/slides/_rels/slide47.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image" Target="../media/image61.png"/><Relationship Id="rId1" Type="http://schemas.openxmlformats.org/officeDocument/2006/relationships/slideLayout" Target="../slideLayouts/slideLayout37.xml"/></Relationships>
</file>

<file path=ppt/slides/_rels/slide4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0.xml"/><Relationship Id="rId1" Type="http://schemas.openxmlformats.org/officeDocument/2006/relationships/slideLayout" Target="../slideLayouts/slideLayout46.xml"/></Relationships>
</file>

<file path=ppt/slides/_rels/slide4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1.xml"/><Relationship Id="rId1" Type="http://schemas.openxmlformats.org/officeDocument/2006/relationships/slideLayout" Target="../slideLayouts/slideLayout45.xml"/><Relationship Id="rId4" Type="http://schemas.openxmlformats.org/officeDocument/2006/relationships/image" Target="../media/image65.png"/></Relationships>
</file>

<file path=ppt/slides/_rels/slide5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2.xml"/><Relationship Id="rId1" Type="http://schemas.openxmlformats.org/officeDocument/2006/relationships/slideLayout" Target="../slideLayouts/slideLayout40.xml"/></Relationships>
</file>

<file path=ppt/slides/_rels/slide5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3.xml"/><Relationship Id="rId1" Type="http://schemas.openxmlformats.org/officeDocument/2006/relationships/slideLayout" Target="../slideLayouts/slideLayout40.xml"/></Relationships>
</file>

<file path=ppt/slides/_rels/slide5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4.xml"/><Relationship Id="rId1" Type="http://schemas.openxmlformats.org/officeDocument/2006/relationships/slideLayout" Target="../slideLayouts/slideLayout45.xml"/><Relationship Id="rId4" Type="http://schemas.openxmlformats.org/officeDocument/2006/relationships/image" Target="../media/image69.png"/></Relationships>
</file>

<file path=ppt/slides/_rels/slide5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40.xml"/></Relationships>
</file>

<file path=ppt/slides/_rels/slide5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5.xml"/><Relationship Id="rId1" Type="http://schemas.openxmlformats.org/officeDocument/2006/relationships/slideLayout" Target="../slideLayouts/slideLayout45.xml"/><Relationship Id="rId6" Type="http://schemas.openxmlformats.org/officeDocument/2006/relationships/hyperlink" Target="https://doi.org/10.1186/s13059-014-0550-8" TargetMode="External"/><Relationship Id="rId5" Type="http://schemas.openxmlformats.org/officeDocument/2006/relationships/image" Target="../media/image74.png"/><Relationship Id="rId4" Type="http://schemas.openxmlformats.org/officeDocument/2006/relationships/image" Target="../media/image73.png"/></Relationships>
</file>

<file path=ppt/slides/_rels/slide5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39.xml"/></Relationships>
</file>

<file path=ppt/slides/_rels/slide5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6.xml"/><Relationship Id="rId1" Type="http://schemas.openxmlformats.org/officeDocument/2006/relationships/slideLayout" Target="../slideLayouts/slideLayout40.xml"/></Relationships>
</file>

<file path=ppt/slides/_rels/slide5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7.xml"/><Relationship Id="rId1" Type="http://schemas.openxmlformats.org/officeDocument/2006/relationships/slideLayout" Target="../slideLayouts/slideLayout4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0.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0.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75"/>
        <p:cNvGrpSpPr/>
        <p:nvPr/>
      </p:nvGrpSpPr>
      <p:grpSpPr>
        <a:xfrm>
          <a:off x="0" y="0"/>
          <a:ext cx="0" cy="0"/>
          <a:chOff x="0" y="0"/>
          <a:chExt cx="0" cy="0"/>
        </a:xfrm>
      </p:grpSpPr>
      <p:sp>
        <p:nvSpPr>
          <p:cNvPr id="77" name="Google Shape;77;p17"/>
          <p:cNvSpPr txBox="1">
            <a:spLocks noGrp="1"/>
          </p:cNvSpPr>
          <p:nvPr>
            <p:ph type="title"/>
          </p:nvPr>
        </p:nvSpPr>
        <p:spPr>
          <a:prstGeom prst="rect">
            <a:avLst/>
          </a:prstGeom>
          <a:noFill/>
          <a:ln>
            <a:noFill/>
          </a:ln>
        </p:spPr>
        <p:txBody>
          <a:bodyPr spcFirstLastPara="1" wrap="square" lIns="50800" tIns="50800" rIns="50800" bIns="50800" anchor="b" anchorCtr="0">
            <a:normAutofit fontScale="90000"/>
          </a:bodyPr>
          <a:lstStyle/>
          <a:p>
            <a:pPr marL="0" marR="0" lvl="0" indent="0" rtl="0">
              <a:lnSpc>
                <a:spcPct val="80000"/>
              </a:lnSpc>
              <a:spcBef>
                <a:spcPts val="0"/>
              </a:spcBef>
              <a:spcAft>
                <a:spcPts val="0"/>
              </a:spcAft>
              <a:buClr>
                <a:srgbClr val="000000"/>
              </a:buClr>
              <a:buSzPts val="11600"/>
              <a:buFont typeface="Avenir"/>
              <a:buNone/>
            </a:pPr>
            <a:r>
              <a:rPr lang="en-US" sz="11600" b="0" i="0" u="none" strike="noStrike" cap="none" dirty="0">
                <a:latin typeface="Avenir"/>
                <a:ea typeface="Avenir"/>
                <a:cs typeface="Avenir"/>
                <a:sym typeface="Avenir"/>
              </a:rPr>
              <a:t>Statistics of RNA-seq analysis</a:t>
            </a:r>
            <a:endParaRPr dirty="0"/>
          </a:p>
        </p:txBody>
      </p:sp>
      <p:pic>
        <p:nvPicPr>
          <p:cNvPr id="4" name="Google Shape;82;p16">
            <a:extLst>
              <a:ext uri="{FF2B5EF4-FFF2-40B4-BE49-F238E27FC236}">
                <a16:creationId xmlns:a16="http://schemas.microsoft.com/office/drawing/2014/main" id="{8ACBFAE8-7F5F-E624-F46B-9FDA1C40BCA1}"/>
              </a:ext>
            </a:extLst>
          </p:cNvPr>
          <p:cNvPicPr preferRelativeResize="0"/>
          <p:nvPr/>
        </p:nvPicPr>
        <p:blipFill>
          <a:blip r:embed="rId3">
            <a:alphaModFix/>
          </a:blip>
          <a:stretch>
            <a:fillRect/>
          </a:stretch>
        </p:blipFill>
        <p:spPr>
          <a:xfrm>
            <a:off x="526880" y="10912384"/>
            <a:ext cx="4654720" cy="237689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81"/>
        <p:cNvGrpSpPr/>
        <p:nvPr/>
      </p:nvGrpSpPr>
      <p:grpSpPr>
        <a:xfrm>
          <a:off x="0" y="0"/>
          <a:ext cx="0" cy="0"/>
          <a:chOff x="0" y="0"/>
          <a:chExt cx="0" cy="0"/>
        </a:xfrm>
      </p:grpSpPr>
      <p:pic>
        <p:nvPicPr>
          <p:cNvPr id="82" name="Google Shape;82;p18"/>
          <p:cNvPicPr preferRelativeResize="0"/>
          <p:nvPr/>
        </p:nvPicPr>
        <p:blipFill>
          <a:blip r:embed="rId3"/>
          <a:srcRect/>
          <a:stretch/>
        </p:blipFill>
        <p:spPr>
          <a:xfrm>
            <a:off x="4610100" y="2451765"/>
            <a:ext cx="15163800" cy="6561644"/>
          </a:xfrm>
          <a:prstGeom prst="rect">
            <a:avLst/>
          </a:prstGeom>
          <a:noFill/>
          <a:ln>
            <a:noFill/>
          </a:ln>
        </p:spPr>
      </p:pic>
      <p:sp>
        <p:nvSpPr>
          <p:cNvPr id="2" name="Google Shape;159;p23">
            <a:extLst>
              <a:ext uri="{FF2B5EF4-FFF2-40B4-BE49-F238E27FC236}">
                <a16:creationId xmlns:a16="http://schemas.microsoft.com/office/drawing/2014/main" id="{7C42432D-2AC2-C855-29DC-8BD41B4DB6BD}"/>
              </a:ext>
            </a:extLst>
          </p:cNvPr>
          <p:cNvSpPr txBox="1">
            <a:spLocks noGrp="1"/>
          </p:cNvSpPr>
          <p:nvPr>
            <p:ph type="title"/>
          </p:nvPr>
        </p:nvSpPr>
        <p:spPr>
          <a:xfrm>
            <a:off x="1206500" y="1079500"/>
            <a:ext cx="21971000" cy="1433163"/>
          </a:xfrm>
          <a:prstGeom prst="rect">
            <a:avLst/>
          </a:prstGeom>
          <a:noFill/>
          <a:ln>
            <a:noFill/>
          </a:ln>
        </p:spPr>
        <p:txBody>
          <a:bodyPr spcFirstLastPara="1" wrap="square" lIns="50800" tIns="50800" rIns="50800" bIns="50800" anchor="t" anchorCtr="0">
            <a:normAutofit fontScale="90000"/>
          </a:bodyPr>
          <a:lstStyle/>
          <a:p>
            <a:pPr marL="0" marR="0" lvl="0" indent="0" algn="l" rtl="0">
              <a:lnSpc>
                <a:spcPct val="80000"/>
              </a:lnSpc>
              <a:spcBef>
                <a:spcPts val="0"/>
              </a:spcBef>
              <a:spcAft>
                <a:spcPts val="0"/>
              </a:spcAft>
              <a:buClr>
                <a:srgbClr val="000000"/>
              </a:buClr>
              <a:buSzPts val="7735"/>
              <a:buFont typeface="Avenir"/>
              <a:buNone/>
            </a:pPr>
            <a:r>
              <a:rPr lang="en-US" sz="7735" dirty="0">
                <a:latin typeface="Avenir"/>
                <a:sym typeface="Avenir"/>
              </a:rPr>
              <a:t>Differential expression output from DESeq2</a:t>
            </a:r>
            <a:endParaRPr dirty="0"/>
          </a:p>
        </p:txBody>
      </p:sp>
      <p:sp>
        <p:nvSpPr>
          <p:cNvPr id="3" name="TextBox 2">
            <a:extLst>
              <a:ext uri="{FF2B5EF4-FFF2-40B4-BE49-F238E27FC236}">
                <a16:creationId xmlns:a16="http://schemas.microsoft.com/office/drawing/2014/main" id="{6F10A3F4-D114-0BA4-CFE4-A4FBF163EF58}"/>
              </a:ext>
            </a:extLst>
          </p:cNvPr>
          <p:cNvSpPr txBox="1"/>
          <p:nvPr/>
        </p:nvSpPr>
        <p:spPr>
          <a:xfrm>
            <a:off x="4018084" y="10031030"/>
            <a:ext cx="15755816" cy="3046988"/>
          </a:xfrm>
          <a:prstGeom prst="rect">
            <a:avLst/>
          </a:prstGeom>
          <a:noFill/>
        </p:spPr>
        <p:txBody>
          <a:bodyPr wrap="square" rtlCol="0">
            <a:spAutoFit/>
          </a:bodyPr>
          <a:lstStyle/>
          <a:p>
            <a:pPr marL="457200" indent="-457200">
              <a:buFont typeface="Arial" panose="020B0604020202020204" pitchFamily="34" charset="0"/>
              <a:buChar char="•"/>
            </a:pPr>
            <a:r>
              <a:rPr lang="en-GB" sz="3200" b="1" dirty="0" err="1">
                <a:solidFill>
                  <a:schemeClr val="accent6">
                    <a:lumMod val="10000"/>
                  </a:schemeClr>
                </a:solidFill>
              </a:rPr>
              <a:t>baseMean</a:t>
            </a:r>
            <a:r>
              <a:rPr lang="en-GB" sz="3200" b="1" dirty="0">
                <a:solidFill>
                  <a:schemeClr val="accent6">
                    <a:lumMod val="10000"/>
                  </a:schemeClr>
                </a:solidFill>
              </a:rPr>
              <a:t> = Average gene expression</a:t>
            </a:r>
          </a:p>
          <a:p>
            <a:pPr marL="457200" indent="-457200">
              <a:buFont typeface="Arial" panose="020B0604020202020204" pitchFamily="34" charset="0"/>
              <a:buChar char="•"/>
            </a:pPr>
            <a:r>
              <a:rPr lang="en-GB" sz="3200" b="1" dirty="0">
                <a:solidFill>
                  <a:schemeClr val="accent6">
                    <a:lumMod val="10000"/>
                  </a:schemeClr>
                </a:solidFill>
              </a:rPr>
              <a:t>log2FoldChange = effect size (Estimated log₂ fold change between the two conditions)</a:t>
            </a:r>
          </a:p>
          <a:p>
            <a:pPr marL="457200" indent="-457200">
              <a:buFont typeface="Arial" panose="020B0604020202020204" pitchFamily="34" charset="0"/>
              <a:buChar char="•"/>
            </a:pPr>
            <a:r>
              <a:rPr lang="en-GB" sz="3200" b="1" dirty="0" err="1">
                <a:solidFill>
                  <a:schemeClr val="accent6">
                    <a:lumMod val="10000"/>
                  </a:schemeClr>
                </a:solidFill>
              </a:rPr>
              <a:t>lfcSE</a:t>
            </a:r>
            <a:r>
              <a:rPr lang="en-GB" sz="3200" b="1" dirty="0">
                <a:solidFill>
                  <a:schemeClr val="accent6">
                    <a:lumMod val="10000"/>
                  </a:schemeClr>
                </a:solidFill>
              </a:rPr>
              <a:t> = Standard error (uncertainty) of the log₂ fold change estimate</a:t>
            </a:r>
          </a:p>
          <a:p>
            <a:pPr marL="457200" indent="-457200">
              <a:buFont typeface="Arial" panose="020B0604020202020204" pitchFamily="34" charset="0"/>
              <a:buChar char="•"/>
            </a:pPr>
            <a:r>
              <a:rPr lang="en-GB" sz="3200" b="1" dirty="0">
                <a:solidFill>
                  <a:schemeClr val="accent6">
                    <a:lumMod val="10000"/>
                  </a:schemeClr>
                </a:solidFill>
              </a:rPr>
              <a:t>stat = Statistic (Wald statistic = log2FoldChange / </a:t>
            </a:r>
            <a:r>
              <a:rPr lang="en-GB" sz="3200" b="1" dirty="0" err="1">
                <a:solidFill>
                  <a:schemeClr val="accent6">
                    <a:lumMod val="10000"/>
                  </a:schemeClr>
                </a:solidFill>
              </a:rPr>
              <a:t>lfcSE</a:t>
            </a:r>
            <a:r>
              <a:rPr lang="en-GB" sz="3200" b="1" dirty="0">
                <a:solidFill>
                  <a:schemeClr val="accent6">
                    <a:lumMod val="10000"/>
                  </a:schemeClr>
                </a:solidFill>
              </a:rPr>
              <a:t>) </a:t>
            </a:r>
          </a:p>
          <a:p>
            <a:pPr marL="457200" indent="-457200">
              <a:buFont typeface="Arial" panose="020B0604020202020204" pitchFamily="34" charset="0"/>
              <a:buChar char="•"/>
            </a:pPr>
            <a:r>
              <a:rPr lang="en-GB" sz="3200" b="1" dirty="0" err="1">
                <a:solidFill>
                  <a:schemeClr val="accent6">
                    <a:lumMod val="10000"/>
                  </a:schemeClr>
                </a:solidFill>
              </a:rPr>
              <a:t>pvalue</a:t>
            </a:r>
            <a:r>
              <a:rPr lang="en-GB" sz="3200" b="1" dirty="0">
                <a:solidFill>
                  <a:schemeClr val="accent6">
                    <a:lumMod val="10000"/>
                  </a:schemeClr>
                </a:solidFill>
              </a:rPr>
              <a:t> = p-value for the null hypothesis that true log₂ fold change = 0</a:t>
            </a:r>
          </a:p>
          <a:p>
            <a:pPr marL="457200" indent="-457200">
              <a:buFont typeface="Arial" panose="020B0604020202020204" pitchFamily="34" charset="0"/>
              <a:buChar char="•"/>
            </a:pPr>
            <a:r>
              <a:rPr lang="en-GB" sz="3200" b="1" dirty="0" err="1">
                <a:solidFill>
                  <a:schemeClr val="accent6">
                    <a:lumMod val="10000"/>
                  </a:schemeClr>
                </a:solidFill>
              </a:rPr>
              <a:t>padj</a:t>
            </a:r>
            <a:r>
              <a:rPr lang="en-GB" sz="3200" b="1" dirty="0">
                <a:solidFill>
                  <a:schemeClr val="accent6">
                    <a:lumMod val="10000"/>
                  </a:schemeClr>
                </a:solidFill>
              </a:rPr>
              <a:t> = Adjusted p-value (after multiple-testing correction, e.g. Benjamini–Hochberg FDR)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158"/>
        <p:cNvGrpSpPr/>
        <p:nvPr/>
      </p:nvGrpSpPr>
      <p:grpSpPr>
        <a:xfrm>
          <a:off x="0" y="0"/>
          <a:ext cx="0" cy="0"/>
          <a:chOff x="0" y="0"/>
          <a:chExt cx="0" cy="0"/>
        </a:xfrm>
      </p:grpSpPr>
      <p:sp>
        <p:nvSpPr>
          <p:cNvPr id="159" name="Google Shape;159;p23"/>
          <p:cNvSpPr txBox="1">
            <a:spLocks noGrp="1"/>
          </p:cNvSpPr>
          <p:nvPr>
            <p:ph type="title"/>
          </p:nvPr>
        </p:nvSpPr>
        <p:spPr>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dirty="0">
                <a:latin typeface="Avenir"/>
                <a:ea typeface="Avenir"/>
                <a:cs typeface="Avenir"/>
                <a:sym typeface="Avenir"/>
              </a:rPr>
              <a:t>Outline</a:t>
            </a:r>
            <a:endParaRPr dirty="0"/>
          </a:p>
        </p:txBody>
      </p:sp>
      <p:sp>
        <p:nvSpPr>
          <p:cNvPr id="160" name="Google Shape;160;p23"/>
          <p:cNvSpPr txBox="1">
            <a:spLocks noGrp="1"/>
          </p:cNvSpPr>
          <p:nvPr>
            <p:ph type="body" idx="1"/>
          </p:nvPr>
        </p:nvSpPr>
        <p:spPr>
          <a:xfrm>
            <a:off x="1206500" y="4902861"/>
            <a:ext cx="21971000" cy="3910278"/>
          </a:xfrm>
          <a:prstGeom prst="rect">
            <a:avLst/>
          </a:prstGeom>
          <a:noFill/>
          <a:ln>
            <a:noFill/>
          </a:ln>
        </p:spPr>
        <p:txBody>
          <a:bodyPr spcFirstLastPara="1" wrap="square" lIns="50800" tIns="50800" rIns="50800" bIns="50800" anchor="t" anchorCtr="0">
            <a:normAutofit/>
          </a:bodyPr>
          <a:lstStyle/>
          <a:p>
            <a:pPr marL="609600" lvl="0" indent="-609600" algn="l" rtl="0">
              <a:lnSpc>
                <a:spcPct val="90000"/>
              </a:lnSpc>
              <a:spcBef>
                <a:spcPts val="0"/>
              </a:spcBef>
              <a:spcAft>
                <a:spcPts val="0"/>
              </a:spcAft>
              <a:buClr>
                <a:srgbClr val="000000"/>
              </a:buClr>
              <a:buSzPts val="5904"/>
              <a:buFont typeface="Avenir"/>
              <a:buChar char="•"/>
            </a:pPr>
            <a:r>
              <a:rPr lang="en-US">
                <a:latin typeface="Avenir"/>
                <a:ea typeface="Avenir"/>
                <a:cs typeface="Avenir"/>
                <a:sym typeface="Avenir"/>
              </a:rPr>
              <a:t>Experimental Design</a:t>
            </a:r>
            <a:endParaRPr/>
          </a:p>
          <a:p>
            <a:pPr marL="609600" lvl="0" indent="-609600" algn="l" rtl="0">
              <a:lnSpc>
                <a:spcPct val="90000"/>
              </a:lnSpc>
              <a:spcBef>
                <a:spcPts val="4500"/>
              </a:spcBef>
              <a:spcAft>
                <a:spcPts val="0"/>
              </a:spcAft>
              <a:buClr>
                <a:srgbClr val="000000"/>
              </a:buClr>
              <a:buSzPts val="5904"/>
              <a:buFont typeface="Avenir"/>
              <a:buChar char="•"/>
            </a:pPr>
            <a:r>
              <a:rPr lang="en-US">
                <a:latin typeface="Avenir"/>
                <a:ea typeface="Avenir"/>
                <a:cs typeface="Avenir"/>
                <a:sym typeface="Avenir"/>
              </a:rPr>
              <a:t>General Statistical Concepts </a:t>
            </a:r>
            <a:endParaRPr>
              <a:latin typeface="Avenir"/>
              <a:ea typeface="Avenir"/>
              <a:cs typeface="Avenir"/>
              <a:sym typeface="Avenir"/>
            </a:endParaRPr>
          </a:p>
          <a:p>
            <a:pPr marL="609600" lvl="0" indent="-609600" algn="l" rtl="0">
              <a:lnSpc>
                <a:spcPct val="90000"/>
              </a:lnSpc>
              <a:spcBef>
                <a:spcPts val="4500"/>
              </a:spcBef>
              <a:spcAft>
                <a:spcPts val="0"/>
              </a:spcAft>
              <a:buClr>
                <a:srgbClr val="000000"/>
              </a:buClr>
              <a:buSzPts val="5904"/>
              <a:buFont typeface="Avenir"/>
              <a:buChar char="•"/>
            </a:pPr>
            <a:r>
              <a:rPr lang="en-US">
                <a:latin typeface="Avenir"/>
                <a:ea typeface="Avenir"/>
                <a:cs typeface="Avenir"/>
                <a:sym typeface="Avenir"/>
              </a:rPr>
              <a:t>Statistical aspects specific to bulk RNA-seq analysis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164"/>
        <p:cNvGrpSpPr/>
        <p:nvPr/>
      </p:nvGrpSpPr>
      <p:grpSpPr>
        <a:xfrm>
          <a:off x="0" y="0"/>
          <a:ext cx="0" cy="0"/>
          <a:chOff x="0" y="0"/>
          <a:chExt cx="0" cy="0"/>
        </a:xfrm>
      </p:grpSpPr>
      <p:sp>
        <p:nvSpPr>
          <p:cNvPr id="165" name="Google Shape;165;p24"/>
          <p:cNvSpPr txBox="1">
            <a:spLocks noGrp="1"/>
          </p:cNvSpPr>
          <p:nvPr>
            <p:ph type="title"/>
          </p:nvPr>
        </p:nvSpPr>
        <p:spPr>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a:latin typeface="Avenir"/>
                <a:ea typeface="Avenir"/>
                <a:cs typeface="Avenir"/>
                <a:sym typeface="Avenir"/>
              </a:rPr>
              <a:t>Outline</a:t>
            </a:r>
            <a:endParaRPr/>
          </a:p>
        </p:txBody>
      </p:sp>
      <p:sp>
        <p:nvSpPr>
          <p:cNvPr id="166" name="Google Shape;166;p24"/>
          <p:cNvSpPr txBox="1">
            <a:spLocks noGrp="1"/>
          </p:cNvSpPr>
          <p:nvPr>
            <p:ph type="body" idx="1"/>
          </p:nvPr>
        </p:nvSpPr>
        <p:spPr>
          <a:xfrm>
            <a:off x="1206500" y="4902861"/>
            <a:ext cx="21971000" cy="3910278"/>
          </a:xfrm>
          <a:prstGeom prst="rect">
            <a:avLst/>
          </a:prstGeom>
          <a:noFill/>
          <a:ln>
            <a:noFill/>
          </a:ln>
        </p:spPr>
        <p:txBody>
          <a:bodyPr spcFirstLastPara="1" wrap="square" lIns="50800" tIns="50800" rIns="50800" bIns="50800" anchor="t" anchorCtr="0">
            <a:normAutofit/>
          </a:bodyPr>
          <a:lstStyle/>
          <a:p>
            <a:pPr marL="609600" lvl="0" indent="-609600" algn="l" rtl="0">
              <a:lnSpc>
                <a:spcPct val="90000"/>
              </a:lnSpc>
              <a:spcBef>
                <a:spcPts val="0"/>
              </a:spcBef>
              <a:spcAft>
                <a:spcPts val="0"/>
              </a:spcAft>
              <a:buClr>
                <a:srgbClr val="000000"/>
              </a:buClr>
              <a:buSzPts val="5904"/>
              <a:buFont typeface="Avenir"/>
              <a:buChar char="•"/>
            </a:pPr>
            <a:r>
              <a:rPr lang="en-US" dirty="0">
                <a:latin typeface="Avenir"/>
                <a:ea typeface="Avenir"/>
                <a:cs typeface="Avenir"/>
                <a:sym typeface="Avenir"/>
              </a:rPr>
              <a:t>Experimental Design</a:t>
            </a:r>
            <a:endParaRPr dirty="0"/>
          </a:p>
          <a:p>
            <a:pPr marL="609600" lvl="0" indent="-609600" algn="l" rtl="0">
              <a:lnSpc>
                <a:spcPct val="90000"/>
              </a:lnSpc>
              <a:spcBef>
                <a:spcPts val="4500"/>
              </a:spcBef>
              <a:spcAft>
                <a:spcPts val="0"/>
              </a:spcAft>
              <a:buClr>
                <a:srgbClr val="929292"/>
              </a:buClr>
              <a:buSzPts val="5904"/>
              <a:buFont typeface="Avenir"/>
              <a:buChar char="•"/>
            </a:pPr>
            <a:r>
              <a:rPr lang="en-US" dirty="0">
                <a:solidFill>
                  <a:srgbClr val="929292"/>
                </a:solidFill>
                <a:latin typeface="Avenir"/>
                <a:ea typeface="Avenir"/>
                <a:cs typeface="Avenir"/>
                <a:sym typeface="Avenir"/>
              </a:rPr>
              <a:t>Statistical Concepts - Bite size statistics</a:t>
            </a:r>
            <a:endParaRPr dirty="0"/>
          </a:p>
          <a:p>
            <a:pPr marL="609600" lvl="0" indent="-609600" algn="l" rtl="0">
              <a:lnSpc>
                <a:spcPct val="90000"/>
              </a:lnSpc>
              <a:spcBef>
                <a:spcPts val="4500"/>
              </a:spcBef>
              <a:spcAft>
                <a:spcPts val="0"/>
              </a:spcAft>
              <a:buClr>
                <a:srgbClr val="929292"/>
              </a:buClr>
              <a:buSzPts val="5904"/>
              <a:buFont typeface="Avenir"/>
              <a:buChar char="•"/>
            </a:pPr>
            <a:r>
              <a:rPr lang="en-US" dirty="0">
                <a:solidFill>
                  <a:srgbClr val="929292"/>
                </a:solidFill>
                <a:latin typeface="Avenir"/>
                <a:ea typeface="Avenir"/>
                <a:cs typeface="Avenir"/>
                <a:sym typeface="Avenir"/>
              </a:rPr>
              <a:t>Statistical aspects of bulk RNA-seq analysis</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cartoon of a person pulling a magnet&#10;&#10;Description automatically generated">
            <a:extLst>
              <a:ext uri="{FF2B5EF4-FFF2-40B4-BE49-F238E27FC236}">
                <a16:creationId xmlns:a16="http://schemas.microsoft.com/office/drawing/2014/main" id="{D2ADB0C3-6E4D-8A46-5DE9-9B54CCFEBCDC}"/>
              </a:ext>
            </a:extLst>
          </p:cNvPr>
          <p:cNvPicPr>
            <a:picLocks noChangeAspect="1"/>
          </p:cNvPicPr>
          <p:nvPr/>
        </p:nvPicPr>
        <p:blipFill>
          <a:blip r:embed="rId2"/>
          <a:stretch>
            <a:fillRect/>
          </a:stretch>
        </p:blipFill>
        <p:spPr>
          <a:xfrm>
            <a:off x="2424312" y="2014855"/>
            <a:ext cx="19535375" cy="9686290"/>
          </a:xfrm>
          <a:prstGeom prst="rect">
            <a:avLst/>
          </a:prstGeom>
        </p:spPr>
      </p:pic>
    </p:spTree>
    <p:extLst>
      <p:ext uri="{BB962C8B-B14F-4D97-AF65-F5344CB8AC3E}">
        <p14:creationId xmlns:p14="http://schemas.microsoft.com/office/powerpoint/2010/main" val="2990996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177"/>
        <p:cNvGrpSpPr/>
        <p:nvPr/>
      </p:nvGrpSpPr>
      <p:grpSpPr>
        <a:xfrm>
          <a:off x="0" y="0"/>
          <a:ext cx="0" cy="0"/>
          <a:chOff x="0" y="0"/>
          <a:chExt cx="0" cy="0"/>
        </a:xfrm>
      </p:grpSpPr>
      <p:sp>
        <p:nvSpPr>
          <p:cNvPr id="178" name="Google Shape;178;p26"/>
          <p:cNvSpPr txBox="1">
            <a:spLocks noGrp="1"/>
          </p:cNvSpPr>
          <p:nvPr>
            <p:ph type="title" idx="4294967295"/>
          </p:nvPr>
        </p:nvSpPr>
        <p:spPr>
          <a:xfrm>
            <a:off x="1097280" y="1079500"/>
            <a:ext cx="21971000" cy="1433513"/>
          </a:xfrm>
          <a:prstGeom prst="rect">
            <a:avLst/>
          </a:prstGeom>
          <a:noFill/>
          <a:ln>
            <a:noFill/>
          </a:ln>
        </p:spPr>
        <p:txBody>
          <a:bodyPr spcFirstLastPara="1" wrap="square" lIns="50800" tIns="50800" rIns="50800" bIns="50800" anchor="t" anchorCtr="0">
            <a:normAutofit fontScale="90000"/>
          </a:bodyPr>
          <a:lstStyle/>
          <a:p>
            <a:pPr marL="0" marR="0" lvl="0" indent="0" algn="l" rtl="0">
              <a:lnSpc>
                <a:spcPct val="80000"/>
              </a:lnSpc>
              <a:spcBef>
                <a:spcPts val="0"/>
              </a:spcBef>
              <a:spcAft>
                <a:spcPts val="0"/>
              </a:spcAft>
              <a:buClr>
                <a:srgbClr val="000000"/>
              </a:buClr>
              <a:buSzPts val="7735"/>
              <a:buFont typeface="Avenir"/>
              <a:buNone/>
            </a:pPr>
            <a:r>
              <a:rPr lang="en-US" sz="7735" b="0" dirty="0">
                <a:latin typeface="Avenir"/>
                <a:ea typeface="Avenir"/>
                <a:cs typeface="Avenir"/>
                <a:sym typeface="Avenir"/>
              </a:rPr>
              <a:t>Consequences of Poor Experimental Design</a:t>
            </a:r>
            <a:endParaRPr dirty="0"/>
          </a:p>
        </p:txBody>
      </p:sp>
      <p:sp>
        <p:nvSpPr>
          <p:cNvPr id="179" name="Google Shape;179;p26"/>
          <p:cNvSpPr txBox="1">
            <a:spLocks noGrp="1"/>
          </p:cNvSpPr>
          <p:nvPr>
            <p:ph type="body" idx="4294967295"/>
          </p:nvPr>
        </p:nvSpPr>
        <p:spPr>
          <a:xfrm>
            <a:off x="1127760" y="4248150"/>
            <a:ext cx="21971000" cy="8256588"/>
          </a:xfrm>
          <a:prstGeom prst="rect">
            <a:avLst/>
          </a:prstGeom>
          <a:noFill/>
          <a:ln>
            <a:noFill/>
          </a:ln>
        </p:spPr>
        <p:txBody>
          <a:bodyPr spcFirstLastPara="1" wrap="square" lIns="50800" tIns="50800" rIns="50800" bIns="50800" anchor="t" anchorCtr="0">
            <a:normAutofit/>
          </a:bodyPr>
          <a:lstStyle/>
          <a:p>
            <a:pPr marL="0" lvl="0" indent="0" algn="l" rtl="0">
              <a:lnSpc>
                <a:spcPct val="90000"/>
              </a:lnSpc>
              <a:spcBef>
                <a:spcPts val="0"/>
              </a:spcBef>
              <a:spcAft>
                <a:spcPts val="0"/>
              </a:spcAft>
              <a:buNone/>
            </a:pPr>
            <a:r>
              <a:rPr lang="en-US" b="1" dirty="0">
                <a:latin typeface="Avenir"/>
                <a:ea typeface="Avenir"/>
                <a:cs typeface="Avenir"/>
                <a:sym typeface="Avenir"/>
              </a:rPr>
              <a:t>Inability to answer the questions we would like to answer</a:t>
            </a:r>
            <a:endParaRPr b="1" dirty="0">
              <a:latin typeface="Avenir"/>
              <a:ea typeface="Avenir"/>
              <a:cs typeface="Avenir"/>
              <a:sym typeface="Avenir"/>
            </a:endParaRPr>
          </a:p>
          <a:p>
            <a:pPr marL="0" lvl="0" indent="0" algn="l" rtl="0">
              <a:lnSpc>
                <a:spcPct val="90000"/>
              </a:lnSpc>
              <a:spcBef>
                <a:spcPts val="0"/>
              </a:spcBef>
              <a:spcAft>
                <a:spcPts val="0"/>
              </a:spcAft>
              <a:buNone/>
            </a:pPr>
            <a:endParaRPr dirty="0">
              <a:solidFill>
                <a:srgbClr val="0076B9"/>
              </a:solidFill>
              <a:latin typeface="Avenir"/>
              <a:ea typeface="Avenir"/>
              <a:cs typeface="Avenir"/>
              <a:sym typeface="Avenir"/>
            </a:endParaRPr>
          </a:p>
          <a:p>
            <a:pPr marL="1066800" lvl="0" indent="-609600" algn="l" rtl="0">
              <a:lnSpc>
                <a:spcPct val="90000"/>
              </a:lnSpc>
              <a:spcBef>
                <a:spcPts val="0"/>
              </a:spcBef>
              <a:spcAft>
                <a:spcPts val="0"/>
              </a:spcAft>
              <a:buClr>
                <a:srgbClr val="0076B9"/>
              </a:buClr>
              <a:buSzPts val="5904"/>
              <a:buFont typeface="Avenir"/>
              <a:buChar char="•"/>
            </a:pPr>
            <a:r>
              <a:rPr lang="en-US" dirty="0">
                <a:solidFill>
                  <a:srgbClr val="0076B9"/>
                </a:solidFill>
                <a:latin typeface="Avenir"/>
                <a:ea typeface="Avenir"/>
                <a:cs typeface="Avenir"/>
                <a:sym typeface="Avenir"/>
              </a:rPr>
              <a:t>Cost</a:t>
            </a:r>
            <a:r>
              <a:rPr lang="en-US" dirty="0">
                <a:latin typeface="Avenir"/>
                <a:ea typeface="Avenir"/>
                <a:cs typeface="Avenir"/>
                <a:sym typeface="Avenir"/>
              </a:rPr>
              <a:t> of experimentation. </a:t>
            </a:r>
            <a:endParaRPr dirty="0"/>
          </a:p>
          <a:p>
            <a:pPr marL="1066800" lvl="0" indent="-609600" algn="l" rtl="0">
              <a:lnSpc>
                <a:spcPct val="90000"/>
              </a:lnSpc>
              <a:spcBef>
                <a:spcPts val="4500"/>
              </a:spcBef>
              <a:spcAft>
                <a:spcPts val="0"/>
              </a:spcAft>
              <a:buClr>
                <a:srgbClr val="0076B9"/>
              </a:buClr>
              <a:buSzPts val="5904"/>
              <a:buFont typeface="Avenir"/>
              <a:buChar char="•"/>
            </a:pPr>
            <a:r>
              <a:rPr lang="en-US" dirty="0">
                <a:solidFill>
                  <a:srgbClr val="0076B9"/>
                </a:solidFill>
                <a:latin typeface="Avenir"/>
                <a:ea typeface="Avenir"/>
                <a:cs typeface="Avenir"/>
                <a:sym typeface="Avenir"/>
              </a:rPr>
              <a:t>Limited &amp; Precious</a:t>
            </a:r>
            <a:r>
              <a:rPr lang="en-US" dirty="0">
                <a:latin typeface="Avenir"/>
                <a:ea typeface="Avenir"/>
                <a:cs typeface="Avenir"/>
                <a:sym typeface="Avenir"/>
              </a:rPr>
              <a:t> material, esp. clinical samples.</a:t>
            </a:r>
            <a:endParaRPr dirty="0"/>
          </a:p>
          <a:p>
            <a:pPr marL="1066800" lvl="0" indent="-609600" algn="l" rtl="0">
              <a:lnSpc>
                <a:spcPct val="90000"/>
              </a:lnSpc>
              <a:spcBef>
                <a:spcPts val="4500"/>
              </a:spcBef>
              <a:spcAft>
                <a:spcPts val="0"/>
              </a:spcAft>
              <a:buClr>
                <a:srgbClr val="0076B9"/>
              </a:buClr>
              <a:buSzPts val="5904"/>
              <a:buFont typeface="Avenir"/>
              <a:buChar char="•"/>
            </a:pPr>
            <a:r>
              <a:rPr lang="en-US" dirty="0">
                <a:solidFill>
                  <a:srgbClr val="0076B9"/>
                </a:solidFill>
                <a:latin typeface="Avenir"/>
                <a:ea typeface="Avenir"/>
                <a:cs typeface="Avenir"/>
                <a:sym typeface="Avenir"/>
              </a:rPr>
              <a:t>Immortalization</a:t>
            </a:r>
            <a:r>
              <a:rPr lang="en-US" dirty="0">
                <a:latin typeface="Avenir"/>
                <a:ea typeface="Avenir"/>
                <a:cs typeface="Avenir"/>
                <a:sym typeface="Avenir"/>
              </a:rPr>
              <a:t> of data sets in public databases and methods in the literature. Our bad science begets more bad science.</a:t>
            </a:r>
            <a:endParaRPr dirty="0"/>
          </a:p>
          <a:p>
            <a:pPr marL="1066800" lvl="0" indent="-609600" algn="l" rtl="0">
              <a:lnSpc>
                <a:spcPct val="90000"/>
              </a:lnSpc>
              <a:spcBef>
                <a:spcPts val="4500"/>
              </a:spcBef>
              <a:spcAft>
                <a:spcPts val="0"/>
              </a:spcAft>
              <a:buClr>
                <a:srgbClr val="0076B9"/>
              </a:buClr>
              <a:buSzPts val="5904"/>
              <a:buFont typeface="Avenir"/>
              <a:buChar char="•"/>
            </a:pPr>
            <a:r>
              <a:rPr lang="en-US" dirty="0">
                <a:solidFill>
                  <a:srgbClr val="0076B9"/>
                </a:solidFill>
                <a:latin typeface="Avenir"/>
                <a:ea typeface="Avenir"/>
                <a:cs typeface="Avenir"/>
                <a:sym typeface="Avenir"/>
              </a:rPr>
              <a:t>Ethical concerns</a:t>
            </a:r>
            <a:r>
              <a:rPr lang="en-US" dirty="0">
                <a:latin typeface="Avenir"/>
                <a:ea typeface="Avenir"/>
                <a:cs typeface="Avenir"/>
                <a:sym typeface="Avenir"/>
              </a:rPr>
              <a:t> of experimentation: animals and clinical samples.</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183"/>
        <p:cNvGrpSpPr/>
        <p:nvPr/>
      </p:nvGrpSpPr>
      <p:grpSpPr>
        <a:xfrm>
          <a:off x="0" y="0"/>
          <a:ext cx="0" cy="0"/>
          <a:chOff x="0" y="0"/>
          <a:chExt cx="0" cy="0"/>
        </a:xfrm>
      </p:grpSpPr>
      <p:sp>
        <p:nvSpPr>
          <p:cNvPr id="184" name="Google Shape;184;p27"/>
          <p:cNvSpPr txBox="1">
            <a:spLocks noGrp="1"/>
          </p:cNvSpPr>
          <p:nvPr>
            <p:ph type="title" idx="4294967295"/>
          </p:nvPr>
        </p:nvSpPr>
        <p:spPr>
          <a:xfrm>
            <a:off x="1188720" y="1079500"/>
            <a:ext cx="21971000" cy="1433513"/>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dirty="0">
                <a:latin typeface="Avenir"/>
                <a:ea typeface="Avenir"/>
                <a:cs typeface="Avenir"/>
                <a:sym typeface="Avenir"/>
              </a:rPr>
              <a:t>A Well-Designed Experiment</a:t>
            </a:r>
            <a:endParaRPr dirty="0"/>
          </a:p>
        </p:txBody>
      </p:sp>
      <p:sp>
        <p:nvSpPr>
          <p:cNvPr id="185" name="Google Shape;185;p27"/>
          <p:cNvSpPr txBox="1">
            <a:spLocks noGrp="1"/>
          </p:cNvSpPr>
          <p:nvPr>
            <p:ph type="body" idx="4294967295"/>
          </p:nvPr>
        </p:nvSpPr>
        <p:spPr>
          <a:xfrm>
            <a:off x="1615440" y="3125788"/>
            <a:ext cx="8626475" cy="9993312"/>
          </a:xfrm>
          <a:prstGeom prst="rect">
            <a:avLst/>
          </a:prstGeom>
          <a:noFill/>
          <a:ln>
            <a:noFill/>
          </a:ln>
        </p:spPr>
        <p:txBody>
          <a:bodyPr spcFirstLastPara="1" wrap="square" lIns="50800" tIns="50800" rIns="50800" bIns="50800" anchor="t" anchorCtr="0">
            <a:normAutofit/>
          </a:bodyPr>
          <a:lstStyle/>
          <a:p>
            <a:pPr marL="0" lvl="3" indent="1124711" algn="l" rtl="0">
              <a:lnSpc>
                <a:spcPct val="90000"/>
              </a:lnSpc>
              <a:spcBef>
                <a:spcPts val="0"/>
              </a:spcBef>
              <a:spcAft>
                <a:spcPts val="0"/>
              </a:spcAft>
              <a:buClr>
                <a:srgbClr val="0076B9"/>
              </a:buClr>
              <a:buSzPts val="6560"/>
              <a:buFont typeface="Avenir"/>
              <a:buNone/>
            </a:pPr>
            <a:r>
              <a:rPr lang="en-US" sz="6560" dirty="0">
                <a:solidFill>
                  <a:srgbClr val="0076B9"/>
                </a:solidFill>
                <a:latin typeface="Avenir"/>
                <a:ea typeface="Avenir"/>
                <a:cs typeface="Avenir"/>
                <a:sym typeface="Avenir"/>
              </a:rPr>
              <a:t>Should have</a:t>
            </a:r>
            <a:endParaRPr dirty="0"/>
          </a:p>
          <a:p>
            <a:pPr marL="499872" lvl="0" indent="-499872" algn="l" rtl="0">
              <a:lnSpc>
                <a:spcPct val="50000"/>
              </a:lnSpc>
              <a:spcBef>
                <a:spcPts val="2400"/>
              </a:spcBef>
              <a:spcAft>
                <a:spcPts val="0"/>
              </a:spcAft>
              <a:buClr>
                <a:srgbClr val="000000"/>
              </a:buClr>
              <a:buSzPts val="5446"/>
              <a:buFont typeface="Avenir"/>
              <a:buChar char="•"/>
            </a:pPr>
            <a:r>
              <a:rPr lang="en-US" sz="4428" dirty="0">
                <a:latin typeface="Avenir"/>
                <a:ea typeface="Avenir"/>
                <a:cs typeface="Avenir"/>
                <a:sym typeface="Avenir"/>
              </a:rPr>
              <a:t>Clear objectives</a:t>
            </a:r>
            <a:endParaRPr dirty="0"/>
          </a:p>
          <a:p>
            <a:pPr marL="499872" lvl="0" indent="-499872" algn="l" rtl="0">
              <a:lnSpc>
                <a:spcPct val="50000"/>
              </a:lnSpc>
              <a:spcBef>
                <a:spcPts val="3600"/>
              </a:spcBef>
              <a:spcAft>
                <a:spcPts val="0"/>
              </a:spcAft>
              <a:buClr>
                <a:srgbClr val="000000"/>
              </a:buClr>
              <a:buSzPts val="5446"/>
              <a:buFont typeface="Avenir"/>
              <a:buChar char="•"/>
            </a:pPr>
            <a:r>
              <a:rPr lang="en-US" sz="4428" dirty="0">
                <a:latin typeface="Avenir"/>
                <a:ea typeface="Avenir"/>
                <a:cs typeface="Avenir"/>
                <a:sym typeface="Avenir"/>
              </a:rPr>
              <a:t>Focus and simplicity</a:t>
            </a:r>
            <a:endParaRPr dirty="0"/>
          </a:p>
          <a:p>
            <a:pPr marL="499872" lvl="0" indent="-499872" algn="l" rtl="0">
              <a:lnSpc>
                <a:spcPct val="50000"/>
              </a:lnSpc>
              <a:spcBef>
                <a:spcPts val="3600"/>
              </a:spcBef>
              <a:spcAft>
                <a:spcPts val="0"/>
              </a:spcAft>
              <a:buClr>
                <a:srgbClr val="000000"/>
              </a:buClr>
              <a:buSzPts val="5446"/>
              <a:buFont typeface="Avenir"/>
              <a:buChar char="•"/>
            </a:pPr>
            <a:r>
              <a:rPr lang="en-US" sz="4428" dirty="0">
                <a:latin typeface="Avenir"/>
                <a:ea typeface="Avenir"/>
                <a:cs typeface="Avenir"/>
                <a:sym typeface="Avenir"/>
              </a:rPr>
              <a:t>Sufficient power</a:t>
            </a:r>
            <a:endParaRPr dirty="0"/>
          </a:p>
          <a:p>
            <a:pPr marL="499872" lvl="0" indent="-499872" algn="l" rtl="0">
              <a:lnSpc>
                <a:spcPct val="50000"/>
              </a:lnSpc>
              <a:spcBef>
                <a:spcPts val="3600"/>
              </a:spcBef>
              <a:spcAft>
                <a:spcPts val="0"/>
              </a:spcAft>
              <a:buClr>
                <a:srgbClr val="000000"/>
              </a:buClr>
              <a:buSzPts val="5446"/>
              <a:buFont typeface="Avenir"/>
              <a:buChar char="•"/>
            </a:pPr>
            <a:r>
              <a:rPr lang="en-US" sz="4428" b="1" dirty="0" err="1">
                <a:latin typeface="Avenir"/>
                <a:ea typeface="Avenir"/>
                <a:cs typeface="Avenir"/>
                <a:sym typeface="Avenir"/>
              </a:rPr>
              <a:t>Randomised</a:t>
            </a:r>
            <a:r>
              <a:rPr lang="en-US" sz="4428" dirty="0">
                <a:latin typeface="Avenir"/>
                <a:ea typeface="Avenir"/>
                <a:cs typeface="Avenir"/>
                <a:sym typeface="Avenir"/>
              </a:rPr>
              <a:t> comparisons</a:t>
            </a:r>
            <a:endParaRPr dirty="0"/>
          </a:p>
          <a:p>
            <a:pPr marL="0" lvl="5" indent="1874520" algn="l" rtl="0">
              <a:lnSpc>
                <a:spcPct val="90000"/>
              </a:lnSpc>
              <a:spcBef>
                <a:spcPts val="7300"/>
              </a:spcBef>
              <a:spcAft>
                <a:spcPts val="0"/>
              </a:spcAft>
              <a:buClr>
                <a:srgbClr val="0076B9"/>
              </a:buClr>
              <a:buSzPts val="6560"/>
              <a:buFont typeface="Avenir"/>
              <a:buNone/>
            </a:pPr>
            <a:r>
              <a:rPr lang="en-US" sz="6560" dirty="0">
                <a:solidFill>
                  <a:srgbClr val="0076B9"/>
                </a:solidFill>
                <a:latin typeface="Avenir"/>
                <a:ea typeface="Avenir"/>
                <a:cs typeface="Avenir"/>
                <a:sym typeface="Avenir"/>
              </a:rPr>
              <a:t>And be</a:t>
            </a:r>
            <a:endParaRPr dirty="0"/>
          </a:p>
          <a:p>
            <a:pPr marL="499872" lvl="0" indent="-499872" algn="l" rtl="0">
              <a:lnSpc>
                <a:spcPct val="50000"/>
              </a:lnSpc>
              <a:spcBef>
                <a:spcPts val="2400"/>
              </a:spcBef>
              <a:spcAft>
                <a:spcPts val="0"/>
              </a:spcAft>
              <a:buClr>
                <a:srgbClr val="000000"/>
              </a:buClr>
              <a:buSzPts val="5446"/>
              <a:buFont typeface="Avenir"/>
              <a:buChar char="•"/>
            </a:pPr>
            <a:r>
              <a:rPr lang="en-US" sz="4428" dirty="0">
                <a:latin typeface="Avenir"/>
                <a:ea typeface="Avenir"/>
                <a:cs typeface="Avenir"/>
                <a:sym typeface="Avenir"/>
              </a:rPr>
              <a:t>Precise</a:t>
            </a:r>
            <a:endParaRPr dirty="0"/>
          </a:p>
          <a:p>
            <a:pPr marL="499872" lvl="0" indent="-499872" algn="l" rtl="0">
              <a:lnSpc>
                <a:spcPct val="50000"/>
              </a:lnSpc>
              <a:spcBef>
                <a:spcPts val="3600"/>
              </a:spcBef>
              <a:spcAft>
                <a:spcPts val="0"/>
              </a:spcAft>
              <a:buClr>
                <a:srgbClr val="000000"/>
              </a:buClr>
              <a:buSzPts val="5446"/>
              <a:buFont typeface="Avenir"/>
              <a:buChar char="•"/>
            </a:pPr>
            <a:r>
              <a:rPr lang="en-US" sz="4428" dirty="0">
                <a:latin typeface="Avenir"/>
                <a:ea typeface="Avenir"/>
                <a:cs typeface="Avenir"/>
                <a:sym typeface="Avenir"/>
              </a:rPr>
              <a:t>Unbiased</a:t>
            </a:r>
            <a:endParaRPr dirty="0"/>
          </a:p>
          <a:p>
            <a:pPr marL="499872" lvl="0" indent="-499872" algn="l" rtl="0">
              <a:lnSpc>
                <a:spcPct val="50000"/>
              </a:lnSpc>
              <a:spcBef>
                <a:spcPts val="3600"/>
              </a:spcBef>
              <a:spcAft>
                <a:spcPts val="0"/>
              </a:spcAft>
              <a:buClr>
                <a:srgbClr val="000000"/>
              </a:buClr>
              <a:buSzPts val="5446"/>
              <a:buFont typeface="Avenir"/>
              <a:buChar char="•"/>
            </a:pPr>
            <a:r>
              <a:rPr lang="en-US" sz="4428" dirty="0">
                <a:latin typeface="Avenir"/>
                <a:ea typeface="Avenir"/>
                <a:cs typeface="Avenir"/>
                <a:sym typeface="Avenir"/>
              </a:rPr>
              <a:t>Amenable to statistical analysis</a:t>
            </a:r>
            <a:endParaRPr dirty="0"/>
          </a:p>
          <a:p>
            <a:pPr marL="499872" lvl="0" indent="-499872" algn="l" rtl="0">
              <a:lnSpc>
                <a:spcPct val="50000"/>
              </a:lnSpc>
              <a:spcBef>
                <a:spcPts val="3600"/>
              </a:spcBef>
              <a:spcAft>
                <a:spcPts val="0"/>
              </a:spcAft>
              <a:buClr>
                <a:srgbClr val="000000"/>
              </a:buClr>
              <a:buSzPts val="5446"/>
              <a:buFont typeface="Avenir"/>
              <a:buChar char="•"/>
            </a:pPr>
            <a:r>
              <a:rPr lang="en-US" sz="4428" dirty="0">
                <a:latin typeface="Avenir"/>
                <a:ea typeface="Avenir"/>
                <a:cs typeface="Avenir"/>
                <a:sym typeface="Avenir"/>
              </a:rPr>
              <a:t>Reproducible</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1BD69-74AC-FA46-A21C-69CF16D33B32}"/>
              </a:ext>
            </a:extLst>
          </p:cNvPr>
          <p:cNvSpPr>
            <a:spLocks noGrp="1"/>
          </p:cNvSpPr>
          <p:nvPr>
            <p:ph type="title"/>
          </p:nvPr>
        </p:nvSpPr>
        <p:spPr/>
        <p:txBody>
          <a:bodyPr/>
          <a:lstStyle/>
          <a:p>
            <a:r>
              <a:rPr lang="en-US" sz="8800" b="0" dirty="0">
                <a:latin typeface="Avenir"/>
                <a:ea typeface="Avenir"/>
                <a:cs typeface="Avenir"/>
                <a:sym typeface="Avenir"/>
              </a:rPr>
              <a:t>Variables in the experiment</a:t>
            </a:r>
            <a:endParaRPr lang="en-US" dirty="0"/>
          </a:p>
        </p:txBody>
      </p:sp>
      <p:pic>
        <p:nvPicPr>
          <p:cNvPr id="6" name="Picture 5">
            <a:extLst>
              <a:ext uri="{FF2B5EF4-FFF2-40B4-BE49-F238E27FC236}">
                <a16:creationId xmlns:a16="http://schemas.microsoft.com/office/drawing/2014/main" id="{A7621E0C-0BB4-D443-B9B7-AF6C77944E26}"/>
              </a:ext>
            </a:extLst>
          </p:cNvPr>
          <p:cNvPicPr>
            <a:picLocks noChangeAspect="1"/>
          </p:cNvPicPr>
          <p:nvPr/>
        </p:nvPicPr>
        <p:blipFill>
          <a:blip r:embed="rId2"/>
          <a:stretch>
            <a:fillRect/>
          </a:stretch>
        </p:blipFill>
        <p:spPr>
          <a:xfrm>
            <a:off x="1800549" y="2512663"/>
            <a:ext cx="7645400" cy="4165600"/>
          </a:xfrm>
          <a:prstGeom prst="rect">
            <a:avLst/>
          </a:prstGeom>
        </p:spPr>
      </p:pic>
      <p:sp>
        <p:nvSpPr>
          <p:cNvPr id="9" name="Google Shape;185;p27">
            <a:extLst>
              <a:ext uri="{FF2B5EF4-FFF2-40B4-BE49-F238E27FC236}">
                <a16:creationId xmlns:a16="http://schemas.microsoft.com/office/drawing/2014/main" id="{44D959CA-AB13-0F45-86A8-C98878781787}"/>
              </a:ext>
            </a:extLst>
          </p:cNvPr>
          <p:cNvSpPr txBox="1">
            <a:spLocks/>
          </p:cNvSpPr>
          <p:nvPr/>
        </p:nvSpPr>
        <p:spPr>
          <a:xfrm>
            <a:off x="10969690" y="2512663"/>
            <a:ext cx="12901385" cy="2318897"/>
          </a:xfrm>
          <a:prstGeom prst="rect">
            <a:avLst/>
          </a:prstGeom>
          <a:noFill/>
          <a:ln>
            <a:noFill/>
          </a:ln>
        </p:spPr>
        <p:txBody>
          <a:bodyPr spcFirstLastPara="1" wrap="square" lIns="50800" tIns="50800" rIns="50800" bIns="50800" anchor="t" anchorCtr="0">
            <a:normAutofit fontScale="77500" lnSpcReduction="20000"/>
          </a:bodyPr>
          <a:lstStyle>
            <a:defPPr marR="0" lvl="0" algn="l" rtl="0">
              <a:lnSpc>
                <a:spcPct val="100000"/>
              </a:lnSpc>
              <a:spcBef>
                <a:spcPts val="0"/>
              </a:spcBef>
              <a:spcAft>
                <a:spcPts val="0"/>
              </a:spcAft>
            </a:defPPr>
            <a:lvl1pPr marL="457200" marR="0" lvl="0"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1pPr>
            <a:lvl2pPr marL="914400" marR="0" lvl="1"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2pPr>
            <a:lvl3pPr marL="1371600" marR="0" lvl="2"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3pPr>
            <a:lvl4pPr marL="1828800" marR="0" lvl="3"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4pPr>
            <a:lvl5pPr marL="2286000" marR="0" lvl="4"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5pPr>
            <a:lvl6pPr marL="2743200" marR="0" lvl="5"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6pPr>
            <a:lvl7pPr marL="3200400" marR="0" lvl="6"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7pPr>
            <a:lvl8pPr marL="3657600" marR="0" lvl="7"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8pPr>
            <a:lvl9pPr marL="4114800" marR="0" lvl="8" indent="-603503"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9pPr>
          </a:lstStyle>
          <a:p>
            <a:pPr marL="571500" indent="-571500">
              <a:buFont typeface="Arial" panose="020B0604020202020204" pitchFamily="34" charset="0"/>
              <a:buChar char="•"/>
            </a:pPr>
            <a:r>
              <a:rPr lang="en-US" sz="4000" dirty="0">
                <a:latin typeface="Avenir" panose="02000503020000020003" pitchFamily="2" charset="0"/>
              </a:rPr>
              <a:t>Independent variable also called as Input or Predictor or Explanatory variable</a:t>
            </a:r>
          </a:p>
          <a:p>
            <a:pPr marL="571500" lvl="1" indent="-571500">
              <a:buFont typeface="Arial" panose="020B0604020202020204" pitchFamily="34" charset="0"/>
              <a:buChar char="•"/>
            </a:pPr>
            <a:r>
              <a:rPr lang="en-US" sz="4000" dirty="0">
                <a:latin typeface="Avenir" panose="02000503020000020003" pitchFamily="2" charset="0"/>
              </a:rPr>
              <a:t>Dependent variables also called as output or Response variable</a:t>
            </a:r>
          </a:p>
          <a:p>
            <a:pPr marL="0" lvl="5" indent="1874520">
              <a:spcBef>
                <a:spcPts val="7300"/>
              </a:spcBef>
              <a:buClr>
                <a:srgbClr val="0076B9"/>
              </a:buClr>
              <a:buSzPts val="6560"/>
              <a:buFont typeface="Avenir"/>
              <a:buNone/>
            </a:pPr>
            <a:endParaRPr lang="en-US" dirty="0"/>
          </a:p>
        </p:txBody>
      </p:sp>
      <p:sp>
        <p:nvSpPr>
          <p:cNvPr id="10" name="Google Shape;185;p27">
            <a:extLst>
              <a:ext uri="{FF2B5EF4-FFF2-40B4-BE49-F238E27FC236}">
                <a16:creationId xmlns:a16="http://schemas.microsoft.com/office/drawing/2014/main" id="{18F0BE32-480E-EF40-8A37-739B202F45D1}"/>
              </a:ext>
            </a:extLst>
          </p:cNvPr>
          <p:cNvSpPr txBox="1">
            <a:spLocks/>
          </p:cNvSpPr>
          <p:nvPr/>
        </p:nvSpPr>
        <p:spPr>
          <a:xfrm>
            <a:off x="1206500" y="7423675"/>
            <a:ext cx="21261614" cy="5340603"/>
          </a:xfrm>
          <a:prstGeom prst="rect">
            <a:avLst/>
          </a:prstGeom>
          <a:noFill/>
          <a:ln>
            <a:noFill/>
          </a:ln>
        </p:spPr>
        <p:txBody>
          <a:bodyPr spcFirstLastPara="1" wrap="square" lIns="50800" tIns="50800" rIns="50800" bIns="50800" anchor="t" anchorCtr="0">
            <a:normAutofit/>
          </a:bodyPr>
          <a:lstStyle>
            <a:defPPr marR="0" lvl="0" algn="l" rtl="0">
              <a:lnSpc>
                <a:spcPct val="100000"/>
              </a:lnSpc>
              <a:spcBef>
                <a:spcPts val="0"/>
              </a:spcBef>
              <a:spcAft>
                <a:spcPts val="0"/>
              </a:spcAft>
            </a:defPPr>
            <a:lvl1pPr marL="457200" marR="0" lvl="0"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1pPr>
            <a:lvl2pPr marL="914400" marR="0" lvl="1"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2pPr>
            <a:lvl3pPr marL="1371600" marR="0" lvl="2"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3pPr>
            <a:lvl4pPr marL="1828800" marR="0" lvl="3"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4pPr>
            <a:lvl5pPr marL="2286000" marR="0" lvl="4"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5pPr>
            <a:lvl6pPr marL="2743200" marR="0" lvl="5"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6pPr>
            <a:lvl7pPr marL="3200400" marR="0" lvl="6"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7pPr>
            <a:lvl8pPr marL="3657600" marR="0" lvl="7"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8pPr>
            <a:lvl9pPr marL="4114800" marR="0" lvl="8" indent="-603503"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9pPr>
          </a:lstStyle>
          <a:p>
            <a:pPr marL="571500" indent="-571500">
              <a:buFont typeface="Arial" panose="020B0604020202020204" pitchFamily="34" charset="0"/>
              <a:buChar char="•"/>
            </a:pPr>
            <a:r>
              <a:rPr lang="en-US" sz="4000" dirty="0">
                <a:latin typeface="Avenir" panose="02000503020000020003" pitchFamily="2" charset="0"/>
              </a:rPr>
              <a:t>Based on the type of measurements both Independent and Dependent variables further classified …</a:t>
            </a:r>
          </a:p>
          <a:p>
            <a:pPr marL="1028700" lvl="1" indent="-571500">
              <a:buFont typeface="Courier New" panose="02070309020205020404" pitchFamily="49" charset="0"/>
              <a:buChar char="o"/>
            </a:pPr>
            <a:r>
              <a:rPr lang="en-US" sz="4000" dirty="0">
                <a:latin typeface="Avenir" panose="02000503020000020003" pitchFamily="2" charset="0"/>
              </a:rPr>
              <a:t>Continuous: Height, weight, Microarray intensities</a:t>
            </a:r>
          </a:p>
          <a:p>
            <a:pPr marL="1028700" lvl="1" indent="-571500">
              <a:buFont typeface="Courier New" panose="02070309020205020404" pitchFamily="49" charset="0"/>
              <a:buChar char="o"/>
            </a:pPr>
            <a:r>
              <a:rPr lang="en-US" sz="4000" dirty="0">
                <a:latin typeface="Avenir" panose="02000503020000020003" pitchFamily="2" charset="0"/>
              </a:rPr>
              <a:t>Discontinuous: </a:t>
            </a:r>
            <a:r>
              <a:rPr lang="en-US" sz="4000" dirty="0" err="1">
                <a:latin typeface="Avenir" panose="02000503020000020003" pitchFamily="2" charset="0"/>
              </a:rPr>
              <a:t>RNAseq</a:t>
            </a:r>
            <a:r>
              <a:rPr lang="en-US" sz="4000" dirty="0">
                <a:latin typeface="Avenir" panose="02000503020000020003" pitchFamily="2" charset="0"/>
              </a:rPr>
              <a:t> counts</a:t>
            </a:r>
          </a:p>
          <a:p>
            <a:pPr marL="1028700" lvl="1" indent="-571500">
              <a:buFont typeface="Courier New" panose="02070309020205020404" pitchFamily="49" charset="0"/>
              <a:buChar char="o"/>
            </a:pPr>
            <a:r>
              <a:rPr lang="en-US" sz="4000" dirty="0">
                <a:latin typeface="Avenir" panose="02000503020000020003" pitchFamily="2" charset="0"/>
              </a:rPr>
              <a:t>Categorical : Sex, color (Categorical independent variables also called as factors)</a:t>
            </a:r>
          </a:p>
          <a:p>
            <a:pPr marL="571500" indent="-571500">
              <a:buFont typeface="Arial" panose="020B0604020202020204" pitchFamily="34" charset="0"/>
              <a:buChar char="•"/>
            </a:pPr>
            <a:endParaRPr lang="en-US" sz="4000" dirty="0">
              <a:latin typeface="Avenir" panose="02000503020000020003" pitchFamily="2" charset="0"/>
            </a:endParaRPr>
          </a:p>
          <a:p>
            <a:pPr marL="571500" indent="-571500">
              <a:buFont typeface="Arial" panose="020B0604020202020204" pitchFamily="34" charset="0"/>
              <a:buChar char="•"/>
            </a:pPr>
            <a:endParaRPr lang="en-US" dirty="0"/>
          </a:p>
        </p:txBody>
      </p:sp>
    </p:spTree>
    <p:extLst>
      <p:ext uri="{BB962C8B-B14F-4D97-AF65-F5344CB8AC3E}">
        <p14:creationId xmlns:p14="http://schemas.microsoft.com/office/powerpoint/2010/main" val="1549395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195"/>
        <p:cNvGrpSpPr/>
        <p:nvPr/>
      </p:nvGrpSpPr>
      <p:grpSpPr>
        <a:xfrm>
          <a:off x="0" y="0"/>
          <a:ext cx="0" cy="0"/>
          <a:chOff x="0" y="0"/>
          <a:chExt cx="0" cy="0"/>
        </a:xfrm>
      </p:grpSpPr>
      <p:sp>
        <p:nvSpPr>
          <p:cNvPr id="196" name="Google Shape;196;p29"/>
          <p:cNvSpPr txBox="1"/>
          <p:nvPr/>
        </p:nvSpPr>
        <p:spPr>
          <a:xfrm>
            <a:off x="6660870" y="3078105"/>
            <a:ext cx="11536529" cy="7239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0076B9"/>
              </a:buClr>
              <a:buSzPts val="3600"/>
              <a:buFont typeface="Avenir"/>
              <a:buNone/>
            </a:pPr>
            <a:r>
              <a:rPr lang="en-US" sz="3600" b="0" i="0" u="none" strike="noStrike" cap="none" dirty="0">
                <a:solidFill>
                  <a:srgbClr val="0076B9"/>
                </a:solidFill>
                <a:latin typeface="Avenir"/>
                <a:ea typeface="Avenir"/>
                <a:cs typeface="Avenir"/>
                <a:sym typeface="Avenir"/>
              </a:rPr>
              <a:t>dependent variable = f ( independent variable ) + noise </a:t>
            </a:r>
            <a:endParaRPr dirty="0"/>
          </a:p>
        </p:txBody>
      </p:sp>
      <p:sp>
        <p:nvSpPr>
          <p:cNvPr id="197" name="Google Shape;197;p29"/>
          <p:cNvSpPr txBox="1">
            <a:spLocks noGrp="1"/>
          </p:cNvSpPr>
          <p:nvPr>
            <p:ph type="title" idx="4294967295"/>
          </p:nvPr>
        </p:nvSpPr>
        <p:spPr>
          <a:xfrm>
            <a:off x="1036320" y="1079500"/>
            <a:ext cx="21971000" cy="1433513"/>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a:latin typeface="Avenir"/>
                <a:ea typeface="Avenir"/>
                <a:cs typeface="Avenir"/>
                <a:sym typeface="Avenir"/>
              </a:rPr>
              <a:t>Sources of Variation</a:t>
            </a:r>
            <a:endParaRPr/>
          </a:p>
        </p:txBody>
      </p:sp>
      <p:sp>
        <p:nvSpPr>
          <p:cNvPr id="202" name="Google Shape;202;p29"/>
          <p:cNvSpPr txBox="1">
            <a:spLocks noGrp="1"/>
          </p:cNvSpPr>
          <p:nvPr>
            <p:ph type="body" idx="4294967295"/>
          </p:nvPr>
        </p:nvSpPr>
        <p:spPr>
          <a:xfrm>
            <a:off x="1036320" y="5616575"/>
            <a:ext cx="21971000" cy="6888163"/>
          </a:xfrm>
          <a:prstGeom prst="rect">
            <a:avLst/>
          </a:prstGeom>
          <a:noFill/>
          <a:ln>
            <a:noFill/>
          </a:ln>
        </p:spPr>
        <p:txBody>
          <a:bodyPr spcFirstLastPara="1" wrap="square" lIns="50800" tIns="50800" rIns="50800" bIns="50800" anchor="t" anchorCtr="0">
            <a:normAutofit/>
          </a:bodyPr>
          <a:lstStyle/>
          <a:p>
            <a:pPr marL="536447" lvl="0" indent="-536447" algn="l" rtl="0">
              <a:lnSpc>
                <a:spcPct val="90000"/>
              </a:lnSpc>
              <a:spcBef>
                <a:spcPts val="0"/>
              </a:spcBef>
              <a:spcAft>
                <a:spcPts val="0"/>
              </a:spcAft>
              <a:buClr>
                <a:srgbClr val="000000"/>
              </a:buClr>
              <a:buSzPts val="5196"/>
              <a:buFont typeface="Avenir"/>
              <a:buChar char="•"/>
            </a:pPr>
            <a:r>
              <a:rPr lang="en-US" sz="4224" dirty="0">
                <a:latin typeface="Avenir"/>
                <a:ea typeface="Avenir"/>
                <a:cs typeface="Avenir"/>
                <a:sym typeface="Avenir"/>
              </a:rPr>
              <a:t>Biological “noise”</a:t>
            </a:r>
            <a:endParaRPr dirty="0"/>
          </a:p>
          <a:p>
            <a:pPr marL="1072895" lvl="1" indent="-536446" algn="l" rtl="0">
              <a:lnSpc>
                <a:spcPct val="50000"/>
              </a:lnSpc>
              <a:spcBef>
                <a:spcPts val="800"/>
              </a:spcBef>
              <a:spcAft>
                <a:spcPts val="0"/>
              </a:spcAft>
              <a:buClr>
                <a:srgbClr val="000000"/>
              </a:buClr>
              <a:buSzPts val="5196"/>
              <a:buFont typeface="Avenir"/>
              <a:buChar char="•"/>
            </a:pPr>
            <a:r>
              <a:rPr lang="en-US" sz="4224" dirty="0">
                <a:latin typeface="Avenir"/>
                <a:ea typeface="Avenir"/>
                <a:cs typeface="Avenir"/>
                <a:sym typeface="Avenir"/>
              </a:rPr>
              <a:t>Biological processes are inherently stochastic</a:t>
            </a:r>
            <a:endParaRPr dirty="0"/>
          </a:p>
          <a:p>
            <a:pPr marL="1072895" lvl="1" indent="-536446" algn="l" rtl="0">
              <a:lnSpc>
                <a:spcPct val="50000"/>
              </a:lnSpc>
              <a:spcBef>
                <a:spcPts val="3900"/>
              </a:spcBef>
              <a:spcAft>
                <a:spcPts val="0"/>
              </a:spcAft>
              <a:buClr>
                <a:srgbClr val="000000"/>
              </a:buClr>
              <a:buSzPts val="5196"/>
              <a:buFont typeface="Avenir"/>
              <a:buChar char="•"/>
            </a:pPr>
            <a:r>
              <a:rPr lang="en-US" sz="4224" dirty="0">
                <a:latin typeface="Avenir"/>
                <a:ea typeface="Avenir"/>
                <a:cs typeface="Avenir"/>
                <a:sym typeface="Avenir"/>
              </a:rPr>
              <a:t>Single cells, cell populations, individuals, organs, species….</a:t>
            </a:r>
            <a:endParaRPr dirty="0"/>
          </a:p>
          <a:p>
            <a:pPr marL="1072895" lvl="1" indent="-536446" algn="l" rtl="0">
              <a:lnSpc>
                <a:spcPct val="50000"/>
              </a:lnSpc>
              <a:spcBef>
                <a:spcPts val="3900"/>
              </a:spcBef>
              <a:spcAft>
                <a:spcPts val="0"/>
              </a:spcAft>
              <a:buClr>
                <a:srgbClr val="000000"/>
              </a:buClr>
              <a:buSzPts val="5196"/>
              <a:buFont typeface="Avenir"/>
              <a:buChar char="•"/>
            </a:pPr>
            <a:r>
              <a:rPr lang="en-US" sz="4224" dirty="0">
                <a:latin typeface="Avenir"/>
                <a:ea typeface="Avenir"/>
                <a:cs typeface="Avenir"/>
                <a:sym typeface="Avenir"/>
              </a:rPr>
              <a:t>Timepoints, cell cycle, synchronized vs. unsynchronized</a:t>
            </a:r>
            <a:endParaRPr dirty="0"/>
          </a:p>
          <a:p>
            <a:pPr marL="536447" lvl="0" indent="-536447" algn="l" rtl="0">
              <a:lnSpc>
                <a:spcPct val="90000"/>
              </a:lnSpc>
              <a:spcBef>
                <a:spcPts val="5200"/>
              </a:spcBef>
              <a:spcAft>
                <a:spcPts val="0"/>
              </a:spcAft>
              <a:buClr>
                <a:srgbClr val="000000"/>
              </a:buClr>
              <a:buSzPts val="5196"/>
              <a:buFont typeface="Avenir"/>
              <a:buChar char="•"/>
            </a:pPr>
            <a:r>
              <a:rPr lang="en-US" sz="4224" dirty="0">
                <a:latin typeface="Avenir"/>
                <a:ea typeface="Avenir"/>
                <a:cs typeface="Avenir"/>
                <a:sym typeface="Avenir"/>
              </a:rPr>
              <a:t>Technical noise</a:t>
            </a:r>
            <a:endParaRPr dirty="0"/>
          </a:p>
          <a:p>
            <a:pPr marL="1072895" lvl="1" indent="-536446" algn="l" rtl="0">
              <a:lnSpc>
                <a:spcPct val="50000"/>
              </a:lnSpc>
              <a:spcBef>
                <a:spcPts val="800"/>
              </a:spcBef>
              <a:spcAft>
                <a:spcPts val="0"/>
              </a:spcAft>
              <a:buClr>
                <a:srgbClr val="000000"/>
              </a:buClr>
              <a:buSzPts val="5196"/>
              <a:buFont typeface="Avenir"/>
              <a:buChar char="•"/>
            </a:pPr>
            <a:r>
              <a:rPr lang="en-US" sz="4224" dirty="0">
                <a:latin typeface="Avenir"/>
                <a:ea typeface="Avenir"/>
                <a:cs typeface="Avenir"/>
                <a:sym typeface="Avenir"/>
              </a:rPr>
              <a:t>Reagents, antibodies, temperatures, pollution</a:t>
            </a:r>
            <a:endParaRPr dirty="0"/>
          </a:p>
          <a:p>
            <a:pPr marL="1072895" lvl="1" indent="-536446" algn="l" rtl="0">
              <a:lnSpc>
                <a:spcPct val="50000"/>
              </a:lnSpc>
              <a:spcBef>
                <a:spcPts val="3900"/>
              </a:spcBef>
              <a:spcAft>
                <a:spcPts val="0"/>
              </a:spcAft>
              <a:buClr>
                <a:srgbClr val="000000"/>
              </a:buClr>
              <a:buSzPts val="5196"/>
              <a:buFont typeface="Avenir"/>
              <a:buChar char="•"/>
            </a:pPr>
            <a:r>
              <a:rPr lang="en-US" sz="4224" dirty="0">
                <a:latin typeface="Avenir"/>
                <a:ea typeface="Avenir"/>
                <a:cs typeface="Avenir"/>
                <a:sym typeface="Avenir"/>
              </a:rPr>
              <a:t>Platforms, runs, operators</a:t>
            </a:r>
            <a:endParaRPr dirty="0"/>
          </a:p>
          <a:p>
            <a:pPr marL="536447" lvl="0" indent="-536447" algn="l" rtl="0">
              <a:lnSpc>
                <a:spcPct val="90000"/>
              </a:lnSpc>
              <a:spcBef>
                <a:spcPts val="3900"/>
              </a:spcBef>
              <a:spcAft>
                <a:spcPts val="0"/>
              </a:spcAft>
              <a:buClr>
                <a:srgbClr val="0076B9"/>
              </a:buClr>
              <a:buSzPts val="5196"/>
              <a:buFont typeface="Avenir"/>
              <a:buChar char="•"/>
            </a:pPr>
            <a:r>
              <a:rPr lang="en-US" sz="4224" dirty="0">
                <a:solidFill>
                  <a:srgbClr val="0076B9"/>
                </a:solidFill>
                <a:latin typeface="Avenir"/>
                <a:ea typeface="Avenir"/>
                <a:cs typeface="Avenir"/>
                <a:sym typeface="Avenir"/>
              </a:rPr>
              <a:t>Replication is required to capture variance</a:t>
            </a:r>
            <a:endParaRPr dirty="0"/>
          </a:p>
        </p:txBody>
      </p:sp>
      <p:cxnSp>
        <p:nvCxnSpPr>
          <p:cNvPr id="198" name="Google Shape;198;p29"/>
          <p:cNvCxnSpPr/>
          <p:nvPr/>
        </p:nvCxnSpPr>
        <p:spPr>
          <a:xfrm flipH="1">
            <a:off x="16387051" y="3868738"/>
            <a:ext cx="714921" cy="714921"/>
          </a:xfrm>
          <a:prstGeom prst="straightConnector1">
            <a:avLst/>
          </a:prstGeom>
          <a:noFill/>
          <a:ln w="25400" cap="flat" cmpd="sng">
            <a:solidFill>
              <a:srgbClr val="000000"/>
            </a:solidFill>
            <a:prstDash val="solid"/>
            <a:miter lim="400000"/>
            <a:headEnd type="none" w="sm" len="sm"/>
            <a:tailEnd type="triangle" w="med" len="med"/>
          </a:ln>
        </p:spPr>
      </p:cxnSp>
      <p:cxnSp>
        <p:nvCxnSpPr>
          <p:cNvPr id="199" name="Google Shape;199;p29"/>
          <p:cNvCxnSpPr/>
          <p:nvPr/>
        </p:nvCxnSpPr>
        <p:spPr>
          <a:xfrm>
            <a:off x="17877962" y="3868738"/>
            <a:ext cx="714921" cy="714921"/>
          </a:xfrm>
          <a:prstGeom prst="straightConnector1">
            <a:avLst/>
          </a:prstGeom>
          <a:noFill/>
          <a:ln w="25400" cap="flat" cmpd="sng">
            <a:solidFill>
              <a:srgbClr val="000000"/>
            </a:solidFill>
            <a:prstDash val="solid"/>
            <a:miter lim="400000"/>
            <a:headEnd type="none" w="sm" len="sm"/>
            <a:tailEnd type="triangle" w="med" len="med"/>
          </a:ln>
        </p:spPr>
      </p:cxnSp>
      <p:sp>
        <p:nvSpPr>
          <p:cNvPr id="200" name="Google Shape;200;p29"/>
          <p:cNvSpPr txBox="1"/>
          <p:nvPr/>
        </p:nvSpPr>
        <p:spPr>
          <a:xfrm>
            <a:off x="15195622" y="4641848"/>
            <a:ext cx="2120495" cy="7239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000000"/>
              </a:buClr>
              <a:buSzPts val="3600"/>
              <a:buFont typeface="Avenir"/>
              <a:buNone/>
            </a:pPr>
            <a:r>
              <a:rPr lang="en-US" sz="3600" b="0" i="0" u="none" strike="noStrike" cap="none" dirty="0">
                <a:solidFill>
                  <a:srgbClr val="000000"/>
                </a:solidFill>
                <a:latin typeface="Avenir"/>
                <a:ea typeface="Avenir"/>
                <a:cs typeface="Avenir"/>
                <a:sym typeface="Avenir"/>
              </a:rPr>
              <a:t>Biological</a:t>
            </a:r>
            <a:endParaRPr dirty="0"/>
          </a:p>
        </p:txBody>
      </p:sp>
      <p:sp>
        <p:nvSpPr>
          <p:cNvPr id="201" name="Google Shape;201;p29"/>
          <p:cNvSpPr txBox="1"/>
          <p:nvPr/>
        </p:nvSpPr>
        <p:spPr>
          <a:xfrm>
            <a:off x="17663650" y="4675503"/>
            <a:ext cx="2396650" cy="656590"/>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000000"/>
              </a:buClr>
              <a:buSzPts val="3600"/>
              <a:buFont typeface="Avenir"/>
              <a:buNone/>
            </a:pPr>
            <a:r>
              <a:rPr lang="en-US" sz="3600" b="0" i="0" u="none" strike="noStrike" cap="none" dirty="0">
                <a:solidFill>
                  <a:srgbClr val="000000"/>
                </a:solidFill>
                <a:latin typeface="Avenir"/>
                <a:ea typeface="Avenir"/>
                <a:cs typeface="Avenir"/>
                <a:sym typeface="Avenir"/>
              </a:rPr>
              <a:t>Technical</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206"/>
        <p:cNvGrpSpPr/>
        <p:nvPr/>
      </p:nvGrpSpPr>
      <p:grpSpPr>
        <a:xfrm>
          <a:off x="0" y="0"/>
          <a:ext cx="0" cy="0"/>
          <a:chOff x="0" y="0"/>
          <a:chExt cx="0" cy="0"/>
        </a:xfrm>
      </p:grpSpPr>
      <p:sp>
        <p:nvSpPr>
          <p:cNvPr id="207" name="Google Shape;207;p30"/>
          <p:cNvSpPr txBox="1">
            <a:spLocks noGrp="1"/>
          </p:cNvSpPr>
          <p:nvPr>
            <p:ph type="title" idx="4294967295"/>
          </p:nvPr>
        </p:nvSpPr>
        <p:spPr>
          <a:xfrm>
            <a:off x="1249680" y="1079500"/>
            <a:ext cx="21971000" cy="1433513"/>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dirty="0">
                <a:latin typeface="Avenir"/>
                <a:ea typeface="Avenir"/>
                <a:cs typeface="Avenir"/>
                <a:sym typeface="Avenir"/>
              </a:rPr>
              <a:t>Types of Replication</a:t>
            </a:r>
            <a:endParaRPr dirty="0"/>
          </a:p>
        </p:txBody>
      </p:sp>
      <p:sp>
        <p:nvSpPr>
          <p:cNvPr id="209" name="Google Shape;209;p30"/>
          <p:cNvSpPr txBox="1">
            <a:spLocks noGrp="1"/>
          </p:cNvSpPr>
          <p:nvPr>
            <p:ph type="body" idx="4294967295"/>
          </p:nvPr>
        </p:nvSpPr>
        <p:spPr>
          <a:xfrm>
            <a:off x="1950720" y="2971800"/>
            <a:ext cx="10036175" cy="9532938"/>
          </a:xfrm>
          <a:prstGeom prst="rect">
            <a:avLst/>
          </a:prstGeom>
          <a:noFill/>
          <a:ln>
            <a:noFill/>
          </a:ln>
        </p:spPr>
        <p:txBody>
          <a:bodyPr spcFirstLastPara="1" wrap="square" lIns="50800" tIns="50800" rIns="50800" bIns="50800" anchor="t" anchorCtr="0">
            <a:normAutofit/>
          </a:bodyPr>
          <a:lstStyle/>
          <a:p>
            <a:pPr marL="445008" lvl="0" indent="-445008" algn="l" rtl="0">
              <a:lnSpc>
                <a:spcPct val="90000"/>
              </a:lnSpc>
              <a:spcBef>
                <a:spcPts val="0"/>
              </a:spcBef>
              <a:spcAft>
                <a:spcPts val="0"/>
              </a:spcAft>
              <a:buClr>
                <a:srgbClr val="000000"/>
              </a:buClr>
              <a:buSzPts val="4310"/>
              <a:buFont typeface="Avenir"/>
              <a:buChar char="•"/>
            </a:pPr>
            <a:r>
              <a:rPr lang="en-US" sz="3504" dirty="0">
                <a:latin typeface="Avenir"/>
                <a:ea typeface="Avenir"/>
                <a:cs typeface="Avenir"/>
                <a:sym typeface="Avenir"/>
              </a:rPr>
              <a:t>Biological replication:</a:t>
            </a:r>
            <a:endParaRPr dirty="0"/>
          </a:p>
          <a:p>
            <a:pPr marL="890016" lvl="1" indent="-445008" algn="l" rtl="0">
              <a:lnSpc>
                <a:spcPct val="90000"/>
              </a:lnSpc>
              <a:spcBef>
                <a:spcPts val="3200"/>
              </a:spcBef>
              <a:spcAft>
                <a:spcPts val="0"/>
              </a:spcAft>
              <a:buClr>
                <a:srgbClr val="000000"/>
              </a:buClr>
              <a:buSzPts val="4310"/>
              <a:buFont typeface="Avenir"/>
              <a:buChar char="•"/>
            </a:pPr>
            <a:r>
              <a:rPr lang="en-US" sz="3504" dirty="0">
                <a:latin typeface="Avenir"/>
                <a:ea typeface="Avenir"/>
                <a:cs typeface="Avenir"/>
                <a:sym typeface="Avenir"/>
              </a:rPr>
              <a:t>In vivo:</a:t>
            </a:r>
            <a:endParaRPr dirty="0"/>
          </a:p>
          <a:p>
            <a:pPr marL="1335024" lvl="2" indent="-445008" algn="l" rtl="0">
              <a:lnSpc>
                <a:spcPct val="90000"/>
              </a:lnSpc>
              <a:spcBef>
                <a:spcPts val="3200"/>
              </a:spcBef>
              <a:spcAft>
                <a:spcPts val="0"/>
              </a:spcAft>
              <a:buClr>
                <a:srgbClr val="000000"/>
              </a:buClr>
              <a:buSzPts val="4310"/>
              <a:buFont typeface="Avenir"/>
              <a:buChar char="•"/>
            </a:pPr>
            <a:r>
              <a:rPr lang="en-US" sz="3504" dirty="0">
                <a:latin typeface="Avenir"/>
                <a:ea typeface="Avenir"/>
                <a:cs typeface="Avenir"/>
                <a:sym typeface="Avenir"/>
              </a:rPr>
              <a:t>Patients</a:t>
            </a:r>
            <a:endParaRPr dirty="0"/>
          </a:p>
          <a:p>
            <a:pPr marL="1335024" lvl="2" indent="-445008" algn="l" rtl="0">
              <a:lnSpc>
                <a:spcPct val="90000"/>
              </a:lnSpc>
              <a:spcBef>
                <a:spcPts val="3200"/>
              </a:spcBef>
              <a:spcAft>
                <a:spcPts val="0"/>
              </a:spcAft>
              <a:buClr>
                <a:srgbClr val="000000"/>
              </a:buClr>
              <a:buSzPts val="4310"/>
              <a:buFont typeface="Avenir"/>
              <a:buChar char="•"/>
            </a:pPr>
            <a:r>
              <a:rPr lang="en-US" sz="3504" dirty="0">
                <a:latin typeface="Avenir"/>
                <a:ea typeface="Avenir"/>
                <a:cs typeface="Avenir"/>
                <a:sym typeface="Avenir"/>
              </a:rPr>
              <a:t>Mice</a:t>
            </a:r>
            <a:endParaRPr dirty="0"/>
          </a:p>
          <a:p>
            <a:pPr marL="890016" lvl="1" indent="-445008" algn="l" rtl="0">
              <a:lnSpc>
                <a:spcPct val="90000"/>
              </a:lnSpc>
              <a:spcBef>
                <a:spcPts val="3200"/>
              </a:spcBef>
              <a:spcAft>
                <a:spcPts val="0"/>
              </a:spcAft>
              <a:buClr>
                <a:srgbClr val="000000"/>
              </a:buClr>
              <a:buSzPts val="4310"/>
              <a:buFont typeface="Avenir"/>
              <a:buChar char="•"/>
            </a:pPr>
            <a:r>
              <a:rPr lang="en-US" sz="3504" dirty="0">
                <a:latin typeface="Avenir"/>
                <a:ea typeface="Avenir"/>
                <a:cs typeface="Avenir"/>
                <a:sym typeface="Avenir"/>
              </a:rPr>
              <a:t>In vitro:</a:t>
            </a:r>
            <a:endParaRPr dirty="0"/>
          </a:p>
          <a:p>
            <a:pPr marL="1335024" lvl="2" indent="-445008" algn="l" rtl="0">
              <a:lnSpc>
                <a:spcPct val="90000"/>
              </a:lnSpc>
              <a:spcBef>
                <a:spcPts val="3200"/>
              </a:spcBef>
              <a:spcAft>
                <a:spcPts val="0"/>
              </a:spcAft>
              <a:buClr>
                <a:srgbClr val="000000"/>
              </a:buClr>
              <a:buSzPts val="4310"/>
              <a:buFont typeface="Avenir"/>
              <a:buChar char="•"/>
            </a:pPr>
            <a:r>
              <a:rPr lang="en-US" sz="3504" dirty="0">
                <a:latin typeface="Avenir"/>
                <a:ea typeface="Avenir"/>
                <a:cs typeface="Avenir"/>
                <a:sym typeface="Avenir"/>
              </a:rPr>
              <a:t>Different cell lines</a:t>
            </a:r>
            <a:endParaRPr dirty="0"/>
          </a:p>
          <a:p>
            <a:pPr marL="1335024" lvl="2" indent="-445008" algn="l" rtl="0">
              <a:lnSpc>
                <a:spcPct val="90000"/>
              </a:lnSpc>
              <a:spcBef>
                <a:spcPts val="3200"/>
              </a:spcBef>
              <a:spcAft>
                <a:spcPts val="0"/>
              </a:spcAft>
              <a:buClr>
                <a:srgbClr val="000000"/>
              </a:buClr>
              <a:buSzPts val="4310"/>
              <a:buFont typeface="Avenir"/>
              <a:buChar char="•"/>
            </a:pPr>
            <a:r>
              <a:rPr lang="en-US" sz="3504" dirty="0">
                <a:latin typeface="Avenir"/>
                <a:ea typeface="Avenir"/>
                <a:cs typeface="Avenir"/>
                <a:sym typeface="Avenir"/>
              </a:rPr>
              <a:t>Re-growing cells (passages) </a:t>
            </a:r>
            <a:endParaRPr dirty="0"/>
          </a:p>
          <a:p>
            <a:pPr marL="445008" lvl="0" indent="-445008" algn="l" rtl="0">
              <a:lnSpc>
                <a:spcPct val="90000"/>
              </a:lnSpc>
              <a:spcBef>
                <a:spcPts val="3200"/>
              </a:spcBef>
              <a:spcAft>
                <a:spcPts val="0"/>
              </a:spcAft>
              <a:buClr>
                <a:srgbClr val="000000"/>
              </a:buClr>
              <a:buSzPts val="4310"/>
              <a:buFont typeface="Avenir"/>
              <a:buChar char="•"/>
            </a:pPr>
            <a:r>
              <a:rPr lang="en-US" sz="3504" dirty="0">
                <a:latin typeface="Avenir"/>
                <a:ea typeface="Avenir"/>
                <a:cs typeface="Avenir"/>
                <a:sym typeface="Avenir"/>
              </a:rPr>
              <a:t>Technical replication:</a:t>
            </a:r>
            <a:endParaRPr dirty="0"/>
          </a:p>
          <a:p>
            <a:pPr marL="890016" lvl="1" indent="-445008" algn="l" rtl="0">
              <a:lnSpc>
                <a:spcPct val="90000"/>
              </a:lnSpc>
              <a:spcBef>
                <a:spcPts val="3200"/>
              </a:spcBef>
              <a:spcAft>
                <a:spcPts val="0"/>
              </a:spcAft>
              <a:buClr>
                <a:srgbClr val="000000"/>
              </a:buClr>
              <a:buSzPts val="4310"/>
              <a:buFont typeface="Avenir"/>
              <a:buChar char="•"/>
            </a:pPr>
            <a:r>
              <a:rPr lang="en-US" sz="3504" dirty="0">
                <a:latin typeface="Avenir"/>
                <a:ea typeface="Avenir"/>
                <a:cs typeface="Avenir"/>
                <a:sym typeface="Avenir"/>
              </a:rPr>
              <a:t>Experimental protocol</a:t>
            </a:r>
            <a:endParaRPr dirty="0"/>
          </a:p>
          <a:p>
            <a:pPr marL="890016" lvl="1" indent="-445008" algn="l" rtl="0">
              <a:lnSpc>
                <a:spcPct val="90000"/>
              </a:lnSpc>
              <a:spcBef>
                <a:spcPts val="3200"/>
              </a:spcBef>
              <a:spcAft>
                <a:spcPts val="0"/>
              </a:spcAft>
              <a:buClr>
                <a:srgbClr val="000000"/>
              </a:buClr>
              <a:buSzPts val="4310"/>
              <a:buFont typeface="Avenir"/>
              <a:buChar char="•"/>
            </a:pPr>
            <a:r>
              <a:rPr lang="en-US" sz="3504" dirty="0">
                <a:latin typeface="Avenir"/>
                <a:ea typeface="Avenir"/>
                <a:cs typeface="Avenir"/>
                <a:sym typeface="Avenir"/>
              </a:rPr>
              <a:t>Measurement platform (i.e. sequencer)</a:t>
            </a:r>
            <a:endParaRPr dirty="0"/>
          </a:p>
        </p:txBody>
      </p:sp>
      <p:pic>
        <p:nvPicPr>
          <p:cNvPr id="3" name="Picture 2" descr="A diagram of a mouse experiment&#10;&#10;Description automatically generated">
            <a:extLst>
              <a:ext uri="{FF2B5EF4-FFF2-40B4-BE49-F238E27FC236}">
                <a16:creationId xmlns:a16="http://schemas.microsoft.com/office/drawing/2014/main" id="{8B305225-D5DF-5034-AD2B-355472DD662D}"/>
              </a:ext>
            </a:extLst>
          </p:cNvPr>
          <p:cNvPicPr>
            <a:picLocks noChangeAspect="1"/>
          </p:cNvPicPr>
          <p:nvPr/>
        </p:nvPicPr>
        <p:blipFill>
          <a:blip r:embed="rId3"/>
          <a:stretch>
            <a:fillRect/>
          </a:stretch>
        </p:blipFill>
        <p:spPr>
          <a:xfrm>
            <a:off x="12538438" y="3371312"/>
            <a:ext cx="6682579" cy="5446302"/>
          </a:xfrm>
          <a:prstGeom prst="rect">
            <a:avLst/>
          </a:prstGeom>
        </p:spPr>
      </p:pic>
      <p:pic>
        <p:nvPicPr>
          <p:cNvPr id="5" name="Picture 4" descr="A mouse dropping liquid into test tubes&#10;&#10;Description automatically generated">
            <a:extLst>
              <a:ext uri="{FF2B5EF4-FFF2-40B4-BE49-F238E27FC236}">
                <a16:creationId xmlns:a16="http://schemas.microsoft.com/office/drawing/2014/main" id="{76D794A7-DAFB-39BB-AE32-F9CFE5A266E1}"/>
              </a:ext>
            </a:extLst>
          </p:cNvPr>
          <p:cNvPicPr>
            <a:picLocks noChangeAspect="1"/>
          </p:cNvPicPr>
          <p:nvPr/>
        </p:nvPicPr>
        <p:blipFill>
          <a:blip r:embed="rId4"/>
          <a:stretch>
            <a:fillRect/>
          </a:stretch>
        </p:blipFill>
        <p:spPr>
          <a:xfrm>
            <a:off x="19204062" y="3371312"/>
            <a:ext cx="3809071" cy="544630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213"/>
        <p:cNvGrpSpPr/>
        <p:nvPr/>
      </p:nvGrpSpPr>
      <p:grpSpPr>
        <a:xfrm>
          <a:off x="0" y="0"/>
          <a:ext cx="0" cy="0"/>
          <a:chOff x="0" y="0"/>
          <a:chExt cx="0" cy="0"/>
        </a:xfrm>
      </p:grpSpPr>
      <p:sp>
        <p:nvSpPr>
          <p:cNvPr id="214" name="Google Shape;214;p31"/>
          <p:cNvSpPr txBox="1">
            <a:spLocks noGrp="1"/>
          </p:cNvSpPr>
          <p:nvPr>
            <p:ph type="title" idx="4294967295"/>
          </p:nvPr>
        </p:nvSpPr>
        <p:spPr>
          <a:xfrm>
            <a:off x="1127760" y="1079500"/>
            <a:ext cx="21971000" cy="1433513"/>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a:latin typeface="Avenir"/>
                <a:ea typeface="Avenir"/>
                <a:cs typeface="Avenir"/>
                <a:sym typeface="Avenir"/>
              </a:rPr>
              <a:t>Confounding Factors</a:t>
            </a:r>
            <a:endParaRPr/>
          </a:p>
        </p:txBody>
      </p:sp>
      <p:sp>
        <p:nvSpPr>
          <p:cNvPr id="215" name="Google Shape;215;p31"/>
          <p:cNvSpPr txBox="1">
            <a:spLocks noGrp="1"/>
          </p:cNvSpPr>
          <p:nvPr>
            <p:ph type="body" idx="4294967295"/>
          </p:nvPr>
        </p:nvSpPr>
        <p:spPr>
          <a:xfrm>
            <a:off x="1127760" y="3640138"/>
            <a:ext cx="21971000" cy="5140325"/>
          </a:xfrm>
          <a:prstGeom prst="rect">
            <a:avLst/>
          </a:prstGeom>
          <a:noFill/>
          <a:ln>
            <a:noFill/>
          </a:ln>
        </p:spPr>
        <p:txBody>
          <a:bodyPr spcFirstLastPara="1" wrap="square" lIns="50800" tIns="50800" rIns="50800" bIns="50800" anchor="t" anchorCtr="0">
            <a:normAutofit/>
          </a:bodyPr>
          <a:lstStyle/>
          <a:p>
            <a:pPr marL="609600" lvl="0" indent="-609600" algn="l" rtl="0">
              <a:lnSpc>
                <a:spcPct val="90000"/>
              </a:lnSpc>
              <a:spcBef>
                <a:spcPts val="0"/>
              </a:spcBef>
              <a:spcAft>
                <a:spcPts val="0"/>
              </a:spcAft>
              <a:buClr>
                <a:srgbClr val="000000"/>
              </a:buClr>
              <a:buSzPts val="5904"/>
              <a:buFont typeface="Avenir"/>
              <a:buChar char="•"/>
            </a:pPr>
            <a:r>
              <a:rPr lang="en-US">
                <a:latin typeface="Avenir"/>
                <a:ea typeface="Avenir"/>
                <a:cs typeface="Avenir"/>
                <a:sym typeface="Avenir"/>
              </a:rPr>
              <a:t>Also known as extraneous, hidden, lurking or masking factors, or the third variable or mediator variable.</a:t>
            </a:r>
            <a:endParaRPr/>
          </a:p>
          <a:p>
            <a:pPr marL="609600" lvl="0" indent="-609600" algn="l" rtl="0">
              <a:lnSpc>
                <a:spcPct val="90000"/>
              </a:lnSpc>
              <a:spcBef>
                <a:spcPts val="4500"/>
              </a:spcBef>
              <a:spcAft>
                <a:spcPts val="0"/>
              </a:spcAft>
              <a:buClr>
                <a:srgbClr val="000000"/>
              </a:buClr>
              <a:buSzPts val="5904"/>
              <a:buFont typeface="Avenir"/>
              <a:buChar char="•"/>
            </a:pPr>
            <a:r>
              <a:rPr lang="en-US">
                <a:latin typeface="Avenir"/>
                <a:ea typeface="Avenir"/>
                <a:cs typeface="Avenir"/>
                <a:sym typeface="Avenir"/>
              </a:rPr>
              <a:t>May mask an actual association or falsely demonstrate an apparent association between the independent &amp; dependent variables.</a:t>
            </a:r>
            <a:endParaRPr/>
          </a:p>
          <a:p>
            <a:pPr marL="609600" lvl="0" indent="-609600" algn="l" rtl="0">
              <a:lnSpc>
                <a:spcPct val="90000"/>
              </a:lnSpc>
              <a:spcBef>
                <a:spcPts val="4500"/>
              </a:spcBef>
              <a:spcAft>
                <a:spcPts val="0"/>
              </a:spcAft>
              <a:buClr>
                <a:srgbClr val="000000"/>
              </a:buClr>
              <a:buSzPts val="5904"/>
              <a:buFont typeface="Avenir"/>
              <a:buChar char="•"/>
            </a:pPr>
            <a:r>
              <a:rPr lang="en-US">
                <a:latin typeface="Avenir"/>
                <a:ea typeface="Avenir"/>
                <a:cs typeface="Avenir"/>
                <a:sym typeface="Avenir"/>
              </a:rPr>
              <a:t>Hypothetical Example would be a study of coffee drinking and lung cancer. </a:t>
            </a:r>
            <a:endParaRPr/>
          </a:p>
        </p:txBody>
      </p:sp>
      <p:pic>
        <p:nvPicPr>
          <p:cNvPr id="216" name="Google Shape;216;p31" descr="Image"/>
          <p:cNvPicPr preferRelativeResize="0"/>
          <p:nvPr/>
        </p:nvPicPr>
        <p:blipFill rotWithShape="1">
          <a:blip r:embed="rId3">
            <a:alphaModFix/>
          </a:blip>
          <a:srcRect/>
          <a:stretch/>
        </p:blipFill>
        <p:spPr>
          <a:xfrm>
            <a:off x="8185043" y="8790022"/>
            <a:ext cx="9853252" cy="291024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220"/>
        <p:cNvGrpSpPr/>
        <p:nvPr/>
      </p:nvGrpSpPr>
      <p:grpSpPr>
        <a:xfrm>
          <a:off x="0" y="0"/>
          <a:ext cx="0" cy="0"/>
          <a:chOff x="0" y="0"/>
          <a:chExt cx="0" cy="0"/>
        </a:xfrm>
      </p:grpSpPr>
      <p:sp>
        <p:nvSpPr>
          <p:cNvPr id="221" name="Google Shape;221;p32"/>
          <p:cNvSpPr txBox="1">
            <a:spLocks noGrp="1"/>
          </p:cNvSpPr>
          <p:nvPr>
            <p:ph type="title" idx="4294967295"/>
          </p:nvPr>
        </p:nvSpPr>
        <p:spPr>
          <a:xfrm>
            <a:off x="0" y="1079500"/>
            <a:ext cx="21971000" cy="1433513"/>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a:latin typeface="Avenir"/>
                <a:ea typeface="Avenir"/>
                <a:cs typeface="Avenir"/>
                <a:sym typeface="Avenir"/>
              </a:rPr>
              <a:t>Confounding Factors</a:t>
            </a:r>
            <a:endParaRPr/>
          </a:p>
        </p:txBody>
      </p:sp>
      <p:sp>
        <p:nvSpPr>
          <p:cNvPr id="222" name="Google Shape;222;p32"/>
          <p:cNvSpPr txBox="1">
            <a:spLocks noGrp="1"/>
          </p:cNvSpPr>
          <p:nvPr>
            <p:ph type="body" idx="4294967295"/>
          </p:nvPr>
        </p:nvSpPr>
        <p:spPr>
          <a:xfrm>
            <a:off x="0" y="3640138"/>
            <a:ext cx="21971000" cy="5140325"/>
          </a:xfrm>
          <a:prstGeom prst="rect">
            <a:avLst/>
          </a:prstGeom>
          <a:noFill/>
          <a:ln>
            <a:noFill/>
          </a:ln>
        </p:spPr>
        <p:txBody>
          <a:bodyPr spcFirstLastPara="1" wrap="square" lIns="50800" tIns="50800" rIns="50800" bIns="50800" anchor="t" anchorCtr="0">
            <a:normAutofit/>
          </a:bodyPr>
          <a:lstStyle/>
          <a:p>
            <a:pPr marL="609600" lvl="0" indent="-609600" algn="l" rtl="0">
              <a:lnSpc>
                <a:spcPct val="90000"/>
              </a:lnSpc>
              <a:spcBef>
                <a:spcPts val="0"/>
              </a:spcBef>
              <a:spcAft>
                <a:spcPts val="0"/>
              </a:spcAft>
              <a:buClr>
                <a:srgbClr val="000000"/>
              </a:buClr>
              <a:buSzPts val="5904"/>
              <a:buFont typeface="Avenir"/>
              <a:buChar char="•"/>
            </a:pPr>
            <a:r>
              <a:rPr lang="en-US">
                <a:latin typeface="Avenir"/>
                <a:ea typeface="Avenir"/>
                <a:cs typeface="Avenir"/>
                <a:sym typeface="Avenir"/>
              </a:rPr>
              <a:t>Also known as extraneous, hidden, lurking or masking factors, or the third variable or mediator variable.</a:t>
            </a:r>
            <a:endParaRPr/>
          </a:p>
          <a:p>
            <a:pPr marL="609600" lvl="0" indent="-609600" algn="l" rtl="0">
              <a:lnSpc>
                <a:spcPct val="90000"/>
              </a:lnSpc>
              <a:spcBef>
                <a:spcPts val="4500"/>
              </a:spcBef>
              <a:spcAft>
                <a:spcPts val="0"/>
              </a:spcAft>
              <a:buClr>
                <a:srgbClr val="000000"/>
              </a:buClr>
              <a:buSzPts val="5904"/>
              <a:buFont typeface="Avenir"/>
              <a:buChar char="•"/>
            </a:pPr>
            <a:r>
              <a:rPr lang="en-US">
                <a:latin typeface="Avenir"/>
                <a:ea typeface="Avenir"/>
                <a:cs typeface="Avenir"/>
                <a:sym typeface="Avenir"/>
              </a:rPr>
              <a:t>May mask an actual association or falsely demonstrate an apparent association between the independent &amp; dependent variables.</a:t>
            </a:r>
            <a:endParaRPr/>
          </a:p>
          <a:p>
            <a:pPr marL="609600" lvl="0" indent="-609600" algn="l" rtl="0">
              <a:lnSpc>
                <a:spcPct val="90000"/>
              </a:lnSpc>
              <a:spcBef>
                <a:spcPts val="4500"/>
              </a:spcBef>
              <a:spcAft>
                <a:spcPts val="0"/>
              </a:spcAft>
              <a:buClr>
                <a:srgbClr val="000000"/>
              </a:buClr>
              <a:buSzPts val="5904"/>
              <a:buFont typeface="Avenir"/>
              <a:buChar char="•"/>
            </a:pPr>
            <a:r>
              <a:rPr lang="en-US">
                <a:latin typeface="Avenir"/>
                <a:ea typeface="Avenir"/>
                <a:cs typeface="Avenir"/>
                <a:sym typeface="Avenir"/>
              </a:rPr>
              <a:t>Hypothetical Example would be a study of coffee drinking and lung cancer. </a:t>
            </a:r>
            <a:endParaRPr/>
          </a:p>
        </p:txBody>
      </p:sp>
      <p:pic>
        <p:nvPicPr>
          <p:cNvPr id="223" name="Google Shape;223;p32" descr="Image"/>
          <p:cNvPicPr preferRelativeResize="0"/>
          <p:nvPr/>
        </p:nvPicPr>
        <p:blipFill rotWithShape="1">
          <a:blip r:embed="rId3">
            <a:alphaModFix/>
          </a:blip>
          <a:srcRect/>
          <a:stretch/>
        </p:blipFill>
        <p:spPr>
          <a:xfrm>
            <a:off x="7057283" y="8790022"/>
            <a:ext cx="9853252" cy="2910244"/>
          </a:xfrm>
          <a:prstGeom prst="rect">
            <a:avLst/>
          </a:prstGeom>
          <a:noFill/>
          <a:ln>
            <a:noFill/>
          </a:ln>
        </p:spPr>
      </p:pic>
      <p:pic>
        <p:nvPicPr>
          <p:cNvPr id="224" name="Google Shape;224;p32" descr="Image"/>
          <p:cNvPicPr preferRelativeResize="0"/>
          <p:nvPr/>
        </p:nvPicPr>
        <p:blipFill rotWithShape="1">
          <a:blip r:embed="rId4">
            <a:alphaModFix/>
          </a:blip>
          <a:srcRect/>
          <a:stretch/>
        </p:blipFill>
        <p:spPr>
          <a:xfrm>
            <a:off x="8282726" y="11682108"/>
            <a:ext cx="7402366" cy="194799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CCDBD-A935-B2B9-03AF-20E5F0EEBD95}"/>
              </a:ext>
            </a:extLst>
          </p:cNvPr>
          <p:cNvSpPr>
            <a:spLocks noGrp="1"/>
          </p:cNvSpPr>
          <p:nvPr>
            <p:ph type="title"/>
          </p:nvPr>
        </p:nvSpPr>
        <p:spPr/>
        <p:txBody>
          <a:bodyPr/>
          <a:lstStyle/>
          <a:p>
            <a:r>
              <a:rPr lang="en-US" dirty="0"/>
              <a:t>Batch Effects</a:t>
            </a:r>
          </a:p>
        </p:txBody>
      </p:sp>
      <p:sp>
        <p:nvSpPr>
          <p:cNvPr id="3" name="Content Placeholder 2">
            <a:extLst>
              <a:ext uri="{FF2B5EF4-FFF2-40B4-BE49-F238E27FC236}">
                <a16:creationId xmlns:a16="http://schemas.microsoft.com/office/drawing/2014/main" id="{A8AC53B6-864F-DAC6-00A6-C8316D4B88EA}"/>
              </a:ext>
            </a:extLst>
          </p:cNvPr>
          <p:cNvSpPr>
            <a:spLocks noGrp="1"/>
          </p:cNvSpPr>
          <p:nvPr>
            <p:ph idx="1"/>
          </p:nvPr>
        </p:nvSpPr>
        <p:spPr>
          <a:xfrm>
            <a:off x="1676400" y="3545633"/>
            <a:ext cx="21031200" cy="4739759"/>
          </a:xfrm>
        </p:spPr>
        <p:txBody>
          <a:bodyPr/>
          <a:lstStyle/>
          <a:p>
            <a:pPr marL="685800" indent="-685800">
              <a:buFont typeface="Arial" panose="020B0604020202020204" pitchFamily="34" charset="0"/>
              <a:buChar char="•"/>
            </a:pPr>
            <a:r>
              <a:rPr lang="en-US" dirty="0"/>
              <a:t>Batch effects can occur when subsets of samples processed in a way that systematically differs from the ways in which other subsets of the samples processed</a:t>
            </a:r>
          </a:p>
          <a:p>
            <a:pPr marL="685800" indent="-685800">
              <a:buFont typeface="Arial" panose="020B0604020202020204" pitchFamily="34" charset="0"/>
              <a:buChar char="•"/>
            </a:pPr>
            <a:r>
              <a:rPr lang="en-US" dirty="0"/>
              <a:t>Batch effects are problematic if they are confounded with the experimental variable.</a:t>
            </a:r>
          </a:p>
          <a:p>
            <a:r>
              <a:rPr lang="en-US" dirty="0"/>
              <a:t> </a:t>
            </a:r>
          </a:p>
        </p:txBody>
      </p:sp>
      <p:pic>
        <p:nvPicPr>
          <p:cNvPr id="6" name="Graphic 5">
            <a:extLst>
              <a:ext uri="{FF2B5EF4-FFF2-40B4-BE49-F238E27FC236}">
                <a16:creationId xmlns:a16="http://schemas.microsoft.com/office/drawing/2014/main" id="{B8A3D282-E5AA-3CAA-FCCF-2533D2643A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05895" y="7177093"/>
            <a:ext cx="10372210" cy="5640188"/>
          </a:xfrm>
          <a:prstGeom prst="rect">
            <a:avLst/>
          </a:prstGeom>
        </p:spPr>
      </p:pic>
    </p:spTree>
    <p:extLst>
      <p:ext uri="{BB962C8B-B14F-4D97-AF65-F5344CB8AC3E}">
        <p14:creationId xmlns:p14="http://schemas.microsoft.com/office/powerpoint/2010/main" val="3467339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228"/>
        <p:cNvGrpSpPr/>
        <p:nvPr/>
      </p:nvGrpSpPr>
      <p:grpSpPr>
        <a:xfrm>
          <a:off x="0" y="0"/>
          <a:ext cx="0" cy="0"/>
          <a:chOff x="0" y="0"/>
          <a:chExt cx="0" cy="0"/>
        </a:xfrm>
      </p:grpSpPr>
      <p:sp>
        <p:nvSpPr>
          <p:cNvPr id="229" name="Google Shape;229;p33"/>
          <p:cNvSpPr txBox="1">
            <a:spLocks noGrp="1"/>
          </p:cNvSpPr>
          <p:nvPr>
            <p:ph type="title" idx="4294967295"/>
          </p:nvPr>
        </p:nvSpPr>
        <p:spPr>
          <a:xfrm>
            <a:off x="1249680" y="1079500"/>
            <a:ext cx="21971000" cy="1433513"/>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dirty="0">
                <a:latin typeface="Avenir"/>
                <a:ea typeface="Avenir"/>
                <a:cs typeface="Avenir"/>
                <a:sym typeface="Avenir"/>
              </a:rPr>
              <a:t>Solutions</a:t>
            </a:r>
            <a:endParaRPr dirty="0"/>
          </a:p>
        </p:txBody>
      </p:sp>
      <p:sp>
        <p:nvSpPr>
          <p:cNvPr id="230" name="Google Shape;230;p33"/>
          <p:cNvSpPr txBox="1">
            <a:spLocks noGrp="1"/>
          </p:cNvSpPr>
          <p:nvPr>
            <p:ph type="body" idx="4294967295"/>
          </p:nvPr>
        </p:nvSpPr>
        <p:spPr>
          <a:xfrm>
            <a:off x="1249680" y="3640138"/>
            <a:ext cx="21971000" cy="8302625"/>
          </a:xfrm>
          <a:prstGeom prst="rect">
            <a:avLst/>
          </a:prstGeom>
          <a:noFill/>
          <a:ln>
            <a:noFill/>
          </a:ln>
        </p:spPr>
        <p:txBody>
          <a:bodyPr spcFirstLastPara="1" wrap="square" lIns="50800" tIns="50800" rIns="50800" bIns="50800" anchor="t" anchorCtr="0">
            <a:normAutofit/>
          </a:bodyPr>
          <a:lstStyle/>
          <a:p>
            <a:pPr marL="445008" lvl="0" indent="-445008" algn="l" rtl="0">
              <a:lnSpc>
                <a:spcPct val="90000"/>
              </a:lnSpc>
              <a:spcBef>
                <a:spcPts val="0"/>
              </a:spcBef>
              <a:spcAft>
                <a:spcPts val="0"/>
              </a:spcAft>
              <a:buClr>
                <a:srgbClr val="000000"/>
              </a:buClr>
              <a:buSzPts val="4310"/>
              <a:buFont typeface="Avenir"/>
              <a:buChar char="•"/>
            </a:pPr>
            <a:r>
              <a:rPr lang="en-US" sz="3504" dirty="0">
                <a:latin typeface="Avenir"/>
                <a:ea typeface="Avenir"/>
                <a:cs typeface="Avenir"/>
                <a:sym typeface="Avenir"/>
              </a:rPr>
              <a:t>Write it all down!!!!!!!!</a:t>
            </a:r>
            <a:endParaRPr dirty="0"/>
          </a:p>
          <a:p>
            <a:pPr marL="445008" lvl="0" indent="-445008" algn="l" rtl="0">
              <a:lnSpc>
                <a:spcPct val="90000"/>
              </a:lnSpc>
              <a:spcBef>
                <a:spcPts val="3200"/>
              </a:spcBef>
              <a:spcAft>
                <a:spcPts val="0"/>
              </a:spcAft>
              <a:buClr>
                <a:srgbClr val="000000"/>
              </a:buClr>
              <a:buSzPts val="4310"/>
              <a:buFont typeface="Avenir"/>
              <a:buChar char="•"/>
            </a:pPr>
            <a:r>
              <a:rPr lang="en-US" sz="3504" dirty="0">
                <a:latin typeface="Avenir"/>
                <a:ea typeface="Avenir"/>
                <a:cs typeface="Avenir"/>
                <a:sym typeface="Avenir"/>
              </a:rPr>
              <a:t>Controlling technical effects:</a:t>
            </a:r>
            <a:endParaRPr dirty="0"/>
          </a:p>
          <a:p>
            <a:pPr marL="890016" lvl="1" indent="-445008" algn="l" rtl="0">
              <a:lnSpc>
                <a:spcPct val="90000"/>
              </a:lnSpc>
              <a:spcBef>
                <a:spcPts val="3200"/>
              </a:spcBef>
              <a:spcAft>
                <a:spcPts val="0"/>
              </a:spcAft>
              <a:buClr>
                <a:srgbClr val="000000"/>
              </a:buClr>
              <a:buSzPts val="4310"/>
              <a:buFont typeface="Avenir"/>
              <a:buChar char="•"/>
            </a:pPr>
            <a:r>
              <a:rPr lang="en-US" sz="3504" dirty="0" err="1">
                <a:latin typeface="Avenir"/>
                <a:ea typeface="Avenir"/>
                <a:cs typeface="Avenir"/>
                <a:sym typeface="Avenir"/>
              </a:rPr>
              <a:t>Randomisation</a:t>
            </a:r>
            <a:endParaRPr lang="en-US" sz="3504" dirty="0">
              <a:latin typeface="Avenir"/>
              <a:ea typeface="Avenir"/>
              <a:cs typeface="Avenir"/>
              <a:sym typeface="Avenir"/>
            </a:endParaRPr>
          </a:p>
          <a:p>
            <a:pPr marL="1436116" lvl="2" indent="-445008">
              <a:lnSpc>
                <a:spcPct val="90000"/>
              </a:lnSpc>
              <a:spcBef>
                <a:spcPts val="3200"/>
              </a:spcBef>
              <a:buClr>
                <a:srgbClr val="000000"/>
              </a:buClr>
              <a:buSzPts val="4310"/>
              <a:buFont typeface="Avenir"/>
              <a:buChar char="•"/>
            </a:pPr>
            <a:r>
              <a:rPr lang="en-GB" dirty="0"/>
              <a:t>Batch effects that are randomly distributed across experimental variables can be controlled for</a:t>
            </a:r>
            <a:endParaRPr dirty="0"/>
          </a:p>
          <a:p>
            <a:pPr marL="1335024" lvl="2" indent="-445008" algn="l" rtl="0">
              <a:lnSpc>
                <a:spcPct val="50000"/>
              </a:lnSpc>
              <a:spcBef>
                <a:spcPts val="3200"/>
              </a:spcBef>
              <a:spcAft>
                <a:spcPts val="0"/>
              </a:spcAft>
              <a:buClr>
                <a:srgbClr val="000000"/>
              </a:buClr>
              <a:buSzPts val="4310"/>
              <a:buFont typeface="Avenir"/>
              <a:buChar char="•"/>
            </a:pPr>
            <a:r>
              <a:rPr lang="en-US" sz="3504" dirty="0">
                <a:latin typeface="Avenir"/>
                <a:ea typeface="Avenir"/>
                <a:cs typeface="Avenir"/>
                <a:sym typeface="Avenir"/>
              </a:rPr>
              <a:t>Statistical analyses assume </a:t>
            </a:r>
            <a:r>
              <a:rPr lang="en-US" sz="3504" dirty="0" err="1">
                <a:latin typeface="Avenir"/>
                <a:ea typeface="Avenir"/>
                <a:cs typeface="Avenir"/>
                <a:sym typeface="Avenir"/>
              </a:rPr>
              <a:t>randomised</a:t>
            </a:r>
            <a:r>
              <a:rPr lang="en-US" sz="3504" dirty="0">
                <a:latin typeface="Avenir"/>
                <a:ea typeface="Avenir"/>
                <a:cs typeface="Avenir"/>
                <a:sym typeface="Avenir"/>
              </a:rPr>
              <a:t> comparisons</a:t>
            </a:r>
            <a:endParaRPr dirty="0"/>
          </a:p>
          <a:p>
            <a:pPr marL="1335024" lvl="2" indent="-445008" algn="l" rtl="0">
              <a:lnSpc>
                <a:spcPct val="50000"/>
              </a:lnSpc>
              <a:spcBef>
                <a:spcPts val="3200"/>
              </a:spcBef>
              <a:spcAft>
                <a:spcPts val="0"/>
              </a:spcAft>
              <a:buClr>
                <a:srgbClr val="000000"/>
              </a:buClr>
              <a:buSzPts val="4310"/>
              <a:buFont typeface="Avenir"/>
              <a:buChar char="•"/>
            </a:pPr>
            <a:r>
              <a:rPr lang="en-US" sz="3504" dirty="0">
                <a:latin typeface="Avenir"/>
                <a:ea typeface="Avenir"/>
                <a:cs typeface="Avenir"/>
                <a:sym typeface="Avenir"/>
              </a:rPr>
              <a:t>May not see issues caused by non-</a:t>
            </a:r>
            <a:r>
              <a:rPr lang="en-US" sz="3504" dirty="0" err="1">
                <a:latin typeface="Avenir"/>
                <a:ea typeface="Avenir"/>
                <a:cs typeface="Avenir"/>
                <a:sym typeface="Avenir"/>
              </a:rPr>
              <a:t>randomised</a:t>
            </a:r>
            <a:r>
              <a:rPr lang="en-US" sz="3504" dirty="0">
                <a:latin typeface="Avenir"/>
                <a:ea typeface="Avenir"/>
                <a:cs typeface="Avenir"/>
                <a:sym typeface="Avenir"/>
              </a:rPr>
              <a:t> comparisons</a:t>
            </a:r>
            <a:endParaRPr dirty="0"/>
          </a:p>
          <a:p>
            <a:pPr marL="1335024" lvl="2" indent="-445008" algn="l" rtl="0">
              <a:lnSpc>
                <a:spcPct val="50000"/>
              </a:lnSpc>
              <a:spcBef>
                <a:spcPts val="3200"/>
              </a:spcBef>
              <a:spcAft>
                <a:spcPts val="0"/>
              </a:spcAft>
              <a:buClr>
                <a:srgbClr val="000000"/>
              </a:buClr>
              <a:buSzPts val="4310"/>
              <a:buFont typeface="Avenir"/>
              <a:buChar char="•"/>
            </a:pPr>
            <a:r>
              <a:rPr lang="en-US" sz="3504" dirty="0">
                <a:latin typeface="Avenir"/>
                <a:ea typeface="Avenir"/>
                <a:cs typeface="Avenir"/>
                <a:sym typeface="Avenir"/>
              </a:rPr>
              <a:t>Make every decision random not arbitrary</a:t>
            </a:r>
            <a:endParaRPr dirty="0"/>
          </a:p>
          <a:p>
            <a:pPr marL="1335024" lvl="2" indent="-445008" algn="l" rtl="0">
              <a:lnSpc>
                <a:spcPct val="50000"/>
              </a:lnSpc>
              <a:spcBef>
                <a:spcPts val="3200"/>
              </a:spcBef>
              <a:spcAft>
                <a:spcPts val="0"/>
              </a:spcAft>
              <a:buClr>
                <a:srgbClr val="000000"/>
              </a:buClr>
              <a:buSzPts val="4310"/>
              <a:buFont typeface="Avenir"/>
              <a:buChar char="•"/>
            </a:pPr>
            <a:r>
              <a:rPr lang="en-US" sz="3504" dirty="0">
                <a:latin typeface="Avenir"/>
                <a:ea typeface="Avenir"/>
                <a:cs typeface="Avenir"/>
                <a:sym typeface="Avenir"/>
              </a:rPr>
              <a:t>Caveat: over-randomization can increase error</a:t>
            </a:r>
            <a:endParaRPr dirty="0"/>
          </a:p>
          <a:p>
            <a:pPr marL="890016" lvl="1" indent="-445008" algn="l" rtl="0">
              <a:lnSpc>
                <a:spcPct val="90000"/>
              </a:lnSpc>
              <a:spcBef>
                <a:spcPts val="3200"/>
              </a:spcBef>
              <a:spcAft>
                <a:spcPts val="0"/>
              </a:spcAft>
              <a:buClr>
                <a:srgbClr val="000000"/>
              </a:buClr>
              <a:buSzPts val="4310"/>
              <a:buFont typeface="Avenir"/>
              <a:buChar char="•"/>
            </a:pPr>
            <a:r>
              <a:rPr lang="en-US" sz="3504" dirty="0">
                <a:latin typeface="Avenir"/>
                <a:ea typeface="Avenir"/>
                <a:cs typeface="Avenir"/>
                <a:sym typeface="Avenir"/>
              </a:rPr>
              <a:t>Blinding</a:t>
            </a:r>
            <a:endParaRPr dirty="0"/>
          </a:p>
          <a:p>
            <a:pPr marL="1335024" lvl="2" indent="-445008" algn="l" rtl="0">
              <a:lnSpc>
                <a:spcPct val="50000"/>
              </a:lnSpc>
              <a:spcBef>
                <a:spcPts val="3200"/>
              </a:spcBef>
              <a:spcAft>
                <a:spcPts val="0"/>
              </a:spcAft>
              <a:buClr>
                <a:srgbClr val="000000"/>
              </a:buClr>
              <a:buSzPts val="4310"/>
              <a:buFont typeface="Avenir"/>
              <a:buChar char="•"/>
            </a:pPr>
            <a:r>
              <a:rPr lang="en-US" sz="3504" dirty="0">
                <a:latin typeface="Avenir"/>
                <a:ea typeface="Avenir"/>
                <a:cs typeface="Avenir"/>
                <a:sym typeface="Avenir"/>
              </a:rPr>
              <a:t>Especially important where subjective measurements are taken</a:t>
            </a:r>
            <a:endParaRPr dirty="0"/>
          </a:p>
          <a:p>
            <a:pPr marL="1335024" lvl="2" indent="-445008" algn="l" rtl="0">
              <a:lnSpc>
                <a:spcPct val="50000"/>
              </a:lnSpc>
              <a:spcBef>
                <a:spcPts val="3200"/>
              </a:spcBef>
              <a:spcAft>
                <a:spcPts val="0"/>
              </a:spcAft>
              <a:buClr>
                <a:srgbClr val="000000"/>
              </a:buClr>
              <a:buSzPts val="4310"/>
              <a:buFont typeface="Avenir"/>
              <a:buChar char="•"/>
            </a:pPr>
            <a:r>
              <a:rPr lang="en-US" sz="3504" dirty="0">
                <a:latin typeface="Avenir"/>
                <a:ea typeface="Avenir"/>
                <a:cs typeface="Avenir"/>
                <a:sym typeface="Avenir"/>
              </a:rPr>
              <a:t>Potentially multiple degrees of blinding (</a:t>
            </a:r>
            <a:r>
              <a:rPr lang="en-US" sz="3504" dirty="0" err="1">
                <a:latin typeface="Avenir"/>
                <a:ea typeface="Avenir"/>
                <a:cs typeface="Avenir"/>
                <a:sym typeface="Avenir"/>
              </a:rPr>
              <a:t>eg.</a:t>
            </a:r>
            <a:r>
              <a:rPr lang="en-US" sz="3504" dirty="0">
                <a:latin typeface="Avenir"/>
                <a:ea typeface="Avenir"/>
                <a:cs typeface="Avenir"/>
                <a:sym typeface="Avenir"/>
              </a:rPr>
              <a:t> double-blinding) </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234"/>
        <p:cNvGrpSpPr/>
        <p:nvPr/>
      </p:nvGrpSpPr>
      <p:grpSpPr>
        <a:xfrm>
          <a:off x="0" y="0"/>
          <a:ext cx="0" cy="0"/>
          <a:chOff x="0" y="0"/>
          <a:chExt cx="0" cy="0"/>
        </a:xfrm>
      </p:grpSpPr>
      <p:sp>
        <p:nvSpPr>
          <p:cNvPr id="235" name="Google Shape;235;p34"/>
          <p:cNvSpPr txBox="1">
            <a:spLocks noGrp="1"/>
          </p:cNvSpPr>
          <p:nvPr>
            <p:ph type="title" idx="4294967295"/>
          </p:nvPr>
        </p:nvSpPr>
        <p:spPr>
          <a:xfrm>
            <a:off x="1066800" y="1079500"/>
            <a:ext cx="21971000" cy="1433513"/>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dirty="0" err="1">
                <a:latin typeface="Avenir"/>
                <a:ea typeface="Avenir"/>
                <a:cs typeface="Avenir"/>
                <a:sym typeface="Avenir"/>
              </a:rPr>
              <a:t>Randomised</a:t>
            </a:r>
            <a:r>
              <a:rPr lang="en-US" sz="7735" b="0" dirty="0">
                <a:latin typeface="Avenir"/>
                <a:ea typeface="Avenir"/>
                <a:cs typeface="Avenir"/>
                <a:sym typeface="Avenir"/>
              </a:rPr>
              <a:t> Block Design</a:t>
            </a:r>
            <a:endParaRPr dirty="0"/>
          </a:p>
        </p:txBody>
      </p:sp>
      <p:sp>
        <p:nvSpPr>
          <p:cNvPr id="236" name="Google Shape;236;p34"/>
          <p:cNvSpPr txBox="1">
            <a:spLocks noGrp="1"/>
          </p:cNvSpPr>
          <p:nvPr>
            <p:ph type="body" idx="4294967295"/>
          </p:nvPr>
        </p:nvSpPr>
        <p:spPr>
          <a:xfrm>
            <a:off x="0" y="3228975"/>
            <a:ext cx="21971000" cy="1957388"/>
          </a:xfrm>
          <a:prstGeom prst="rect">
            <a:avLst/>
          </a:prstGeom>
          <a:noFill/>
          <a:ln>
            <a:noFill/>
          </a:ln>
        </p:spPr>
        <p:txBody>
          <a:bodyPr spcFirstLastPara="1" wrap="square" lIns="50800" tIns="50800" rIns="50800" bIns="50800" anchor="t" anchorCtr="0">
            <a:normAutofit/>
          </a:bodyPr>
          <a:lstStyle/>
          <a:p>
            <a:pPr marL="609600" marR="0" lvl="0" indent="-609600" algn="l" rtl="0">
              <a:lnSpc>
                <a:spcPct val="90000"/>
              </a:lnSpc>
              <a:spcBef>
                <a:spcPts val="0"/>
              </a:spcBef>
              <a:spcAft>
                <a:spcPts val="0"/>
              </a:spcAft>
              <a:buClr>
                <a:srgbClr val="000000"/>
              </a:buClr>
              <a:buSzPts val="5904"/>
              <a:buFont typeface="Avenir"/>
              <a:buChar char="•"/>
            </a:pPr>
            <a:r>
              <a:rPr lang="en-US" dirty="0">
                <a:latin typeface="Avenir"/>
                <a:ea typeface="Avenir"/>
                <a:cs typeface="Avenir"/>
                <a:sym typeface="Avenir"/>
              </a:rPr>
              <a:t>Blocking is the arranging of experimental units in groups (blocks) that are similar to one another.</a:t>
            </a:r>
            <a:endParaRPr dirty="0"/>
          </a:p>
        </p:txBody>
      </p:sp>
      <p:pic>
        <p:nvPicPr>
          <p:cNvPr id="237" name="Google Shape;237;p34" descr="Image"/>
          <p:cNvPicPr preferRelativeResize="0"/>
          <p:nvPr/>
        </p:nvPicPr>
        <p:blipFill rotWithShape="1">
          <a:blip r:embed="rId3">
            <a:alphaModFix/>
          </a:blip>
          <a:srcRect/>
          <a:stretch/>
        </p:blipFill>
        <p:spPr>
          <a:xfrm>
            <a:off x="3773117" y="5084375"/>
            <a:ext cx="16837766" cy="4232828"/>
          </a:xfrm>
          <a:prstGeom prst="rect">
            <a:avLst/>
          </a:prstGeom>
          <a:noFill/>
          <a:ln>
            <a:noFill/>
          </a:ln>
        </p:spPr>
      </p:pic>
      <p:sp>
        <p:nvSpPr>
          <p:cNvPr id="238" name="Google Shape;238;p34"/>
          <p:cNvSpPr txBox="1"/>
          <p:nvPr/>
        </p:nvSpPr>
        <p:spPr>
          <a:xfrm>
            <a:off x="1206500" y="9474494"/>
            <a:ext cx="21971001" cy="3818994"/>
          </a:xfrm>
          <a:prstGeom prst="rect">
            <a:avLst/>
          </a:prstGeom>
          <a:noFill/>
          <a:ln>
            <a:noFill/>
          </a:ln>
        </p:spPr>
        <p:txBody>
          <a:bodyPr spcFirstLastPara="1" wrap="square" lIns="50800" tIns="50800" rIns="50800" bIns="50800" anchor="ctr" anchorCtr="0">
            <a:spAutoFit/>
          </a:bodyPr>
          <a:lstStyle/>
          <a:p>
            <a:pPr marL="609599" marR="0" lvl="0" indent="-609599" algn="l" rtl="0">
              <a:lnSpc>
                <a:spcPct val="20000"/>
              </a:lnSpc>
              <a:spcBef>
                <a:spcPts val="0"/>
              </a:spcBef>
              <a:spcAft>
                <a:spcPts val="0"/>
              </a:spcAft>
              <a:buClr>
                <a:srgbClr val="000000"/>
              </a:buClr>
              <a:buSzPts val="5535"/>
              <a:buFont typeface="Avenir"/>
              <a:buChar char="•"/>
            </a:pPr>
            <a:r>
              <a:rPr lang="en-US" sz="4500" b="0" i="0" u="none" strike="noStrike" cap="none" dirty="0">
                <a:solidFill>
                  <a:srgbClr val="000000"/>
                </a:solidFill>
                <a:latin typeface="Avenir"/>
                <a:ea typeface="Avenir"/>
                <a:cs typeface="Avenir"/>
                <a:sym typeface="Avenir"/>
              </a:rPr>
              <a:t>Each plate contains spatially </a:t>
            </a:r>
            <a:r>
              <a:rPr lang="en-US" sz="4500" b="0" i="0" u="none" strike="noStrike" cap="none" dirty="0" err="1">
                <a:solidFill>
                  <a:srgbClr val="000000"/>
                </a:solidFill>
                <a:latin typeface="Avenir"/>
                <a:ea typeface="Avenir"/>
                <a:cs typeface="Avenir"/>
                <a:sym typeface="Avenir"/>
              </a:rPr>
              <a:t>randomised</a:t>
            </a:r>
            <a:r>
              <a:rPr lang="en-US" sz="4500" b="0" i="0" u="none" strike="noStrike" cap="none" dirty="0">
                <a:solidFill>
                  <a:srgbClr val="000000"/>
                </a:solidFill>
                <a:latin typeface="Avenir"/>
                <a:ea typeface="Avenir"/>
                <a:cs typeface="Avenir"/>
                <a:sym typeface="Avenir"/>
              </a:rPr>
              <a:t> equal proportions of:</a:t>
            </a:r>
            <a:endParaRPr dirty="0"/>
          </a:p>
          <a:p>
            <a:pPr marL="1219199" marR="0" lvl="1" indent="-609599" algn="l" rtl="0">
              <a:lnSpc>
                <a:spcPct val="20000"/>
              </a:lnSpc>
              <a:spcBef>
                <a:spcPts val="4500"/>
              </a:spcBef>
              <a:spcAft>
                <a:spcPts val="0"/>
              </a:spcAft>
              <a:buClr>
                <a:srgbClr val="000000"/>
              </a:buClr>
              <a:buSzPts val="5535"/>
              <a:buFont typeface="Avenir"/>
              <a:buChar char="•"/>
            </a:pPr>
            <a:r>
              <a:rPr lang="en-US" sz="4500" b="0" i="0" u="none" strike="noStrike" cap="none" dirty="0">
                <a:solidFill>
                  <a:srgbClr val="000000"/>
                </a:solidFill>
                <a:latin typeface="Avenir"/>
                <a:ea typeface="Avenir"/>
                <a:cs typeface="Avenir"/>
                <a:sym typeface="Avenir"/>
              </a:rPr>
              <a:t>Control</a:t>
            </a:r>
            <a:endParaRPr dirty="0"/>
          </a:p>
          <a:p>
            <a:pPr marL="1219199" marR="0" lvl="1" indent="-609599" algn="l" rtl="0">
              <a:lnSpc>
                <a:spcPct val="20000"/>
              </a:lnSpc>
              <a:spcBef>
                <a:spcPts val="4500"/>
              </a:spcBef>
              <a:spcAft>
                <a:spcPts val="0"/>
              </a:spcAft>
              <a:buClr>
                <a:srgbClr val="000000"/>
              </a:buClr>
              <a:buSzPts val="5535"/>
              <a:buFont typeface="Avenir"/>
              <a:buChar char="•"/>
            </a:pPr>
            <a:r>
              <a:rPr lang="en-US" sz="4500" b="0" i="0" u="none" strike="noStrike" cap="none" dirty="0">
                <a:solidFill>
                  <a:srgbClr val="000000"/>
                </a:solidFill>
                <a:latin typeface="Avenir"/>
                <a:ea typeface="Avenir"/>
                <a:cs typeface="Avenir"/>
                <a:sym typeface="Avenir"/>
              </a:rPr>
              <a:t>Treatment 1 </a:t>
            </a:r>
            <a:endParaRPr dirty="0"/>
          </a:p>
          <a:p>
            <a:pPr marL="1219199" marR="0" lvl="1" indent="-609599" algn="l" rtl="0">
              <a:lnSpc>
                <a:spcPct val="20000"/>
              </a:lnSpc>
              <a:spcBef>
                <a:spcPts val="4500"/>
              </a:spcBef>
              <a:spcAft>
                <a:spcPts val="0"/>
              </a:spcAft>
              <a:buClr>
                <a:srgbClr val="000000"/>
              </a:buClr>
              <a:buSzPts val="5535"/>
              <a:buFont typeface="Avenir"/>
              <a:buChar char="•"/>
            </a:pPr>
            <a:r>
              <a:rPr lang="en-US" sz="4500" b="0" i="0" u="none" strike="noStrike" cap="none" dirty="0">
                <a:solidFill>
                  <a:srgbClr val="000000"/>
                </a:solidFill>
                <a:latin typeface="Avenir"/>
                <a:ea typeface="Avenir"/>
                <a:cs typeface="Avenir"/>
                <a:sym typeface="Avenir"/>
              </a:rPr>
              <a:t>Treatment 2</a:t>
            </a:r>
            <a:endParaRPr dirty="0"/>
          </a:p>
          <a:p>
            <a:pPr marL="609599" marR="0" lvl="0" indent="-609599" algn="l" rtl="0">
              <a:lnSpc>
                <a:spcPct val="20000"/>
              </a:lnSpc>
              <a:spcBef>
                <a:spcPts val="4500"/>
              </a:spcBef>
              <a:spcAft>
                <a:spcPts val="0"/>
              </a:spcAft>
              <a:buClr>
                <a:srgbClr val="000000"/>
              </a:buClr>
              <a:buSzPts val="5535"/>
              <a:buFont typeface="Avenir"/>
              <a:buChar char="•"/>
            </a:pPr>
            <a:r>
              <a:rPr lang="en-US" sz="4500" b="0" i="0" u="none" strike="noStrike" cap="none" dirty="0">
                <a:solidFill>
                  <a:srgbClr val="000000"/>
                </a:solidFill>
                <a:latin typeface="Avenir"/>
                <a:ea typeface="Avenir"/>
                <a:cs typeface="Avenir"/>
                <a:sym typeface="Avenir"/>
              </a:rPr>
              <a:t> controlling plate effects.</a:t>
            </a:r>
          </a:p>
          <a:p>
            <a:pPr marL="609599" marR="0" lvl="0" indent="-609599" algn="l" rtl="0">
              <a:lnSpc>
                <a:spcPct val="20000"/>
              </a:lnSpc>
              <a:spcBef>
                <a:spcPts val="4500"/>
              </a:spcBef>
              <a:spcAft>
                <a:spcPts val="0"/>
              </a:spcAft>
              <a:buClr>
                <a:srgbClr val="000000"/>
              </a:buClr>
              <a:buSzPts val="5535"/>
              <a:buFont typeface="Avenir"/>
              <a:buChar char="•"/>
            </a:pPr>
            <a:r>
              <a:rPr lang="en-US" sz="4500" b="0" i="0" u="none" strike="noStrike" cap="none" dirty="0">
                <a:solidFill>
                  <a:srgbClr val="000000"/>
                </a:solidFill>
                <a:latin typeface="Avenir"/>
                <a:ea typeface="Avenir"/>
                <a:cs typeface="Avenir"/>
                <a:sym typeface="Avenir"/>
              </a:rPr>
              <a:t> Block what you can, randomize what you can not.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242"/>
        <p:cNvGrpSpPr/>
        <p:nvPr/>
      </p:nvGrpSpPr>
      <p:grpSpPr>
        <a:xfrm>
          <a:off x="0" y="0"/>
          <a:ext cx="0" cy="0"/>
          <a:chOff x="0" y="0"/>
          <a:chExt cx="0" cy="0"/>
        </a:xfrm>
      </p:grpSpPr>
      <p:pic>
        <p:nvPicPr>
          <p:cNvPr id="243" name="Google Shape;243;p35" descr="Image"/>
          <p:cNvPicPr preferRelativeResize="0"/>
          <p:nvPr/>
        </p:nvPicPr>
        <p:blipFill rotWithShape="1">
          <a:blip r:embed="rId3">
            <a:alphaModFix/>
          </a:blip>
          <a:srcRect/>
          <a:stretch/>
        </p:blipFill>
        <p:spPr>
          <a:xfrm>
            <a:off x="525841" y="6619190"/>
            <a:ext cx="9286139" cy="6439998"/>
          </a:xfrm>
          <a:prstGeom prst="rect">
            <a:avLst/>
          </a:prstGeom>
          <a:noFill/>
          <a:ln>
            <a:noFill/>
          </a:ln>
        </p:spPr>
      </p:pic>
      <p:sp>
        <p:nvSpPr>
          <p:cNvPr id="244" name="Google Shape;244;p35"/>
          <p:cNvSpPr txBox="1">
            <a:spLocks noGrp="1"/>
          </p:cNvSpPr>
          <p:nvPr>
            <p:ph type="title" idx="4294967295"/>
          </p:nvPr>
        </p:nvSpPr>
        <p:spPr>
          <a:xfrm>
            <a:off x="1206500" y="1079048"/>
            <a:ext cx="21971000" cy="1433513"/>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dirty="0" err="1">
                <a:latin typeface="Avenir"/>
                <a:ea typeface="Avenir"/>
                <a:cs typeface="Avenir"/>
                <a:sym typeface="Avenir"/>
              </a:rPr>
              <a:t>Randomised</a:t>
            </a:r>
            <a:r>
              <a:rPr lang="en-US" sz="7735" b="0" dirty="0">
                <a:latin typeface="Avenir"/>
                <a:ea typeface="Avenir"/>
                <a:cs typeface="Avenir"/>
                <a:sym typeface="Avenir"/>
              </a:rPr>
              <a:t> Block Design</a:t>
            </a:r>
            <a:endParaRPr dirty="0"/>
          </a:p>
        </p:txBody>
      </p:sp>
      <p:sp>
        <p:nvSpPr>
          <p:cNvPr id="245" name="Google Shape;245;p35"/>
          <p:cNvSpPr txBox="1">
            <a:spLocks noGrp="1"/>
          </p:cNvSpPr>
          <p:nvPr>
            <p:ph type="body" idx="4294967295"/>
          </p:nvPr>
        </p:nvSpPr>
        <p:spPr>
          <a:xfrm>
            <a:off x="0" y="3228975"/>
            <a:ext cx="21971000" cy="1957388"/>
          </a:xfrm>
          <a:prstGeom prst="rect">
            <a:avLst/>
          </a:prstGeom>
          <a:noFill/>
          <a:ln>
            <a:noFill/>
          </a:ln>
        </p:spPr>
        <p:txBody>
          <a:bodyPr spcFirstLastPara="1" wrap="square" lIns="50800" tIns="50800" rIns="50800" bIns="50800" anchor="t" anchorCtr="0">
            <a:normAutofit/>
          </a:bodyPr>
          <a:lstStyle/>
          <a:p>
            <a:pPr marL="609600" marR="0" lvl="0" indent="-609600" algn="l" rtl="0">
              <a:lnSpc>
                <a:spcPct val="90000"/>
              </a:lnSpc>
              <a:spcBef>
                <a:spcPts val="0"/>
              </a:spcBef>
              <a:spcAft>
                <a:spcPts val="0"/>
              </a:spcAft>
              <a:buClr>
                <a:srgbClr val="000000"/>
              </a:buClr>
              <a:buSzPts val="5904"/>
              <a:buFont typeface="Avenir"/>
              <a:buChar char="•"/>
            </a:pPr>
            <a:r>
              <a:rPr lang="en-US">
                <a:latin typeface="Avenir"/>
                <a:ea typeface="Avenir"/>
                <a:cs typeface="Avenir"/>
                <a:sym typeface="Avenir"/>
              </a:rPr>
              <a:t>Good design example: Alzheimer’s study from GlaxoSmithKline</a:t>
            </a:r>
            <a:endParaRPr/>
          </a:p>
        </p:txBody>
      </p:sp>
      <p:sp>
        <p:nvSpPr>
          <p:cNvPr id="246" name="Google Shape;246;p35"/>
          <p:cNvSpPr txBox="1"/>
          <p:nvPr/>
        </p:nvSpPr>
        <p:spPr>
          <a:xfrm>
            <a:off x="1111125" y="4391580"/>
            <a:ext cx="8061453" cy="18415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000000"/>
              </a:buClr>
              <a:buSzPts val="3600"/>
              <a:buFont typeface="Avenir"/>
              <a:buNone/>
            </a:pPr>
            <a:r>
              <a:rPr lang="en-US" sz="3600" b="0" i="0" u="none" strike="noStrike" cap="none">
                <a:solidFill>
                  <a:srgbClr val="000000"/>
                </a:solidFill>
                <a:latin typeface="Avenir"/>
                <a:ea typeface="Avenir"/>
                <a:cs typeface="Avenir"/>
                <a:sym typeface="Avenir"/>
              </a:rPr>
              <a:t>Plate effects by </a:t>
            </a:r>
            <a:r>
              <a:rPr lang="en-US" sz="3600" b="0" i="0" u="sng" strike="noStrike" cap="none">
                <a:solidFill>
                  <a:srgbClr val="000000"/>
                </a:solidFill>
                <a:latin typeface="Avenir"/>
                <a:ea typeface="Avenir"/>
                <a:cs typeface="Avenir"/>
                <a:sym typeface="Avenir"/>
              </a:rPr>
              <a:t>plate</a:t>
            </a:r>
            <a:endParaRPr/>
          </a:p>
          <a:p>
            <a:pPr marL="0" marR="0" lvl="0" indent="0" algn="l" rtl="0">
              <a:lnSpc>
                <a:spcPct val="100000"/>
              </a:lnSpc>
              <a:spcBef>
                <a:spcPts val="0"/>
              </a:spcBef>
              <a:spcAft>
                <a:spcPts val="0"/>
              </a:spcAft>
              <a:buClr>
                <a:srgbClr val="000000"/>
              </a:buClr>
              <a:buSzPts val="3200"/>
              <a:buFont typeface="Avenir"/>
              <a:buNone/>
            </a:pPr>
            <a:r>
              <a:rPr lang="en-US" sz="3200" b="0" i="0" u="none" strike="noStrike" cap="none">
                <a:solidFill>
                  <a:srgbClr val="000000"/>
                </a:solidFill>
                <a:latin typeface="Avenir"/>
                <a:ea typeface="Avenir"/>
                <a:cs typeface="Avenir"/>
                <a:sym typeface="Avenir"/>
              </a:rPr>
              <a:t>Left PCA plot show large plate effects.</a:t>
            </a:r>
            <a:endParaRPr/>
          </a:p>
          <a:p>
            <a:pPr marL="0" marR="0" lvl="0" indent="0" algn="l" rtl="0">
              <a:lnSpc>
                <a:spcPct val="100000"/>
              </a:lnSpc>
              <a:spcBef>
                <a:spcPts val="0"/>
              </a:spcBef>
              <a:spcAft>
                <a:spcPts val="0"/>
              </a:spcAft>
              <a:buClr>
                <a:srgbClr val="000000"/>
              </a:buClr>
              <a:buSzPts val="3200"/>
              <a:buFont typeface="Avenir"/>
              <a:buNone/>
            </a:pPr>
            <a:r>
              <a:rPr lang="en-US" sz="3200" b="0" i="0" u="none" strike="noStrike" cap="none">
                <a:solidFill>
                  <a:srgbClr val="000000"/>
                </a:solidFill>
                <a:latin typeface="Avenir"/>
                <a:ea typeface="Avenir"/>
                <a:cs typeface="Avenir"/>
                <a:sym typeface="Avenir"/>
              </a:rPr>
              <a:t>Each colour corresponds to a different plate</a:t>
            </a:r>
            <a:endParaRPr/>
          </a:p>
        </p:txBody>
      </p:sp>
      <p:pic>
        <p:nvPicPr>
          <p:cNvPr id="247" name="Google Shape;247;p35" descr="Image"/>
          <p:cNvPicPr preferRelativeResize="0"/>
          <p:nvPr/>
        </p:nvPicPr>
        <p:blipFill rotWithShape="1">
          <a:blip r:embed="rId4">
            <a:alphaModFix/>
          </a:blip>
          <a:srcRect/>
          <a:stretch/>
        </p:blipFill>
        <p:spPr>
          <a:xfrm>
            <a:off x="20265595" y="12965519"/>
            <a:ext cx="4218008" cy="89473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251"/>
        <p:cNvGrpSpPr/>
        <p:nvPr/>
      </p:nvGrpSpPr>
      <p:grpSpPr>
        <a:xfrm>
          <a:off x="0" y="0"/>
          <a:ext cx="0" cy="0"/>
          <a:chOff x="0" y="0"/>
          <a:chExt cx="0" cy="0"/>
        </a:xfrm>
      </p:grpSpPr>
      <p:pic>
        <p:nvPicPr>
          <p:cNvPr id="252" name="Google Shape;252;p36" descr="Image"/>
          <p:cNvPicPr preferRelativeResize="0"/>
          <p:nvPr/>
        </p:nvPicPr>
        <p:blipFill rotWithShape="1">
          <a:blip r:embed="rId3">
            <a:alphaModFix/>
          </a:blip>
          <a:srcRect/>
          <a:stretch/>
        </p:blipFill>
        <p:spPr>
          <a:xfrm>
            <a:off x="525841" y="6619190"/>
            <a:ext cx="9286139" cy="6439998"/>
          </a:xfrm>
          <a:prstGeom prst="rect">
            <a:avLst/>
          </a:prstGeom>
          <a:noFill/>
          <a:ln>
            <a:noFill/>
          </a:ln>
        </p:spPr>
      </p:pic>
      <p:sp>
        <p:nvSpPr>
          <p:cNvPr id="253" name="Google Shape;253;p36"/>
          <p:cNvSpPr txBox="1">
            <a:spLocks noGrp="1"/>
          </p:cNvSpPr>
          <p:nvPr>
            <p:ph type="title" idx="4294967295"/>
          </p:nvPr>
        </p:nvSpPr>
        <p:spPr>
          <a:xfrm>
            <a:off x="1206500" y="1079048"/>
            <a:ext cx="21971000" cy="1433513"/>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dirty="0" err="1">
                <a:latin typeface="Avenir"/>
                <a:ea typeface="Avenir"/>
                <a:cs typeface="Avenir"/>
                <a:sym typeface="Avenir"/>
              </a:rPr>
              <a:t>Randomised</a:t>
            </a:r>
            <a:r>
              <a:rPr lang="en-US" sz="7735" b="0" dirty="0">
                <a:latin typeface="Avenir"/>
                <a:ea typeface="Avenir"/>
                <a:cs typeface="Avenir"/>
                <a:sym typeface="Avenir"/>
              </a:rPr>
              <a:t> Block Design</a:t>
            </a:r>
            <a:endParaRPr dirty="0"/>
          </a:p>
        </p:txBody>
      </p:sp>
      <p:sp>
        <p:nvSpPr>
          <p:cNvPr id="254" name="Google Shape;254;p36"/>
          <p:cNvSpPr txBox="1">
            <a:spLocks noGrp="1"/>
          </p:cNvSpPr>
          <p:nvPr>
            <p:ph type="body" idx="4294967295"/>
          </p:nvPr>
        </p:nvSpPr>
        <p:spPr>
          <a:xfrm>
            <a:off x="0" y="3228975"/>
            <a:ext cx="21971000" cy="1957388"/>
          </a:xfrm>
          <a:prstGeom prst="rect">
            <a:avLst/>
          </a:prstGeom>
          <a:noFill/>
          <a:ln>
            <a:noFill/>
          </a:ln>
        </p:spPr>
        <p:txBody>
          <a:bodyPr spcFirstLastPara="1" wrap="square" lIns="50800" tIns="50800" rIns="50800" bIns="50800" anchor="t" anchorCtr="0">
            <a:normAutofit/>
          </a:bodyPr>
          <a:lstStyle/>
          <a:p>
            <a:pPr marL="609600" marR="0" lvl="0" indent="-609600" algn="l" rtl="0">
              <a:lnSpc>
                <a:spcPct val="90000"/>
              </a:lnSpc>
              <a:spcBef>
                <a:spcPts val="0"/>
              </a:spcBef>
              <a:spcAft>
                <a:spcPts val="0"/>
              </a:spcAft>
              <a:buClr>
                <a:srgbClr val="000000"/>
              </a:buClr>
              <a:buSzPts val="5904"/>
              <a:buFont typeface="Avenir"/>
              <a:buChar char="•"/>
            </a:pPr>
            <a:r>
              <a:rPr lang="en-US">
                <a:latin typeface="Avenir"/>
                <a:ea typeface="Avenir"/>
                <a:cs typeface="Avenir"/>
                <a:sym typeface="Avenir"/>
              </a:rPr>
              <a:t>Good design example: Alzheimer’s study from GlaxoSmithKline</a:t>
            </a:r>
            <a:endParaRPr/>
          </a:p>
        </p:txBody>
      </p:sp>
      <p:sp>
        <p:nvSpPr>
          <p:cNvPr id="255" name="Google Shape;255;p36"/>
          <p:cNvSpPr txBox="1"/>
          <p:nvPr/>
        </p:nvSpPr>
        <p:spPr>
          <a:xfrm>
            <a:off x="1111125" y="4391580"/>
            <a:ext cx="8061453" cy="18415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000000"/>
              </a:buClr>
              <a:buSzPts val="3600"/>
              <a:buFont typeface="Avenir"/>
              <a:buNone/>
            </a:pPr>
            <a:r>
              <a:rPr lang="en-US" sz="3600" b="0" i="0" u="none" strike="noStrike" cap="none">
                <a:solidFill>
                  <a:srgbClr val="000000"/>
                </a:solidFill>
                <a:latin typeface="Avenir"/>
                <a:ea typeface="Avenir"/>
                <a:cs typeface="Avenir"/>
                <a:sym typeface="Avenir"/>
              </a:rPr>
              <a:t>Plate effects by </a:t>
            </a:r>
            <a:r>
              <a:rPr lang="en-US" sz="3600" b="0" i="0" u="sng" strike="noStrike" cap="none">
                <a:solidFill>
                  <a:srgbClr val="000000"/>
                </a:solidFill>
                <a:latin typeface="Avenir"/>
                <a:ea typeface="Avenir"/>
                <a:cs typeface="Avenir"/>
                <a:sym typeface="Avenir"/>
              </a:rPr>
              <a:t>plate</a:t>
            </a:r>
            <a:endParaRPr/>
          </a:p>
          <a:p>
            <a:pPr marL="0" marR="0" lvl="0" indent="0" algn="l" rtl="0">
              <a:lnSpc>
                <a:spcPct val="100000"/>
              </a:lnSpc>
              <a:spcBef>
                <a:spcPts val="0"/>
              </a:spcBef>
              <a:spcAft>
                <a:spcPts val="0"/>
              </a:spcAft>
              <a:buClr>
                <a:srgbClr val="000000"/>
              </a:buClr>
              <a:buSzPts val="3200"/>
              <a:buFont typeface="Avenir"/>
              <a:buNone/>
            </a:pPr>
            <a:r>
              <a:rPr lang="en-US" sz="3200" b="0" i="0" u="none" strike="noStrike" cap="none">
                <a:solidFill>
                  <a:srgbClr val="000000"/>
                </a:solidFill>
                <a:latin typeface="Avenir"/>
                <a:ea typeface="Avenir"/>
                <a:cs typeface="Avenir"/>
                <a:sym typeface="Avenir"/>
              </a:rPr>
              <a:t>Left PCA plot show large plate effects.</a:t>
            </a:r>
            <a:endParaRPr/>
          </a:p>
          <a:p>
            <a:pPr marL="0" marR="0" lvl="0" indent="0" algn="l" rtl="0">
              <a:lnSpc>
                <a:spcPct val="100000"/>
              </a:lnSpc>
              <a:spcBef>
                <a:spcPts val="0"/>
              </a:spcBef>
              <a:spcAft>
                <a:spcPts val="0"/>
              </a:spcAft>
              <a:buClr>
                <a:srgbClr val="000000"/>
              </a:buClr>
              <a:buSzPts val="3200"/>
              <a:buFont typeface="Avenir"/>
              <a:buNone/>
            </a:pPr>
            <a:r>
              <a:rPr lang="en-US" sz="3200" b="0" i="0" u="none" strike="noStrike" cap="none">
                <a:solidFill>
                  <a:srgbClr val="000000"/>
                </a:solidFill>
                <a:latin typeface="Avenir"/>
                <a:ea typeface="Avenir"/>
                <a:cs typeface="Avenir"/>
                <a:sym typeface="Avenir"/>
              </a:rPr>
              <a:t>Each colour corresponds to a different plate</a:t>
            </a:r>
            <a:endParaRPr/>
          </a:p>
        </p:txBody>
      </p:sp>
      <p:pic>
        <p:nvPicPr>
          <p:cNvPr id="256" name="Google Shape;256;p36" descr="Image"/>
          <p:cNvPicPr preferRelativeResize="0"/>
          <p:nvPr/>
        </p:nvPicPr>
        <p:blipFill rotWithShape="1">
          <a:blip r:embed="rId4">
            <a:alphaModFix/>
          </a:blip>
          <a:srcRect/>
          <a:stretch/>
        </p:blipFill>
        <p:spPr>
          <a:xfrm>
            <a:off x="13291281" y="6619190"/>
            <a:ext cx="8518153" cy="6439998"/>
          </a:xfrm>
          <a:prstGeom prst="rect">
            <a:avLst/>
          </a:prstGeom>
          <a:noFill/>
          <a:ln>
            <a:noFill/>
          </a:ln>
        </p:spPr>
      </p:pic>
      <p:sp>
        <p:nvSpPr>
          <p:cNvPr id="257" name="Google Shape;257;p36"/>
          <p:cNvSpPr txBox="1"/>
          <p:nvPr/>
        </p:nvSpPr>
        <p:spPr>
          <a:xfrm>
            <a:off x="13536972" y="4391580"/>
            <a:ext cx="10040669" cy="18415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000000"/>
              </a:buClr>
              <a:buSzPts val="3600"/>
              <a:buFont typeface="Avenir"/>
              <a:buNone/>
            </a:pPr>
            <a:r>
              <a:rPr lang="en-US" sz="3600" b="0" i="0" u="none" strike="noStrike" cap="none">
                <a:solidFill>
                  <a:srgbClr val="000000"/>
                </a:solidFill>
                <a:latin typeface="Avenir"/>
                <a:ea typeface="Avenir"/>
                <a:cs typeface="Avenir"/>
                <a:sym typeface="Avenir"/>
              </a:rPr>
              <a:t>Plate effects by case/control</a:t>
            </a:r>
            <a:endParaRPr/>
          </a:p>
          <a:p>
            <a:pPr marL="0" marR="0" lvl="0" indent="0" algn="l" rtl="0">
              <a:lnSpc>
                <a:spcPct val="100000"/>
              </a:lnSpc>
              <a:spcBef>
                <a:spcPts val="0"/>
              </a:spcBef>
              <a:spcAft>
                <a:spcPts val="0"/>
              </a:spcAft>
              <a:buClr>
                <a:srgbClr val="000000"/>
              </a:buClr>
              <a:buSzPts val="3200"/>
              <a:buFont typeface="Avenir"/>
              <a:buNone/>
            </a:pPr>
            <a:r>
              <a:rPr lang="en-US" sz="3200" b="0" i="0" u="none" strike="noStrike" cap="none">
                <a:solidFill>
                  <a:srgbClr val="000000"/>
                </a:solidFill>
                <a:latin typeface="Avenir"/>
                <a:ea typeface="Avenir"/>
                <a:cs typeface="Avenir"/>
                <a:sym typeface="Avenir"/>
              </a:rPr>
              <a:t>Right PCA plot shows each plate cluster contains equal proportions of cases (blue) and controls (green).</a:t>
            </a:r>
            <a:endParaRPr/>
          </a:p>
        </p:txBody>
      </p:sp>
      <p:pic>
        <p:nvPicPr>
          <p:cNvPr id="258" name="Google Shape;258;p36" descr="Image"/>
          <p:cNvPicPr preferRelativeResize="0"/>
          <p:nvPr/>
        </p:nvPicPr>
        <p:blipFill rotWithShape="1">
          <a:blip r:embed="rId5">
            <a:alphaModFix/>
          </a:blip>
          <a:srcRect/>
          <a:stretch/>
        </p:blipFill>
        <p:spPr>
          <a:xfrm>
            <a:off x="20265595" y="12965519"/>
            <a:ext cx="4218008" cy="89473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262"/>
        <p:cNvGrpSpPr/>
        <p:nvPr/>
      </p:nvGrpSpPr>
      <p:grpSpPr>
        <a:xfrm>
          <a:off x="0" y="0"/>
          <a:ext cx="0" cy="0"/>
          <a:chOff x="0" y="0"/>
          <a:chExt cx="0" cy="0"/>
        </a:xfrm>
      </p:grpSpPr>
      <p:sp>
        <p:nvSpPr>
          <p:cNvPr id="263" name="Google Shape;263;p37"/>
          <p:cNvSpPr txBox="1">
            <a:spLocks noGrp="1"/>
          </p:cNvSpPr>
          <p:nvPr>
            <p:ph type="title" idx="4294967295"/>
          </p:nvPr>
        </p:nvSpPr>
        <p:spPr>
          <a:xfrm>
            <a:off x="1280160" y="1079500"/>
            <a:ext cx="21971000" cy="1433513"/>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dirty="0">
                <a:latin typeface="Avenir"/>
                <a:ea typeface="Avenir"/>
                <a:cs typeface="Avenir"/>
                <a:sym typeface="Avenir"/>
              </a:rPr>
              <a:t>Experimental Controls</a:t>
            </a:r>
            <a:endParaRPr dirty="0"/>
          </a:p>
        </p:txBody>
      </p:sp>
      <p:sp>
        <p:nvSpPr>
          <p:cNvPr id="264" name="Google Shape;264;p37"/>
          <p:cNvSpPr txBox="1">
            <a:spLocks noGrp="1"/>
          </p:cNvSpPr>
          <p:nvPr>
            <p:ph type="body" idx="4294967295"/>
          </p:nvPr>
        </p:nvSpPr>
        <p:spPr>
          <a:xfrm>
            <a:off x="1280160" y="2513013"/>
            <a:ext cx="22447348" cy="10476156"/>
          </a:xfrm>
          <a:prstGeom prst="rect">
            <a:avLst/>
          </a:prstGeom>
          <a:noFill/>
          <a:ln>
            <a:noFill/>
          </a:ln>
        </p:spPr>
        <p:txBody>
          <a:bodyPr spcFirstLastPara="1" wrap="square" lIns="50800" tIns="50800" rIns="50800" bIns="50800" anchor="t" anchorCtr="0">
            <a:noAutofit/>
          </a:bodyPr>
          <a:lstStyle/>
          <a:p>
            <a:pPr marL="487680" lvl="0" indent="-487680" algn="l" rtl="0">
              <a:lnSpc>
                <a:spcPct val="90000"/>
              </a:lnSpc>
              <a:spcBef>
                <a:spcPts val="0"/>
              </a:spcBef>
              <a:spcAft>
                <a:spcPts val="0"/>
              </a:spcAft>
              <a:buClr>
                <a:srgbClr val="000000"/>
              </a:buClr>
              <a:buSzPts val="4723"/>
              <a:buFont typeface="Avenir"/>
              <a:buChar char="•"/>
            </a:pPr>
            <a:r>
              <a:rPr lang="en-US" sz="3600" dirty="0">
                <a:latin typeface="Avenir"/>
                <a:ea typeface="Avenir"/>
                <a:cs typeface="Avenir"/>
                <a:sym typeface="Avenir"/>
              </a:rPr>
              <a:t>Ideal : Everything is identical across conditions except the variable you are testing</a:t>
            </a:r>
            <a:endParaRPr sz="3600" dirty="0"/>
          </a:p>
          <a:p>
            <a:pPr marL="199390" indent="-487679">
              <a:lnSpc>
                <a:spcPct val="90000"/>
              </a:lnSpc>
              <a:spcBef>
                <a:spcPts val="3600"/>
              </a:spcBef>
              <a:buClr>
                <a:srgbClr val="000000"/>
              </a:buClr>
              <a:buSzPts val="4723"/>
              <a:buFont typeface="Avenir"/>
              <a:buChar char="•"/>
            </a:pPr>
            <a:r>
              <a:rPr lang="en-US" sz="3600" b="1" dirty="0">
                <a:latin typeface="Avenir"/>
                <a:ea typeface="Avenir"/>
                <a:cs typeface="Avenir"/>
                <a:sym typeface="Avenir"/>
              </a:rPr>
              <a:t>Negative controls</a:t>
            </a:r>
            <a:r>
              <a:rPr lang="en-US" sz="3600" dirty="0">
                <a:latin typeface="Avenir"/>
                <a:ea typeface="Avenir"/>
                <a:cs typeface="Avenir"/>
                <a:sym typeface="Avenir"/>
              </a:rPr>
              <a:t>: is a sample or condition where no effect is expected.</a:t>
            </a:r>
          </a:p>
          <a:p>
            <a:pPr marL="916940" lvl="1" indent="-487679">
              <a:lnSpc>
                <a:spcPct val="90000"/>
              </a:lnSpc>
              <a:spcBef>
                <a:spcPts val="3600"/>
              </a:spcBef>
              <a:spcAft>
                <a:spcPts val="0"/>
              </a:spcAft>
              <a:buClr>
                <a:srgbClr val="000000"/>
              </a:buClr>
              <a:buSzPts val="4723"/>
              <a:buFont typeface="Avenir"/>
              <a:buChar char="•"/>
            </a:pPr>
            <a:r>
              <a:rPr lang="en-US" sz="3600" dirty="0">
                <a:latin typeface="Avenir"/>
                <a:ea typeface="Avenir"/>
                <a:cs typeface="Avenir"/>
                <a:sym typeface="Avenir"/>
              </a:rPr>
              <a:t>Ensures that observed positives are real, not artifacts</a:t>
            </a:r>
          </a:p>
          <a:p>
            <a:pPr marL="1463040" lvl="2" indent="-487679">
              <a:lnSpc>
                <a:spcPct val="90000"/>
              </a:lnSpc>
              <a:spcBef>
                <a:spcPts val="3600"/>
              </a:spcBef>
              <a:spcAft>
                <a:spcPts val="0"/>
              </a:spcAft>
              <a:buClr>
                <a:srgbClr val="000000"/>
              </a:buClr>
              <a:buSzPts val="4723"/>
              <a:buFont typeface="Avenir"/>
              <a:buChar char="•"/>
            </a:pPr>
            <a:r>
              <a:rPr lang="en-US" dirty="0"/>
              <a:t>qPCR: Sample with no DNA</a:t>
            </a:r>
          </a:p>
          <a:p>
            <a:pPr marL="1463040" lvl="2" indent="-487679">
              <a:lnSpc>
                <a:spcPct val="90000"/>
              </a:lnSpc>
              <a:spcBef>
                <a:spcPts val="3600"/>
              </a:spcBef>
              <a:spcAft>
                <a:spcPts val="0"/>
              </a:spcAft>
              <a:buClr>
                <a:srgbClr val="000000"/>
              </a:buClr>
              <a:buSzPts val="4723"/>
              <a:buFont typeface="Avenir"/>
              <a:buChar char="•"/>
            </a:pPr>
            <a:r>
              <a:rPr lang="en-US" dirty="0"/>
              <a:t>CRISPR: Cells transfected with non-targeting guide RNA</a:t>
            </a:r>
            <a:endParaRPr dirty="0"/>
          </a:p>
          <a:p>
            <a:pPr marL="199390" indent="-487679">
              <a:lnSpc>
                <a:spcPct val="90000"/>
              </a:lnSpc>
              <a:spcBef>
                <a:spcPts val="3600"/>
              </a:spcBef>
              <a:buClr>
                <a:srgbClr val="000000"/>
              </a:buClr>
              <a:buSzPts val="4723"/>
              <a:buFont typeface="Avenir"/>
              <a:buChar char="•"/>
            </a:pPr>
            <a:r>
              <a:rPr lang="en-US" sz="3600" b="1" dirty="0">
                <a:latin typeface="Avenir"/>
                <a:ea typeface="Avenir"/>
                <a:cs typeface="Avenir"/>
                <a:sym typeface="Avenir"/>
              </a:rPr>
              <a:t>Positive controls</a:t>
            </a:r>
            <a:r>
              <a:rPr lang="en-US" sz="3600" dirty="0">
                <a:latin typeface="Avenir"/>
                <a:ea typeface="Avenir"/>
                <a:cs typeface="Avenir"/>
                <a:sym typeface="Avenir"/>
              </a:rPr>
              <a:t>: sample or condition that is known to produce a positive (expected) result.</a:t>
            </a:r>
          </a:p>
          <a:p>
            <a:pPr marL="916940" lvl="1" indent="-487679">
              <a:lnSpc>
                <a:spcPct val="90000"/>
              </a:lnSpc>
              <a:spcBef>
                <a:spcPts val="3600"/>
              </a:spcBef>
              <a:spcAft>
                <a:spcPts val="0"/>
              </a:spcAft>
              <a:buClr>
                <a:srgbClr val="000000"/>
              </a:buClr>
              <a:buSzPts val="4723"/>
              <a:buFont typeface="Avenir"/>
              <a:buChar char="•"/>
            </a:pPr>
            <a:r>
              <a:rPr lang="en-GB" sz="3600" dirty="0"/>
              <a:t>Helps in your reagents and instruments are working properly</a:t>
            </a:r>
          </a:p>
          <a:p>
            <a:pPr marL="1463040" lvl="2" indent="-487679">
              <a:lnSpc>
                <a:spcPct val="90000"/>
              </a:lnSpc>
              <a:spcBef>
                <a:spcPts val="3600"/>
              </a:spcBef>
              <a:spcAft>
                <a:spcPts val="0"/>
              </a:spcAft>
              <a:buClr>
                <a:srgbClr val="000000"/>
              </a:buClr>
              <a:buSzPts val="4723"/>
              <a:buFont typeface="Avenir"/>
              <a:buChar char="•"/>
            </a:pPr>
            <a:r>
              <a:rPr lang="en-US" dirty="0"/>
              <a:t>qPCR: DNA containing the target gene known to amplify</a:t>
            </a:r>
          </a:p>
          <a:p>
            <a:pPr marL="487680" lvl="0" indent="-487680" algn="l" rtl="0">
              <a:lnSpc>
                <a:spcPct val="90000"/>
              </a:lnSpc>
              <a:spcBef>
                <a:spcPts val="3600"/>
              </a:spcBef>
              <a:spcAft>
                <a:spcPts val="0"/>
              </a:spcAft>
              <a:buClr>
                <a:srgbClr val="000000"/>
              </a:buClr>
              <a:buSzPts val="4723"/>
              <a:buFont typeface="Avenir"/>
              <a:buChar char="•"/>
            </a:pPr>
            <a:r>
              <a:rPr lang="en-US" sz="3600" b="1" dirty="0">
                <a:latin typeface="Avenir"/>
                <a:ea typeface="Avenir"/>
                <a:cs typeface="Avenir"/>
                <a:sym typeface="Avenir"/>
              </a:rPr>
              <a:t>Technical controls: </a:t>
            </a:r>
            <a:r>
              <a:rPr lang="en-US" sz="3600" dirty="0">
                <a:latin typeface="Avenir"/>
                <a:ea typeface="Avenir"/>
                <a:cs typeface="Avenir"/>
                <a:sym typeface="Avenir"/>
              </a:rPr>
              <a:t>samples or reagents experiment to help you detect technical errors, biases that are not biological</a:t>
            </a:r>
            <a:endParaRPr sz="3600" dirty="0"/>
          </a:p>
          <a:p>
            <a:pPr marL="975360" lvl="1" indent="-487680" algn="l" rtl="0">
              <a:lnSpc>
                <a:spcPct val="90000"/>
              </a:lnSpc>
              <a:spcBef>
                <a:spcPts val="3600"/>
              </a:spcBef>
              <a:spcAft>
                <a:spcPts val="0"/>
              </a:spcAft>
              <a:buClr>
                <a:srgbClr val="000000"/>
              </a:buClr>
              <a:buSzPts val="4723"/>
              <a:buFont typeface="Avenir"/>
              <a:buChar char="•"/>
            </a:pPr>
            <a:r>
              <a:rPr lang="en-US" sz="3600" dirty="0">
                <a:latin typeface="Avenir"/>
                <a:ea typeface="Avenir"/>
                <a:cs typeface="Avenir"/>
                <a:sym typeface="Avenir"/>
              </a:rPr>
              <a:t>ERCC spike-ins in RNA-seq: Detect differences in library prep, Normalization</a:t>
            </a:r>
          </a:p>
          <a:p>
            <a:pPr marL="975360" lvl="1" indent="-487680" algn="l" rtl="0">
              <a:lnSpc>
                <a:spcPct val="90000"/>
              </a:lnSpc>
              <a:spcBef>
                <a:spcPts val="3600"/>
              </a:spcBef>
              <a:spcAft>
                <a:spcPts val="0"/>
              </a:spcAft>
              <a:buClr>
                <a:srgbClr val="000000"/>
              </a:buClr>
              <a:buSzPts val="4723"/>
              <a:buFont typeface="Avenir"/>
              <a:buChar char="•"/>
            </a:pPr>
            <a:r>
              <a:rPr lang="en-US" sz="3600" dirty="0">
                <a:latin typeface="Avenir"/>
                <a:ea typeface="Avenir"/>
                <a:cs typeface="Avenir"/>
                <a:sym typeface="Avenir"/>
              </a:rPr>
              <a:t>PhiX174 DNA spike-in (Illumina): Check sequencing accuracy, base-calling quality, and color balance</a:t>
            </a:r>
            <a:endParaRPr sz="3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268"/>
        <p:cNvGrpSpPr/>
        <p:nvPr/>
      </p:nvGrpSpPr>
      <p:grpSpPr>
        <a:xfrm>
          <a:off x="0" y="0"/>
          <a:ext cx="0" cy="0"/>
          <a:chOff x="0" y="0"/>
          <a:chExt cx="0" cy="0"/>
        </a:xfrm>
      </p:grpSpPr>
      <p:sp>
        <p:nvSpPr>
          <p:cNvPr id="269" name="Google Shape;269;p38"/>
          <p:cNvSpPr txBox="1">
            <a:spLocks noGrp="1"/>
          </p:cNvSpPr>
          <p:nvPr>
            <p:ph type="title" idx="4294967295"/>
          </p:nvPr>
        </p:nvSpPr>
        <p:spPr>
          <a:xfrm>
            <a:off x="1066800" y="1079500"/>
            <a:ext cx="21971000" cy="1433513"/>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a:latin typeface="Avenir"/>
                <a:ea typeface="Avenir"/>
                <a:cs typeface="Avenir"/>
                <a:sym typeface="Avenir"/>
              </a:rPr>
              <a:t>Examples of Experimental Controls</a:t>
            </a:r>
            <a:endParaRPr/>
          </a:p>
        </p:txBody>
      </p:sp>
      <p:sp>
        <p:nvSpPr>
          <p:cNvPr id="270" name="Google Shape;270;p38"/>
          <p:cNvSpPr txBox="1">
            <a:spLocks noGrp="1"/>
          </p:cNvSpPr>
          <p:nvPr>
            <p:ph type="body" idx="4294967295"/>
          </p:nvPr>
        </p:nvSpPr>
        <p:spPr>
          <a:xfrm>
            <a:off x="1066800" y="3228975"/>
            <a:ext cx="21971000" cy="9275763"/>
          </a:xfrm>
          <a:prstGeom prst="rect">
            <a:avLst/>
          </a:prstGeom>
          <a:noFill/>
          <a:ln>
            <a:noFill/>
          </a:ln>
        </p:spPr>
        <p:txBody>
          <a:bodyPr spcFirstLastPara="1" wrap="square" lIns="50800" tIns="50800" rIns="50800" bIns="50800" anchor="t" anchorCtr="0">
            <a:normAutofit/>
          </a:bodyPr>
          <a:lstStyle/>
          <a:p>
            <a:pPr marL="609600" lvl="0" indent="-609600" algn="l" rtl="0">
              <a:lnSpc>
                <a:spcPct val="90000"/>
              </a:lnSpc>
              <a:spcBef>
                <a:spcPts val="0"/>
              </a:spcBef>
              <a:spcAft>
                <a:spcPts val="0"/>
              </a:spcAft>
              <a:buClr>
                <a:srgbClr val="000000"/>
              </a:buClr>
              <a:buSzPts val="5904"/>
              <a:buFont typeface="Avenir"/>
              <a:buChar char="•"/>
            </a:pPr>
            <a:r>
              <a:rPr lang="en-US" dirty="0">
                <a:latin typeface="Avenir"/>
                <a:ea typeface="Avenir"/>
                <a:cs typeface="Avenir"/>
                <a:sym typeface="Avenir"/>
              </a:rPr>
              <a:t>Wild-type organism (knockouts)</a:t>
            </a:r>
            <a:endParaRPr dirty="0"/>
          </a:p>
          <a:p>
            <a:pPr marL="609600" lvl="0" indent="-609600" algn="l" rtl="0">
              <a:lnSpc>
                <a:spcPct val="90000"/>
              </a:lnSpc>
              <a:spcBef>
                <a:spcPts val="4500"/>
              </a:spcBef>
              <a:spcAft>
                <a:spcPts val="0"/>
              </a:spcAft>
              <a:buClr>
                <a:srgbClr val="000000"/>
              </a:buClr>
              <a:buSzPts val="5904"/>
              <a:buFont typeface="Avenir"/>
              <a:buChar char="•"/>
            </a:pPr>
            <a:r>
              <a:rPr lang="en-US" dirty="0">
                <a:latin typeface="Avenir"/>
                <a:ea typeface="Avenir"/>
                <a:cs typeface="Avenir"/>
                <a:sym typeface="Avenir"/>
              </a:rPr>
              <a:t>Inactive siRNA (silencing)</a:t>
            </a:r>
            <a:endParaRPr dirty="0"/>
          </a:p>
          <a:p>
            <a:pPr marL="609600" lvl="0" indent="-609600" algn="l" rtl="0">
              <a:lnSpc>
                <a:spcPct val="90000"/>
              </a:lnSpc>
              <a:spcBef>
                <a:spcPts val="4500"/>
              </a:spcBef>
              <a:spcAft>
                <a:spcPts val="0"/>
              </a:spcAft>
              <a:buClr>
                <a:srgbClr val="000000"/>
              </a:buClr>
              <a:buSzPts val="5904"/>
              <a:buFont typeface="Avenir"/>
              <a:buChar char="•"/>
            </a:pPr>
            <a:r>
              <a:rPr lang="en-US" dirty="0">
                <a:latin typeface="Avenir"/>
                <a:ea typeface="Avenir"/>
                <a:cs typeface="Avenir"/>
                <a:sym typeface="Avenir"/>
              </a:rPr>
              <a:t>Vehicle (treatments)</a:t>
            </a:r>
            <a:endParaRPr dirty="0"/>
          </a:p>
          <a:p>
            <a:pPr marL="609600" lvl="0" indent="-609600" algn="l" rtl="0">
              <a:lnSpc>
                <a:spcPct val="90000"/>
              </a:lnSpc>
              <a:spcBef>
                <a:spcPts val="4500"/>
              </a:spcBef>
              <a:spcAft>
                <a:spcPts val="0"/>
              </a:spcAft>
              <a:buClr>
                <a:srgbClr val="000000"/>
              </a:buClr>
              <a:buSzPts val="5904"/>
              <a:buFont typeface="Avenir"/>
              <a:buChar char="•"/>
            </a:pPr>
            <a:r>
              <a:rPr lang="en-US" dirty="0">
                <a:latin typeface="Avenir"/>
                <a:ea typeface="Avenir"/>
                <a:cs typeface="Avenir"/>
                <a:sym typeface="Avenir"/>
              </a:rPr>
              <a:t>Spike-ins (quantification/</a:t>
            </a:r>
            <a:r>
              <a:rPr lang="en-US" dirty="0" err="1">
                <a:latin typeface="Avenir"/>
                <a:ea typeface="Avenir"/>
                <a:cs typeface="Avenir"/>
                <a:sym typeface="Avenir"/>
              </a:rPr>
              <a:t>normalisation</a:t>
            </a:r>
            <a:r>
              <a:rPr lang="en-US" dirty="0">
                <a:latin typeface="Avenir"/>
                <a:ea typeface="Avenir"/>
                <a:cs typeface="Avenir"/>
                <a:sym typeface="Avenir"/>
              </a:rPr>
              <a:t>)</a:t>
            </a:r>
            <a:endParaRPr dirty="0"/>
          </a:p>
          <a:p>
            <a:pPr marL="609600" lvl="0" indent="-609600" algn="l" rtl="0">
              <a:lnSpc>
                <a:spcPct val="90000"/>
              </a:lnSpc>
              <a:spcBef>
                <a:spcPts val="4500"/>
              </a:spcBef>
              <a:spcAft>
                <a:spcPts val="0"/>
              </a:spcAft>
              <a:buClr>
                <a:srgbClr val="000000"/>
              </a:buClr>
              <a:buSzPts val="5904"/>
              <a:buFont typeface="Avenir"/>
              <a:buChar char="•"/>
            </a:pPr>
            <a:r>
              <a:rPr lang="en-US" dirty="0">
                <a:latin typeface="Avenir"/>
                <a:ea typeface="Avenir"/>
                <a:cs typeface="Avenir"/>
                <a:sym typeface="Avenir"/>
              </a:rPr>
              <a:t>“Gold standard” data points</a:t>
            </a:r>
            <a:endParaRPr dirty="0"/>
          </a:p>
          <a:p>
            <a:pPr marL="609600" lvl="0" indent="-609600" algn="l" rtl="0">
              <a:lnSpc>
                <a:spcPct val="90000"/>
              </a:lnSpc>
              <a:spcBef>
                <a:spcPts val="4500"/>
              </a:spcBef>
              <a:spcAft>
                <a:spcPts val="0"/>
              </a:spcAft>
              <a:buClr>
                <a:srgbClr val="000000"/>
              </a:buClr>
              <a:buSzPts val="5904"/>
              <a:buFont typeface="Avenir"/>
              <a:buChar char="•"/>
            </a:pPr>
            <a:r>
              <a:rPr lang="en-US" dirty="0">
                <a:latin typeface="Avenir"/>
                <a:ea typeface="Avenir"/>
                <a:cs typeface="Avenir"/>
                <a:sym typeface="Avenir"/>
              </a:rPr>
              <a:t>Multi-level controls</a:t>
            </a:r>
            <a:r>
              <a:rPr lang="en-US" dirty="0">
                <a:sym typeface="Avenir"/>
              </a:rPr>
              <a:t>: </a:t>
            </a:r>
            <a:r>
              <a:rPr lang="en-US" dirty="0">
                <a:latin typeface="Avenir"/>
                <a:ea typeface="Avenir"/>
                <a:cs typeface="Avenir"/>
                <a:sym typeface="Avenir"/>
              </a:rPr>
              <a:t>e.g. contrast Vehicle/Input vs. Treatment/Input</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274"/>
        <p:cNvGrpSpPr/>
        <p:nvPr/>
      </p:nvGrpSpPr>
      <p:grpSpPr>
        <a:xfrm>
          <a:off x="0" y="0"/>
          <a:ext cx="0" cy="0"/>
          <a:chOff x="0" y="0"/>
          <a:chExt cx="0" cy="0"/>
        </a:xfrm>
      </p:grpSpPr>
      <p:sp>
        <p:nvSpPr>
          <p:cNvPr id="275" name="Google Shape;275;p39"/>
          <p:cNvSpPr txBox="1">
            <a:spLocks noGrp="1"/>
          </p:cNvSpPr>
          <p:nvPr>
            <p:ph type="title"/>
          </p:nvPr>
        </p:nvSpPr>
        <p:spPr>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dirty="0">
                <a:latin typeface="Avenir"/>
                <a:ea typeface="Avenir"/>
                <a:cs typeface="Avenir"/>
                <a:sym typeface="Avenir"/>
              </a:rPr>
              <a:t>Outline</a:t>
            </a:r>
            <a:endParaRPr dirty="0"/>
          </a:p>
        </p:txBody>
      </p:sp>
      <p:sp>
        <p:nvSpPr>
          <p:cNvPr id="276" name="Google Shape;276;p39"/>
          <p:cNvSpPr txBox="1">
            <a:spLocks noGrp="1"/>
          </p:cNvSpPr>
          <p:nvPr>
            <p:ph type="body" idx="1"/>
          </p:nvPr>
        </p:nvSpPr>
        <p:spPr>
          <a:xfrm>
            <a:off x="1206500" y="4902861"/>
            <a:ext cx="21971000" cy="3910278"/>
          </a:xfrm>
          <a:prstGeom prst="rect">
            <a:avLst/>
          </a:prstGeom>
          <a:noFill/>
          <a:ln>
            <a:noFill/>
          </a:ln>
        </p:spPr>
        <p:txBody>
          <a:bodyPr spcFirstLastPara="1" wrap="square" lIns="50800" tIns="50800" rIns="50800" bIns="50800" anchor="t" anchorCtr="0">
            <a:normAutofit/>
          </a:bodyPr>
          <a:lstStyle/>
          <a:p>
            <a:pPr marL="609600" lvl="0" indent="-609600" algn="l" rtl="0">
              <a:lnSpc>
                <a:spcPct val="90000"/>
              </a:lnSpc>
              <a:spcBef>
                <a:spcPts val="0"/>
              </a:spcBef>
              <a:spcAft>
                <a:spcPts val="0"/>
              </a:spcAft>
              <a:buClr>
                <a:srgbClr val="929292"/>
              </a:buClr>
              <a:buSzPts val="5904"/>
              <a:buFont typeface="Avenir"/>
              <a:buChar char="•"/>
            </a:pPr>
            <a:r>
              <a:rPr lang="en-US" dirty="0">
                <a:solidFill>
                  <a:srgbClr val="929292"/>
                </a:solidFill>
                <a:latin typeface="Avenir"/>
                <a:ea typeface="Avenir"/>
                <a:cs typeface="Avenir"/>
                <a:sym typeface="Avenir"/>
              </a:rPr>
              <a:t>Experimental Design</a:t>
            </a:r>
            <a:endParaRPr dirty="0"/>
          </a:p>
          <a:p>
            <a:pPr marL="609600" lvl="0" indent="-609600" algn="l" rtl="0">
              <a:lnSpc>
                <a:spcPct val="90000"/>
              </a:lnSpc>
              <a:spcBef>
                <a:spcPts val="4500"/>
              </a:spcBef>
              <a:spcAft>
                <a:spcPts val="0"/>
              </a:spcAft>
              <a:buClr>
                <a:srgbClr val="000000"/>
              </a:buClr>
              <a:buSzPts val="5904"/>
              <a:buFont typeface="Avenir"/>
              <a:buChar char="•"/>
            </a:pPr>
            <a:r>
              <a:rPr lang="en-US" dirty="0">
                <a:latin typeface="Avenir"/>
                <a:ea typeface="Avenir"/>
                <a:cs typeface="Avenir"/>
                <a:sym typeface="Avenir"/>
              </a:rPr>
              <a:t>Statistical Concepts</a:t>
            </a:r>
            <a:endParaRPr dirty="0"/>
          </a:p>
          <a:p>
            <a:pPr marL="609600" lvl="0" indent="-609600" algn="l" rtl="0">
              <a:lnSpc>
                <a:spcPct val="90000"/>
              </a:lnSpc>
              <a:spcBef>
                <a:spcPts val="4500"/>
              </a:spcBef>
              <a:spcAft>
                <a:spcPts val="0"/>
              </a:spcAft>
              <a:buClr>
                <a:srgbClr val="929292"/>
              </a:buClr>
              <a:buSzPts val="5904"/>
              <a:buFont typeface="Avenir"/>
              <a:buChar char="•"/>
            </a:pPr>
            <a:r>
              <a:rPr lang="en-US" dirty="0">
                <a:solidFill>
                  <a:srgbClr val="929292"/>
                </a:solidFill>
                <a:latin typeface="Avenir"/>
                <a:ea typeface="Avenir"/>
                <a:cs typeface="Avenir"/>
                <a:sym typeface="Avenir"/>
              </a:rPr>
              <a:t>Statistical aspects of bulk RNA-</a:t>
            </a:r>
            <a:r>
              <a:rPr lang="en-US" dirty="0" err="1">
                <a:solidFill>
                  <a:srgbClr val="929292"/>
                </a:solidFill>
                <a:latin typeface="Avenir"/>
                <a:ea typeface="Avenir"/>
                <a:cs typeface="Avenir"/>
                <a:sym typeface="Avenir"/>
              </a:rPr>
              <a:t>seq</a:t>
            </a:r>
            <a:r>
              <a:rPr lang="en-US" dirty="0">
                <a:solidFill>
                  <a:srgbClr val="929292"/>
                </a:solidFill>
                <a:latin typeface="Avenir"/>
                <a:ea typeface="Avenir"/>
                <a:cs typeface="Avenir"/>
                <a:sym typeface="Avenir"/>
              </a:rPr>
              <a:t> analysis</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FF1D2-49F4-404D-BC10-900AE207043A}"/>
              </a:ext>
            </a:extLst>
          </p:cNvPr>
          <p:cNvSpPr>
            <a:spLocks noGrp="1"/>
          </p:cNvSpPr>
          <p:nvPr>
            <p:ph type="title"/>
          </p:nvPr>
        </p:nvSpPr>
        <p:spPr/>
        <p:txBody>
          <a:bodyPr>
            <a:normAutofit fontScale="90000"/>
          </a:bodyPr>
          <a:lstStyle/>
          <a:p>
            <a:r>
              <a:rPr lang="en-US" sz="8800" b="0" dirty="0">
                <a:latin typeface="Avenir"/>
                <a:ea typeface="Avenir"/>
                <a:cs typeface="Avenir"/>
                <a:sym typeface="Avenir"/>
              </a:rPr>
              <a:t>Basics on inferential statistics and hypothesis testing</a:t>
            </a:r>
            <a:endParaRPr lang="en-US" dirty="0"/>
          </a:p>
        </p:txBody>
      </p:sp>
      <p:pic>
        <p:nvPicPr>
          <p:cNvPr id="7" name="Content Placeholder 6">
            <a:extLst>
              <a:ext uri="{FF2B5EF4-FFF2-40B4-BE49-F238E27FC236}">
                <a16:creationId xmlns:a16="http://schemas.microsoft.com/office/drawing/2014/main" id="{5347CC75-FD95-1B40-A1AB-A6D327F06513}"/>
              </a:ext>
            </a:extLst>
          </p:cNvPr>
          <p:cNvPicPr>
            <a:picLocks noGrp="1" noChangeAspect="1"/>
          </p:cNvPicPr>
          <p:nvPr>
            <p:ph sz="half" idx="1"/>
          </p:nvPr>
        </p:nvPicPr>
        <p:blipFill>
          <a:blip r:embed="rId3"/>
          <a:stretch>
            <a:fillRect/>
          </a:stretch>
        </p:blipFill>
        <p:spPr>
          <a:xfrm>
            <a:off x="1219200" y="4128098"/>
            <a:ext cx="10160000" cy="6882204"/>
          </a:xfrm>
        </p:spPr>
      </p:pic>
      <p:sp useBgFill="1">
        <p:nvSpPr>
          <p:cNvPr id="11" name="Content Placeholder 10">
            <a:extLst>
              <a:ext uri="{FF2B5EF4-FFF2-40B4-BE49-F238E27FC236}">
                <a16:creationId xmlns:a16="http://schemas.microsoft.com/office/drawing/2014/main" id="{250D1712-6114-7F4F-AD94-EC9618311A9E}"/>
              </a:ext>
            </a:extLst>
          </p:cNvPr>
          <p:cNvSpPr>
            <a:spLocks noGrp="1"/>
          </p:cNvSpPr>
          <p:nvPr>
            <p:ph sz="half" idx="11"/>
          </p:nvPr>
        </p:nvSpPr>
        <p:spPr/>
        <p:txBody>
          <a:bodyPr>
            <a:normAutofit/>
          </a:bodyPr>
          <a:lstStyle/>
          <a:p>
            <a:pPr marL="685800" indent="-685800">
              <a:buFont typeface="Arial" panose="020B0604020202020204" pitchFamily="34" charset="0"/>
              <a:buChar char="•"/>
            </a:pPr>
            <a:r>
              <a:rPr lang="en-US" dirty="0">
                <a:latin typeface="Avenir" panose="02000503020000020003" pitchFamily="2" charset="0"/>
              </a:rPr>
              <a:t>Two important parameters</a:t>
            </a:r>
          </a:p>
          <a:p>
            <a:pPr marL="1943100" lvl="1" indent="-685800">
              <a:buFont typeface="Arial" panose="020B0604020202020204" pitchFamily="34" charset="0"/>
              <a:buChar char="•"/>
            </a:pPr>
            <a:r>
              <a:rPr lang="en-US" dirty="0">
                <a:latin typeface="Avenir" panose="02000503020000020003" pitchFamily="2" charset="0"/>
              </a:rPr>
              <a:t>Mean</a:t>
            </a:r>
          </a:p>
          <a:p>
            <a:pPr marL="1943100" lvl="1" indent="-685800">
              <a:buFont typeface="Arial" panose="020B0604020202020204" pitchFamily="34" charset="0"/>
              <a:buChar char="•"/>
            </a:pPr>
            <a:r>
              <a:rPr lang="en-US" dirty="0">
                <a:latin typeface="Avenir" panose="02000503020000020003" pitchFamily="2" charset="0"/>
              </a:rPr>
              <a:t>Variance</a:t>
            </a:r>
          </a:p>
          <a:p>
            <a:pPr marL="685800" indent="-685800">
              <a:buFont typeface="Arial" panose="020B0604020202020204" pitchFamily="34" charset="0"/>
              <a:buChar char="•"/>
            </a:pPr>
            <a:r>
              <a:rPr lang="en-US" dirty="0">
                <a:latin typeface="Avenir" panose="02000503020000020003" pitchFamily="2" charset="0"/>
              </a:rPr>
              <a:t>Population mean and variance are unknow and are constants</a:t>
            </a:r>
          </a:p>
          <a:p>
            <a:pPr marL="685800" indent="-685800">
              <a:buFont typeface="Arial" panose="020B0604020202020204" pitchFamily="34" charset="0"/>
              <a:buChar char="•"/>
            </a:pPr>
            <a:r>
              <a:rPr lang="en-US" dirty="0">
                <a:latin typeface="Avenir" panose="02000503020000020003" pitchFamily="2" charset="0"/>
              </a:rPr>
              <a:t>Estimated using sample</a:t>
            </a:r>
          </a:p>
          <a:p>
            <a:pPr marL="685800" indent="-685800">
              <a:buFont typeface="Arial" panose="020B0604020202020204" pitchFamily="34" charset="0"/>
              <a:buChar char="•"/>
            </a:pPr>
            <a:r>
              <a:rPr lang="en-US" dirty="0">
                <a:latin typeface="Avenir" panose="02000503020000020003" pitchFamily="2" charset="0"/>
              </a:rPr>
              <a:t>Estimated mean and variance used for inferring population parameters</a:t>
            </a:r>
          </a:p>
          <a:p>
            <a:pPr marL="685800" indent="-685800">
              <a:buFont typeface="Arial" panose="020B0604020202020204" pitchFamily="34" charset="0"/>
              <a:buChar char="•"/>
            </a:pPr>
            <a:endParaRPr lang="en-US" dirty="0"/>
          </a:p>
          <a:p>
            <a:pPr marL="0" indent="0">
              <a:buNone/>
            </a:pPr>
            <a:endParaRPr lang="en-US" dirty="0"/>
          </a:p>
        </p:txBody>
      </p:sp>
    </p:spTree>
    <p:extLst>
      <p:ext uri="{BB962C8B-B14F-4D97-AF65-F5344CB8AC3E}">
        <p14:creationId xmlns:p14="http://schemas.microsoft.com/office/powerpoint/2010/main" val="1609726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300"/>
        <p:cNvGrpSpPr/>
        <p:nvPr/>
      </p:nvGrpSpPr>
      <p:grpSpPr>
        <a:xfrm>
          <a:off x="0" y="0"/>
          <a:ext cx="0" cy="0"/>
          <a:chOff x="0" y="0"/>
          <a:chExt cx="0" cy="0"/>
        </a:xfrm>
      </p:grpSpPr>
      <p:sp>
        <p:nvSpPr>
          <p:cNvPr id="301" name="Google Shape;301;p41"/>
          <p:cNvSpPr txBox="1"/>
          <p:nvPr/>
        </p:nvSpPr>
        <p:spPr>
          <a:xfrm>
            <a:off x="2438919" y="10262383"/>
            <a:ext cx="9788324" cy="13462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Population: the complete set of individuals that we are interested in</a:t>
            </a:r>
            <a:endParaRPr/>
          </a:p>
        </p:txBody>
      </p:sp>
      <p:sp>
        <p:nvSpPr>
          <p:cNvPr id="302" name="Google Shape;302;p41"/>
          <p:cNvSpPr txBox="1"/>
          <p:nvPr/>
        </p:nvSpPr>
        <p:spPr>
          <a:xfrm>
            <a:off x="13439209" y="10262383"/>
            <a:ext cx="9788324" cy="13462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Sample: smaller set of individuals that is representative of the population</a:t>
            </a:r>
            <a:endParaRPr/>
          </a:p>
        </p:txBody>
      </p:sp>
      <p:pic>
        <p:nvPicPr>
          <p:cNvPr id="303" name="Google Shape;303;p41" descr="Image"/>
          <p:cNvPicPr preferRelativeResize="0"/>
          <p:nvPr/>
        </p:nvPicPr>
        <p:blipFill rotWithShape="1">
          <a:blip r:embed="rId3">
            <a:alphaModFix amt="21282"/>
          </a:blip>
          <a:srcRect l="10442" t="544" r="10447" b="547"/>
          <a:stretch/>
        </p:blipFill>
        <p:spPr>
          <a:xfrm>
            <a:off x="4060174" y="3585216"/>
            <a:ext cx="6545509" cy="6545386"/>
          </a:xfrm>
          <a:custGeom>
            <a:avLst/>
            <a:gdLst/>
            <a:ahLst/>
            <a:cxnLst/>
            <a:rect l="l" t="t" r="r" b="b"/>
            <a:pathLst>
              <a:path w="19679" h="20595" extrusionOk="0">
                <a:moveTo>
                  <a:pt x="9839" y="0"/>
                </a:moveTo>
                <a:cubicBezTo>
                  <a:pt x="7321" y="0"/>
                  <a:pt x="4803" y="1005"/>
                  <a:pt x="2882" y="3016"/>
                </a:cubicBezTo>
                <a:cubicBezTo>
                  <a:pt x="-961" y="7037"/>
                  <a:pt x="-961" y="13557"/>
                  <a:pt x="2882" y="17579"/>
                </a:cubicBezTo>
                <a:cubicBezTo>
                  <a:pt x="6724" y="21600"/>
                  <a:pt x="12954" y="21600"/>
                  <a:pt x="16796" y="17579"/>
                </a:cubicBezTo>
                <a:cubicBezTo>
                  <a:pt x="20639" y="13557"/>
                  <a:pt x="20639" y="7037"/>
                  <a:pt x="16796" y="3016"/>
                </a:cubicBezTo>
                <a:cubicBezTo>
                  <a:pt x="14875" y="1005"/>
                  <a:pt x="12357" y="0"/>
                  <a:pt x="9839" y="0"/>
                </a:cubicBezTo>
                <a:close/>
              </a:path>
            </a:pathLst>
          </a:custGeom>
          <a:noFill/>
          <a:ln w="12700" cap="flat" cmpd="sng">
            <a:solidFill>
              <a:srgbClr val="000000"/>
            </a:solidFill>
            <a:prstDash val="solid"/>
            <a:miter lim="400000"/>
            <a:headEnd type="none" w="sm" len="sm"/>
            <a:tailEnd type="none" w="sm" len="sm"/>
          </a:ln>
        </p:spPr>
      </p:pic>
      <p:grpSp>
        <p:nvGrpSpPr>
          <p:cNvPr id="304" name="Google Shape;304;p41"/>
          <p:cNvGrpSpPr/>
          <p:nvPr/>
        </p:nvGrpSpPr>
        <p:grpSpPr>
          <a:xfrm>
            <a:off x="16470044" y="6320082"/>
            <a:ext cx="3726655" cy="3726656"/>
            <a:chOff x="0" y="0"/>
            <a:chExt cx="3726654" cy="3726654"/>
          </a:xfrm>
        </p:grpSpPr>
        <p:sp>
          <p:nvSpPr>
            <p:cNvPr id="305" name="Google Shape;305;p41"/>
            <p:cNvSpPr/>
            <p:nvPr/>
          </p:nvSpPr>
          <p:spPr>
            <a:xfrm>
              <a:off x="0" y="0"/>
              <a:ext cx="3726654" cy="3726654"/>
            </a:xfrm>
            <a:prstGeom prst="ellipse">
              <a:avLst/>
            </a:prstGeom>
            <a:noFill/>
            <a:ln w="12700" cap="flat" cmpd="sng">
              <a:solidFill>
                <a:srgbClr val="000000">
                  <a:alpha val="49803"/>
                </a:srgbClr>
              </a:solidFill>
              <a:prstDash val="solid"/>
              <a:miter lim="400000"/>
              <a:headEnd type="none" w="sm" len="sm"/>
              <a:tailEnd type="none" w="sm" len="sm"/>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306" name="Google Shape;306;p41"/>
            <p:cNvSpPr/>
            <p:nvPr/>
          </p:nvSpPr>
          <p:spPr>
            <a:xfrm>
              <a:off x="1089917" y="638276"/>
              <a:ext cx="591118" cy="588440"/>
            </a:xfrm>
            <a:prstGeom prst="ellipse">
              <a:avLst/>
            </a:prstGeom>
            <a:solidFill>
              <a:srgbClr val="ED469A">
                <a:alpha val="4980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307" name="Google Shape;307;p41"/>
            <p:cNvSpPr/>
            <p:nvPr/>
          </p:nvSpPr>
          <p:spPr>
            <a:xfrm>
              <a:off x="2139205" y="411749"/>
              <a:ext cx="591118" cy="588441"/>
            </a:xfrm>
            <a:prstGeom prst="ellipse">
              <a:avLst/>
            </a:prstGeom>
            <a:solidFill>
              <a:srgbClr val="F6A631">
                <a:alpha val="4980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308" name="Google Shape;308;p41"/>
            <p:cNvSpPr/>
            <p:nvPr/>
          </p:nvSpPr>
          <p:spPr>
            <a:xfrm>
              <a:off x="510243" y="1762206"/>
              <a:ext cx="591117" cy="588441"/>
            </a:xfrm>
            <a:prstGeom prst="ellipse">
              <a:avLst/>
            </a:prstGeom>
            <a:solidFill>
              <a:srgbClr val="EE2B5C">
                <a:alpha val="4980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309" name="Google Shape;309;p41"/>
            <p:cNvSpPr/>
            <p:nvPr/>
          </p:nvSpPr>
          <p:spPr>
            <a:xfrm>
              <a:off x="2576079" y="1189968"/>
              <a:ext cx="591118" cy="588441"/>
            </a:xfrm>
            <a:prstGeom prst="ellipse">
              <a:avLst/>
            </a:prstGeom>
            <a:solidFill>
              <a:srgbClr val="9B5DA4">
                <a:alpha val="4980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310" name="Google Shape;310;p41"/>
            <p:cNvSpPr/>
            <p:nvPr/>
          </p:nvSpPr>
          <p:spPr>
            <a:xfrm>
              <a:off x="1246835" y="2736510"/>
              <a:ext cx="591117" cy="588440"/>
            </a:xfrm>
            <a:prstGeom prst="ellipse">
              <a:avLst/>
            </a:prstGeom>
            <a:solidFill>
              <a:srgbClr val="FACD09">
                <a:alpha val="4980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311" name="Google Shape;311;p41"/>
            <p:cNvSpPr/>
            <p:nvPr/>
          </p:nvSpPr>
          <p:spPr>
            <a:xfrm>
              <a:off x="2897244" y="2148094"/>
              <a:ext cx="591118" cy="588441"/>
            </a:xfrm>
            <a:prstGeom prst="ellipse">
              <a:avLst/>
            </a:prstGeom>
            <a:solidFill>
              <a:srgbClr val="ABD9D6">
                <a:alpha val="4980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312" name="Google Shape;312;p41"/>
            <p:cNvSpPr/>
            <p:nvPr/>
          </p:nvSpPr>
          <p:spPr>
            <a:xfrm>
              <a:off x="1891610" y="1320967"/>
              <a:ext cx="591117" cy="588441"/>
            </a:xfrm>
            <a:prstGeom prst="ellipse">
              <a:avLst/>
            </a:prstGeom>
            <a:solidFill>
              <a:srgbClr val="43C4BA">
                <a:alpha val="4980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313" name="Google Shape;313;p41"/>
            <p:cNvSpPr/>
            <p:nvPr/>
          </p:nvSpPr>
          <p:spPr>
            <a:xfrm>
              <a:off x="273561" y="1064002"/>
              <a:ext cx="591117" cy="588440"/>
            </a:xfrm>
            <a:prstGeom prst="ellipse">
              <a:avLst/>
            </a:prstGeom>
            <a:solidFill>
              <a:srgbClr val="43C4BA">
                <a:alpha val="4980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314" name="Google Shape;314;p41"/>
            <p:cNvSpPr/>
            <p:nvPr/>
          </p:nvSpPr>
          <p:spPr>
            <a:xfrm>
              <a:off x="2101577" y="2391991"/>
              <a:ext cx="591117" cy="588441"/>
            </a:xfrm>
            <a:prstGeom prst="ellipse">
              <a:avLst/>
            </a:prstGeom>
            <a:solidFill>
              <a:srgbClr val="EE2B5C">
                <a:alpha val="4980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315" name="Google Shape;315;p41"/>
            <p:cNvSpPr/>
            <p:nvPr/>
          </p:nvSpPr>
          <p:spPr>
            <a:xfrm>
              <a:off x="1305910" y="1968188"/>
              <a:ext cx="591118" cy="588440"/>
            </a:xfrm>
            <a:prstGeom prst="ellipse">
              <a:avLst/>
            </a:prstGeom>
            <a:solidFill>
              <a:srgbClr val="9B5DA4">
                <a:alpha val="4980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grpSp>
      <p:sp>
        <p:nvSpPr>
          <p:cNvPr id="316" name="Google Shape;316;p41"/>
          <p:cNvSpPr txBox="1"/>
          <p:nvPr/>
        </p:nvSpPr>
        <p:spPr>
          <a:xfrm>
            <a:off x="7297838" y="12537085"/>
            <a:ext cx="9788324" cy="7239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Variable: what we are interested in measuring</a:t>
            </a:r>
            <a:endParaRPr/>
          </a:p>
        </p:txBody>
      </p:sp>
      <p:sp>
        <p:nvSpPr>
          <p:cNvPr id="317" name="Google Shape;317;p41"/>
          <p:cNvSpPr/>
          <p:nvPr/>
        </p:nvSpPr>
        <p:spPr>
          <a:xfrm>
            <a:off x="11838792" y="7548409"/>
            <a:ext cx="3398143" cy="1270001"/>
          </a:xfrm>
          <a:custGeom>
            <a:avLst/>
            <a:gdLst/>
            <a:ahLst/>
            <a:cxnLst/>
            <a:rect l="l" t="t" r="r" b="b"/>
            <a:pathLst>
              <a:path w="21600" h="21600" extrusionOk="0">
                <a:moveTo>
                  <a:pt x="5166" y="17393"/>
                </a:moveTo>
                <a:lnTo>
                  <a:pt x="5166" y="21600"/>
                </a:lnTo>
                <a:lnTo>
                  <a:pt x="0" y="10800"/>
                </a:lnTo>
                <a:lnTo>
                  <a:pt x="5166" y="0"/>
                </a:lnTo>
                <a:lnTo>
                  <a:pt x="5166" y="4207"/>
                </a:lnTo>
                <a:lnTo>
                  <a:pt x="21600" y="4207"/>
                </a:lnTo>
                <a:lnTo>
                  <a:pt x="21600" y="17393"/>
                </a:lnTo>
                <a:close/>
              </a:path>
            </a:pathLst>
          </a:custGeom>
          <a:solidFill>
            <a:srgbClr val="D5D5D5"/>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000000"/>
              </a:buClr>
              <a:buSzPts val="3200"/>
              <a:buFont typeface="Avenir"/>
              <a:buNone/>
            </a:pPr>
            <a:r>
              <a:rPr lang="en-US" sz="3200" b="0" i="0" u="none" strike="noStrike" cap="none">
                <a:solidFill>
                  <a:srgbClr val="000000"/>
                </a:solidFill>
                <a:latin typeface="Avenir"/>
                <a:ea typeface="Avenir"/>
                <a:cs typeface="Avenir"/>
                <a:sym typeface="Avenir"/>
              </a:rPr>
              <a:t>inference</a:t>
            </a:r>
            <a:endParaRPr/>
          </a:p>
        </p:txBody>
      </p:sp>
      <p:sp>
        <p:nvSpPr>
          <p:cNvPr id="318" name="Google Shape;318;p41"/>
          <p:cNvSpPr txBox="1"/>
          <p:nvPr/>
        </p:nvSpPr>
        <p:spPr>
          <a:xfrm>
            <a:off x="12961358" y="2857764"/>
            <a:ext cx="9788324" cy="25908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Inference means two things: </a:t>
            </a:r>
            <a:endParaRPr sz="2400" b="0" i="0" u="none" strike="noStrike" cap="none">
              <a:solidFill>
                <a:srgbClr val="5E5E5E"/>
              </a:solidFill>
              <a:latin typeface="Avenir"/>
              <a:ea typeface="Avenir"/>
              <a:cs typeface="Avenir"/>
              <a:sym typeface="Avenir"/>
            </a:endParaRPr>
          </a:p>
          <a:p>
            <a:pPr marL="666750" marR="0" lvl="0" indent="-666750" algn="l" rtl="0">
              <a:lnSpc>
                <a:spcPct val="100000"/>
              </a:lnSpc>
              <a:spcBef>
                <a:spcPts val="0"/>
              </a:spcBef>
              <a:spcAft>
                <a:spcPts val="0"/>
              </a:spcAft>
              <a:buClr>
                <a:srgbClr val="5E5E5E"/>
              </a:buClr>
              <a:buSzPts val="3600"/>
              <a:buFont typeface="Avenir"/>
              <a:buAutoNum type="arabicPeriod"/>
            </a:pPr>
            <a:r>
              <a:rPr lang="en-US" sz="3600" b="0" i="0" u="none" strike="noStrike" cap="none">
                <a:solidFill>
                  <a:srgbClr val="5E5E5E"/>
                </a:solidFill>
                <a:latin typeface="Avenir"/>
                <a:ea typeface="Avenir"/>
                <a:cs typeface="Avenir"/>
                <a:sym typeface="Avenir"/>
              </a:rPr>
              <a:t>Estimating population parameters </a:t>
            </a:r>
            <a:endParaRPr/>
          </a:p>
          <a:p>
            <a:pPr marL="666750" marR="0" lvl="0" indent="-666750" algn="l" rtl="0">
              <a:lnSpc>
                <a:spcPct val="100000"/>
              </a:lnSpc>
              <a:spcBef>
                <a:spcPts val="0"/>
              </a:spcBef>
              <a:spcAft>
                <a:spcPts val="0"/>
              </a:spcAft>
              <a:buClr>
                <a:srgbClr val="5E5E5E"/>
              </a:buClr>
              <a:buSzPts val="3600"/>
              <a:buFont typeface="Avenir"/>
              <a:buAutoNum type="arabicPeriod"/>
            </a:pPr>
            <a:r>
              <a:rPr lang="en-US" sz="3600" b="0" i="0" u="none" strike="noStrike" cap="none">
                <a:solidFill>
                  <a:srgbClr val="5E5E5E"/>
                </a:solidFill>
                <a:latin typeface="Avenir"/>
                <a:ea typeface="Avenir"/>
                <a:cs typeface="Avenir"/>
                <a:sym typeface="Avenir"/>
              </a:rPr>
              <a:t>Testing hypothesis regarding the population distribution</a:t>
            </a:r>
            <a:endParaRPr/>
          </a:p>
        </p:txBody>
      </p:sp>
      <p:pic>
        <p:nvPicPr>
          <p:cNvPr id="319" name="Google Shape;319;p41" descr="Image"/>
          <p:cNvPicPr preferRelativeResize="0"/>
          <p:nvPr/>
        </p:nvPicPr>
        <p:blipFill rotWithShape="1">
          <a:blip r:embed="rId4">
            <a:alphaModFix/>
          </a:blip>
          <a:srcRect/>
          <a:stretch/>
        </p:blipFill>
        <p:spPr>
          <a:xfrm>
            <a:off x="3099647" y="3146333"/>
            <a:ext cx="8629752" cy="7423334"/>
          </a:xfrm>
          <a:prstGeom prst="rect">
            <a:avLst/>
          </a:prstGeom>
          <a:noFill/>
          <a:ln>
            <a:noFill/>
          </a:ln>
        </p:spPr>
      </p:pic>
      <p:sp>
        <p:nvSpPr>
          <p:cNvPr id="320" name="Google Shape;320;p41"/>
          <p:cNvSpPr txBox="1"/>
          <p:nvPr/>
        </p:nvSpPr>
        <p:spPr>
          <a:xfrm>
            <a:off x="4809280" y="5251450"/>
            <a:ext cx="5047602" cy="32131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Null Hypothesis (H</a:t>
            </a:r>
            <a:r>
              <a:rPr lang="en-US" sz="3600" b="0" i="0" u="none" strike="noStrike" cap="none" baseline="-25000">
                <a:solidFill>
                  <a:srgbClr val="5E5E5E"/>
                </a:solidFill>
                <a:latin typeface="Avenir"/>
                <a:ea typeface="Avenir"/>
                <a:cs typeface="Avenir"/>
                <a:sym typeface="Avenir"/>
              </a:rPr>
              <a:t>0</a:t>
            </a:r>
            <a:r>
              <a:rPr lang="en-US" sz="3600" b="0" i="0" u="none" strike="noStrike" cap="none">
                <a:solidFill>
                  <a:srgbClr val="5E5E5E"/>
                </a:solidFill>
                <a:latin typeface="Avenir"/>
                <a:ea typeface="Avenir"/>
                <a:cs typeface="Avenir"/>
                <a:sym typeface="Avenir"/>
              </a:rPr>
              <a:t>)</a:t>
            </a:r>
            <a:endParaRPr/>
          </a:p>
          <a:p>
            <a:pPr marL="0" marR="0" lvl="0" indent="0" algn="ctr"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Assumption about the population distribution and its parameters (mean, variance, etc)</a:t>
            </a:r>
            <a:endParaRPr/>
          </a:p>
        </p:txBody>
      </p:sp>
      <p:sp>
        <p:nvSpPr>
          <p:cNvPr id="321" name="Google Shape;321;p41"/>
          <p:cNvSpPr/>
          <p:nvPr/>
        </p:nvSpPr>
        <p:spPr>
          <a:xfrm>
            <a:off x="17535748" y="7150501"/>
            <a:ext cx="1595243" cy="2065817"/>
          </a:xfrm>
          <a:custGeom>
            <a:avLst/>
            <a:gdLst/>
            <a:ahLst/>
            <a:cxnLst/>
            <a:rect l="l" t="t" r="r" b="b"/>
            <a:pathLst>
              <a:path w="21599" h="21600" extrusionOk="0">
                <a:moveTo>
                  <a:pt x="213" y="0"/>
                </a:moveTo>
                <a:cubicBezTo>
                  <a:pt x="96" y="0"/>
                  <a:pt x="0" y="72"/>
                  <a:pt x="0" y="162"/>
                </a:cubicBezTo>
                <a:lnTo>
                  <a:pt x="0" y="21438"/>
                </a:lnTo>
                <a:cubicBezTo>
                  <a:pt x="0" y="21528"/>
                  <a:pt x="96" y="21600"/>
                  <a:pt x="213" y="21600"/>
                </a:cubicBezTo>
                <a:lnTo>
                  <a:pt x="21387" y="21600"/>
                </a:lnTo>
                <a:cubicBezTo>
                  <a:pt x="21503" y="21600"/>
                  <a:pt x="21599" y="21528"/>
                  <a:pt x="21599" y="21438"/>
                </a:cubicBezTo>
                <a:lnTo>
                  <a:pt x="21599" y="5895"/>
                </a:lnTo>
                <a:cubicBezTo>
                  <a:pt x="21600" y="5863"/>
                  <a:pt x="21565" y="5837"/>
                  <a:pt x="21524" y="5837"/>
                </a:cubicBezTo>
                <a:lnTo>
                  <a:pt x="14256" y="5837"/>
                </a:lnTo>
                <a:cubicBezTo>
                  <a:pt x="14139" y="5837"/>
                  <a:pt x="14043" y="5765"/>
                  <a:pt x="14043" y="5674"/>
                </a:cubicBezTo>
                <a:lnTo>
                  <a:pt x="14043" y="58"/>
                </a:lnTo>
                <a:cubicBezTo>
                  <a:pt x="14043" y="26"/>
                  <a:pt x="14009" y="0"/>
                  <a:pt x="13968" y="0"/>
                </a:cubicBezTo>
                <a:lnTo>
                  <a:pt x="213" y="0"/>
                </a:lnTo>
                <a:close/>
                <a:moveTo>
                  <a:pt x="15017" y="86"/>
                </a:moveTo>
                <a:cubicBezTo>
                  <a:pt x="14991" y="94"/>
                  <a:pt x="14972" y="114"/>
                  <a:pt x="14972" y="140"/>
                </a:cubicBezTo>
                <a:lnTo>
                  <a:pt x="14972" y="4958"/>
                </a:lnTo>
                <a:cubicBezTo>
                  <a:pt x="14972" y="5048"/>
                  <a:pt x="15067" y="5120"/>
                  <a:pt x="15184" y="5120"/>
                </a:cubicBezTo>
                <a:lnTo>
                  <a:pt x="21418" y="5120"/>
                </a:lnTo>
                <a:cubicBezTo>
                  <a:pt x="21485" y="5120"/>
                  <a:pt x="21518" y="5058"/>
                  <a:pt x="21471" y="5021"/>
                </a:cubicBezTo>
                <a:lnTo>
                  <a:pt x="15100" y="99"/>
                </a:lnTo>
                <a:cubicBezTo>
                  <a:pt x="15076" y="81"/>
                  <a:pt x="15044" y="78"/>
                  <a:pt x="15017" y="86"/>
                </a:cubicBezTo>
                <a:close/>
                <a:moveTo>
                  <a:pt x="9656" y="7345"/>
                </a:moveTo>
                <a:lnTo>
                  <a:pt x="11938" y="7345"/>
                </a:lnTo>
                <a:cubicBezTo>
                  <a:pt x="11983" y="7345"/>
                  <a:pt x="12018" y="7374"/>
                  <a:pt x="12018" y="7408"/>
                </a:cubicBezTo>
                <a:lnTo>
                  <a:pt x="12018" y="15086"/>
                </a:lnTo>
                <a:cubicBezTo>
                  <a:pt x="12018" y="15120"/>
                  <a:pt x="11983" y="15149"/>
                  <a:pt x="11938" y="15149"/>
                </a:cubicBezTo>
                <a:lnTo>
                  <a:pt x="9656" y="15149"/>
                </a:lnTo>
                <a:cubicBezTo>
                  <a:pt x="9611" y="15149"/>
                  <a:pt x="9574" y="15120"/>
                  <a:pt x="9574" y="15086"/>
                </a:cubicBezTo>
                <a:lnTo>
                  <a:pt x="9574" y="7408"/>
                </a:lnTo>
                <a:cubicBezTo>
                  <a:pt x="9574" y="7374"/>
                  <a:pt x="9611" y="7345"/>
                  <a:pt x="9656" y="7345"/>
                </a:cubicBezTo>
                <a:close/>
                <a:moveTo>
                  <a:pt x="13164" y="9590"/>
                </a:moveTo>
                <a:lnTo>
                  <a:pt x="15445" y="9590"/>
                </a:lnTo>
                <a:cubicBezTo>
                  <a:pt x="15490" y="9590"/>
                  <a:pt x="15527" y="9617"/>
                  <a:pt x="15527" y="9652"/>
                </a:cubicBezTo>
                <a:lnTo>
                  <a:pt x="15527" y="15088"/>
                </a:lnTo>
                <a:cubicBezTo>
                  <a:pt x="15527" y="15122"/>
                  <a:pt x="15490" y="15149"/>
                  <a:pt x="15445" y="15149"/>
                </a:cubicBezTo>
                <a:lnTo>
                  <a:pt x="13164" y="15149"/>
                </a:lnTo>
                <a:cubicBezTo>
                  <a:pt x="13119" y="15149"/>
                  <a:pt x="13084" y="15122"/>
                  <a:pt x="13084" y="15088"/>
                </a:cubicBezTo>
                <a:lnTo>
                  <a:pt x="13084" y="9652"/>
                </a:lnTo>
                <a:cubicBezTo>
                  <a:pt x="13084" y="9617"/>
                  <a:pt x="13119" y="9590"/>
                  <a:pt x="13164" y="9590"/>
                </a:cubicBezTo>
                <a:close/>
                <a:moveTo>
                  <a:pt x="6147" y="11440"/>
                </a:moveTo>
                <a:lnTo>
                  <a:pt x="8428" y="11440"/>
                </a:lnTo>
                <a:cubicBezTo>
                  <a:pt x="8473" y="11440"/>
                  <a:pt x="8511" y="11467"/>
                  <a:pt x="8511" y="11502"/>
                </a:cubicBezTo>
                <a:lnTo>
                  <a:pt x="8511" y="15086"/>
                </a:lnTo>
                <a:cubicBezTo>
                  <a:pt x="8511" y="15120"/>
                  <a:pt x="8473" y="15149"/>
                  <a:pt x="8428" y="15149"/>
                </a:cubicBezTo>
                <a:lnTo>
                  <a:pt x="6147" y="15149"/>
                </a:lnTo>
                <a:cubicBezTo>
                  <a:pt x="6102" y="15149"/>
                  <a:pt x="6067" y="15120"/>
                  <a:pt x="6067" y="15086"/>
                </a:cubicBezTo>
                <a:lnTo>
                  <a:pt x="6067" y="11502"/>
                </a:lnTo>
                <a:cubicBezTo>
                  <a:pt x="6067" y="11467"/>
                  <a:pt x="6102" y="11440"/>
                  <a:pt x="6147" y="11440"/>
                </a:cubicBezTo>
                <a:close/>
                <a:moveTo>
                  <a:pt x="3933" y="15866"/>
                </a:moveTo>
                <a:lnTo>
                  <a:pt x="17662" y="15866"/>
                </a:lnTo>
                <a:cubicBezTo>
                  <a:pt x="17707" y="15866"/>
                  <a:pt x="17742" y="15895"/>
                  <a:pt x="17742" y="15929"/>
                </a:cubicBezTo>
                <a:lnTo>
                  <a:pt x="17746" y="16878"/>
                </a:lnTo>
                <a:cubicBezTo>
                  <a:pt x="17746" y="16913"/>
                  <a:pt x="17709" y="16941"/>
                  <a:pt x="17664" y="16941"/>
                </a:cubicBezTo>
                <a:lnTo>
                  <a:pt x="3935" y="16941"/>
                </a:lnTo>
                <a:cubicBezTo>
                  <a:pt x="3890" y="16941"/>
                  <a:pt x="3853" y="16912"/>
                  <a:pt x="3853" y="16878"/>
                </a:cubicBezTo>
                <a:lnTo>
                  <a:pt x="3850" y="15929"/>
                </a:lnTo>
                <a:cubicBezTo>
                  <a:pt x="3850" y="15895"/>
                  <a:pt x="3888" y="15866"/>
                  <a:pt x="3933" y="15866"/>
                </a:cubicBezTo>
                <a:close/>
              </a:path>
            </a:pathLst>
          </a:cu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322" name="Google Shape;322;p41"/>
          <p:cNvSpPr txBox="1">
            <a:spLocks noGrp="1"/>
          </p:cNvSpPr>
          <p:nvPr>
            <p:ph type="title"/>
          </p:nvPr>
        </p:nvSpPr>
        <p:spPr>
          <a:xfrm>
            <a:off x="1206500" y="1079500"/>
            <a:ext cx="23151600" cy="1433100"/>
          </a:xfrm>
          <a:prstGeom prst="rect">
            <a:avLst/>
          </a:prstGeom>
          <a:noFill/>
          <a:ln>
            <a:noFill/>
          </a:ln>
        </p:spPr>
        <p:txBody>
          <a:bodyPr spcFirstLastPara="1" wrap="square" lIns="50800" tIns="50800" rIns="50800" bIns="50800" anchor="t" anchorCtr="0">
            <a:normAutofit fontScale="90000"/>
          </a:bodyPr>
          <a:lstStyle/>
          <a:p>
            <a:pPr marL="0" marR="0" lvl="0" indent="0" algn="l" rtl="0">
              <a:lnSpc>
                <a:spcPct val="80000"/>
              </a:lnSpc>
              <a:spcBef>
                <a:spcPts val="0"/>
              </a:spcBef>
              <a:spcAft>
                <a:spcPts val="0"/>
              </a:spcAft>
              <a:buClr>
                <a:srgbClr val="000000"/>
              </a:buClr>
              <a:buSzPts val="7565"/>
              <a:buFont typeface="Avenir"/>
              <a:buNone/>
            </a:pPr>
            <a:r>
              <a:rPr lang="en-US" sz="7565" b="0">
                <a:latin typeface="Avenir"/>
                <a:ea typeface="Avenir"/>
                <a:cs typeface="Avenir"/>
                <a:sym typeface="Avenir"/>
              </a:rPr>
              <a:t>Basics on inferential statistics and hypothesis testing</a:t>
            </a:r>
            <a:endParaRPr/>
          </a:p>
        </p:txBody>
      </p:sp>
      <p:sp>
        <p:nvSpPr>
          <p:cNvPr id="323" name="Google Shape;323;p41"/>
          <p:cNvSpPr txBox="1"/>
          <p:nvPr/>
        </p:nvSpPr>
        <p:spPr>
          <a:xfrm>
            <a:off x="20205878" y="13347769"/>
            <a:ext cx="4152291" cy="419101"/>
          </a:xfrm>
          <a:prstGeom prst="rect">
            <a:avLst/>
          </a:prstGeom>
          <a:noFill/>
          <a:ln>
            <a:noFill/>
          </a:ln>
        </p:spPr>
        <p:txBody>
          <a:bodyPr spcFirstLastPara="1" wrap="square" lIns="50800" tIns="50800" rIns="50800" bIns="50800" anchor="ctr" anchorCtr="0">
            <a:spAutoFit/>
          </a:bodyPr>
          <a:lstStyle/>
          <a:p>
            <a:pPr marL="0" marR="0" lvl="0" indent="0" algn="r" rtl="0">
              <a:lnSpc>
                <a:spcPct val="100000"/>
              </a:lnSpc>
              <a:spcBef>
                <a:spcPts val="0"/>
              </a:spcBef>
              <a:spcAft>
                <a:spcPts val="0"/>
              </a:spcAft>
              <a:buClr>
                <a:srgbClr val="5E5E5E"/>
              </a:buClr>
              <a:buSzPts val="1800"/>
              <a:buFont typeface="Avenir"/>
              <a:buNone/>
            </a:pPr>
            <a:r>
              <a:rPr lang="en-US" sz="1800" b="0" i="0" u="none" strike="noStrike" cap="none">
                <a:solidFill>
                  <a:srgbClr val="5E5E5E"/>
                </a:solidFill>
                <a:latin typeface="Avenir"/>
                <a:ea typeface="Avenir"/>
                <a:cs typeface="Avenir"/>
                <a:sym typeface="Avenir"/>
              </a:rPr>
              <a:t>Slide content adapted from Matt Castle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327"/>
        <p:cNvGrpSpPr/>
        <p:nvPr/>
      </p:nvGrpSpPr>
      <p:grpSpPr>
        <a:xfrm>
          <a:off x="0" y="0"/>
          <a:ext cx="0" cy="0"/>
          <a:chOff x="0" y="0"/>
          <a:chExt cx="0" cy="0"/>
        </a:xfrm>
      </p:grpSpPr>
      <p:pic>
        <p:nvPicPr>
          <p:cNvPr id="328" name="Google Shape;328;p42" descr="Image"/>
          <p:cNvPicPr preferRelativeResize="0"/>
          <p:nvPr/>
        </p:nvPicPr>
        <p:blipFill rotWithShape="1">
          <a:blip r:embed="rId3">
            <a:alphaModFix amt="21282"/>
          </a:blip>
          <a:srcRect l="10442" t="544" r="10447" b="547"/>
          <a:stretch/>
        </p:blipFill>
        <p:spPr>
          <a:xfrm>
            <a:off x="4060174" y="3585216"/>
            <a:ext cx="6545509" cy="6545386"/>
          </a:xfrm>
          <a:custGeom>
            <a:avLst/>
            <a:gdLst/>
            <a:ahLst/>
            <a:cxnLst/>
            <a:rect l="l" t="t" r="r" b="b"/>
            <a:pathLst>
              <a:path w="19679" h="20595" extrusionOk="0">
                <a:moveTo>
                  <a:pt x="9839" y="0"/>
                </a:moveTo>
                <a:cubicBezTo>
                  <a:pt x="7321" y="0"/>
                  <a:pt x="4803" y="1005"/>
                  <a:pt x="2882" y="3016"/>
                </a:cubicBezTo>
                <a:cubicBezTo>
                  <a:pt x="-961" y="7037"/>
                  <a:pt x="-961" y="13557"/>
                  <a:pt x="2882" y="17579"/>
                </a:cubicBezTo>
                <a:cubicBezTo>
                  <a:pt x="6724" y="21600"/>
                  <a:pt x="12954" y="21600"/>
                  <a:pt x="16796" y="17579"/>
                </a:cubicBezTo>
                <a:cubicBezTo>
                  <a:pt x="20639" y="13557"/>
                  <a:pt x="20639" y="7037"/>
                  <a:pt x="16796" y="3016"/>
                </a:cubicBezTo>
                <a:cubicBezTo>
                  <a:pt x="14875" y="1005"/>
                  <a:pt x="12357" y="0"/>
                  <a:pt x="9839" y="0"/>
                </a:cubicBezTo>
                <a:close/>
              </a:path>
            </a:pathLst>
          </a:custGeom>
          <a:noFill/>
          <a:ln w="12700" cap="flat" cmpd="sng">
            <a:solidFill>
              <a:srgbClr val="000000"/>
            </a:solidFill>
            <a:prstDash val="solid"/>
            <a:miter lim="400000"/>
            <a:headEnd type="none" w="sm" len="sm"/>
            <a:tailEnd type="none" w="sm" len="sm"/>
          </a:ln>
        </p:spPr>
      </p:pic>
      <p:grpSp>
        <p:nvGrpSpPr>
          <p:cNvPr id="329" name="Google Shape;329;p42"/>
          <p:cNvGrpSpPr/>
          <p:nvPr/>
        </p:nvGrpSpPr>
        <p:grpSpPr>
          <a:xfrm>
            <a:off x="16470044" y="6320082"/>
            <a:ext cx="3726655" cy="3726656"/>
            <a:chOff x="0" y="0"/>
            <a:chExt cx="3726654" cy="3726654"/>
          </a:xfrm>
        </p:grpSpPr>
        <p:sp>
          <p:nvSpPr>
            <p:cNvPr id="330" name="Google Shape;330;p42"/>
            <p:cNvSpPr/>
            <p:nvPr/>
          </p:nvSpPr>
          <p:spPr>
            <a:xfrm>
              <a:off x="0" y="0"/>
              <a:ext cx="3726654" cy="3726654"/>
            </a:xfrm>
            <a:prstGeom prst="ellipse">
              <a:avLst/>
            </a:prstGeom>
            <a:noFill/>
            <a:ln w="12700" cap="flat" cmpd="sng">
              <a:solidFill>
                <a:srgbClr val="000000">
                  <a:alpha val="49803"/>
                </a:srgbClr>
              </a:solidFill>
              <a:prstDash val="solid"/>
              <a:miter lim="400000"/>
              <a:headEnd type="none" w="sm" len="sm"/>
              <a:tailEnd type="none" w="sm" len="sm"/>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331" name="Google Shape;331;p42"/>
            <p:cNvSpPr/>
            <p:nvPr/>
          </p:nvSpPr>
          <p:spPr>
            <a:xfrm>
              <a:off x="1089917" y="638276"/>
              <a:ext cx="591118" cy="588440"/>
            </a:xfrm>
            <a:prstGeom prst="ellipse">
              <a:avLst/>
            </a:prstGeom>
            <a:solidFill>
              <a:srgbClr val="ED469A">
                <a:alpha val="4980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332" name="Google Shape;332;p42"/>
            <p:cNvSpPr/>
            <p:nvPr/>
          </p:nvSpPr>
          <p:spPr>
            <a:xfrm>
              <a:off x="2139205" y="411749"/>
              <a:ext cx="591118" cy="588441"/>
            </a:xfrm>
            <a:prstGeom prst="ellipse">
              <a:avLst/>
            </a:prstGeom>
            <a:solidFill>
              <a:srgbClr val="F6A631">
                <a:alpha val="4980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333" name="Google Shape;333;p42"/>
            <p:cNvSpPr/>
            <p:nvPr/>
          </p:nvSpPr>
          <p:spPr>
            <a:xfrm>
              <a:off x="510243" y="1762206"/>
              <a:ext cx="591117" cy="588441"/>
            </a:xfrm>
            <a:prstGeom prst="ellipse">
              <a:avLst/>
            </a:prstGeom>
            <a:solidFill>
              <a:srgbClr val="EE2B5C">
                <a:alpha val="4980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334" name="Google Shape;334;p42"/>
            <p:cNvSpPr/>
            <p:nvPr/>
          </p:nvSpPr>
          <p:spPr>
            <a:xfrm>
              <a:off x="2576079" y="1189968"/>
              <a:ext cx="591118" cy="588441"/>
            </a:xfrm>
            <a:prstGeom prst="ellipse">
              <a:avLst/>
            </a:prstGeom>
            <a:solidFill>
              <a:srgbClr val="9B5DA4">
                <a:alpha val="4980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335" name="Google Shape;335;p42"/>
            <p:cNvSpPr/>
            <p:nvPr/>
          </p:nvSpPr>
          <p:spPr>
            <a:xfrm>
              <a:off x="1246835" y="2736510"/>
              <a:ext cx="591117" cy="588440"/>
            </a:xfrm>
            <a:prstGeom prst="ellipse">
              <a:avLst/>
            </a:prstGeom>
            <a:solidFill>
              <a:srgbClr val="FACD09">
                <a:alpha val="4980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336" name="Google Shape;336;p42"/>
            <p:cNvSpPr/>
            <p:nvPr/>
          </p:nvSpPr>
          <p:spPr>
            <a:xfrm>
              <a:off x="2897244" y="2148094"/>
              <a:ext cx="591118" cy="588441"/>
            </a:xfrm>
            <a:prstGeom prst="ellipse">
              <a:avLst/>
            </a:prstGeom>
            <a:solidFill>
              <a:srgbClr val="ABD9D6">
                <a:alpha val="4980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337" name="Google Shape;337;p42"/>
            <p:cNvSpPr/>
            <p:nvPr/>
          </p:nvSpPr>
          <p:spPr>
            <a:xfrm>
              <a:off x="1891610" y="1320967"/>
              <a:ext cx="591117" cy="588441"/>
            </a:xfrm>
            <a:prstGeom prst="ellipse">
              <a:avLst/>
            </a:prstGeom>
            <a:solidFill>
              <a:srgbClr val="43C4BA">
                <a:alpha val="4980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338" name="Google Shape;338;p42"/>
            <p:cNvSpPr/>
            <p:nvPr/>
          </p:nvSpPr>
          <p:spPr>
            <a:xfrm>
              <a:off x="273561" y="1064002"/>
              <a:ext cx="591117" cy="588440"/>
            </a:xfrm>
            <a:prstGeom prst="ellipse">
              <a:avLst/>
            </a:prstGeom>
            <a:solidFill>
              <a:srgbClr val="43C4BA">
                <a:alpha val="4980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339" name="Google Shape;339;p42"/>
            <p:cNvSpPr/>
            <p:nvPr/>
          </p:nvSpPr>
          <p:spPr>
            <a:xfrm>
              <a:off x="2101577" y="2391991"/>
              <a:ext cx="591117" cy="588441"/>
            </a:xfrm>
            <a:prstGeom prst="ellipse">
              <a:avLst/>
            </a:prstGeom>
            <a:solidFill>
              <a:srgbClr val="EE2B5C">
                <a:alpha val="4980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340" name="Google Shape;340;p42"/>
            <p:cNvSpPr/>
            <p:nvPr/>
          </p:nvSpPr>
          <p:spPr>
            <a:xfrm>
              <a:off x="1305910" y="1968188"/>
              <a:ext cx="591118" cy="588440"/>
            </a:xfrm>
            <a:prstGeom prst="ellipse">
              <a:avLst/>
            </a:prstGeom>
            <a:solidFill>
              <a:srgbClr val="9B5DA4">
                <a:alpha val="4980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grpSp>
      <p:pic>
        <p:nvPicPr>
          <p:cNvPr id="341" name="Google Shape;341;p42" descr="Image"/>
          <p:cNvPicPr preferRelativeResize="0"/>
          <p:nvPr/>
        </p:nvPicPr>
        <p:blipFill rotWithShape="1">
          <a:blip r:embed="rId4">
            <a:alphaModFix/>
          </a:blip>
          <a:srcRect/>
          <a:stretch/>
        </p:blipFill>
        <p:spPr>
          <a:xfrm>
            <a:off x="3099647" y="3146333"/>
            <a:ext cx="8629752" cy="7423334"/>
          </a:xfrm>
          <a:prstGeom prst="rect">
            <a:avLst/>
          </a:prstGeom>
          <a:noFill/>
          <a:ln>
            <a:noFill/>
          </a:ln>
        </p:spPr>
      </p:pic>
      <p:sp>
        <p:nvSpPr>
          <p:cNvPr id="342" name="Google Shape;342;p42"/>
          <p:cNvSpPr txBox="1"/>
          <p:nvPr/>
        </p:nvSpPr>
        <p:spPr>
          <a:xfrm>
            <a:off x="4809280" y="5251450"/>
            <a:ext cx="5047602" cy="32131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Null Hypothesis (H</a:t>
            </a:r>
            <a:r>
              <a:rPr lang="en-US" sz="3600" b="0" i="0" u="none" strike="noStrike" cap="none" baseline="-25000">
                <a:solidFill>
                  <a:srgbClr val="5E5E5E"/>
                </a:solidFill>
                <a:latin typeface="Avenir"/>
                <a:ea typeface="Avenir"/>
                <a:cs typeface="Avenir"/>
                <a:sym typeface="Avenir"/>
              </a:rPr>
              <a:t>0</a:t>
            </a:r>
            <a:r>
              <a:rPr lang="en-US" sz="3600" b="0" i="0" u="none" strike="noStrike" cap="none">
                <a:solidFill>
                  <a:srgbClr val="5E5E5E"/>
                </a:solidFill>
                <a:latin typeface="Avenir"/>
                <a:ea typeface="Avenir"/>
                <a:cs typeface="Avenir"/>
                <a:sym typeface="Avenir"/>
              </a:rPr>
              <a:t>)</a:t>
            </a:r>
            <a:endParaRPr/>
          </a:p>
          <a:p>
            <a:pPr marL="0" marR="0" lvl="0" indent="0" algn="ctr"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Assumption about the population distribution and its parameters (mean, variance, etc)</a:t>
            </a:r>
            <a:endParaRPr/>
          </a:p>
        </p:txBody>
      </p:sp>
      <p:sp>
        <p:nvSpPr>
          <p:cNvPr id="343" name="Google Shape;343;p42"/>
          <p:cNvSpPr/>
          <p:nvPr/>
        </p:nvSpPr>
        <p:spPr>
          <a:xfrm>
            <a:off x="17535748" y="7150501"/>
            <a:ext cx="1595243" cy="2065817"/>
          </a:xfrm>
          <a:custGeom>
            <a:avLst/>
            <a:gdLst/>
            <a:ahLst/>
            <a:cxnLst/>
            <a:rect l="l" t="t" r="r" b="b"/>
            <a:pathLst>
              <a:path w="21599" h="21600" extrusionOk="0">
                <a:moveTo>
                  <a:pt x="213" y="0"/>
                </a:moveTo>
                <a:cubicBezTo>
                  <a:pt x="96" y="0"/>
                  <a:pt x="0" y="72"/>
                  <a:pt x="0" y="162"/>
                </a:cubicBezTo>
                <a:lnTo>
                  <a:pt x="0" y="21438"/>
                </a:lnTo>
                <a:cubicBezTo>
                  <a:pt x="0" y="21528"/>
                  <a:pt x="96" y="21600"/>
                  <a:pt x="213" y="21600"/>
                </a:cubicBezTo>
                <a:lnTo>
                  <a:pt x="21387" y="21600"/>
                </a:lnTo>
                <a:cubicBezTo>
                  <a:pt x="21503" y="21600"/>
                  <a:pt x="21599" y="21528"/>
                  <a:pt x="21599" y="21438"/>
                </a:cubicBezTo>
                <a:lnTo>
                  <a:pt x="21599" y="5895"/>
                </a:lnTo>
                <a:cubicBezTo>
                  <a:pt x="21600" y="5863"/>
                  <a:pt x="21565" y="5837"/>
                  <a:pt x="21524" y="5837"/>
                </a:cubicBezTo>
                <a:lnTo>
                  <a:pt x="14256" y="5837"/>
                </a:lnTo>
                <a:cubicBezTo>
                  <a:pt x="14139" y="5837"/>
                  <a:pt x="14043" y="5765"/>
                  <a:pt x="14043" y="5674"/>
                </a:cubicBezTo>
                <a:lnTo>
                  <a:pt x="14043" y="58"/>
                </a:lnTo>
                <a:cubicBezTo>
                  <a:pt x="14043" y="26"/>
                  <a:pt x="14009" y="0"/>
                  <a:pt x="13968" y="0"/>
                </a:cubicBezTo>
                <a:lnTo>
                  <a:pt x="213" y="0"/>
                </a:lnTo>
                <a:close/>
                <a:moveTo>
                  <a:pt x="15017" y="86"/>
                </a:moveTo>
                <a:cubicBezTo>
                  <a:pt x="14991" y="94"/>
                  <a:pt x="14972" y="114"/>
                  <a:pt x="14972" y="140"/>
                </a:cubicBezTo>
                <a:lnTo>
                  <a:pt x="14972" y="4958"/>
                </a:lnTo>
                <a:cubicBezTo>
                  <a:pt x="14972" y="5048"/>
                  <a:pt x="15067" y="5120"/>
                  <a:pt x="15184" y="5120"/>
                </a:cubicBezTo>
                <a:lnTo>
                  <a:pt x="21418" y="5120"/>
                </a:lnTo>
                <a:cubicBezTo>
                  <a:pt x="21485" y="5120"/>
                  <a:pt x="21518" y="5058"/>
                  <a:pt x="21471" y="5021"/>
                </a:cubicBezTo>
                <a:lnTo>
                  <a:pt x="15100" y="99"/>
                </a:lnTo>
                <a:cubicBezTo>
                  <a:pt x="15076" y="81"/>
                  <a:pt x="15044" y="78"/>
                  <a:pt x="15017" y="86"/>
                </a:cubicBezTo>
                <a:close/>
                <a:moveTo>
                  <a:pt x="9656" y="7345"/>
                </a:moveTo>
                <a:lnTo>
                  <a:pt x="11938" y="7345"/>
                </a:lnTo>
                <a:cubicBezTo>
                  <a:pt x="11983" y="7345"/>
                  <a:pt x="12018" y="7374"/>
                  <a:pt x="12018" y="7408"/>
                </a:cubicBezTo>
                <a:lnTo>
                  <a:pt x="12018" y="15086"/>
                </a:lnTo>
                <a:cubicBezTo>
                  <a:pt x="12018" y="15120"/>
                  <a:pt x="11983" y="15149"/>
                  <a:pt x="11938" y="15149"/>
                </a:cubicBezTo>
                <a:lnTo>
                  <a:pt x="9656" y="15149"/>
                </a:lnTo>
                <a:cubicBezTo>
                  <a:pt x="9611" y="15149"/>
                  <a:pt x="9574" y="15120"/>
                  <a:pt x="9574" y="15086"/>
                </a:cubicBezTo>
                <a:lnTo>
                  <a:pt x="9574" y="7408"/>
                </a:lnTo>
                <a:cubicBezTo>
                  <a:pt x="9574" y="7374"/>
                  <a:pt x="9611" y="7345"/>
                  <a:pt x="9656" y="7345"/>
                </a:cubicBezTo>
                <a:close/>
                <a:moveTo>
                  <a:pt x="13164" y="9590"/>
                </a:moveTo>
                <a:lnTo>
                  <a:pt x="15445" y="9590"/>
                </a:lnTo>
                <a:cubicBezTo>
                  <a:pt x="15490" y="9590"/>
                  <a:pt x="15527" y="9617"/>
                  <a:pt x="15527" y="9652"/>
                </a:cubicBezTo>
                <a:lnTo>
                  <a:pt x="15527" y="15088"/>
                </a:lnTo>
                <a:cubicBezTo>
                  <a:pt x="15527" y="15122"/>
                  <a:pt x="15490" y="15149"/>
                  <a:pt x="15445" y="15149"/>
                </a:cubicBezTo>
                <a:lnTo>
                  <a:pt x="13164" y="15149"/>
                </a:lnTo>
                <a:cubicBezTo>
                  <a:pt x="13119" y="15149"/>
                  <a:pt x="13084" y="15122"/>
                  <a:pt x="13084" y="15088"/>
                </a:cubicBezTo>
                <a:lnTo>
                  <a:pt x="13084" y="9652"/>
                </a:lnTo>
                <a:cubicBezTo>
                  <a:pt x="13084" y="9617"/>
                  <a:pt x="13119" y="9590"/>
                  <a:pt x="13164" y="9590"/>
                </a:cubicBezTo>
                <a:close/>
                <a:moveTo>
                  <a:pt x="6147" y="11440"/>
                </a:moveTo>
                <a:lnTo>
                  <a:pt x="8428" y="11440"/>
                </a:lnTo>
                <a:cubicBezTo>
                  <a:pt x="8473" y="11440"/>
                  <a:pt x="8511" y="11467"/>
                  <a:pt x="8511" y="11502"/>
                </a:cubicBezTo>
                <a:lnTo>
                  <a:pt x="8511" y="15086"/>
                </a:lnTo>
                <a:cubicBezTo>
                  <a:pt x="8511" y="15120"/>
                  <a:pt x="8473" y="15149"/>
                  <a:pt x="8428" y="15149"/>
                </a:cubicBezTo>
                <a:lnTo>
                  <a:pt x="6147" y="15149"/>
                </a:lnTo>
                <a:cubicBezTo>
                  <a:pt x="6102" y="15149"/>
                  <a:pt x="6067" y="15120"/>
                  <a:pt x="6067" y="15086"/>
                </a:cubicBezTo>
                <a:lnTo>
                  <a:pt x="6067" y="11502"/>
                </a:lnTo>
                <a:cubicBezTo>
                  <a:pt x="6067" y="11467"/>
                  <a:pt x="6102" y="11440"/>
                  <a:pt x="6147" y="11440"/>
                </a:cubicBezTo>
                <a:close/>
                <a:moveTo>
                  <a:pt x="3933" y="15866"/>
                </a:moveTo>
                <a:lnTo>
                  <a:pt x="17662" y="15866"/>
                </a:lnTo>
                <a:cubicBezTo>
                  <a:pt x="17707" y="15866"/>
                  <a:pt x="17742" y="15895"/>
                  <a:pt x="17742" y="15929"/>
                </a:cubicBezTo>
                <a:lnTo>
                  <a:pt x="17746" y="16878"/>
                </a:lnTo>
                <a:cubicBezTo>
                  <a:pt x="17746" y="16913"/>
                  <a:pt x="17709" y="16941"/>
                  <a:pt x="17664" y="16941"/>
                </a:cubicBezTo>
                <a:lnTo>
                  <a:pt x="3935" y="16941"/>
                </a:lnTo>
                <a:cubicBezTo>
                  <a:pt x="3890" y="16941"/>
                  <a:pt x="3853" y="16912"/>
                  <a:pt x="3853" y="16878"/>
                </a:cubicBezTo>
                <a:lnTo>
                  <a:pt x="3850" y="15929"/>
                </a:lnTo>
                <a:cubicBezTo>
                  <a:pt x="3850" y="15895"/>
                  <a:pt x="3888" y="15866"/>
                  <a:pt x="3933" y="15866"/>
                </a:cubicBezTo>
                <a:close/>
              </a:path>
            </a:pathLst>
          </a:cu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344" name="Google Shape;344;p42"/>
          <p:cNvSpPr txBox="1"/>
          <p:nvPr/>
        </p:nvSpPr>
        <p:spPr>
          <a:xfrm>
            <a:off x="11288169" y="11573061"/>
            <a:ext cx="3089962" cy="11430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Choose test </a:t>
            </a:r>
            <a:endParaRPr/>
          </a:p>
          <a:p>
            <a:pPr marL="0" marR="0" lvl="0" indent="0" algn="ctr"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Based on data and H</a:t>
            </a:r>
            <a:r>
              <a:rPr lang="en-US" sz="2400" b="0" i="0" u="none" strike="noStrike" cap="none" baseline="-25000">
                <a:solidFill>
                  <a:srgbClr val="5E5E5E"/>
                </a:solidFill>
                <a:latin typeface="Avenir"/>
                <a:ea typeface="Avenir"/>
                <a:cs typeface="Avenir"/>
                <a:sym typeface="Avenir"/>
              </a:rPr>
              <a:t>0</a:t>
            </a:r>
            <a:endParaRPr/>
          </a:p>
        </p:txBody>
      </p:sp>
      <p:grpSp>
        <p:nvGrpSpPr>
          <p:cNvPr id="345" name="Google Shape;345;p42"/>
          <p:cNvGrpSpPr/>
          <p:nvPr/>
        </p:nvGrpSpPr>
        <p:grpSpPr>
          <a:xfrm>
            <a:off x="7332927" y="10593034"/>
            <a:ext cx="11000447" cy="917915"/>
            <a:chOff x="-1" y="0"/>
            <a:chExt cx="11000444" cy="917914"/>
          </a:xfrm>
        </p:grpSpPr>
        <p:cxnSp>
          <p:nvCxnSpPr>
            <p:cNvPr id="346" name="Google Shape;346;p42"/>
            <p:cNvCxnSpPr/>
            <p:nvPr/>
          </p:nvCxnSpPr>
          <p:spPr>
            <a:xfrm>
              <a:off x="2784" y="454180"/>
              <a:ext cx="10994873" cy="1"/>
            </a:xfrm>
            <a:prstGeom prst="straightConnector1">
              <a:avLst/>
            </a:prstGeom>
            <a:noFill/>
            <a:ln w="50800" cap="flat" cmpd="sng">
              <a:solidFill>
                <a:srgbClr val="000000"/>
              </a:solidFill>
              <a:prstDash val="solid"/>
              <a:miter lim="400000"/>
              <a:headEnd type="none" w="sm" len="sm"/>
              <a:tailEnd type="none" w="sm" len="sm"/>
            </a:ln>
          </p:spPr>
        </p:cxnSp>
        <p:cxnSp>
          <p:nvCxnSpPr>
            <p:cNvPr id="347" name="Google Shape;347;p42"/>
            <p:cNvCxnSpPr/>
            <p:nvPr/>
          </p:nvCxnSpPr>
          <p:spPr>
            <a:xfrm rot="10800000" flipH="1">
              <a:off x="-1" y="0"/>
              <a:ext cx="2" cy="486074"/>
            </a:xfrm>
            <a:prstGeom prst="straightConnector1">
              <a:avLst/>
            </a:prstGeom>
            <a:noFill/>
            <a:ln w="50800" cap="flat" cmpd="sng">
              <a:solidFill>
                <a:srgbClr val="000000"/>
              </a:solidFill>
              <a:prstDash val="solid"/>
              <a:miter lim="400000"/>
              <a:headEnd type="none" w="sm" len="sm"/>
              <a:tailEnd type="none" w="sm" len="sm"/>
            </a:ln>
          </p:spPr>
        </p:cxnSp>
        <p:cxnSp>
          <p:nvCxnSpPr>
            <p:cNvPr id="348" name="Google Shape;348;p42"/>
            <p:cNvCxnSpPr/>
            <p:nvPr/>
          </p:nvCxnSpPr>
          <p:spPr>
            <a:xfrm rot="10800000" flipH="1">
              <a:off x="11000442" y="0"/>
              <a:ext cx="1" cy="486074"/>
            </a:xfrm>
            <a:prstGeom prst="straightConnector1">
              <a:avLst/>
            </a:prstGeom>
            <a:noFill/>
            <a:ln w="50800" cap="flat" cmpd="sng">
              <a:solidFill>
                <a:srgbClr val="000000"/>
              </a:solidFill>
              <a:prstDash val="solid"/>
              <a:miter lim="400000"/>
              <a:headEnd type="none" w="sm" len="sm"/>
              <a:tailEnd type="none" w="sm" len="sm"/>
            </a:ln>
          </p:spPr>
        </p:cxnSp>
        <p:cxnSp>
          <p:nvCxnSpPr>
            <p:cNvPr id="349" name="Google Shape;349;p42"/>
            <p:cNvCxnSpPr/>
            <p:nvPr/>
          </p:nvCxnSpPr>
          <p:spPr>
            <a:xfrm rot="10800000" flipH="1">
              <a:off x="5500221" y="431840"/>
              <a:ext cx="1" cy="486074"/>
            </a:xfrm>
            <a:prstGeom prst="straightConnector1">
              <a:avLst/>
            </a:prstGeom>
            <a:noFill/>
            <a:ln w="50800" cap="flat" cmpd="sng">
              <a:solidFill>
                <a:srgbClr val="000000"/>
              </a:solidFill>
              <a:prstDash val="solid"/>
              <a:miter lim="400000"/>
              <a:headEnd type="triangle" w="med" len="med"/>
              <a:tailEnd type="none" w="sm" len="sm"/>
            </a:ln>
          </p:spPr>
        </p:cxnSp>
      </p:grpSp>
      <p:sp>
        <p:nvSpPr>
          <p:cNvPr id="350" name="Google Shape;350;p42"/>
          <p:cNvSpPr txBox="1"/>
          <p:nvPr/>
        </p:nvSpPr>
        <p:spPr>
          <a:xfrm>
            <a:off x="8845908" y="13023995"/>
            <a:ext cx="7974484" cy="7239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Calculate test statistic, interpret results</a:t>
            </a:r>
            <a:endParaRPr/>
          </a:p>
        </p:txBody>
      </p:sp>
      <p:cxnSp>
        <p:nvCxnSpPr>
          <p:cNvPr id="351" name="Google Shape;351;p42"/>
          <p:cNvCxnSpPr/>
          <p:nvPr/>
        </p:nvCxnSpPr>
        <p:spPr>
          <a:xfrm rot="10800000" flipH="1">
            <a:off x="12833149" y="12680795"/>
            <a:ext cx="1" cy="486074"/>
          </a:xfrm>
          <a:prstGeom prst="straightConnector1">
            <a:avLst/>
          </a:prstGeom>
          <a:noFill/>
          <a:ln w="50800" cap="flat" cmpd="sng">
            <a:solidFill>
              <a:srgbClr val="000000"/>
            </a:solidFill>
            <a:prstDash val="solid"/>
            <a:miter lim="400000"/>
            <a:headEnd type="triangle" w="med" len="med"/>
            <a:tailEnd type="none" w="sm" len="sm"/>
          </a:ln>
        </p:spPr>
      </p:cxnSp>
      <p:sp>
        <p:nvSpPr>
          <p:cNvPr id="352" name="Google Shape;352;p42"/>
          <p:cNvSpPr txBox="1"/>
          <p:nvPr/>
        </p:nvSpPr>
        <p:spPr>
          <a:xfrm>
            <a:off x="20205878" y="13347769"/>
            <a:ext cx="4152291" cy="419101"/>
          </a:xfrm>
          <a:prstGeom prst="rect">
            <a:avLst/>
          </a:prstGeom>
          <a:noFill/>
          <a:ln>
            <a:noFill/>
          </a:ln>
        </p:spPr>
        <p:txBody>
          <a:bodyPr spcFirstLastPara="1" wrap="square" lIns="50800" tIns="50800" rIns="50800" bIns="50800" anchor="ctr" anchorCtr="0">
            <a:spAutoFit/>
          </a:bodyPr>
          <a:lstStyle/>
          <a:p>
            <a:pPr marL="0" marR="0" lvl="0" indent="0" algn="r" rtl="0">
              <a:lnSpc>
                <a:spcPct val="100000"/>
              </a:lnSpc>
              <a:spcBef>
                <a:spcPts val="0"/>
              </a:spcBef>
              <a:spcAft>
                <a:spcPts val="0"/>
              </a:spcAft>
              <a:buClr>
                <a:srgbClr val="5E5E5E"/>
              </a:buClr>
              <a:buSzPts val="1800"/>
              <a:buFont typeface="Avenir"/>
              <a:buNone/>
            </a:pPr>
            <a:r>
              <a:rPr lang="en-US" sz="1800" b="0" i="0" u="none" strike="noStrike" cap="none">
                <a:solidFill>
                  <a:srgbClr val="5E5E5E"/>
                </a:solidFill>
                <a:latin typeface="Avenir"/>
                <a:ea typeface="Avenir"/>
                <a:cs typeface="Avenir"/>
                <a:sym typeface="Avenir"/>
              </a:rPr>
              <a:t>Slide content adapted from Matt Castle</a:t>
            </a:r>
            <a:endParaRPr/>
          </a:p>
        </p:txBody>
      </p:sp>
      <p:sp>
        <p:nvSpPr>
          <p:cNvPr id="353" name="Google Shape;353;p42"/>
          <p:cNvSpPr txBox="1">
            <a:spLocks noGrp="1"/>
          </p:cNvSpPr>
          <p:nvPr>
            <p:ph type="title"/>
          </p:nvPr>
        </p:nvSpPr>
        <p:spPr>
          <a:xfrm>
            <a:off x="1206500" y="1079500"/>
            <a:ext cx="23151600" cy="1433100"/>
          </a:xfrm>
          <a:prstGeom prst="rect">
            <a:avLst/>
          </a:prstGeom>
          <a:noFill/>
          <a:ln>
            <a:noFill/>
          </a:ln>
        </p:spPr>
        <p:txBody>
          <a:bodyPr spcFirstLastPara="1" wrap="square" lIns="50800" tIns="50800" rIns="50800" bIns="50800" anchor="t" anchorCtr="0">
            <a:normAutofit fontScale="90000"/>
          </a:bodyPr>
          <a:lstStyle/>
          <a:p>
            <a:pPr marL="0" marR="0" lvl="0" indent="0" algn="l" rtl="0">
              <a:lnSpc>
                <a:spcPct val="80000"/>
              </a:lnSpc>
              <a:spcBef>
                <a:spcPts val="0"/>
              </a:spcBef>
              <a:spcAft>
                <a:spcPts val="0"/>
              </a:spcAft>
              <a:buClr>
                <a:srgbClr val="000000"/>
              </a:buClr>
              <a:buSzPts val="7565"/>
              <a:buFont typeface="Avenir"/>
              <a:buNone/>
            </a:pPr>
            <a:r>
              <a:rPr lang="en-US" sz="7565" b="0">
                <a:latin typeface="Avenir"/>
                <a:ea typeface="Avenir"/>
                <a:cs typeface="Avenir"/>
                <a:sym typeface="Avenir"/>
              </a:rPr>
              <a:t>Basics on inferential statistics and hypothesis testing</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357"/>
        <p:cNvGrpSpPr/>
        <p:nvPr/>
      </p:nvGrpSpPr>
      <p:grpSpPr>
        <a:xfrm>
          <a:off x="0" y="0"/>
          <a:ext cx="0" cy="0"/>
          <a:chOff x="0" y="0"/>
          <a:chExt cx="0" cy="0"/>
        </a:xfrm>
      </p:grpSpPr>
      <p:sp>
        <p:nvSpPr>
          <p:cNvPr id="358" name="Google Shape;358;p43"/>
          <p:cNvSpPr txBox="1">
            <a:spLocks noGrp="1"/>
          </p:cNvSpPr>
          <p:nvPr>
            <p:ph type="title"/>
          </p:nvPr>
        </p:nvSpPr>
        <p:spPr>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a:latin typeface="Avenir"/>
                <a:ea typeface="Avenir"/>
                <a:cs typeface="Avenir"/>
                <a:sym typeface="Avenir"/>
              </a:rPr>
              <a:t>A simple example</a:t>
            </a:r>
            <a:endParaRPr/>
          </a:p>
        </p:txBody>
      </p:sp>
      <p:sp>
        <p:nvSpPr>
          <p:cNvPr id="359" name="Google Shape;359;p43"/>
          <p:cNvSpPr txBox="1"/>
          <p:nvPr/>
        </p:nvSpPr>
        <p:spPr>
          <a:xfrm>
            <a:off x="1206500" y="2754183"/>
            <a:ext cx="9592134" cy="3759201"/>
          </a:xfrm>
          <a:prstGeom prst="rect">
            <a:avLst/>
          </a:prstGeom>
          <a:noFill/>
          <a:ln>
            <a:noFill/>
          </a:ln>
        </p:spPr>
        <p:txBody>
          <a:bodyPr spcFirstLastPara="1" wrap="square" lIns="50800" tIns="50800" rIns="50800" bIns="50800" anchor="ctr" anchorCtr="0">
            <a:spAutoFit/>
          </a:bodyPr>
          <a:lstStyle/>
          <a:p>
            <a:pPr marL="0" marR="0" lvl="0" indent="0" algn="just" rtl="0">
              <a:lnSpc>
                <a:spcPct val="100000"/>
              </a:lnSpc>
              <a:spcBef>
                <a:spcPts val="0"/>
              </a:spcBef>
              <a:spcAft>
                <a:spcPts val="0"/>
              </a:spcAft>
              <a:buClr>
                <a:srgbClr val="5E5E5E"/>
              </a:buClr>
              <a:buSzPts val="2600"/>
              <a:buFont typeface="Avenir"/>
              <a:buNone/>
            </a:pPr>
            <a:r>
              <a:rPr lang="en-US" sz="2600" b="0" i="0" u="none" strike="noStrike" cap="none">
                <a:solidFill>
                  <a:srgbClr val="5E5E5E"/>
                </a:solidFill>
                <a:latin typeface="Avenir"/>
                <a:ea typeface="Avenir"/>
                <a:cs typeface="Avenir"/>
                <a:sym typeface="Avenir"/>
              </a:rPr>
              <a:t>A neurologist is testing the effect of a drug on response time by injecting 100 rats with a unit dose of the drug subjecting each to neurological stimulus and recording its response time. The neurologist knows that the mean response time for rats not injected with the drug is 1.2 seconds. The mean of the 100 injected rats response times is 1.05 seconds with the sample standard deviation of 0.5 seconds. Do you think that the drug has an effect on response time ? </a:t>
            </a:r>
            <a:endParaRPr/>
          </a:p>
        </p:txBody>
      </p:sp>
      <p:sp>
        <p:nvSpPr>
          <p:cNvPr id="360" name="Google Shape;360;p43"/>
          <p:cNvSpPr txBox="1"/>
          <p:nvPr/>
        </p:nvSpPr>
        <p:spPr>
          <a:xfrm>
            <a:off x="13715494" y="3584717"/>
            <a:ext cx="8212532" cy="13462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H</a:t>
            </a:r>
            <a:r>
              <a:rPr lang="en-US" sz="3600" b="0" i="0" u="none" strike="noStrike" cap="none" baseline="-25000">
                <a:solidFill>
                  <a:srgbClr val="5E5E5E"/>
                </a:solidFill>
                <a:latin typeface="Avenir"/>
                <a:ea typeface="Avenir"/>
                <a:cs typeface="Avenir"/>
                <a:sym typeface="Avenir"/>
              </a:rPr>
              <a:t>0</a:t>
            </a:r>
            <a:r>
              <a:rPr lang="en-US" sz="3600" b="0" i="0" u="none" strike="noStrike" cap="none">
                <a:solidFill>
                  <a:srgbClr val="5E5E5E"/>
                </a:solidFill>
                <a:latin typeface="Avenir"/>
                <a:ea typeface="Avenir"/>
                <a:cs typeface="Avenir"/>
                <a:sym typeface="Avenir"/>
              </a:rPr>
              <a:t>: Drug has no effect on response time</a:t>
            </a:r>
            <a:endParaRPr/>
          </a:p>
          <a:p>
            <a:pPr marL="0" marR="0" lvl="0" indent="0" algn="ctr"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H</a:t>
            </a:r>
            <a:r>
              <a:rPr lang="en-US" sz="3600" b="0" i="0" u="none" strike="noStrike" cap="none" baseline="-25000">
                <a:solidFill>
                  <a:srgbClr val="5E5E5E"/>
                </a:solidFill>
                <a:latin typeface="Avenir"/>
                <a:ea typeface="Avenir"/>
                <a:cs typeface="Avenir"/>
                <a:sym typeface="Avenir"/>
              </a:rPr>
              <a:t>1</a:t>
            </a:r>
            <a:r>
              <a:rPr lang="en-US" sz="3600" b="0" i="0" u="none" strike="noStrike" cap="none">
                <a:solidFill>
                  <a:srgbClr val="5E5E5E"/>
                </a:solidFill>
                <a:latin typeface="Avenir"/>
                <a:ea typeface="Avenir"/>
                <a:cs typeface="Avenir"/>
                <a:sym typeface="Avenir"/>
              </a:rPr>
              <a:t>: Drug has an effect on response time</a:t>
            </a:r>
            <a:endParaRPr/>
          </a:p>
        </p:txBody>
      </p:sp>
      <p:sp>
        <p:nvSpPr>
          <p:cNvPr id="361" name="Google Shape;361;p43"/>
          <p:cNvSpPr txBox="1"/>
          <p:nvPr/>
        </p:nvSpPr>
        <p:spPr>
          <a:xfrm>
            <a:off x="20962316" y="13347769"/>
            <a:ext cx="3395854" cy="419101"/>
          </a:xfrm>
          <a:prstGeom prst="rect">
            <a:avLst/>
          </a:prstGeom>
          <a:noFill/>
          <a:ln>
            <a:noFill/>
          </a:ln>
        </p:spPr>
        <p:txBody>
          <a:bodyPr spcFirstLastPara="1" wrap="square" lIns="50800" tIns="50800" rIns="50800" bIns="50800" anchor="ctr" anchorCtr="0">
            <a:spAutoFit/>
          </a:bodyPr>
          <a:lstStyle/>
          <a:p>
            <a:pPr marL="0" marR="0" lvl="0" indent="0" algn="r" rtl="0">
              <a:lnSpc>
                <a:spcPct val="100000"/>
              </a:lnSpc>
              <a:spcBef>
                <a:spcPts val="0"/>
              </a:spcBef>
              <a:spcAft>
                <a:spcPts val="0"/>
              </a:spcAft>
              <a:buClr>
                <a:srgbClr val="5E5E5E"/>
              </a:buClr>
              <a:buSzPts val="1800"/>
              <a:buFont typeface="Avenir"/>
              <a:buNone/>
            </a:pPr>
            <a:r>
              <a:rPr lang="en-US" sz="1800" b="0" i="0" u="none" strike="noStrike" cap="none">
                <a:solidFill>
                  <a:srgbClr val="5E5E5E"/>
                </a:solidFill>
                <a:latin typeface="Avenir"/>
                <a:ea typeface="Avenir"/>
                <a:cs typeface="Avenir"/>
                <a:sym typeface="Avenir"/>
              </a:rPr>
              <a:t>Example adapted from Sal Khan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365"/>
        <p:cNvGrpSpPr/>
        <p:nvPr/>
      </p:nvGrpSpPr>
      <p:grpSpPr>
        <a:xfrm>
          <a:off x="0" y="0"/>
          <a:ext cx="0" cy="0"/>
          <a:chOff x="0" y="0"/>
          <a:chExt cx="0" cy="0"/>
        </a:xfrm>
      </p:grpSpPr>
      <p:sp>
        <p:nvSpPr>
          <p:cNvPr id="366" name="Google Shape;366;p44"/>
          <p:cNvSpPr txBox="1">
            <a:spLocks noGrp="1"/>
          </p:cNvSpPr>
          <p:nvPr>
            <p:ph type="title"/>
          </p:nvPr>
        </p:nvSpPr>
        <p:spPr>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a:latin typeface="Avenir"/>
                <a:ea typeface="Avenir"/>
                <a:cs typeface="Avenir"/>
                <a:sym typeface="Avenir"/>
              </a:rPr>
              <a:t>A simple example</a:t>
            </a:r>
            <a:endParaRPr/>
          </a:p>
        </p:txBody>
      </p:sp>
      <p:sp>
        <p:nvSpPr>
          <p:cNvPr id="367" name="Google Shape;367;p44"/>
          <p:cNvSpPr txBox="1"/>
          <p:nvPr/>
        </p:nvSpPr>
        <p:spPr>
          <a:xfrm>
            <a:off x="1206500" y="2754183"/>
            <a:ext cx="9592134" cy="3759201"/>
          </a:xfrm>
          <a:prstGeom prst="rect">
            <a:avLst/>
          </a:prstGeom>
          <a:noFill/>
          <a:ln>
            <a:noFill/>
          </a:ln>
        </p:spPr>
        <p:txBody>
          <a:bodyPr spcFirstLastPara="1" wrap="square" lIns="50800" tIns="50800" rIns="50800" bIns="50800" anchor="ctr" anchorCtr="0">
            <a:spAutoFit/>
          </a:bodyPr>
          <a:lstStyle/>
          <a:p>
            <a:pPr marL="0" marR="0" lvl="0" indent="0" algn="just" rtl="0">
              <a:lnSpc>
                <a:spcPct val="100000"/>
              </a:lnSpc>
              <a:spcBef>
                <a:spcPts val="0"/>
              </a:spcBef>
              <a:spcAft>
                <a:spcPts val="0"/>
              </a:spcAft>
              <a:buClr>
                <a:srgbClr val="5E5E5E"/>
              </a:buClr>
              <a:buSzPts val="2600"/>
              <a:buFont typeface="Avenir"/>
              <a:buNone/>
            </a:pPr>
            <a:r>
              <a:rPr lang="en-US" sz="2600" b="0" i="0" u="none" strike="noStrike" cap="none">
                <a:solidFill>
                  <a:srgbClr val="5E5E5E"/>
                </a:solidFill>
                <a:latin typeface="Avenir"/>
                <a:ea typeface="Avenir"/>
                <a:cs typeface="Avenir"/>
                <a:sym typeface="Avenir"/>
              </a:rPr>
              <a:t>A neurologist is testing the effect of a drug on response time by injecting 100 rats with a unit dose of the drug subjecting each to neurological stimulus and recording its response time. The neurologist knows that the mean response time for rats not injected with the drug is 1.2 seconds. The mean of the 100 injected rats response times is 1.05 seconds with the sample standard deviation of 0.5 seconds. Do you think that the drug has an effect on response time ? </a:t>
            </a:r>
            <a:endParaRPr/>
          </a:p>
        </p:txBody>
      </p:sp>
      <p:sp>
        <p:nvSpPr>
          <p:cNvPr id="368" name="Google Shape;368;p44"/>
          <p:cNvSpPr txBox="1"/>
          <p:nvPr/>
        </p:nvSpPr>
        <p:spPr>
          <a:xfrm>
            <a:off x="13716000" y="3581399"/>
            <a:ext cx="2545081" cy="13462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H</a:t>
            </a:r>
            <a:r>
              <a:rPr lang="en-US" sz="3600" b="0" i="0" u="none" strike="noStrike" cap="none" baseline="-25000">
                <a:solidFill>
                  <a:srgbClr val="5E5E5E"/>
                </a:solidFill>
                <a:latin typeface="Avenir"/>
                <a:ea typeface="Avenir"/>
                <a:cs typeface="Avenir"/>
                <a:sym typeface="Avenir"/>
              </a:rPr>
              <a:t>0</a:t>
            </a:r>
            <a:r>
              <a:rPr lang="en-US" sz="3600" b="0" i="0" u="none" strike="noStrike" cap="none">
                <a:solidFill>
                  <a:srgbClr val="5E5E5E"/>
                </a:solidFill>
                <a:latin typeface="Avenir"/>
                <a:ea typeface="Avenir"/>
                <a:cs typeface="Avenir"/>
                <a:sym typeface="Avenir"/>
              </a:rPr>
              <a:t>: µ = 1.2 s</a:t>
            </a:r>
            <a:endParaRPr/>
          </a:p>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H</a:t>
            </a:r>
            <a:r>
              <a:rPr lang="en-US" sz="3600" b="0" i="0" u="none" strike="noStrike" cap="none" baseline="-25000">
                <a:solidFill>
                  <a:srgbClr val="5E5E5E"/>
                </a:solidFill>
                <a:latin typeface="Avenir"/>
                <a:ea typeface="Avenir"/>
                <a:cs typeface="Avenir"/>
                <a:sym typeface="Avenir"/>
              </a:rPr>
              <a:t>1</a:t>
            </a:r>
            <a:r>
              <a:rPr lang="en-US" sz="3600" b="0" i="0" u="none" strike="noStrike" cap="none">
                <a:solidFill>
                  <a:srgbClr val="5E5E5E"/>
                </a:solidFill>
                <a:latin typeface="Avenir"/>
                <a:ea typeface="Avenir"/>
                <a:cs typeface="Avenir"/>
                <a:sym typeface="Avenir"/>
              </a:rPr>
              <a:t>: µ ≠ 1.2 s</a:t>
            </a:r>
            <a:endParaRPr/>
          </a:p>
        </p:txBody>
      </p:sp>
      <p:sp>
        <p:nvSpPr>
          <p:cNvPr id="369" name="Google Shape;369;p44"/>
          <p:cNvSpPr txBox="1"/>
          <p:nvPr/>
        </p:nvSpPr>
        <p:spPr>
          <a:xfrm>
            <a:off x="20962316" y="13347769"/>
            <a:ext cx="3395854" cy="419101"/>
          </a:xfrm>
          <a:prstGeom prst="rect">
            <a:avLst/>
          </a:prstGeom>
          <a:noFill/>
          <a:ln>
            <a:noFill/>
          </a:ln>
        </p:spPr>
        <p:txBody>
          <a:bodyPr spcFirstLastPara="1" wrap="square" lIns="50800" tIns="50800" rIns="50800" bIns="50800" anchor="ctr" anchorCtr="0">
            <a:spAutoFit/>
          </a:bodyPr>
          <a:lstStyle/>
          <a:p>
            <a:pPr marL="0" marR="0" lvl="0" indent="0" algn="r" rtl="0">
              <a:lnSpc>
                <a:spcPct val="100000"/>
              </a:lnSpc>
              <a:spcBef>
                <a:spcPts val="0"/>
              </a:spcBef>
              <a:spcAft>
                <a:spcPts val="0"/>
              </a:spcAft>
              <a:buClr>
                <a:srgbClr val="5E5E5E"/>
              </a:buClr>
              <a:buSzPts val="1800"/>
              <a:buFont typeface="Avenir"/>
              <a:buNone/>
            </a:pPr>
            <a:r>
              <a:rPr lang="en-US" sz="1800" b="0" i="0" u="none" strike="noStrike" cap="none">
                <a:solidFill>
                  <a:srgbClr val="5E5E5E"/>
                </a:solidFill>
                <a:latin typeface="Avenir"/>
                <a:ea typeface="Avenir"/>
                <a:cs typeface="Avenir"/>
                <a:sym typeface="Avenir"/>
              </a:rPr>
              <a:t>Example adapted from Sal Khan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373"/>
        <p:cNvGrpSpPr/>
        <p:nvPr/>
      </p:nvGrpSpPr>
      <p:grpSpPr>
        <a:xfrm>
          <a:off x="0" y="0"/>
          <a:ext cx="0" cy="0"/>
          <a:chOff x="0" y="0"/>
          <a:chExt cx="0" cy="0"/>
        </a:xfrm>
      </p:grpSpPr>
      <p:sp>
        <p:nvSpPr>
          <p:cNvPr id="374" name="Google Shape;374;p45"/>
          <p:cNvSpPr txBox="1">
            <a:spLocks noGrp="1"/>
          </p:cNvSpPr>
          <p:nvPr>
            <p:ph type="title"/>
          </p:nvPr>
        </p:nvSpPr>
        <p:spPr>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a:latin typeface="Avenir"/>
                <a:ea typeface="Avenir"/>
                <a:cs typeface="Avenir"/>
                <a:sym typeface="Avenir"/>
              </a:rPr>
              <a:t>A simple example</a:t>
            </a:r>
            <a:endParaRPr/>
          </a:p>
        </p:txBody>
      </p:sp>
      <p:sp>
        <p:nvSpPr>
          <p:cNvPr id="375" name="Google Shape;375;p45"/>
          <p:cNvSpPr txBox="1"/>
          <p:nvPr/>
        </p:nvSpPr>
        <p:spPr>
          <a:xfrm>
            <a:off x="1206500" y="2754183"/>
            <a:ext cx="9592134" cy="3759201"/>
          </a:xfrm>
          <a:prstGeom prst="rect">
            <a:avLst/>
          </a:prstGeom>
          <a:noFill/>
          <a:ln>
            <a:noFill/>
          </a:ln>
        </p:spPr>
        <p:txBody>
          <a:bodyPr spcFirstLastPara="1" wrap="square" lIns="50800" tIns="50800" rIns="50800" bIns="50800" anchor="ctr" anchorCtr="0">
            <a:spAutoFit/>
          </a:bodyPr>
          <a:lstStyle/>
          <a:p>
            <a:pPr marL="0" marR="0" lvl="0" indent="0" algn="just" rtl="0">
              <a:lnSpc>
                <a:spcPct val="100000"/>
              </a:lnSpc>
              <a:spcBef>
                <a:spcPts val="0"/>
              </a:spcBef>
              <a:spcAft>
                <a:spcPts val="0"/>
              </a:spcAft>
              <a:buClr>
                <a:srgbClr val="5E5E5E"/>
              </a:buClr>
              <a:buSzPts val="2600"/>
              <a:buFont typeface="Avenir"/>
              <a:buNone/>
            </a:pPr>
            <a:r>
              <a:rPr lang="en-US" sz="2600" b="0" i="0" u="none" strike="noStrike" cap="none">
                <a:solidFill>
                  <a:srgbClr val="5E5E5E"/>
                </a:solidFill>
                <a:latin typeface="Avenir"/>
                <a:ea typeface="Avenir"/>
                <a:cs typeface="Avenir"/>
                <a:sym typeface="Avenir"/>
              </a:rPr>
              <a:t>A neurologist is testing the effect of a drug on response time by injecting 100 rats with a unit dose of the drug subjecting each to neurological stimulus and recording its response time. The neurologist knows that the mean response time for rats not injected with the drug is 1.2 seconds. The mean of the 100 injected rats response times is 1.05 seconds with the sample standard deviation of 0.5 seconds. Do you think that the drug has an effect on response time ? </a:t>
            </a:r>
            <a:endParaRPr/>
          </a:p>
        </p:txBody>
      </p:sp>
      <p:sp>
        <p:nvSpPr>
          <p:cNvPr id="376" name="Google Shape;376;p45"/>
          <p:cNvSpPr txBox="1"/>
          <p:nvPr/>
        </p:nvSpPr>
        <p:spPr>
          <a:xfrm>
            <a:off x="13716000" y="3581399"/>
            <a:ext cx="2545081" cy="13462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H</a:t>
            </a:r>
            <a:r>
              <a:rPr lang="en-US" sz="3600" b="0" i="0" u="none" strike="noStrike" cap="none" baseline="-25000">
                <a:solidFill>
                  <a:srgbClr val="5E5E5E"/>
                </a:solidFill>
                <a:latin typeface="Avenir"/>
                <a:ea typeface="Avenir"/>
                <a:cs typeface="Avenir"/>
                <a:sym typeface="Avenir"/>
              </a:rPr>
              <a:t>0</a:t>
            </a:r>
            <a:r>
              <a:rPr lang="en-US" sz="3600" b="0" i="0" u="none" strike="noStrike" cap="none">
                <a:solidFill>
                  <a:srgbClr val="5E5E5E"/>
                </a:solidFill>
                <a:latin typeface="Avenir"/>
                <a:ea typeface="Avenir"/>
                <a:cs typeface="Avenir"/>
                <a:sym typeface="Avenir"/>
              </a:rPr>
              <a:t>: µ = 1.2 s</a:t>
            </a:r>
            <a:endParaRPr/>
          </a:p>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H</a:t>
            </a:r>
            <a:r>
              <a:rPr lang="en-US" sz="3600" b="0" i="0" u="none" strike="noStrike" cap="none" baseline="-25000">
                <a:solidFill>
                  <a:srgbClr val="5E5E5E"/>
                </a:solidFill>
                <a:latin typeface="Avenir"/>
                <a:ea typeface="Avenir"/>
                <a:cs typeface="Avenir"/>
                <a:sym typeface="Avenir"/>
              </a:rPr>
              <a:t>1</a:t>
            </a:r>
            <a:r>
              <a:rPr lang="en-US" sz="3600" b="0" i="0" u="none" strike="noStrike" cap="none">
                <a:solidFill>
                  <a:srgbClr val="5E5E5E"/>
                </a:solidFill>
                <a:latin typeface="Avenir"/>
                <a:ea typeface="Avenir"/>
                <a:cs typeface="Avenir"/>
                <a:sym typeface="Avenir"/>
              </a:rPr>
              <a:t>: µ ≠ 1.2 s</a:t>
            </a:r>
            <a:endParaRPr/>
          </a:p>
        </p:txBody>
      </p:sp>
      <p:cxnSp>
        <p:nvCxnSpPr>
          <p:cNvPr id="377" name="Google Shape;377;p45"/>
          <p:cNvCxnSpPr/>
          <p:nvPr/>
        </p:nvCxnSpPr>
        <p:spPr>
          <a:xfrm>
            <a:off x="2498819" y="12538269"/>
            <a:ext cx="7973403" cy="1"/>
          </a:xfrm>
          <a:prstGeom prst="straightConnector1">
            <a:avLst/>
          </a:prstGeom>
          <a:noFill/>
          <a:ln w="25400" cap="flat" cmpd="sng">
            <a:solidFill>
              <a:srgbClr val="000000"/>
            </a:solidFill>
            <a:prstDash val="solid"/>
            <a:miter lim="400000"/>
            <a:headEnd type="none" w="sm" len="sm"/>
            <a:tailEnd type="none" w="sm" len="sm"/>
          </a:ln>
        </p:spPr>
      </p:cxnSp>
      <p:pic>
        <p:nvPicPr>
          <p:cNvPr id="378" name="Google Shape;378;p45" descr="Image"/>
          <p:cNvPicPr preferRelativeResize="0"/>
          <p:nvPr/>
        </p:nvPicPr>
        <p:blipFill rotWithShape="1">
          <a:blip r:embed="rId3">
            <a:alphaModFix/>
          </a:blip>
          <a:srcRect/>
          <a:stretch/>
        </p:blipFill>
        <p:spPr>
          <a:xfrm>
            <a:off x="2891287" y="8395964"/>
            <a:ext cx="7188468" cy="3951586"/>
          </a:xfrm>
          <a:prstGeom prst="rect">
            <a:avLst/>
          </a:prstGeom>
          <a:noFill/>
          <a:ln>
            <a:noFill/>
          </a:ln>
        </p:spPr>
      </p:pic>
      <p:cxnSp>
        <p:nvCxnSpPr>
          <p:cNvPr id="379" name="Google Shape;379;p45"/>
          <p:cNvCxnSpPr/>
          <p:nvPr/>
        </p:nvCxnSpPr>
        <p:spPr>
          <a:xfrm rot="10800000" flipH="1">
            <a:off x="6472820" y="8483256"/>
            <a:ext cx="1" cy="3951586"/>
          </a:xfrm>
          <a:prstGeom prst="straightConnector1">
            <a:avLst/>
          </a:prstGeom>
          <a:noFill/>
          <a:ln w="25400" cap="flat" cmpd="sng">
            <a:solidFill>
              <a:srgbClr val="000000"/>
            </a:solidFill>
            <a:prstDash val="dashDot"/>
            <a:miter lim="400000"/>
            <a:headEnd type="none" w="sm" len="sm"/>
            <a:tailEnd type="none" w="sm" len="sm"/>
          </a:ln>
        </p:spPr>
      </p:cxnSp>
      <p:sp>
        <p:nvSpPr>
          <p:cNvPr id="380" name="Google Shape;380;p45"/>
          <p:cNvSpPr txBox="1"/>
          <p:nvPr/>
        </p:nvSpPr>
        <p:spPr>
          <a:xfrm>
            <a:off x="5912446" y="12753379"/>
            <a:ext cx="1358149" cy="471924"/>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dirty="0">
                <a:solidFill>
                  <a:srgbClr val="5E5E5E"/>
                </a:solidFill>
                <a:latin typeface="Avenir"/>
                <a:ea typeface="Avenir"/>
                <a:cs typeface="Avenir"/>
                <a:sym typeface="Avenir"/>
              </a:rPr>
              <a:t>µ = 1.2 s</a:t>
            </a:r>
            <a:endParaRPr dirty="0"/>
          </a:p>
        </p:txBody>
      </p:sp>
      <p:sp>
        <p:nvSpPr>
          <p:cNvPr id="381" name="Google Shape;381;p45"/>
          <p:cNvSpPr txBox="1"/>
          <p:nvPr/>
        </p:nvSpPr>
        <p:spPr>
          <a:xfrm>
            <a:off x="2172061" y="8014559"/>
            <a:ext cx="2560169" cy="7239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Assume H</a:t>
            </a:r>
            <a:r>
              <a:rPr lang="en-US" sz="3600" b="0" i="0" u="none" strike="noStrike" cap="none" baseline="-25000">
                <a:solidFill>
                  <a:srgbClr val="5E5E5E"/>
                </a:solidFill>
                <a:latin typeface="Avenir"/>
                <a:ea typeface="Avenir"/>
                <a:cs typeface="Avenir"/>
                <a:sym typeface="Avenir"/>
              </a:rPr>
              <a:t>0</a:t>
            </a:r>
            <a:r>
              <a:rPr lang="en-US" sz="3600" b="0" i="0" u="none" strike="noStrike" cap="none">
                <a:solidFill>
                  <a:srgbClr val="5E5E5E"/>
                </a:solidFill>
                <a:latin typeface="Avenir"/>
                <a:ea typeface="Avenir"/>
                <a:cs typeface="Avenir"/>
                <a:sym typeface="Avenir"/>
              </a:rPr>
              <a:t>: </a:t>
            </a:r>
            <a:endParaRPr/>
          </a:p>
        </p:txBody>
      </p:sp>
      <p:sp>
        <p:nvSpPr>
          <p:cNvPr id="382" name="Google Shape;382;p45"/>
          <p:cNvSpPr txBox="1"/>
          <p:nvPr/>
        </p:nvSpPr>
        <p:spPr>
          <a:xfrm>
            <a:off x="20962316" y="13347769"/>
            <a:ext cx="3395854" cy="419101"/>
          </a:xfrm>
          <a:prstGeom prst="rect">
            <a:avLst/>
          </a:prstGeom>
          <a:noFill/>
          <a:ln>
            <a:noFill/>
          </a:ln>
        </p:spPr>
        <p:txBody>
          <a:bodyPr spcFirstLastPara="1" wrap="square" lIns="50800" tIns="50800" rIns="50800" bIns="50800" anchor="ctr" anchorCtr="0">
            <a:spAutoFit/>
          </a:bodyPr>
          <a:lstStyle/>
          <a:p>
            <a:pPr marL="0" marR="0" lvl="0" indent="0" algn="r" rtl="0">
              <a:lnSpc>
                <a:spcPct val="100000"/>
              </a:lnSpc>
              <a:spcBef>
                <a:spcPts val="0"/>
              </a:spcBef>
              <a:spcAft>
                <a:spcPts val="0"/>
              </a:spcAft>
              <a:buClr>
                <a:srgbClr val="5E5E5E"/>
              </a:buClr>
              <a:buSzPts val="1800"/>
              <a:buFont typeface="Avenir"/>
              <a:buNone/>
            </a:pPr>
            <a:r>
              <a:rPr lang="en-US" sz="1800" b="0" i="0" u="none" strike="noStrike" cap="none">
                <a:solidFill>
                  <a:srgbClr val="5E5E5E"/>
                </a:solidFill>
                <a:latin typeface="Avenir"/>
                <a:ea typeface="Avenir"/>
                <a:cs typeface="Avenir"/>
                <a:sym typeface="Avenir"/>
              </a:rPr>
              <a:t>Example adapted from Sal Khan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386"/>
        <p:cNvGrpSpPr/>
        <p:nvPr/>
      </p:nvGrpSpPr>
      <p:grpSpPr>
        <a:xfrm>
          <a:off x="0" y="0"/>
          <a:ext cx="0" cy="0"/>
          <a:chOff x="0" y="0"/>
          <a:chExt cx="0" cy="0"/>
        </a:xfrm>
      </p:grpSpPr>
      <p:sp>
        <p:nvSpPr>
          <p:cNvPr id="387" name="Google Shape;387;p46"/>
          <p:cNvSpPr txBox="1">
            <a:spLocks noGrp="1"/>
          </p:cNvSpPr>
          <p:nvPr>
            <p:ph type="title"/>
          </p:nvPr>
        </p:nvSpPr>
        <p:spPr>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a:latin typeface="Avenir"/>
                <a:ea typeface="Avenir"/>
                <a:cs typeface="Avenir"/>
                <a:sym typeface="Avenir"/>
              </a:rPr>
              <a:t>A simple example</a:t>
            </a:r>
            <a:endParaRPr/>
          </a:p>
        </p:txBody>
      </p:sp>
      <p:sp>
        <p:nvSpPr>
          <p:cNvPr id="388" name="Google Shape;388;p46"/>
          <p:cNvSpPr txBox="1"/>
          <p:nvPr/>
        </p:nvSpPr>
        <p:spPr>
          <a:xfrm>
            <a:off x="1206500" y="2754183"/>
            <a:ext cx="9592134" cy="3759201"/>
          </a:xfrm>
          <a:prstGeom prst="rect">
            <a:avLst/>
          </a:prstGeom>
          <a:noFill/>
          <a:ln>
            <a:noFill/>
          </a:ln>
        </p:spPr>
        <p:txBody>
          <a:bodyPr spcFirstLastPara="1" wrap="square" lIns="50800" tIns="50800" rIns="50800" bIns="50800" anchor="ctr" anchorCtr="0">
            <a:spAutoFit/>
          </a:bodyPr>
          <a:lstStyle/>
          <a:p>
            <a:pPr marL="0" marR="0" lvl="0" indent="0" algn="just" rtl="0">
              <a:lnSpc>
                <a:spcPct val="100000"/>
              </a:lnSpc>
              <a:spcBef>
                <a:spcPts val="0"/>
              </a:spcBef>
              <a:spcAft>
                <a:spcPts val="0"/>
              </a:spcAft>
              <a:buClr>
                <a:srgbClr val="5E5E5E"/>
              </a:buClr>
              <a:buSzPts val="2600"/>
              <a:buFont typeface="Avenir"/>
              <a:buNone/>
            </a:pPr>
            <a:r>
              <a:rPr lang="en-US" sz="2600" b="0" i="0" u="none" strike="noStrike" cap="none">
                <a:solidFill>
                  <a:srgbClr val="5E5E5E"/>
                </a:solidFill>
                <a:latin typeface="Avenir"/>
                <a:ea typeface="Avenir"/>
                <a:cs typeface="Avenir"/>
                <a:sym typeface="Avenir"/>
              </a:rPr>
              <a:t>A neurologist is testing the effect of a drug on response time by injecting 100 rats with a unit dose of the drug subjecting each to neurological stimulus and recording its response time. The neurologist knows that the mean response time for rats not injected with the drug is 1.2 seconds. The mean of the 100 injected rats response times is 1.05 seconds with the sample standard deviation of 0.5 seconds. Do you think that the drug has an effect on response time ? </a:t>
            </a:r>
            <a:endParaRPr/>
          </a:p>
        </p:txBody>
      </p:sp>
      <p:sp>
        <p:nvSpPr>
          <p:cNvPr id="389" name="Google Shape;389;p46"/>
          <p:cNvSpPr txBox="1"/>
          <p:nvPr/>
        </p:nvSpPr>
        <p:spPr>
          <a:xfrm>
            <a:off x="13716000" y="3581399"/>
            <a:ext cx="2545081" cy="13462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H</a:t>
            </a:r>
            <a:r>
              <a:rPr lang="en-US" sz="3600" b="0" i="0" u="none" strike="noStrike" cap="none" baseline="-25000">
                <a:solidFill>
                  <a:srgbClr val="5E5E5E"/>
                </a:solidFill>
                <a:latin typeface="Avenir"/>
                <a:ea typeface="Avenir"/>
                <a:cs typeface="Avenir"/>
                <a:sym typeface="Avenir"/>
              </a:rPr>
              <a:t>0</a:t>
            </a:r>
            <a:r>
              <a:rPr lang="en-US" sz="3600" b="0" i="0" u="none" strike="noStrike" cap="none">
                <a:solidFill>
                  <a:srgbClr val="5E5E5E"/>
                </a:solidFill>
                <a:latin typeface="Avenir"/>
                <a:ea typeface="Avenir"/>
                <a:cs typeface="Avenir"/>
                <a:sym typeface="Avenir"/>
              </a:rPr>
              <a:t>: µ = 1.2 s</a:t>
            </a:r>
            <a:endParaRPr/>
          </a:p>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H</a:t>
            </a:r>
            <a:r>
              <a:rPr lang="en-US" sz="3600" b="0" i="0" u="none" strike="noStrike" cap="none" baseline="-25000">
                <a:solidFill>
                  <a:srgbClr val="5E5E5E"/>
                </a:solidFill>
                <a:latin typeface="Avenir"/>
                <a:ea typeface="Avenir"/>
                <a:cs typeface="Avenir"/>
                <a:sym typeface="Avenir"/>
              </a:rPr>
              <a:t>1</a:t>
            </a:r>
            <a:r>
              <a:rPr lang="en-US" sz="3600" b="0" i="0" u="none" strike="noStrike" cap="none">
                <a:solidFill>
                  <a:srgbClr val="5E5E5E"/>
                </a:solidFill>
                <a:latin typeface="Avenir"/>
                <a:ea typeface="Avenir"/>
                <a:cs typeface="Avenir"/>
                <a:sym typeface="Avenir"/>
              </a:rPr>
              <a:t>: µ ≠ 1.2 s</a:t>
            </a:r>
            <a:endParaRPr/>
          </a:p>
        </p:txBody>
      </p:sp>
      <p:cxnSp>
        <p:nvCxnSpPr>
          <p:cNvPr id="390" name="Google Shape;390;p46"/>
          <p:cNvCxnSpPr/>
          <p:nvPr/>
        </p:nvCxnSpPr>
        <p:spPr>
          <a:xfrm>
            <a:off x="2498819" y="12538269"/>
            <a:ext cx="7973403" cy="1"/>
          </a:xfrm>
          <a:prstGeom prst="straightConnector1">
            <a:avLst/>
          </a:prstGeom>
          <a:noFill/>
          <a:ln w="25400" cap="flat" cmpd="sng">
            <a:solidFill>
              <a:srgbClr val="000000"/>
            </a:solidFill>
            <a:prstDash val="solid"/>
            <a:miter lim="400000"/>
            <a:headEnd type="none" w="sm" len="sm"/>
            <a:tailEnd type="none" w="sm" len="sm"/>
          </a:ln>
        </p:spPr>
      </p:cxnSp>
      <p:pic>
        <p:nvPicPr>
          <p:cNvPr id="391" name="Google Shape;391;p46" descr="Image"/>
          <p:cNvPicPr preferRelativeResize="0"/>
          <p:nvPr/>
        </p:nvPicPr>
        <p:blipFill rotWithShape="1">
          <a:blip r:embed="rId3">
            <a:alphaModFix/>
          </a:blip>
          <a:srcRect/>
          <a:stretch/>
        </p:blipFill>
        <p:spPr>
          <a:xfrm>
            <a:off x="2891287" y="8395964"/>
            <a:ext cx="7188468" cy="3951586"/>
          </a:xfrm>
          <a:prstGeom prst="rect">
            <a:avLst/>
          </a:prstGeom>
          <a:noFill/>
          <a:ln>
            <a:noFill/>
          </a:ln>
        </p:spPr>
      </p:pic>
      <p:cxnSp>
        <p:nvCxnSpPr>
          <p:cNvPr id="392" name="Google Shape;392;p46"/>
          <p:cNvCxnSpPr/>
          <p:nvPr/>
        </p:nvCxnSpPr>
        <p:spPr>
          <a:xfrm rot="10800000" flipH="1">
            <a:off x="6472820" y="8483256"/>
            <a:ext cx="1" cy="3951586"/>
          </a:xfrm>
          <a:prstGeom prst="straightConnector1">
            <a:avLst/>
          </a:prstGeom>
          <a:noFill/>
          <a:ln w="25400" cap="flat" cmpd="sng">
            <a:solidFill>
              <a:srgbClr val="000000"/>
            </a:solidFill>
            <a:prstDash val="dashDot"/>
            <a:miter lim="400000"/>
            <a:headEnd type="none" w="sm" len="sm"/>
            <a:tailEnd type="none" w="sm" len="sm"/>
          </a:ln>
        </p:spPr>
      </p:cxnSp>
      <p:sp>
        <p:nvSpPr>
          <p:cNvPr id="393" name="Google Shape;393;p46"/>
          <p:cNvSpPr txBox="1"/>
          <p:nvPr/>
        </p:nvSpPr>
        <p:spPr>
          <a:xfrm>
            <a:off x="5912446" y="12753379"/>
            <a:ext cx="1469661" cy="471924"/>
          </a:xfrm>
          <a:prstGeom prst="rect">
            <a:avLst/>
          </a:prstGeom>
          <a:noFill/>
          <a:ln>
            <a:noFill/>
          </a:ln>
        </p:spPr>
        <p:txBody>
          <a:bodyPr spcFirstLastPara="1" wrap="square" lIns="50800" tIns="50800" rIns="50800" bIns="50800" anchor="ctr" anchorCtr="0">
            <a:spAutoFit/>
          </a:bodyPr>
          <a:lstStyle/>
          <a:p>
            <a:pPr lvl="0">
              <a:buClr>
                <a:srgbClr val="5E5E5E"/>
              </a:buClr>
              <a:buSzPts val="2400"/>
            </a:pPr>
            <a:r>
              <a:rPr lang="en-US" sz="2400" b="0" i="0" u="none" strike="noStrike" cap="none" dirty="0">
                <a:solidFill>
                  <a:srgbClr val="5E5E5E"/>
                </a:solidFill>
                <a:latin typeface="Avenir"/>
                <a:ea typeface="Avenir"/>
                <a:cs typeface="Avenir"/>
                <a:sym typeface="Avenir"/>
              </a:rPr>
              <a:t>µ = </a:t>
            </a:r>
            <a:r>
              <a:rPr lang="en-US" sz="2400" dirty="0">
                <a:solidFill>
                  <a:srgbClr val="5E5E5E"/>
                </a:solidFill>
                <a:latin typeface="Avenir"/>
                <a:ea typeface="Avenir"/>
                <a:cs typeface="Avenir"/>
                <a:sym typeface="Avenir"/>
              </a:rPr>
              <a:t>1.2 s</a:t>
            </a:r>
            <a:endParaRPr dirty="0"/>
          </a:p>
        </p:txBody>
      </p:sp>
      <p:sp>
        <p:nvSpPr>
          <p:cNvPr id="394" name="Google Shape;394;p46"/>
          <p:cNvSpPr txBox="1"/>
          <p:nvPr/>
        </p:nvSpPr>
        <p:spPr>
          <a:xfrm>
            <a:off x="2172061" y="8014559"/>
            <a:ext cx="2560169" cy="7239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Assume H</a:t>
            </a:r>
            <a:r>
              <a:rPr lang="en-US" sz="3600" b="0" i="0" u="none" strike="noStrike" cap="none" baseline="-25000">
                <a:solidFill>
                  <a:srgbClr val="5E5E5E"/>
                </a:solidFill>
                <a:latin typeface="Avenir"/>
                <a:ea typeface="Avenir"/>
                <a:cs typeface="Avenir"/>
                <a:sym typeface="Avenir"/>
              </a:rPr>
              <a:t>0</a:t>
            </a:r>
            <a:r>
              <a:rPr lang="en-US" sz="3600" b="0" i="0" u="none" strike="noStrike" cap="none">
                <a:solidFill>
                  <a:srgbClr val="5E5E5E"/>
                </a:solidFill>
                <a:latin typeface="Avenir"/>
                <a:ea typeface="Avenir"/>
                <a:cs typeface="Avenir"/>
                <a:sym typeface="Avenir"/>
              </a:rPr>
              <a:t>: </a:t>
            </a:r>
            <a:endParaRPr/>
          </a:p>
        </p:txBody>
      </p:sp>
      <p:sp>
        <p:nvSpPr>
          <p:cNvPr id="395" name="Google Shape;395;p46"/>
          <p:cNvSpPr txBox="1"/>
          <p:nvPr/>
        </p:nvSpPr>
        <p:spPr>
          <a:xfrm>
            <a:off x="13716000" y="5675013"/>
            <a:ext cx="4525823" cy="7239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Calculate test statistic</a:t>
            </a:r>
            <a:endParaRPr/>
          </a:p>
        </p:txBody>
      </p:sp>
      <p:pic>
        <p:nvPicPr>
          <p:cNvPr id="396" name="Google Shape;396;p46" descr="Image"/>
          <p:cNvPicPr preferRelativeResize="0"/>
          <p:nvPr/>
        </p:nvPicPr>
        <p:blipFill rotWithShape="1">
          <a:blip r:embed="rId4">
            <a:alphaModFix/>
          </a:blip>
          <a:srcRect/>
          <a:stretch/>
        </p:blipFill>
        <p:spPr>
          <a:xfrm>
            <a:off x="18338645" y="5042325"/>
            <a:ext cx="4572958" cy="2314511"/>
          </a:xfrm>
          <a:prstGeom prst="rect">
            <a:avLst/>
          </a:prstGeom>
          <a:noFill/>
          <a:ln>
            <a:noFill/>
          </a:ln>
        </p:spPr>
      </p:pic>
      <p:sp>
        <p:nvSpPr>
          <p:cNvPr id="397" name="Google Shape;397;p46"/>
          <p:cNvSpPr txBox="1"/>
          <p:nvPr/>
        </p:nvSpPr>
        <p:spPr>
          <a:xfrm>
            <a:off x="20962316" y="13347769"/>
            <a:ext cx="3395854" cy="419101"/>
          </a:xfrm>
          <a:prstGeom prst="rect">
            <a:avLst/>
          </a:prstGeom>
          <a:noFill/>
          <a:ln>
            <a:noFill/>
          </a:ln>
        </p:spPr>
        <p:txBody>
          <a:bodyPr spcFirstLastPara="1" wrap="square" lIns="50800" tIns="50800" rIns="50800" bIns="50800" anchor="ctr" anchorCtr="0">
            <a:spAutoFit/>
          </a:bodyPr>
          <a:lstStyle/>
          <a:p>
            <a:pPr marL="0" marR="0" lvl="0" indent="0" algn="r" rtl="0">
              <a:lnSpc>
                <a:spcPct val="100000"/>
              </a:lnSpc>
              <a:spcBef>
                <a:spcPts val="0"/>
              </a:spcBef>
              <a:spcAft>
                <a:spcPts val="0"/>
              </a:spcAft>
              <a:buClr>
                <a:srgbClr val="5E5E5E"/>
              </a:buClr>
              <a:buSzPts val="1800"/>
              <a:buFont typeface="Avenir"/>
              <a:buNone/>
            </a:pPr>
            <a:r>
              <a:rPr lang="en-US" sz="1800" b="0" i="0" u="none" strike="noStrike" cap="none">
                <a:solidFill>
                  <a:srgbClr val="5E5E5E"/>
                </a:solidFill>
                <a:latin typeface="Avenir"/>
                <a:ea typeface="Avenir"/>
                <a:cs typeface="Avenir"/>
                <a:sym typeface="Avenir"/>
              </a:rPr>
              <a:t>Example adapted from Sal Khan</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401"/>
        <p:cNvGrpSpPr/>
        <p:nvPr/>
      </p:nvGrpSpPr>
      <p:grpSpPr>
        <a:xfrm>
          <a:off x="0" y="0"/>
          <a:ext cx="0" cy="0"/>
          <a:chOff x="0" y="0"/>
          <a:chExt cx="0" cy="0"/>
        </a:xfrm>
      </p:grpSpPr>
      <p:sp>
        <p:nvSpPr>
          <p:cNvPr id="402" name="Google Shape;402;p47"/>
          <p:cNvSpPr txBox="1">
            <a:spLocks noGrp="1"/>
          </p:cNvSpPr>
          <p:nvPr>
            <p:ph type="title"/>
          </p:nvPr>
        </p:nvSpPr>
        <p:spPr>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a:latin typeface="Avenir"/>
                <a:ea typeface="Avenir"/>
                <a:cs typeface="Avenir"/>
                <a:sym typeface="Avenir"/>
              </a:rPr>
              <a:t>A simple example</a:t>
            </a:r>
            <a:endParaRPr/>
          </a:p>
        </p:txBody>
      </p:sp>
      <p:sp>
        <p:nvSpPr>
          <p:cNvPr id="403" name="Google Shape;403;p47"/>
          <p:cNvSpPr txBox="1"/>
          <p:nvPr/>
        </p:nvSpPr>
        <p:spPr>
          <a:xfrm>
            <a:off x="1206500" y="2754183"/>
            <a:ext cx="9592134" cy="3759201"/>
          </a:xfrm>
          <a:prstGeom prst="rect">
            <a:avLst/>
          </a:prstGeom>
          <a:noFill/>
          <a:ln>
            <a:noFill/>
          </a:ln>
        </p:spPr>
        <p:txBody>
          <a:bodyPr spcFirstLastPara="1" wrap="square" lIns="50800" tIns="50800" rIns="50800" bIns="50800" anchor="ctr" anchorCtr="0">
            <a:spAutoFit/>
          </a:bodyPr>
          <a:lstStyle/>
          <a:p>
            <a:pPr marL="0" marR="0" lvl="0" indent="0" algn="just" rtl="0">
              <a:lnSpc>
                <a:spcPct val="100000"/>
              </a:lnSpc>
              <a:spcBef>
                <a:spcPts val="0"/>
              </a:spcBef>
              <a:spcAft>
                <a:spcPts val="0"/>
              </a:spcAft>
              <a:buClr>
                <a:srgbClr val="5E5E5E"/>
              </a:buClr>
              <a:buSzPts val="2600"/>
              <a:buFont typeface="Avenir"/>
              <a:buNone/>
            </a:pPr>
            <a:r>
              <a:rPr lang="en-US" sz="2600" b="0" i="0" u="none" strike="noStrike" cap="none">
                <a:solidFill>
                  <a:srgbClr val="5E5E5E"/>
                </a:solidFill>
                <a:latin typeface="Avenir"/>
                <a:ea typeface="Avenir"/>
                <a:cs typeface="Avenir"/>
                <a:sym typeface="Avenir"/>
              </a:rPr>
              <a:t>A neurologist is testing the effect of a drug on response time by injecting 100 rats with a unit dose of the drug subjecting each to neurological stimulus and recording its response time. The neurologist knows that the mean response time for rats not injected with the drug is 1.2 seconds. The mean of the 100 injected rats response times is 1.05 seconds with the sample standard deviation of 0.5 seconds. Do you think that the drug has an effect on response time ? </a:t>
            </a:r>
            <a:endParaRPr/>
          </a:p>
        </p:txBody>
      </p:sp>
      <p:sp>
        <p:nvSpPr>
          <p:cNvPr id="404" name="Google Shape;404;p47"/>
          <p:cNvSpPr txBox="1"/>
          <p:nvPr/>
        </p:nvSpPr>
        <p:spPr>
          <a:xfrm>
            <a:off x="13716000" y="3581399"/>
            <a:ext cx="2545081" cy="13462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H</a:t>
            </a:r>
            <a:r>
              <a:rPr lang="en-US" sz="3600" b="0" i="0" u="none" strike="noStrike" cap="none" baseline="-25000">
                <a:solidFill>
                  <a:srgbClr val="5E5E5E"/>
                </a:solidFill>
                <a:latin typeface="Avenir"/>
                <a:ea typeface="Avenir"/>
                <a:cs typeface="Avenir"/>
                <a:sym typeface="Avenir"/>
              </a:rPr>
              <a:t>0</a:t>
            </a:r>
            <a:r>
              <a:rPr lang="en-US" sz="3600" b="0" i="0" u="none" strike="noStrike" cap="none">
                <a:solidFill>
                  <a:srgbClr val="5E5E5E"/>
                </a:solidFill>
                <a:latin typeface="Avenir"/>
                <a:ea typeface="Avenir"/>
                <a:cs typeface="Avenir"/>
                <a:sym typeface="Avenir"/>
              </a:rPr>
              <a:t>: µ = 1.2 s</a:t>
            </a:r>
            <a:endParaRPr/>
          </a:p>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H</a:t>
            </a:r>
            <a:r>
              <a:rPr lang="en-US" sz="3600" b="0" i="0" u="none" strike="noStrike" cap="none" baseline="-25000">
                <a:solidFill>
                  <a:srgbClr val="5E5E5E"/>
                </a:solidFill>
                <a:latin typeface="Avenir"/>
                <a:ea typeface="Avenir"/>
                <a:cs typeface="Avenir"/>
                <a:sym typeface="Avenir"/>
              </a:rPr>
              <a:t>1</a:t>
            </a:r>
            <a:r>
              <a:rPr lang="en-US" sz="3600" b="0" i="0" u="none" strike="noStrike" cap="none">
                <a:solidFill>
                  <a:srgbClr val="5E5E5E"/>
                </a:solidFill>
                <a:latin typeface="Avenir"/>
                <a:ea typeface="Avenir"/>
                <a:cs typeface="Avenir"/>
                <a:sym typeface="Avenir"/>
              </a:rPr>
              <a:t>: µ ≠ 1.2 s</a:t>
            </a:r>
            <a:endParaRPr/>
          </a:p>
        </p:txBody>
      </p:sp>
      <p:cxnSp>
        <p:nvCxnSpPr>
          <p:cNvPr id="405" name="Google Shape;405;p47"/>
          <p:cNvCxnSpPr/>
          <p:nvPr/>
        </p:nvCxnSpPr>
        <p:spPr>
          <a:xfrm>
            <a:off x="2498819" y="12538269"/>
            <a:ext cx="7973403" cy="1"/>
          </a:xfrm>
          <a:prstGeom prst="straightConnector1">
            <a:avLst/>
          </a:prstGeom>
          <a:noFill/>
          <a:ln w="25400" cap="flat" cmpd="sng">
            <a:solidFill>
              <a:srgbClr val="000000"/>
            </a:solidFill>
            <a:prstDash val="solid"/>
            <a:miter lim="400000"/>
            <a:headEnd type="none" w="sm" len="sm"/>
            <a:tailEnd type="none" w="sm" len="sm"/>
          </a:ln>
        </p:spPr>
      </p:cxnSp>
      <p:pic>
        <p:nvPicPr>
          <p:cNvPr id="406" name="Google Shape;406;p47" descr="Image"/>
          <p:cNvPicPr preferRelativeResize="0"/>
          <p:nvPr/>
        </p:nvPicPr>
        <p:blipFill rotWithShape="1">
          <a:blip r:embed="rId3">
            <a:alphaModFix/>
          </a:blip>
          <a:srcRect/>
          <a:stretch/>
        </p:blipFill>
        <p:spPr>
          <a:xfrm>
            <a:off x="2891287" y="8395964"/>
            <a:ext cx="7188468" cy="3951586"/>
          </a:xfrm>
          <a:prstGeom prst="rect">
            <a:avLst/>
          </a:prstGeom>
          <a:noFill/>
          <a:ln>
            <a:noFill/>
          </a:ln>
        </p:spPr>
      </p:pic>
      <p:cxnSp>
        <p:nvCxnSpPr>
          <p:cNvPr id="407" name="Google Shape;407;p47"/>
          <p:cNvCxnSpPr/>
          <p:nvPr/>
        </p:nvCxnSpPr>
        <p:spPr>
          <a:xfrm rot="10800000" flipH="1">
            <a:off x="6472820" y="8483256"/>
            <a:ext cx="1" cy="3951586"/>
          </a:xfrm>
          <a:prstGeom prst="straightConnector1">
            <a:avLst/>
          </a:prstGeom>
          <a:noFill/>
          <a:ln w="25400" cap="flat" cmpd="sng">
            <a:solidFill>
              <a:srgbClr val="000000"/>
            </a:solidFill>
            <a:prstDash val="dashDot"/>
            <a:miter lim="400000"/>
            <a:headEnd type="none" w="sm" len="sm"/>
            <a:tailEnd type="none" w="sm" len="sm"/>
          </a:ln>
        </p:spPr>
      </p:cxnSp>
      <p:sp>
        <p:nvSpPr>
          <p:cNvPr id="409" name="Google Shape;409;p47"/>
          <p:cNvSpPr txBox="1"/>
          <p:nvPr/>
        </p:nvSpPr>
        <p:spPr>
          <a:xfrm>
            <a:off x="2172061" y="8014559"/>
            <a:ext cx="2560169" cy="7239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Assume H</a:t>
            </a:r>
            <a:r>
              <a:rPr lang="en-US" sz="3600" b="0" i="0" u="none" strike="noStrike" cap="none" baseline="-25000">
                <a:solidFill>
                  <a:srgbClr val="5E5E5E"/>
                </a:solidFill>
                <a:latin typeface="Avenir"/>
                <a:ea typeface="Avenir"/>
                <a:cs typeface="Avenir"/>
                <a:sym typeface="Avenir"/>
              </a:rPr>
              <a:t>0</a:t>
            </a:r>
            <a:r>
              <a:rPr lang="en-US" sz="3600" b="0" i="0" u="none" strike="noStrike" cap="none">
                <a:solidFill>
                  <a:srgbClr val="5E5E5E"/>
                </a:solidFill>
                <a:latin typeface="Avenir"/>
                <a:ea typeface="Avenir"/>
                <a:cs typeface="Avenir"/>
                <a:sym typeface="Avenir"/>
              </a:rPr>
              <a:t>: </a:t>
            </a:r>
            <a:endParaRPr/>
          </a:p>
        </p:txBody>
      </p:sp>
      <p:sp>
        <p:nvSpPr>
          <p:cNvPr id="410" name="Google Shape;410;p47"/>
          <p:cNvSpPr txBox="1"/>
          <p:nvPr/>
        </p:nvSpPr>
        <p:spPr>
          <a:xfrm>
            <a:off x="13716000" y="5675013"/>
            <a:ext cx="4525823" cy="7239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Calculate test statistic</a:t>
            </a:r>
            <a:endParaRPr/>
          </a:p>
        </p:txBody>
      </p:sp>
      <p:pic>
        <p:nvPicPr>
          <p:cNvPr id="411" name="Google Shape;411;p47" descr="Image"/>
          <p:cNvPicPr preferRelativeResize="0"/>
          <p:nvPr/>
        </p:nvPicPr>
        <p:blipFill rotWithShape="1">
          <a:blip r:embed="rId4">
            <a:alphaModFix/>
          </a:blip>
          <a:srcRect/>
          <a:stretch/>
        </p:blipFill>
        <p:spPr>
          <a:xfrm>
            <a:off x="18338645" y="5042325"/>
            <a:ext cx="4572958" cy="2314511"/>
          </a:xfrm>
          <a:prstGeom prst="rect">
            <a:avLst/>
          </a:prstGeom>
          <a:noFill/>
          <a:ln>
            <a:noFill/>
          </a:ln>
        </p:spPr>
      </p:pic>
      <p:sp>
        <p:nvSpPr>
          <p:cNvPr id="412" name="Google Shape;412;p47"/>
          <p:cNvSpPr txBox="1"/>
          <p:nvPr/>
        </p:nvSpPr>
        <p:spPr>
          <a:xfrm>
            <a:off x="18701367" y="4412388"/>
            <a:ext cx="1004013" cy="7239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chemeClr val="accent1"/>
              </a:buClr>
              <a:buSzPts val="3600"/>
              <a:buFont typeface="Avenir"/>
              <a:buNone/>
            </a:pPr>
            <a:r>
              <a:rPr lang="en-US" sz="3600" b="0" i="0" u="none" strike="noStrike" cap="none">
                <a:solidFill>
                  <a:schemeClr val="accent1"/>
                </a:solidFill>
                <a:latin typeface="Avenir"/>
                <a:ea typeface="Avenir"/>
                <a:cs typeface="Avenir"/>
                <a:sym typeface="Avenir"/>
              </a:rPr>
              <a:t>1.05</a:t>
            </a:r>
            <a:endParaRPr/>
          </a:p>
        </p:txBody>
      </p:sp>
      <p:pic>
        <p:nvPicPr>
          <p:cNvPr id="413" name="Google Shape;413;p47" descr="Connection Line"/>
          <p:cNvPicPr preferRelativeResize="0"/>
          <p:nvPr/>
        </p:nvPicPr>
        <p:blipFill rotWithShape="1">
          <a:blip r:embed="rId5">
            <a:alphaModFix/>
          </a:blip>
          <a:srcRect/>
          <a:stretch/>
        </p:blipFill>
        <p:spPr>
          <a:xfrm>
            <a:off x="19845780" y="4726009"/>
            <a:ext cx="714257" cy="604702"/>
          </a:xfrm>
          <a:prstGeom prst="rect">
            <a:avLst/>
          </a:prstGeom>
          <a:noFill/>
          <a:ln>
            <a:noFill/>
          </a:ln>
        </p:spPr>
      </p:pic>
      <p:sp>
        <p:nvSpPr>
          <p:cNvPr id="414" name="Google Shape;414;p47"/>
          <p:cNvSpPr txBox="1"/>
          <p:nvPr/>
        </p:nvSpPr>
        <p:spPr>
          <a:xfrm>
            <a:off x="18663330" y="7373203"/>
            <a:ext cx="749809" cy="7239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chemeClr val="accent1"/>
              </a:buClr>
              <a:buSzPts val="3600"/>
              <a:buFont typeface="Avenir"/>
              <a:buNone/>
            </a:pPr>
            <a:r>
              <a:rPr lang="en-US" sz="3600" b="0" i="0" u="none" strike="noStrike" cap="none">
                <a:solidFill>
                  <a:schemeClr val="accent1"/>
                </a:solidFill>
                <a:latin typeface="Avenir"/>
                <a:ea typeface="Avenir"/>
                <a:cs typeface="Avenir"/>
                <a:sym typeface="Avenir"/>
              </a:rPr>
              <a:t>0.5</a:t>
            </a:r>
            <a:endParaRPr/>
          </a:p>
        </p:txBody>
      </p:sp>
      <p:pic>
        <p:nvPicPr>
          <p:cNvPr id="415" name="Google Shape;415;p47" descr="Connection Line"/>
          <p:cNvPicPr preferRelativeResize="0"/>
          <p:nvPr/>
        </p:nvPicPr>
        <p:blipFill rotWithShape="1">
          <a:blip r:embed="rId6">
            <a:alphaModFix/>
          </a:blip>
          <a:srcRect/>
          <a:stretch/>
        </p:blipFill>
        <p:spPr>
          <a:xfrm>
            <a:off x="19670497" y="7102543"/>
            <a:ext cx="702588" cy="604702"/>
          </a:xfrm>
          <a:prstGeom prst="rect">
            <a:avLst/>
          </a:prstGeom>
          <a:noFill/>
          <a:ln>
            <a:noFill/>
          </a:ln>
        </p:spPr>
      </p:pic>
      <p:sp>
        <p:nvSpPr>
          <p:cNvPr id="416" name="Google Shape;416;p47"/>
          <p:cNvSpPr txBox="1"/>
          <p:nvPr/>
        </p:nvSpPr>
        <p:spPr>
          <a:xfrm>
            <a:off x="22689745" y="7373203"/>
            <a:ext cx="876911" cy="7239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chemeClr val="accent1"/>
              </a:buClr>
              <a:buSzPts val="3600"/>
              <a:buFont typeface="Avenir"/>
              <a:buNone/>
            </a:pPr>
            <a:r>
              <a:rPr lang="en-US" sz="3600" b="0" i="0" u="none" strike="noStrike" cap="none">
                <a:solidFill>
                  <a:schemeClr val="accent1"/>
                </a:solidFill>
                <a:latin typeface="Avenir"/>
                <a:ea typeface="Avenir"/>
                <a:cs typeface="Avenir"/>
                <a:sym typeface="Avenir"/>
              </a:rPr>
              <a:t>100</a:t>
            </a:r>
            <a:endParaRPr/>
          </a:p>
        </p:txBody>
      </p:sp>
      <p:pic>
        <p:nvPicPr>
          <p:cNvPr id="417" name="Google Shape;417;p47" descr="Connection Line"/>
          <p:cNvPicPr preferRelativeResize="0"/>
          <p:nvPr/>
        </p:nvPicPr>
        <p:blipFill rotWithShape="1">
          <a:blip r:embed="rId7">
            <a:alphaModFix/>
          </a:blip>
          <a:srcRect/>
          <a:stretch/>
        </p:blipFill>
        <p:spPr>
          <a:xfrm>
            <a:off x="21770319" y="7102543"/>
            <a:ext cx="714257" cy="604702"/>
          </a:xfrm>
          <a:prstGeom prst="rect">
            <a:avLst/>
          </a:prstGeom>
          <a:noFill/>
          <a:ln>
            <a:noFill/>
          </a:ln>
        </p:spPr>
      </p:pic>
      <p:sp>
        <p:nvSpPr>
          <p:cNvPr id="418" name="Google Shape;418;p47"/>
          <p:cNvSpPr txBox="1"/>
          <p:nvPr/>
        </p:nvSpPr>
        <p:spPr>
          <a:xfrm>
            <a:off x="22753295" y="4412388"/>
            <a:ext cx="749809" cy="7239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chemeClr val="accent1"/>
              </a:buClr>
              <a:buSzPts val="3600"/>
              <a:buFont typeface="Avenir"/>
              <a:buNone/>
            </a:pPr>
            <a:r>
              <a:rPr lang="en-US" sz="3600" b="0" i="0" u="none" strike="noStrike" cap="none">
                <a:solidFill>
                  <a:schemeClr val="accent1"/>
                </a:solidFill>
                <a:latin typeface="Avenir"/>
                <a:ea typeface="Avenir"/>
                <a:cs typeface="Avenir"/>
                <a:sym typeface="Avenir"/>
              </a:rPr>
              <a:t>1.2</a:t>
            </a:r>
            <a:endParaRPr/>
          </a:p>
        </p:txBody>
      </p:sp>
      <p:pic>
        <p:nvPicPr>
          <p:cNvPr id="419" name="Google Shape;419;p47" descr="Connection Line"/>
          <p:cNvPicPr preferRelativeResize="0"/>
          <p:nvPr/>
        </p:nvPicPr>
        <p:blipFill rotWithShape="1">
          <a:blip r:embed="rId8">
            <a:alphaModFix/>
          </a:blip>
          <a:srcRect/>
          <a:stretch/>
        </p:blipFill>
        <p:spPr>
          <a:xfrm>
            <a:off x="21781986" y="4726009"/>
            <a:ext cx="702589" cy="604702"/>
          </a:xfrm>
          <a:prstGeom prst="rect">
            <a:avLst/>
          </a:prstGeom>
          <a:noFill/>
          <a:ln>
            <a:noFill/>
          </a:ln>
        </p:spPr>
      </p:pic>
      <p:sp>
        <p:nvSpPr>
          <p:cNvPr id="420" name="Google Shape;420;p47"/>
          <p:cNvSpPr txBox="1"/>
          <p:nvPr/>
        </p:nvSpPr>
        <p:spPr>
          <a:xfrm>
            <a:off x="20962316" y="13347769"/>
            <a:ext cx="3395854" cy="419101"/>
          </a:xfrm>
          <a:prstGeom prst="rect">
            <a:avLst/>
          </a:prstGeom>
          <a:noFill/>
          <a:ln>
            <a:noFill/>
          </a:ln>
        </p:spPr>
        <p:txBody>
          <a:bodyPr spcFirstLastPara="1" wrap="square" lIns="50800" tIns="50800" rIns="50800" bIns="50800" anchor="ctr" anchorCtr="0">
            <a:spAutoFit/>
          </a:bodyPr>
          <a:lstStyle/>
          <a:p>
            <a:pPr marL="0" marR="0" lvl="0" indent="0" algn="r" rtl="0">
              <a:lnSpc>
                <a:spcPct val="100000"/>
              </a:lnSpc>
              <a:spcBef>
                <a:spcPts val="0"/>
              </a:spcBef>
              <a:spcAft>
                <a:spcPts val="0"/>
              </a:spcAft>
              <a:buClr>
                <a:srgbClr val="5E5E5E"/>
              </a:buClr>
              <a:buSzPts val="1800"/>
              <a:buFont typeface="Avenir"/>
              <a:buNone/>
            </a:pPr>
            <a:r>
              <a:rPr lang="en-US" sz="1800" b="0" i="0" u="none" strike="noStrike" cap="none">
                <a:solidFill>
                  <a:srgbClr val="5E5E5E"/>
                </a:solidFill>
                <a:latin typeface="Avenir"/>
                <a:ea typeface="Avenir"/>
                <a:cs typeface="Avenir"/>
                <a:sym typeface="Avenir"/>
              </a:rPr>
              <a:t>Example adapted from Sal Khan</a:t>
            </a:r>
            <a:endParaRPr/>
          </a:p>
        </p:txBody>
      </p:sp>
      <p:sp>
        <p:nvSpPr>
          <p:cNvPr id="2" name="Google Shape;393;p46">
            <a:extLst>
              <a:ext uri="{FF2B5EF4-FFF2-40B4-BE49-F238E27FC236}">
                <a16:creationId xmlns:a16="http://schemas.microsoft.com/office/drawing/2014/main" id="{D8B201C3-CC31-1ADC-291F-27DC6E57FDC7}"/>
              </a:ext>
            </a:extLst>
          </p:cNvPr>
          <p:cNvSpPr txBox="1"/>
          <p:nvPr/>
        </p:nvSpPr>
        <p:spPr>
          <a:xfrm>
            <a:off x="5912446" y="12753379"/>
            <a:ext cx="1469661" cy="471924"/>
          </a:xfrm>
          <a:prstGeom prst="rect">
            <a:avLst/>
          </a:prstGeom>
          <a:noFill/>
          <a:ln>
            <a:noFill/>
          </a:ln>
        </p:spPr>
        <p:txBody>
          <a:bodyPr spcFirstLastPara="1" wrap="square" lIns="50800" tIns="50800" rIns="50800" bIns="50800" anchor="ctr" anchorCtr="0">
            <a:spAutoFit/>
          </a:bodyPr>
          <a:lstStyle/>
          <a:p>
            <a:pPr lvl="0">
              <a:buClr>
                <a:srgbClr val="5E5E5E"/>
              </a:buClr>
              <a:buSzPts val="2400"/>
            </a:pPr>
            <a:r>
              <a:rPr lang="en-US" sz="2400" b="0" i="0" u="none" strike="noStrike" cap="none" dirty="0">
                <a:solidFill>
                  <a:srgbClr val="5E5E5E"/>
                </a:solidFill>
                <a:latin typeface="Avenir"/>
                <a:ea typeface="Avenir"/>
                <a:cs typeface="Avenir"/>
                <a:sym typeface="Avenir"/>
              </a:rPr>
              <a:t>µ = </a:t>
            </a:r>
            <a:r>
              <a:rPr lang="en-US" sz="2400" dirty="0">
                <a:solidFill>
                  <a:srgbClr val="5E5E5E"/>
                </a:solidFill>
                <a:latin typeface="Avenir"/>
                <a:ea typeface="Avenir"/>
                <a:cs typeface="Avenir"/>
                <a:sym typeface="Avenir"/>
              </a:rPr>
              <a:t>1.2 s</a:t>
            </a: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424"/>
        <p:cNvGrpSpPr/>
        <p:nvPr/>
      </p:nvGrpSpPr>
      <p:grpSpPr>
        <a:xfrm>
          <a:off x="0" y="0"/>
          <a:ext cx="0" cy="0"/>
          <a:chOff x="0" y="0"/>
          <a:chExt cx="0" cy="0"/>
        </a:xfrm>
      </p:grpSpPr>
      <p:sp>
        <p:nvSpPr>
          <p:cNvPr id="425" name="Google Shape;425;p48"/>
          <p:cNvSpPr txBox="1">
            <a:spLocks noGrp="1"/>
          </p:cNvSpPr>
          <p:nvPr>
            <p:ph type="title"/>
          </p:nvPr>
        </p:nvSpPr>
        <p:spPr>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a:latin typeface="Avenir"/>
                <a:ea typeface="Avenir"/>
                <a:cs typeface="Avenir"/>
                <a:sym typeface="Avenir"/>
              </a:rPr>
              <a:t>A simple example</a:t>
            </a:r>
            <a:endParaRPr/>
          </a:p>
        </p:txBody>
      </p:sp>
      <p:sp>
        <p:nvSpPr>
          <p:cNvPr id="426" name="Google Shape;426;p48"/>
          <p:cNvSpPr txBox="1"/>
          <p:nvPr/>
        </p:nvSpPr>
        <p:spPr>
          <a:xfrm>
            <a:off x="1206500" y="2754183"/>
            <a:ext cx="9592134" cy="3759201"/>
          </a:xfrm>
          <a:prstGeom prst="rect">
            <a:avLst/>
          </a:prstGeom>
          <a:noFill/>
          <a:ln>
            <a:noFill/>
          </a:ln>
        </p:spPr>
        <p:txBody>
          <a:bodyPr spcFirstLastPara="1" wrap="square" lIns="50800" tIns="50800" rIns="50800" bIns="50800" anchor="ctr" anchorCtr="0">
            <a:spAutoFit/>
          </a:bodyPr>
          <a:lstStyle/>
          <a:p>
            <a:pPr marL="0" marR="0" lvl="0" indent="0" algn="just" rtl="0">
              <a:lnSpc>
                <a:spcPct val="100000"/>
              </a:lnSpc>
              <a:spcBef>
                <a:spcPts val="0"/>
              </a:spcBef>
              <a:spcAft>
                <a:spcPts val="0"/>
              </a:spcAft>
              <a:buClr>
                <a:srgbClr val="5E5E5E"/>
              </a:buClr>
              <a:buSzPts val="2600"/>
              <a:buFont typeface="Avenir"/>
              <a:buNone/>
            </a:pPr>
            <a:r>
              <a:rPr lang="en-US" sz="2600" b="0" i="0" u="none" strike="noStrike" cap="none">
                <a:solidFill>
                  <a:srgbClr val="5E5E5E"/>
                </a:solidFill>
                <a:latin typeface="Avenir"/>
                <a:ea typeface="Avenir"/>
                <a:cs typeface="Avenir"/>
                <a:sym typeface="Avenir"/>
              </a:rPr>
              <a:t>A neurologist is testing the effect of a drug on response time by injecting 100 rats with a unit dose of the drug subjecting each to neurological stimulus and recording its response time. The neurologist knows that the mean response time for rats not injected with the drug is 1.2 seconds. The mean of the 100 injected rats response times is 1.05 seconds with the sample standard deviation of 0.5 seconds. Do you think that the drug has an effect on response time ? </a:t>
            </a:r>
            <a:endParaRPr/>
          </a:p>
        </p:txBody>
      </p:sp>
      <p:sp>
        <p:nvSpPr>
          <p:cNvPr id="427" name="Google Shape;427;p48"/>
          <p:cNvSpPr txBox="1"/>
          <p:nvPr/>
        </p:nvSpPr>
        <p:spPr>
          <a:xfrm>
            <a:off x="13716000" y="3581399"/>
            <a:ext cx="2545081" cy="13462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H</a:t>
            </a:r>
            <a:r>
              <a:rPr lang="en-US" sz="3600" b="0" i="0" u="none" strike="noStrike" cap="none" baseline="-25000">
                <a:solidFill>
                  <a:srgbClr val="5E5E5E"/>
                </a:solidFill>
                <a:latin typeface="Avenir"/>
                <a:ea typeface="Avenir"/>
                <a:cs typeface="Avenir"/>
                <a:sym typeface="Avenir"/>
              </a:rPr>
              <a:t>0</a:t>
            </a:r>
            <a:r>
              <a:rPr lang="en-US" sz="3600" b="0" i="0" u="none" strike="noStrike" cap="none">
                <a:solidFill>
                  <a:srgbClr val="5E5E5E"/>
                </a:solidFill>
                <a:latin typeface="Avenir"/>
                <a:ea typeface="Avenir"/>
                <a:cs typeface="Avenir"/>
                <a:sym typeface="Avenir"/>
              </a:rPr>
              <a:t>: µ = 1.2 s</a:t>
            </a:r>
            <a:endParaRPr/>
          </a:p>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H</a:t>
            </a:r>
            <a:r>
              <a:rPr lang="en-US" sz="3600" b="0" i="0" u="none" strike="noStrike" cap="none" baseline="-25000">
                <a:solidFill>
                  <a:srgbClr val="5E5E5E"/>
                </a:solidFill>
                <a:latin typeface="Avenir"/>
                <a:ea typeface="Avenir"/>
                <a:cs typeface="Avenir"/>
                <a:sym typeface="Avenir"/>
              </a:rPr>
              <a:t>1</a:t>
            </a:r>
            <a:r>
              <a:rPr lang="en-US" sz="3600" b="0" i="0" u="none" strike="noStrike" cap="none">
                <a:solidFill>
                  <a:srgbClr val="5E5E5E"/>
                </a:solidFill>
                <a:latin typeface="Avenir"/>
                <a:ea typeface="Avenir"/>
                <a:cs typeface="Avenir"/>
                <a:sym typeface="Avenir"/>
              </a:rPr>
              <a:t>: µ ≠ 1.2 s</a:t>
            </a:r>
            <a:endParaRPr/>
          </a:p>
        </p:txBody>
      </p:sp>
      <p:cxnSp>
        <p:nvCxnSpPr>
          <p:cNvPr id="428" name="Google Shape;428;p48"/>
          <p:cNvCxnSpPr/>
          <p:nvPr/>
        </p:nvCxnSpPr>
        <p:spPr>
          <a:xfrm>
            <a:off x="2498819" y="12538269"/>
            <a:ext cx="7973403" cy="1"/>
          </a:xfrm>
          <a:prstGeom prst="straightConnector1">
            <a:avLst/>
          </a:prstGeom>
          <a:noFill/>
          <a:ln w="25400" cap="flat" cmpd="sng">
            <a:solidFill>
              <a:srgbClr val="000000"/>
            </a:solidFill>
            <a:prstDash val="solid"/>
            <a:miter lim="400000"/>
            <a:headEnd type="none" w="sm" len="sm"/>
            <a:tailEnd type="none" w="sm" len="sm"/>
          </a:ln>
        </p:spPr>
      </p:cxnSp>
      <p:pic>
        <p:nvPicPr>
          <p:cNvPr id="429" name="Google Shape;429;p48" descr="Image"/>
          <p:cNvPicPr preferRelativeResize="0"/>
          <p:nvPr/>
        </p:nvPicPr>
        <p:blipFill rotWithShape="1">
          <a:blip r:embed="rId3">
            <a:alphaModFix/>
          </a:blip>
          <a:srcRect/>
          <a:stretch/>
        </p:blipFill>
        <p:spPr>
          <a:xfrm>
            <a:off x="2891287" y="8395964"/>
            <a:ext cx="7188468" cy="3951586"/>
          </a:xfrm>
          <a:prstGeom prst="rect">
            <a:avLst/>
          </a:prstGeom>
          <a:noFill/>
          <a:ln>
            <a:noFill/>
          </a:ln>
        </p:spPr>
      </p:pic>
      <p:cxnSp>
        <p:nvCxnSpPr>
          <p:cNvPr id="430" name="Google Shape;430;p48"/>
          <p:cNvCxnSpPr/>
          <p:nvPr/>
        </p:nvCxnSpPr>
        <p:spPr>
          <a:xfrm rot="10800000" flipH="1">
            <a:off x="6472820" y="8483256"/>
            <a:ext cx="1" cy="3951586"/>
          </a:xfrm>
          <a:prstGeom prst="straightConnector1">
            <a:avLst/>
          </a:prstGeom>
          <a:noFill/>
          <a:ln w="25400" cap="flat" cmpd="sng">
            <a:solidFill>
              <a:srgbClr val="000000"/>
            </a:solidFill>
            <a:prstDash val="dashDot"/>
            <a:miter lim="400000"/>
            <a:headEnd type="none" w="sm" len="sm"/>
            <a:tailEnd type="none" w="sm" len="sm"/>
          </a:ln>
        </p:spPr>
      </p:cxnSp>
      <p:sp>
        <p:nvSpPr>
          <p:cNvPr id="432" name="Google Shape;432;p48"/>
          <p:cNvSpPr txBox="1"/>
          <p:nvPr/>
        </p:nvSpPr>
        <p:spPr>
          <a:xfrm>
            <a:off x="2172061" y="8014559"/>
            <a:ext cx="2560169" cy="7239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Assume H</a:t>
            </a:r>
            <a:r>
              <a:rPr lang="en-US" sz="3600" b="0" i="0" u="none" strike="noStrike" cap="none" baseline="-25000">
                <a:solidFill>
                  <a:srgbClr val="5E5E5E"/>
                </a:solidFill>
                <a:latin typeface="Avenir"/>
                <a:ea typeface="Avenir"/>
                <a:cs typeface="Avenir"/>
                <a:sym typeface="Avenir"/>
              </a:rPr>
              <a:t>0</a:t>
            </a:r>
            <a:r>
              <a:rPr lang="en-US" sz="3600" b="0" i="0" u="none" strike="noStrike" cap="none">
                <a:solidFill>
                  <a:srgbClr val="5E5E5E"/>
                </a:solidFill>
                <a:latin typeface="Avenir"/>
                <a:ea typeface="Avenir"/>
                <a:cs typeface="Avenir"/>
                <a:sym typeface="Avenir"/>
              </a:rPr>
              <a:t>: </a:t>
            </a:r>
            <a:endParaRPr/>
          </a:p>
        </p:txBody>
      </p:sp>
      <p:sp>
        <p:nvSpPr>
          <p:cNvPr id="433" name="Google Shape;433;p48"/>
          <p:cNvSpPr txBox="1"/>
          <p:nvPr/>
        </p:nvSpPr>
        <p:spPr>
          <a:xfrm>
            <a:off x="13716000" y="5675013"/>
            <a:ext cx="4525823" cy="7239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Calculate test statistic</a:t>
            </a:r>
            <a:endParaRPr/>
          </a:p>
        </p:txBody>
      </p:sp>
      <p:pic>
        <p:nvPicPr>
          <p:cNvPr id="434" name="Google Shape;434;p48" descr="Image"/>
          <p:cNvPicPr preferRelativeResize="0"/>
          <p:nvPr/>
        </p:nvPicPr>
        <p:blipFill rotWithShape="1">
          <a:blip r:embed="rId4">
            <a:alphaModFix/>
          </a:blip>
          <a:srcRect/>
          <a:stretch/>
        </p:blipFill>
        <p:spPr>
          <a:xfrm>
            <a:off x="18338645" y="5042325"/>
            <a:ext cx="4572958" cy="2314511"/>
          </a:xfrm>
          <a:prstGeom prst="rect">
            <a:avLst/>
          </a:prstGeom>
          <a:noFill/>
          <a:ln>
            <a:noFill/>
          </a:ln>
        </p:spPr>
      </p:pic>
      <p:sp>
        <p:nvSpPr>
          <p:cNvPr id="435" name="Google Shape;435;p48"/>
          <p:cNvSpPr txBox="1"/>
          <p:nvPr/>
        </p:nvSpPr>
        <p:spPr>
          <a:xfrm>
            <a:off x="22383572" y="5700413"/>
            <a:ext cx="1079450" cy="7239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chemeClr val="accent1"/>
              </a:buClr>
              <a:buSzPts val="3600"/>
              <a:buFont typeface="Avenir"/>
              <a:buNone/>
            </a:pPr>
            <a:r>
              <a:rPr lang="en-US" sz="3600" b="0" i="0" u="none" strike="noStrike" cap="none">
                <a:solidFill>
                  <a:schemeClr val="accent1"/>
                </a:solidFill>
                <a:latin typeface="Avenir"/>
                <a:ea typeface="Avenir"/>
                <a:cs typeface="Avenir"/>
                <a:sym typeface="Avenir"/>
              </a:rPr>
              <a:t>= - 3</a:t>
            </a:r>
            <a:endParaRPr/>
          </a:p>
        </p:txBody>
      </p:sp>
      <p:sp>
        <p:nvSpPr>
          <p:cNvPr id="436" name="Google Shape;436;p48"/>
          <p:cNvSpPr txBox="1"/>
          <p:nvPr/>
        </p:nvSpPr>
        <p:spPr>
          <a:xfrm>
            <a:off x="20962316" y="13347769"/>
            <a:ext cx="3395854" cy="419101"/>
          </a:xfrm>
          <a:prstGeom prst="rect">
            <a:avLst/>
          </a:prstGeom>
          <a:noFill/>
          <a:ln>
            <a:noFill/>
          </a:ln>
        </p:spPr>
        <p:txBody>
          <a:bodyPr spcFirstLastPara="1" wrap="square" lIns="50800" tIns="50800" rIns="50800" bIns="50800" anchor="ctr" anchorCtr="0">
            <a:spAutoFit/>
          </a:bodyPr>
          <a:lstStyle/>
          <a:p>
            <a:pPr marL="0" marR="0" lvl="0" indent="0" algn="r" rtl="0">
              <a:lnSpc>
                <a:spcPct val="100000"/>
              </a:lnSpc>
              <a:spcBef>
                <a:spcPts val="0"/>
              </a:spcBef>
              <a:spcAft>
                <a:spcPts val="0"/>
              </a:spcAft>
              <a:buClr>
                <a:srgbClr val="5E5E5E"/>
              </a:buClr>
              <a:buSzPts val="1800"/>
              <a:buFont typeface="Avenir"/>
              <a:buNone/>
            </a:pPr>
            <a:r>
              <a:rPr lang="en-US" sz="1800" b="0" i="0" u="none" strike="noStrike" cap="none">
                <a:solidFill>
                  <a:srgbClr val="5E5E5E"/>
                </a:solidFill>
                <a:latin typeface="Avenir"/>
                <a:ea typeface="Avenir"/>
                <a:cs typeface="Avenir"/>
                <a:sym typeface="Avenir"/>
              </a:rPr>
              <a:t>Example adapted from Sal Khan</a:t>
            </a:r>
            <a:endParaRPr/>
          </a:p>
        </p:txBody>
      </p:sp>
      <p:sp>
        <p:nvSpPr>
          <p:cNvPr id="2" name="Google Shape;393;p46">
            <a:extLst>
              <a:ext uri="{FF2B5EF4-FFF2-40B4-BE49-F238E27FC236}">
                <a16:creationId xmlns:a16="http://schemas.microsoft.com/office/drawing/2014/main" id="{F3A35A18-526F-CF98-EF17-7718EE32DFAE}"/>
              </a:ext>
            </a:extLst>
          </p:cNvPr>
          <p:cNvSpPr txBox="1"/>
          <p:nvPr/>
        </p:nvSpPr>
        <p:spPr>
          <a:xfrm>
            <a:off x="5912446" y="12753379"/>
            <a:ext cx="1469661" cy="471924"/>
          </a:xfrm>
          <a:prstGeom prst="rect">
            <a:avLst/>
          </a:prstGeom>
          <a:noFill/>
          <a:ln>
            <a:noFill/>
          </a:ln>
        </p:spPr>
        <p:txBody>
          <a:bodyPr spcFirstLastPara="1" wrap="square" lIns="50800" tIns="50800" rIns="50800" bIns="50800" anchor="ctr" anchorCtr="0">
            <a:spAutoFit/>
          </a:bodyPr>
          <a:lstStyle/>
          <a:p>
            <a:pPr lvl="0">
              <a:buClr>
                <a:srgbClr val="5E5E5E"/>
              </a:buClr>
              <a:buSzPts val="2400"/>
            </a:pPr>
            <a:r>
              <a:rPr lang="en-US" sz="2400" b="0" i="0" u="none" strike="noStrike" cap="none" dirty="0">
                <a:solidFill>
                  <a:srgbClr val="5E5E5E"/>
                </a:solidFill>
                <a:latin typeface="Avenir"/>
                <a:ea typeface="Avenir"/>
                <a:cs typeface="Avenir"/>
                <a:sym typeface="Avenir"/>
              </a:rPr>
              <a:t>µ = </a:t>
            </a:r>
            <a:r>
              <a:rPr lang="en-US" sz="2400" dirty="0">
                <a:solidFill>
                  <a:srgbClr val="5E5E5E"/>
                </a:solidFill>
                <a:latin typeface="Avenir"/>
                <a:ea typeface="Avenir"/>
                <a:cs typeface="Avenir"/>
                <a:sym typeface="Avenir"/>
              </a:rPr>
              <a:t>1.2 s</a:t>
            </a:r>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440"/>
        <p:cNvGrpSpPr/>
        <p:nvPr/>
      </p:nvGrpSpPr>
      <p:grpSpPr>
        <a:xfrm>
          <a:off x="0" y="0"/>
          <a:ext cx="0" cy="0"/>
          <a:chOff x="0" y="0"/>
          <a:chExt cx="0" cy="0"/>
        </a:xfrm>
      </p:grpSpPr>
      <p:sp>
        <p:nvSpPr>
          <p:cNvPr id="441" name="Google Shape;441;p49"/>
          <p:cNvSpPr txBox="1">
            <a:spLocks noGrp="1"/>
          </p:cNvSpPr>
          <p:nvPr>
            <p:ph type="title"/>
          </p:nvPr>
        </p:nvSpPr>
        <p:spPr>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a:latin typeface="Avenir"/>
                <a:ea typeface="Avenir"/>
                <a:cs typeface="Avenir"/>
                <a:sym typeface="Avenir"/>
              </a:rPr>
              <a:t>A simple example</a:t>
            </a:r>
            <a:endParaRPr/>
          </a:p>
        </p:txBody>
      </p:sp>
      <p:sp>
        <p:nvSpPr>
          <p:cNvPr id="442" name="Google Shape;442;p49"/>
          <p:cNvSpPr txBox="1"/>
          <p:nvPr/>
        </p:nvSpPr>
        <p:spPr>
          <a:xfrm>
            <a:off x="1206500" y="2754183"/>
            <a:ext cx="9592134" cy="3759201"/>
          </a:xfrm>
          <a:prstGeom prst="rect">
            <a:avLst/>
          </a:prstGeom>
          <a:noFill/>
          <a:ln>
            <a:noFill/>
          </a:ln>
        </p:spPr>
        <p:txBody>
          <a:bodyPr spcFirstLastPara="1" wrap="square" lIns="50800" tIns="50800" rIns="50800" bIns="50800" anchor="ctr" anchorCtr="0">
            <a:spAutoFit/>
          </a:bodyPr>
          <a:lstStyle/>
          <a:p>
            <a:pPr marL="0" marR="0" lvl="0" indent="0" algn="just" rtl="0">
              <a:lnSpc>
                <a:spcPct val="100000"/>
              </a:lnSpc>
              <a:spcBef>
                <a:spcPts val="0"/>
              </a:spcBef>
              <a:spcAft>
                <a:spcPts val="0"/>
              </a:spcAft>
              <a:buClr>
                <a:srgbClr val="5E5E5E"/>
              </a:buClr>
              <a:buSzPts val="2600"/>
              <a:buFont typeface="Avenir"/>
              <a:buNone/>
            </a:pPr>
            <a:r>
              <a:rPr lang="en-US" sz="2600" b="0" i="0" u="none" strike="noStrike" cap="none">
                <a:solidFill>
                  <a:srgbClr val="5E5E5E"/>
                </a:solidFill>
                <a:latin typeface="Avenir"/>
                <a:ea typeface="Avenir"/>
                <a:cs typeface="Avenir"/>
                <a:sym typeface="Avenir"/>
              </a:rPr>
              <a:t>A neurologist is testing the effect of a drug on response time by injecting 100 rats with a unit dose of the drug subjecting each to neurological stimulus and recording its response time. The neurologist knows that the mean response time for rats not injected with the drug is 1.2 seconds. The mean of the 100 injected rats response times is 1.05 seconds with the sample standard deviation of 0.5 seconds. Do you think that the drug has an effect on response time ? </a:t>
            </a:r>
            <a:endParaRPr/>
          </a:p>
        </p:txBody>
      </p:sp>
      <p:cxnSp>
        <p:nvCxnSpPr>
          <p:cNvPr id="443" name="Google Shape;443;p49"/>
          <p:cNvCxnSpPr/>
          <p:nvPr/>
        </p:nvCxnSpPr>
        <p:spPr>
          <a:xfrm>
            <a:off x="2498819" y="12538269"/>
            <a:ext cx="7973403" cy="1"/>
          </a:xfrm>
          <a:prstGeom prst="straightConnector1">
            <a:avLst/>
          </a:prstGeom>
          <a:noFill/>
          <a:ln w="25400" cap="flat" cmpd="sng">
            <a:solidFill>
              <a:srgbClr val="000000"/>
            </a:solidFill>
            <a:prstDash val="solid"/>
            <a:miter lim="400000"/>
            <a:headEnd type="none" w="sm" len="sm"/>
            <a:tailEnd type="none" w="sm" len="sm"/>
          </a:ln>
        </p:spPr>
      </p:cxnSp>
      <p:pic>
        <p:nvPicPr>
          <p:cNvPr id="444" name="Google Shape;444;p49" descr="Image"/>
          <p:cNvPicPr preferRelativeResize="0"/>
          <p:nvPr/>
        </p:nvPicPr>
        <p:blipFill rotWithShape="1">
          <a:blip r:embed="rId3">
            <a:alphaModFix/>
          </a:blip>
          <a:srcRect/>
          <a:stretch/>
        </p:blipFill>
        <p:spPr>
          <a:xfrm>
            <a:off x="2891287" y="8395964"/>
            <a:ext cx="7188468" cy="3951586"/>
          </a:xfrm>
          <a:prstGeom prst="rect">
            <a:avLst/>
          </a:prstGeom>
          <a:noFill/>
          <a:ln>
            <a:noFill/>
          </a:ln>
        </p:spPr>
      </p:pic>
      <p:cxnSp>
        <p:nvCxnSpPr>
          <p:cNvPr id="445" name="Google Shape;445;p49"/>
          <p:cNvCxnSpPr/>
          <p:nvPr/>
        </p:nvCxnSpPr>
        <p:spPr>
          <a:xfrm rot="10800000" flipH="1">
            <a:off x="6472820" y="8483256"/>
            <a:ext cx="1" cy="3951586"/>
          </a:xfrm>
          <a:prstGeom prst="straightConnector1">
            <a:avLst/>
          </a:prstGeom>
          <a:noFill/>
          <a:ln w="25400" cap="flat" cmpd="sng">
            <a:solidFill>
              <a:srgbClr val="929292"/>
            </a:solidFill>
            <a:prstDash val="dashDot"/>
            <a:miter lim="400000"/>
            <a:headEnd type="none" w="sm" len="sm"/>
            <a:tailEnd type="none" w="sm" len="sm"/>
          </a:ln>
        </p:spPr>
      </p:cxnSp>
      <p:cxnSp>
        <p:nvCxnSpPr>
          <p:cNvPr id="447" name="Google Shape;447;p49"/>
          <p:cNvCxnSpPr/>
          <p:nvPr/>
        </p:nvCxnSpPr>
        <p:spPr>
          <a:xfrm rot="10800000" flipH="1">
            <a:off x="7339910" y="10018628"/>
            <a:ext cx="1" cy="2328922"/>
          </a:xfrm>
          <a:prstGeom prst="straightConnector1">
            <a:avLst/>
          </a:prstGeom>
          <a:noFill/>
          <a:ln w="25400" cap="flat" cmpd="sng">
            <a:solidFill>
              <a:srgbClr val="929292"/>
            </a:solidFill>
            <a:prstDash val="dashDot"/>
            <a:miter lim="400000"/>
            <a:headEnd type="none" w="sm" len="sm"/>
            <a:tailEnd type="none" w="sm" len="sm"/>
          </a:ln>
        </p:spPr>
      </p:cxnSp>
      <p:cxnSp>
        <p:nvCxnSpPr>
          <p:cNvPr id="448" name="Google Shape;448;p49"/>
          <p:cNvCxnSpPr/>
          <p:nvPr/>
        </p:nvCxnSpPr>
        <p:spPr>
          <a:xfrm rot="10800000" flipH="1">
            <a:off x="8206999" y="11414949"/>
            <a:ext cx="1" cy="1019893"/>
          </a:xfrm>
          <a:prstGeom prst="straightConnector1">
            <a:avLst/>
          </a:prstGeom>
          <a:noFill/>
          <a:ln w="25400" cap="flat" cmpd="sng">
            <a:solidFill>
              <a:srgbClr val="929292"/>
            </a:solidFill>
            <a:prstDash val="dashDot"/>
            <a:miter lim="400000"/>
            <a:headEnd type="none" w="sm" len="sm"/>
            <a:tailEnd type="none" w="sm" len="sm"/>
          </a:ln>
        </p:spPr>
      </p:cxnSp>
      <p:cxnSp>
        <p:nvCxnSpPr>
          <p:cNvPr id="449" name="Google Shape;449;p49"/>
          <p:cNvCxnSpPr/>
          <p:nvPr/>
        </p:nvCxnSpPr>
        <p:spPr>
          <a:xfrm rot="10800000" flipH="1">
            <a:off x="9074088" y="11975409"/>
            <a:ext cx="1" cy="459433"/>
          </a:xfrm>
          <a:prstGeom prst="straightConnector1">
            <a:avLst/>
          </a:prstGeom>
          <a:noFill/>
          <a:ln w="25400" cap="flat" cmpd="sng">
            <a:solidFill>
              <a:srgbClr val="929292"/>
            </a:solidFill>
            <a:prstDash val="dashDot"/>
            <a:miter lim="400000"/>
            <a:headEnd type="none" w="sm" len="sm"/>
            <a:tailEnd type="none" w="sm" len="sm"/>
          </a:ln>
        </p:spPr>
      </p:cxnSp>
      <p:cxnSp>
        <p:nvCxnSpPr>
          <p:cNvPr id="450" name="Google Shape;450;p49"/>
          <p:cNvCxnSpPr/>
          <p:nvPr/>
        </p:nvCxnSpPr>
        <p:spPr>
          <a:xfrm rot="10800000" flipH="1">
            <a:off x="3871552" y="12019056"/>
            <a:ext cx="1" cy="372140"/>
          </a:xfrm>
          <a:prstGeom prst="straightConnector1">
            <a:avLst/>
          </a:prstGeom>
          <a:noFill/>
          <a:ln w="25400" cap="flat" cmpd="sng">
            <a:solidFill>
              <a:srgbClr val="929292"/>
            </a:solidFill>
            <a:prstDash val="dashDot"/>
            <a:miter lim="400000"/>
            <a:headEnd type="none" w="sm" len="sm"/>
            <a:tailEnd type="none" w="sm" len="sm"/>
          </a:ln>
        </p:spPr>
      </p:cxnSp>
      <p:cxnSp>
        <p:nvCxnSpPr>
          <p:cNvPr id="451" name="Google Shape;451;p49"/>
          <p:cNvCxnSpPr/>
          <p:nvPr/>
        </p:nvCxnSpPr>
        <p:spPr>
          <a:xfrm rot="10800000" flipH="1">
            <a:off x="4738642" y="11371302"/>
            <a:ext cx="1" cy="1107187"/>
          </a:xfrm>
          <a:prstGeom prst="straightConnector1">
            <a:avLst/>
          </a:prstGeom>
          <a:noFill/>
          <a:ln w="25400" cap="flat" cmpd="sng">
            <a:solidFill>
              <a:srgbClr val="929292"/>
            </a:solidFill>
            <a:prstDash val="dashDot"/>
            <a:miter lim="400000"/>
            <a:headEnd type="none" w="sm" len="sm"/>
            <a:tailEnd type="none" w="sm" len="sm"/>
          </a:ln>
        </p:spPr>
      </p:cxnSp>
      <p:cxnSp>
        <p:nvCxnSpPr>
          <p:cNvPr id="452" name="Google Shape;452;p49"/>
          <p:cNvCxnSpPr/>
          <p:nvPr/>
        </p:nvCxnSpPr>
        <p:spPr>
          <a:xfrm rot="10800000" flipH="1">
            <a:off x="5605731" y="9887688"/>
            <a:ext cx="1" cy="2590801"/>
          </a:xfrm>
          <a:prstGeom prst="straightConnector1">
            <a:avLst/>
          </a:prstGeom>
          <a:noFill/>
          <a:ln w="25400" cap="flat" cmpd="sng">
            <a:solidFill>
              <a:srgbClr val="929292"/>
            </a:solidFill>
            <a:prstDash val="dashDot"/>
            <a:miter lim="400000"/>
            <a:headEnd type="none" w="sm" len="sm"/>
            <a:tailEnd type="none" w="sm" len="sm"/>
          </a:ln>
        </p:spPr>
      </p:cxnSp>
      <p:sp>
        <p:nvSpPr>
          <p:cNvPr id="453" name="Google Shape;453;p49"/>
          <p:cNvSpPr txBox="1"/>
          <p:nvPr/>
        </p:nvSpPr>
        <p:spPr>
          <a:xfrm>
            <a:off x="7192539" y="12525569"/>
            <a:ext cx="294742" cy="5588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𝝈</a:t>
            </a:r>
            <a:endParaRPr/>
          </a:p>
        </p:txBody>
      </p:sp>
      <p:sp>
        <p:nvSpPr>
          <p:cNvPr id="454" name="Google Shape;454;p49"/>
          <p:cNvSpPr txBox="1"/>
          <p:nvPr/>
        </p:nvSpPr>
        <p:spPr>
          <a:xfrm>
            <a:off x="8059628" y="12525569"/>
            <a:ext cx="453239" cy="5588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2𝝈</a:t>
            </a:r>
            <a:endParaRPr/>
          </a:p>
        </p:txBody>
      </p:sp>
      <p:sp>
        <p:nvSpPr>
          <p:cNvPr id="455" name="Google Shape;455;p49"/>
          <p:cNvSpPr txBox="1"/>
          <p:nvPr/>
        </p:nvSpPr>
        <p:spPr>
          <a:xfrm>
            <a:off x="8926717" y="12525569"/>
            <a:ext cx="453239" cy="5588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3𝝈</a:t>
            </a:r>
            <a:endParaRPr/>
          </a:p>
        </p:txBody>
      </p:sp>
      <p:sp>
        <p:nvSpPr>
          <p:cNvPr id="456" name="Google Shape;456;p49"/>
          <p:cNvSpPr txBox="1"/>
          <p:nvPr/>
        </p:nvSpPr>
        <p:spPr>
          <a:xfrm>
            <a:off x="5328210" y="12525569"/>
            <a:ext cx="554737" cy="5588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-1𝝈</a:t>
            </a:r>
            <a:endParaRPr/>
          </a:p>
        </p:txBody>
      </p:sp>
      <p:sp>
        <p:nvSpPr>
          <p:cNvPr id="457" name="Google Shape;457;p49"/>
          <p:cNvSpPr txBox="1"/>
          <p:nvPr/>
        </p:nvSpPr>
        <p:spPr>
          <a:xfrm>
            <a:off x="4461121" y="12525569"/>
            <a:ext cx="554737" cy="5588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-2𝝈</a:t>
            </a:r>
            <a:endParaRPr/>
          </a:p>
        </p:txBody>
      </p:sp>
      <p:sp>
        <p:nvSpPr>
          <p:cNvPr id="458" name="Google Shape;458;p49"/>
          <p:cNvSpPr txBox="1"/>
          <p:nvPr/>
        </p:nvSpPr>
        <p:spPr>
          <a:xfrm>
            <a:off x="3594184" y="12525569"/>
            <a:ext cx="554737" cy="5588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-3𝝈</a:t>
            </a:r>
            <a:endParaRPr/>
          </a:p>
        </p:txBody>
      </p:sp>
      <p:sp>
        <p:nvSpPr>
          <p:cNvPr id="459" name="Google Shape;459;p49"/>
          <p:cNvSpPr txBox="1"/>
          <p:nvPr/>
        </p:nvSpPr>
        <p:spPr>
          <a:xfrm>
            <a:off x="13716000" y="5675013"/>
            <a:ext cx="4525823" cy="7239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Calculate test statistic</a:t>
            </a:r>
            <a:endParaRPr/>
          </a:p>
        </p:txBody>
      </p:sp>
      <p:pic>
        <p:nvPicPr>
          <p:cNvPr id="460" name="Google Shape;460;p49" descr="Image"/>
          <p:cNvPicPr preferRelativeResize="0"/>
          <p:nvPr/>
        </p:nvPicPr>
        <p:blipFill rotWithShape="1">
          <a:blip r:embed="rId4">
            <a:alphaModFix/>
          </a:blip>
          <a:srcRect/>
          <a:stretch/>
        </p:blipFill>
        <p:spPr>
          <a:xfrm>
            <a:off x="18338645" y="5042325"/>
            <a:ext cx="4572958" cy="2314511"/>
          </a:xfrm>
          <a:prstGeom prst="rect">
            <a:avLst/>
          </a:prstGeom>
          <a:noFill/>
          <a:ln>
            <a:noFill/>
          </a:ln>
        </p:spPr>
      </p:pic>
      <p:sp>
        <p:nvSpPr>
          <p:cNvPr id="461" name="Google Shape;461;p49"/>
          <p:cNvSpPr txBox="1"/>
          <p:nvPr/>
        </p:nvSpPr>
        <p:spPr>
          <a:xfrm>
            <a:off x="22383572" y="5700413"/>
            <a:ext cx="1079450" cy="7239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chemeClr val="accent1"/>
              </a:buClr>
              <a:buSzPts val="3600"/>
              <a:buFont typeface="Avenir"/>
              <a:buNone/>
            </a:pPr>
            <a:r>
              <a:rPr lang="en-US" sz="3600" b="0" i="0" u="none" strike="noStrike" cap="none">
                <a:solidFill>
                  <a:schemeClr val="accent1"/>
                </a:solidFill>
                <a:latin typeface="Avenir"/>
                <a:ea typeface="Avenir"/>
                <a:cs typeface="Avenir"/>
                <a:sym typeface="Avenir"/>
              </a:rPr>
              <a:t>= - 3</a:t>
            </a:r>
            <a:endParaRPr/>
          </a:p>
        </p:txBody>
      </p:sp>
      <p:sp>
        <p:nvSpPr>
          <p:cNvPr id="462" name="Google Shape;462;p49"/>
          <p:cNvSpPr txBox="1"/>
          <p:nvPr/>
        </p:nvSpPr>
        <p:spPr>
          <a:xfrm>
            <a:off x="13586470" y="8229262"/>
            <a:ext cx="8955262" cy="13462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3600"/>
              <a:buFont typeface="Avenir"/>
              <a:buNone/>
            </a:pPr>
            <a:r>
              <a:rPr lang="en-US" sz="3600" b="0" i="0" u="none" strike="noStrike" cap="none" dirty="0">
                <a:solidFill>
                  <a:srgbClr val="5E5E5E"/>
                </a:solidFill>
                <a:latin typeface="Avenir"/>
                <a:ea typeface="Avenir"/>
                <a:cs typeface="Avenir"/>
                <a:sym typeface="Avenir"/>
              </a:rPr>
              <a:t>This means that the sample mean (1.05) is 3 standard deviations away from the mean</a:t>
            </a:r>
            <a:endParaRPr dirty="0"/>
          </a:p>
        </p:txBody>
      </p:sp>
      <p:sp>
        <p:nvSpPr>
          <p:cNvPr id="463" name="Google Shape;463;p49"/>
          <p:cNvSpPr txBox="1"/>
          <p:nvPr/>
        </p:nvSpPr>
        <p:spPr>
          <a:xfrm>
            <a:off x="13716000" y="3581399"/>
            <a:ext cx="2545081" cy="13462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H</a:t>
            </a:r>
            <a:r>
              <a:rPr lang="en-US" sz="3600" b="0" i="0" u="none" strike="noStrike" cap="none" baseline="-25000">
                <a:solidFill>
                  <a:srgbClr val="5E5E5E"/>
                </a:solidFill>
                <a:latin typeface="Avenir"/>
                <a:ea typeface="Avenir"/>
                <a:cs typeface="Avenir"/>
                <a:sym typeface="Avenir"/>
              </a:rPr>
              <a:t>0</a:t>
            </a:r>
            <a:r>
              <a:rPr lang="en-US" sz="3600" b="0" i="0" u="none" strike="noStrike" cap="none">
                <a:solidFill>
                  <a:srgbClr val="5E5E5E"/>
                </a:solidFill>
                <a:latin typeface="Avenir"/>
                <a:ea typeface="Avenir"/>
                <a:cs typeface="Avenir"/>
                <a:sym typeface="Avenir"/>
              </a:rPr>
              <a:t>: µ = 1.2 s</a:t>
            </a:r>
            <a:endParaRPr/>
          </a:p>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H</a:t>
            </a:r>
            <a:r>
              <a:rPr lang="en-US" sz="3600" b="0" i="0" u="none" strike="noStrike" cap="none" baseline="-25000">
                <a:solidFill>
                  <a:srgbClr val="5E5E5E"/>
                </a:solidFill>
                <a:latin typeface="Avenir"/>
                <a:ea typeface="Avenir"/>
                <a:cs typeface="Avenir"/>
                <a:sym typeface="Avenir"/>
              </a:rPr>
              <a:t>1</a:t>
            </a:r>
            <a:r>
              <a:rPr lang="en-US" sz="3600" b="0" i="0" u="none" strike="noStrike" cap="none">
                <a:solidFill>
                  <a:srgbClr val="5E5E5E"/>
                </a:solidFill>
                <a:latin typeface="Avenir"/>
                <a:ea typeface="Avenir"/>
                <a:cs typeface="Avenir"/>
                <a:sym typeface="Avenir"/>
              </a:rPr>
              <a:t>: µ ≠ 1.2 s</a:t>
            </a:r>
            <a:endParaRPr/>
          </a:p>
        </p:txBody>
      </p:sp>
      <p:sp>
        <p:nvSpPr>
          <p:cNvPr id="464" name="Google Shape;464;p49"/>
          <p:cNvSpPr txBox="1"/>
          <p:nvPr/>
        </p:nvSpPr>
        <p:spPr>
          <a:xfrm>
            <a:off x="20962316" y="13347769"/>
            <a:ext cx="3395854" cy="419101"/>
          </a:xfrm>
          <a:prstGeom prst="rect">
            <a:avLst/>
          </a:prstGeom>
          <a:noFill/>
          <a:ln>
            <a:noFill/>
          </a:ln>
        </p:spPr>
        <p:txBody>
          <a:bodyPr spcFirstLastPara="1" wrap="square" lIns="50800" tIns="50800" rIns="50800" bIns="50800" anchor="ctr" anchorCtr="0">
            <a:spAutoFit/>
          </a:bodyPr>
          <a:lstStyle/>
          <a:p>
            <a:pPr marL="0" marR="0" lvl="0" indent="0" algn="r" rtl="0">
              <a:lnSpc>
                <a:spcPct val="100000"/>
              </a:lnSpc>
              <a:spcBef>
                <a:spcPts val="0"/>
              </a:spcBef>
              <a:spcAft>
                <a:spcPts val="0"/>
              </a:spcAft>
              <a:buClr>
                <a:srgbClr val="5E5E5E"/>
              </a:buClr>
              <a:buSzPts val="1800"/>
              <a:buFont typeface="Avenir"/>
              <a:buNone/>
            </a:pPr>
            <a:r>
              <a:rPr lang="en-US" sz="1800" b="0" i="0" u="none" strike="noStrike" cap="none">
                <a:solidFill>
                  <a:srgbClr val="5E5E5E"/>
                </a:solidFill>
                <a:latin typeface="Avenir"/>
                <a:ea typeface="Avenir"/>
                <a:cs typeface="Avenir"/>
                <a:sym typeface="Avenir"/>
              </a:rPr>
              <a:t>Example adapted from Sal Khan</a:t>
            </a:r>
            <a:endParaRPr/>
          </a:p>
        </p:txBody>
      </p:sp>
      <p:sp>
        <p:nvSpPr>
          <p:cNvPr id="465" name="Google Shape;465;p49"/>
          <p:cNvSpPr txBox="1"/>
          <p:nvPr/>
        </p:nvSpPr>
        <p:spPr>
          <a:xfrm>
            <a:off x="2172061" y="8014559"/>
            <a:ext cx="2560169" cy="7239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Assume H</a:t>
            </a:r>
            <a:r>
              <a:rPr lang="en-US" sz="3600" b="0" i="0" u="none" strike="noStrike" cap="none" baseline="-25000">
                <a:solidFill>
                  <a:srgbClr val="5E5E5E"/>
                </a:solidFill>
                <a:latin typeface="Avenir"/>
                <a:ea typeface="Avenir"/>
                <a:cs typeface="Avenir"/>
                <a:sym typeface="Avenir"/>
              </a:rPr>
              <a:t>0</a:t>
            </a:r>
            <a:r>
              <a:rPr lang="en-US" sz="3600" b="0" i="0" u="none" strike="noStrike" cap="none">
                <a:solidFill>
                  <a:srgbClr val="5E5E5E"/>
                </a:solidFill>
                <a:latin typeface="Avenir"/>
                <a:ea typeface="Avenir"/>
                <a:cs typeface="Avenir"/>
                <a:sym typeface="Avenir"/>
              </a:rPr>
              <a:t>: </a:t>
            </a:r>
            <a:endParaRPr/>
          </a:p>
        </p:txBody>
      </p:sp>
      <p:sp>
        <p:nvSpPr>
          <p:cNvPr id="2" name="Google Shape;393;p46">
            <a:extLst>
              <a:ext uri="{FF2B5EF4-FFF2-40B4-BE49-F238E27FC236}">
                <a16:creationId xmlns:a16="http://schemas.microsoft.com/office/drawing/2014/main" id="{5CC20DB8-02E4-8F0D-0C01-033451ADB213}"/>
              </a:ext>
            </a:extLst>
          </p:cNvPr>
          <p:cNvSpPr txBox="1"/>
          <p:nvPr/>
        </p:nvSpPr>
        <p:spPr>
          <a:xfrm>
            <a:off x="5912446" y="12753379"/>
            <a:ext cx="1469661" cy="471924"/>
          </a:xfrm>
          <a:prstGeom prst="rect">
            <a:avLst/>
          </a:prstGeom>
          <a:noFill/>
          <a:ln>
            <a:noFill/>
          </a:ln>
        </p:spPr>
        <p:txBody>
          <a:bodyPr spcFirstLastPara="1" wrap="square" lIns="50800" tIns="50800" rIns="50800" bIns="50800" anchor="ctr" anchorCtr="0">
            <a:spAutoFit/>
          </a:bodyPr>
          <a:lstStyle/>
          <a:p>
            <a:pPr lvl="0">
              <a:buClr>
                <a:srgbClr val="5E5E5E"/>
              </a:buClr>
              <a:buSzPts val="2400"/>
            </a:pPr>
            <a:r>
              <a:rPr lang="en-US" sz="2400" b="0" i="0" u="none" strike="noStrike" cap="none" dirty="0">
                <a:solidFill>
                  <a:srgbClr val="5E5E5E"/>
                </a:solidFill>
                <a:latin typeface="Avenir"/>
                <a:ea typeface="Avenir"/>
                <a:cs typeface="Avenir"/>
                <a:sym typeface="Avenir"/>
              </a:rPr>
              <a:t>µ = </a:t>
            </a:r>
            <a:r>
              <a:rPr lang="en-US" sz="2400" dirty="0">
                <a:solidFill>
                  <a:srgbClr val="5E5E5E"/>
                </a:solidFill>
                <a:latin typeface="Avenir"/>
                <a:ea typeface="Avenir"/>
                <a:cs typeface="Avenir"/>
                <a:sym typeface="Avenir"/>
              </a:rPr>
              <a:t>1.2 s</a:t>
            </a:r>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Shape 469"/>
        <p:cNvGrpSpPr/>
        <p:nvPr/>
      </p:nvGrpSpPr>
      <p:grpSpPr>
        <a:xfrm>
          <a:off x="0" y="0"/>
          <a:ext cx="0" cy="0"/>
          <a:chOff x="0" y="0"/>
          <a:chExt cx="0" cy="0"/>
        </a:xfrm>
      </p:grpSpPr>
      <p:sp>
        <p:nvSpPr>
          <p:cNvPr id="470" name="Google Shape;470;p50"/>
          <p:cNvSpPr txBox="1">
            <a:spLocks noGrp="1"/>
          </p:cNvSpPr>
          <p:nvPr>
            <p:ph type="title"/>
          </p:nvPr>
        </p:nvSpPr>
        <p:spPr>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a:latin typeface="Avenir"/>
                <a:ea typeface="Avenir"/>
                <a:cs typeface="Avenir"/>
                <a:sym typeface="Avenir"/>
              </a:rPr>
              <a:t>A simple example</a:t>
            </a:r>
            <a:endParaRPr/>
          </a:p>
        </p:txBody>
      </p:sp>
      <p:sp>
        <p:nvSpPr>
          <p:cNvPr id="471" name="Google Shape;471;p50"/>
          <p:cNvSpPr txBox="1"/>
          <p:nvPr/>
        </p:nvSpPr>
        <p:spPr>
          <a:xfrm>
            <a:off x="1206500" y="2754183"/>
            <a:ext cx="9592134" cy="3759201"/>
          </a:xfrm>
          <a:prstGeom prst="rect">
            <a:avLst/>
          </a:prstGeom>
          <a:noFill/>
          <a:ln>
            <a:noFill/>
          </a:ln>
        </p:spPr>
        <p:txBody>
          <a:bodyPr spcFirstLastPara="1" wrap="square" lIns="50800" tIns="50800" rIns="50800" bIns="50800" anchor="ctr" anchorCtr="0">
            <a:spAutoFit/>
          </a:bodyPr>
          <a:lstStyle/>
          <a:p>
            <a:pPr marL="0" marR="0" lvl="0" indent="0" algn="just" rtl="0">
              <a:lnSpc>
                <a:spcPct val="100000"/>
              </a:lnSpc>
              <a:spcBef>
                <a:spcPts val="0"/>
              </a:spcBef>
              <a:spcAft>
                <a:spcPts val="0"/>
              </a:spcAft>
              <a:buClr>
                <a:srgbClr val="5E5E5E"/>
              </a:buClr>
              <a:buSzPts val="2600"/>
              <a:buFont typeface="Avenir"/>
              <a:buNone/>
            </a:pPr>
            <a:r>
              <a:rPr lang="en-US" sz="2600" b="0" i="0" u="none" strike="noStrike" cap="none">
                <a:solidFill>
                  <a:srgbClr val="5E5E5E"/>
                </a:solidFill>
                <a:latin typeface="Avenir"/>
                <a:ea typeface="Avenir"/>
                <a:cs typeface="Avenir"/>
                <a:sym typeface="Avenir"/>
              </a:rPr>
              <a:t>A neurologist is testing the effect of a drug on response time by injecting 100 rats with a unit dose of the drug subjecting each to neurological stimulus and recording its response time. The neurologist knows that the mean response time for rats not injected with the drug is 1.2 seconds. The mean of the 100 injected rats response times is 1.05 seconds with the sample standard deviation of 0.5 seconds. Do you think that the drug has an effect on response time ? </a:t>
            </a:r>
            <a:endParaRPr/>
          </a:p>
        </p:txBody>
      </p:sp>
      <p:cxnSp>
        <p:nvCxnSpPr>
          <p:cNvPr id="472" name="Google Shape;472;p50"/>
          <p:cNvCxnSpPr/>
          <p:nvPr/>
        </p:nvCxnSpPr>
        <p:spPr>
          <a:xfrm>
            <a:off x="2498819" y="12538269"/>
            <a:ext cx="7973403" cy="1"/>
          </a:xfrm>
          <a:prstGeom prst="straightConnector1">
            <a:avLst/>
          </a:prstGeom>
          <a:noFill/>
          <a:ln w="25400" cap="flat" cmpd="sng">
            <a:solidFill>
              <a:srgbClr val="000000"/>
            </a:solidFill>
            <a:prstDash val="solid"/>
            <a:miter lim="400000"/>
            <a:headEnd type="none" w="sm" len="sm"/>
            <a:tailEnd type="none" w="sm" len="sm"/>
          </a:ln>
        </p:spPr>
      </p:cxnSp>
      <p:pic>
        <p:nvPicPr>
          <p:cNvPr id="473" name="Google Shape;473;p50" descr="Image"/>
          <p:cNvPicPr preferRelativeResize="0"/>
          <p:nvPr/>
        </p:nvPicPr>
        <p:blipFill rotWithShape="1">
          <a:blip r:embed="rId3">
            <a:alphaModFix/>
          </a:blip>
          <a:srcRect/>
          <a:stretch/>
        </p:blipFill>
        <p:spPr>
          <a:xfrm>
            <a:off x="2891287" y="8395964"/>
            <a:ext cx="7188468" cy="3951586"/>
          </a:xfrm>
          <a:prstGeom prst="rect">
            <a:avLst/>
          </a:prstGeom>
          <a:noFill/>
          <a:ln>
            <a:noFill/>
          </a:ln>
        </p:spPr>
      </p:pic>
      <p:cxnSp>
        <p:nvCxnSpPr>
          <p:cNvPr id="474" name="Google Shape;474;p50"/>
          <p:cNvCxnSpPr/>
          <p:nvPr/>
        </p:nvCxnSpPr>
        <p:spPr>
          <a:xfrm rot="10800000" flipH="1">
            <a:off x="6472820" y="8483256"/>
            <a:ext cx="1" cy="3951586"/>
          </a:xfrm>
          <a:prstGeom prst="straightConnector1">
            <a:avLst/>
          </a:prstGeom>
          <a:noFill/>
          <a:ln w="25400" cap="flat" cmpd="sng">
            <a:solidFill>
              <a:srgbClr val="929292"/>
            </a:solidFill>
            <a:prstDash val="dashDot"/>
            <a:miter lim="400000"/>
            <a:headEnd type="none" w="sm" len="sm"/>
            <a:tailEnd type="none" w="sm" len="sm"/>
          </a:ln>
        </p:spPr>
      </p:cxnSp>
      <p:cxnSp>
        <p:nvCxnSpPr>
          <p:cNvPr id="476" name="Google Shape;476;p50"/>
          <p:cNvCxnSpPr/>
          <p:nvPr/>
        </p:nvCxnSpPr>
        <p:spPr>
          <a:xfrm rot="10800000" flipH="1">
            <a:off x="7339910" y="10018628"/>
            <a:ext cx="1" cy="2328922"/>
          </a:xfrm>
          <a:prstGeom prst="straightConnector1">
            <a:avLst/>
          </a:prstGeom>
          <a:noFill/>
          <a:ln w="25400" cap="flat" cmpd="sng">
            <a:solidFill>
              <a:srgbClr val="929292"/>
            </a:solidFill>
            <a:prstDash val="dashDot"/>
            <a:miter lim="400000"/>
            <a:headEnd type="none" w="sm" len="sm"/>
            <a:tailEnd type="none" w="sm" len="sm"/>
          </a:ln>
        </p:spPr>
      </p:cxnSp>
      <p:cxnSp>
        <p:nvCxnSpPr>
          <p:cNvPr id="477" name="Google Shape;477;p50"/>
          <p:cNvCxnSpPr/>
          <p:nvPr/>
        </p:nvCxnSpPr>
        <p:spPr>
          <a:xfrm rot="10800000" flipH="1">
            <a:off x="8206999" y="11414949"/>
            <a:ext cx="1" cy="1019893"/>
          </a:xfrm>
          <a:prstGeom prst="straightConnector1">
            <a:avLst/>
          </a:prstGeom>
          <a:noFill/>
          <a:ln w="25400" cap="flat" cmpd="sng">
            <a:solidFill>
              <a:srgbClr val="929292"/>
            </a:solidFill>
            <a:prstDash val="dashDot"/>
            <a:miter lim="400000"/>
            <a:headEnd type="none" w="sm" len="sm"/>
            <a:tailEnd type="none" w="sm" len="sm"/>
          </a:ln>
        </p:spPr>
      </p:cxnSp>
      <p:cxnSp>
        <p:nvCxnSpPr>
          <p:cNvPr id="478" name="Google Shape;478;p50"/>
          <p:cNvCxnSpPr/>
          <p:nvPr/>
        </p:nvCxnSpPr>
        <p:spPr>
          <a:xfrm rot="10800000" flipH="1">
            <a:off x="9074088" y="11975409"/>
            <a:ext cx="1" cy="459433"/>
          </a:xfrm>
          <a:prstGeom prst="straightConnector1">
            <a:avLst/>
          </a:prstGeom>
          <a:noFill/>
          <a:ln w="25400" cap="flat" cmpd="sng">
            <a:solidFill>
              <a:srgbClr val="929292"/>
            </a:solidFill>
            <a:prstDash val="dashDot"/>
            <a:miter lim="400000"/>
            <a:headEnd type="none" w="sm" len="sm"/>
            <a:tailEnd type="none" w="sm" len="sm"/>
          </a:ln>
        </p:spPr>
      </p:cxnSp>
      <p:cxnSp>
        <p:nvCxnSpPr>
          <p:cNvPr id="479" name="Google Shape;479;p50"/>
          <p:cNvCxnSpPr/>
          <p:nvPr/>
        </p:nvCxnSpPr>
        <p:spPr>
          <a:xfrm rot="10800000" flipH="1">
            <a:off x="3871552" y="12019056"/>
            <a:ext cx="1" cy="372140"/>
          </a:xfrm>
          <a:prstGeom prst="straightConnector1">
            <a:avLst/>
          </a:prstGeom>
          <a:noFill/>
          <a:ln w="25400" cap="flat" cmpd="sng">
            <a:solidFill>
              <a:srgbClr val="929292"/>
            </a:solidFill>
            <a:prstDash val="dashDot"/>
            <a:miter lim="400000"/>
            <a:headEnd type="none" w="sm" len="sm"/>
            <a:tailEnd type="none" w="sm" len="sm"/>
          </a:ln>
        </p:spPr>
      </p:cxnSp>
      <p:cxnSp>
        <p:nvCxnSpPr>
          <p:cNvPr id="480" name="Google Shape;480;p50"/>
          <p:cNvCxnSpPr/>
          <p:nvPr/>
        </p:nvCxnSpPr>
        <p:spPr>
          <a:xfrm rot="10800000" flipH="1">
            <a:off x="4738642" y="11371302"/>
            <a:ext cx="1" cy="1107187"/>
          </a:xfrm>
          <a:prstGeom prst="straightConnector1">
            <a:avLst/>
          </a:prstGeom>
          <a:noFill/>
          <a:ln w="25400" cap="flat" cmpd="sng">
            <a:solidFill>
              <a:srgbClr val="929292"/>
            </a:solidFill>
            <a:prstDash val="dashDot"/>
            <a:miter lim="400000"/>
            <a:headEnd type="none" w="sm" len="sm"/>
            <a:tailEnd type="none" w="sm" len="sm"/>
          </a:ln>
        </p:spPr>
      </p:cxnSp>
      <p:cxnSp>
        <p:nvCxnSpPr>
          <p:cNvPr id="481" name="Google Shape;481;p50"/>
          <p:cNvCxnSpPr/>
          <p:nvPr/>
        </p:nvCxnSpPr>
        <p:spPr>
          <a:xfrm rot="10800000" flipH="1">
            <a:off x="5605731" y="9887688"/>
            <a:ext cx="1" cy="2590801"/>
          </a:xfrm>
          <a:prstGeom prst="straightConnector1">
            <a:avLst/>
          </a:prstGeom>
          <a:noFill/>
          <a:ln w="25400" cap="flat" cmpd="sng">
            <a:solidFill>
              <a:srgbClr val="929292"/>
            </a:solidFill>
            <a:prstDash val="dashDot"/>
            <a:miter lim="400000"/>
            <a:headEnd type="none" w="sm" len="sm"/>
            <a:tailEnd type="none" w="sm" len="sm"/>
          </a:ln>
        </p:spPr>
      </p:cxnSp>
      <p:sp>
        <p:nvSpPr>
          <p:cNvPr id="482" name="Google Shape;482;p50"/>
          <p:cNvSpPr txBox="1"/>
          <p:nvPr/>
        </p:nvSpPr>
        <p:spPr>
          <a:xfrm>
            <a:off x="7192539" y="12525569"/>
            <a:ext cx="294742" cy="5588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𝝈</a:t>
            </a:r>
            <a:endParaRPr/>
          </a:p>
        </p:txBody>
      </p:sp>
      <p:sp>
        <p:nvSpPr>
          <p:cNvPr id="483" name="Google Shape;483;p50"/>
          <p:cNvSpPr txBox="1"/>
          <p:nvPr/>
        </p:nvSpPr>
        <p:spPr>
          <a:xfrm>
            <a:off x="8059628" y="12525569"/>
            <a:ext cx="453239" cy="5588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2𝝈</a:t>
            </a:r>
            <a:endParaRPr/>
          </a:p>
        </p:txBody>
      </p:sp>
      <p:sp>
        <p:nvSpPr>
          <p:cNvPr id="484" name="Google Shape;484;p50"/>
          <p:cNvSpPr txBox="1"/>
          <p:nvPr/>
        </p:nvSpPr>
        <p:spPr>
          <a:xfrm>
            <a:off x="8926717" y="12525569"/>
            <a:ext cx="453239" cy="5588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3𝝈</a:t>
            </a:r>
            <a:endParaRPr/>
          </a:p>
        </p:txBody>
      </p:sp>
      <p:sp>
        <p:nvSpPr>
          <p:cNvPr id="485" name="Google Shape;485;p50"/>
          <p:cNvSpPr txBox="1"/>
          <p:nvPr/>
        </p:nvSpPr>
        <p:spPr>
          <a:xfrm>
            <a:off x="5328210" y="12525569"/>
            <a:ext cx="554737" cy="5588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-1𝝈</a:t>
            </a:r>
            <a:endParaRPr/>
          </a:p>
        </p:txBody>
      </p:sp>
      <p:sp>
        <p:nvSpPr>
          <p:cNvPr id="486" name="Google Shape;486;p50"/>
          <p:cNvSpPr txBox="1"/>
          <p:nvPr/>
        </p:nvSpPr>
        <p:spPr>
          <a:xfrm>
            <a:off x="4461121" y="12525569"/>
            <a:ext cx="554737" cy="5588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-2𝝈</a:t>
            </a:r>
            <a:endParaRPr/>
          </a:p>
        </p:txBody>
      </p:sp>
      <p:sp>
        <p:nvSpPr>
          <p:cNvPr id="487" name="Google Shape;487;p50"/>
          <p:cNvSpPr txBox="1"/>
          <p:nvPr/>
        </p:nvSpPr>
        <p:spPr>
          <a:xfrm>
            <a:off x="3594184" y="12525569"/>
            <a:ext cx="554737" cy="5588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-3𝝈</a:t>
            </a:r>
            <a:endParaRPr/>
          </a:p>
        </p:txBody>
      </p:sp>
      <p:sp>
        <p:nvSpPr>
          <p:cNvPr id="488" name="Google Shape;488;p50"/>
          <p:cNvSpPr txBox="1"/>
          <p:nvPr/>
        </p:nvSpPr>
        <p:spPr>
          <a:xfrm>
            <a:off x="13716000" y="5675013"/>
            <a:ext cx="4525823" cy="7239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Calculate test statistic</a:t>
            </a:r>
            <a:endParaRPr/>
          </a:p>
        </p:txBody>
      </p:sp>
      <p:pic>
        <p:nvPicPr>
          <p:cNvPr id="489" name="Google Shape;489;p50" descr="Image"/>
          <p:cNvPicPr preferRelativeResize="0"/>
          <p:nvPr/>
        </p:nvPicPr>
        <p:blipFill rotWithShape="1">
          <a:blip r:embed="rId4">
            <a:alphaModFix/>
          </a:blip>
          <a:srcRect/>
          <a:stretch/>
        </p:blipFill>
        <p:spPr>
          <a:xfrm>
            <a:off x="18338645" y="5042325"/>
            <a:ext cx="4572958" cy="2314511"/>
          </a:xfrm>
          <a:prstGeom prst="rect">
            <a:avLst/>
          </a:prstGeom>
          <a:noFill/>
          <a:ln>
            <a:noFill/>
          </a:ln>
        </p:spPr>
      </p:pic>
      <p:sp>
        <p:nvSpPr>
          <p:cNvPr id="490" name="Google Shape;490;p50"/>
          <p:cNvSpPr txBox="1"/>
          <p:nvPr/>
        </p:nvSpPr>
        <p:spPr>
          <a:xfrm>
            <a:off x="22383572" y="5700413"/>
            <a:ext cx="1079450" cy="7239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chemeClr val="accent1"/>
              </a:buClr>
              <a:buSzPts val="3600"/>
              <a:buFont typeface="Avenir"/>
              <a:buNone/>
            </a:pPr>
            <a:r>
              <a:rPr lang="en-US" sz="3600" b="0" i="0" u="none" strike="noStrike" cap="none">
                <a:solidFill>
                  <a:schemeClr val="accent1"/>
                </a:solidFill>
                <a:latin typeface="Avenir"/>
                <a:ea typeface="Avenir"/>
                <a:cs typeface="Avenir"/>
                <a:sym typeface="Avenir"/>
              </a:rPr>
              <a:t>= - 3</a:t>
            </a:r>
            <a:endParaRPr/>
          </a:p>
        </p:txBody>
      </p:sp>
      <p:cxnSp>
        <p:nvCxnSpPr>
          <p:cNvPr id="491" name="Google Shape;491;p50"/>
          <p:cNvCxnSpPr/>
          <p:nvPr/>
        </p:nvCxnSpPr>
        <p:spPr>
          <a:xfrm>
            <a:off x="5612904" y="10131382"/>
            <a:ext cx="1745233" cy="1"/>
          </a:xfrm>
          <a:prstGeom prst="straightConnector1">
            <a:avLst/>
          </a:prstGeom>
          <a:noFill/>
          <a:ln w="50800" cap="flat" cmpd="sng">
            <a:solidFill>
              <a:srgbClr val="FF2600"/>
            </a:solidFill>
            <a:prstDash val="solid"/>
            <a:miter lim="400000"/>
            <a:headEnd type="triangle" w="med" len="med"/>
            <a:tailEnd type="triangle" w="med" len="med"/>
          </a:ln>
        </p:spPr>
      </p:cxnSp>
      <p:cxnSp>
        <p:nvCxnSpPr>
          <p:cNvPr id="492" name="Google Shape;492;p50"/>
          <p:cNvCxnSpPr/>
          <p:nvPr/>
        </p:nvCxnSpPr>
        <p:spPr>
          <a:xfrm>
            <a:off x="4740288" y="11070381"/>
            <a:ext cx="3465065" cy="1"/>
          </a:xfrm>
          <a:prstGeom prst="straightConnector1">
            <a:avLst/>
          </a:prstGeom>
          <a:noFill/>
          <a:ln w="50800" cap="flat" cmpd="sng">
            <a:solidFill>
              <a:srgbClr val="FF2600"/>
            </a:solidFill>
            <a:prstDash val="solid"/>
            <a:miter lim="400000"/>
            <a:headEnd type="triangle" w="med" len="med"/>
            <a:tailEnd type="triangle" w="med" len="med"/>
          </a:ln>
        </p:spPr>
      </p:cxnSp>
      <p:cxnSp>
        <p:nvCxnSpPr>
          <p:cNvPr id="493" name="Google Shape;493;p50"/>
          <p:cNvCxnSpPr/>
          <p:nvPr/>
        </p:nvCxnSpPr>
        <p:spPr>
          <a:xfrm>
            <a:off x="3887546" y="12009380"/>
            <a:ext cx="5170549" cy="1"/>
          </a:xfrm>
          <a:prstGeom prst="straightConnector1">
            <a:avLst/>
          </a:prstGeom>
          <a:noFill/>
          <a:ln w="50800" cap="flat" cmpd="sng">
            <a:solidFill>
              <a:srgbClr val="FF2600"/>
            </a:solidFill>
            <a:prstDash val="solid"/>
            <a:miter lim="400000"/>
            <a:headEnd type="triangle" w="med" len="med"/>
            <a:tailEnd type="triangle" w="med" len="med"/>
          </a:ln>
        </p:spPr>
      </p:cxnSp>
      <p:sp>
        <p:nvSpPr>
          <p:cNvPr id="494" name="Google Shape;494;p50"/>
          <p:cNvSpPr txBox="1"/>
          <p:nvPr/>
        </p:nvSpPr>
        <p:spPr>
          <a:xfrm>
            <a:off x="6141808" y="9871032"/>
            <a:ext cx="791871" cy="5207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2400"/>
              <a:buFont typeface="Avenir"/>
              <a:buNone/>
            </a:pPr>
            <a:r>
              <a:rPr lang="en-US" sz="2400" b="0" i="0" u="none" strike="noStrike" cap="none" dirty="0">
                <a:solidFill>
                  <a:srgbClr val="5E5E5E"/>
                </a:solidFill>
                <a:latin typeface="Avenir"/>
                <a:ea typeface="Avenir"/>
                <a:cs typeface="Avenir"/>
                <a:sym typeface="Avenir"/>
              </a:rPr>
              <a:t>68 %</a:t>
            </a:r>
            <a:endParaRPr dirty="0"/>
          </a:p>
        </p:txBody>
      </p:sp>
      <p:sp>
        <p:nvSpPr>
          <p:cNvPr id="495" name="Google Shape;495;p50"/>
          <p:cNvSpPr txBox="1"/>
          <p:nvPr/>
        </p:nvSpPr>
        <p:spPr>
          <a:xfrm>
            <a:off x="6089585" y="10769069"/>
            <a:ext cx="791871" cy="5207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95 %</a:t>
            </a:r>
            <a:endParaRPr/>
          </a:p>
        </p:txBody>
      </p:sp>
      <p:sp>
        <p:nvSpPr>
          <p:cNvPr id="496" name="Google Shape;496;p50"/>
          <p:cNvSpPr txBox="1"/>
          <p:nvPr/>
        </p:nvSpPr>
        <p:spPr>
          <a:xfrm>
            <a:off x="6014706" y="11749030"/>
            <a:ext cx="1046075" cy="5207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99.7 %</a:t>
            </a:r>
            <a:endParaRPr/>
          </a:p>
        </p:txBody>
      </p:sp>
      <p:sp>
        <p:nvSpPr>
          <p:cNvPr id="497" name="Google Shape;497;p50"/>
          <p:cNvSpPr txBox="1"/>
          <p:nvPr/>
        </p:nvSpPr>
        <p:spPr>
          <a:xfrm>
            <a:off x="13268034" y="10192422"/>
            <a:ext cx="9592134" cy="1210588"/>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3600"/>
              <a:buFont typeface="Avenir"/>
              <a:buNone/>
            </a:pPr>
            <a:r>
              <a:rPr lang="en-US" sz="3600" b="0" i="0" u="none" strike="noStrike" cap="none" dirty="0">
                <a:solidFill>
                  <a:srgbClr val="5E5E5E"/>
                </a:solidFill>
                <a:latin typeface="Avenir"/>
                <a:ea typeface="Avenir"/>
                <a:cs typeface="Avenir"/>
                <a:sym typeface="Avenir"/>
              </a:rPr>
              <a:t>What is the probability of observing a test statistic as extreme as </a:t>
            </a:r>
            <a:r>
              <a:rPr lang="en-US" sz="3600" dirty="0">
                <a:solidFill>
                  <a:srgbClr val="5E5E5E"/>
                </a:solidFill>
                <a:latin typeface="Avenir"/>
                <a:ea typeface="Avenir"/>
                <a:cs typeface="Avenir"/>
                <a:sym typeface="Avenir"/>
              </a:rPr>
              <a:t>3</a:t>
            </a:r>
            <a:r>
              <a:rPr lang="en-US" sz="3600" b="0" i="0" u="none" strike="noStrike" cap="none" dirty="0">
                <a:solidFill>
                  <a:srgbClr val="5E5E5E"/>
                </a:solidFill>
                <a:latin typeface="Avenir"/>
                <a:ea typeface="Avenir"/>
                <a:cs typeface="Avenir"/>
                <a:sym typeface="Avenir"/>
              </a:rPr>
              <a:t>? </a:t>
            </a:r>
            <a:endParaRPr dirty="0"/>
          </a:p>
        </p:txBody>
      </p:sp>
      <p:sp>
        <p:nvSpPr>
          <p:cNvPr id="498" name="Google Shape;498;p50"/>
          <p:cNvSpPr txBox="1"/>
          <p:nvPr/>
        </p:nvSpPr>
        <p:spPr>
          <a:xfrm>
            <a:off x="13716000" y="3581399"/>
            <a:ext cx="2545081" cy="13462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H</a:t>
            </a:r>
            <a:r>
              <a:rPr lang="en-US" sz="3600" b="0" i="0" u="none" strike="noStrike" cap="none" baseline="-25000">
                <a:solidFill>
                  <a:srgbClr val="5E5E5E"/>
                </a:solidFill>
                <a:latin typeface="Avenir"/>
                <a:ea typeface="Avenir"/>
                <a:cs typeface="Avenir"/>
                <a:sym typeface="Avenir"/>
              </a:rPr>
              <a:t>0</a:t>
            </a:r>
            <a:r>
              <a:rPr lang="en-US" sz="3600" b="0" i="0" u="none" strike="noStrike" cap="none">
                <a:solidFill>
                  <a:srgbClr val="5E5E5E"/>
                </a:solidFill>
                <a:latin typeface="Avenir"/>
                <a:ea typeface="Avenir"/>
                <a:cs typeface="Avenir"/>
                <a:sym typeface="Avenir"/>
              </a:rPr>
              <a:t>: µ = 1.2 s</a:t>
            </a:r>
            <a:endParaRPr/>
          </a:p>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H</a:t>
            </a:r>
            <a:r>
              <a:rPr lang="en-US" sz="3600" b="0" i="0" u="none" strike="noStrike" cap="none" baseline="-25000">
                <a:solidFill>
                  <a:srgbClr val="5E5E5E"/>
                </a:solidFill>
                <a:latin typeface="Avenir"/>
                <a:ea typeface="Avenir"/>
                <a:cs typeface="Avenir"/>
                <a:sym typeface="Avenir"/>
              </a:rPr>
              <a:t>1</a:t>
            </a:r>
            <a:r>
              <a:rPr lang="en-US" sz="3600" b="0" i="0" u="none" strike="noStrike" cap="none">
                <a:solidFill>
                  <a:srgbClr val="5E5E5E"/>
                </a:solidFill>
                <a:latin typeface="Avenir"/>
                <a:ea typeface="Avenir"/>
                <a:cs typeface="Avenir"/>
                <a:sym typeface="Avenir"/>
              </a:rPr>
              <a:t>: µ ≠ 1.2 s</a:t>
            </a:r>
            <a:endParaRPr/>
          </a:p>
        </p:txBody>
      </p:sp>
      <p:sp>
        <p:nvSpPr>
          <p:cNvPr id="499" name="Google Shape;499;p50"/>
          <p:cNvSpPr txBox="1"/>
          <p:nvPr/>
        </p:nvSpPr>
        <p:spPr>
          <a:xfrm>
            <a:off x="13586470" y="8229262"/>
            <a:ext cx="8955262" cy="13462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This means that the sample mean (1.05) is 3 standard deviations away from the mean</a:t>
            </a:r>
            <a:endParaRPr/>
          </a:p>
        </p:txBody>
      </p:sp>
      <p:pic>
        <p:nvPicPr>
          <p:cNvPr id="500" name="Google Shape;500;p50" descr="Line Line"/>
          <p:cNvPicPr preferRelativeResize="0"/>
          <p:nvPr/>
        </p:nvPicPr>
        <p:blipFill rotWithShape="1">
          <a:blip r:embed="rId5">
            <a:alphaModFix/>
          </a:blip>
          <a:srcRect/>
          <a:stretch/>
        </p:blipFill>
        <p:spPr>
          <a:xfrm rot="-5400000">
            <a:off x="3437760" y="12133283"/>
            <a:ext cx="867585" cy="143685"/>
          </a:xfrm>
          <a:prstGeom prst="rect">
            <a:avLst/>
          </a:prstGeom>
          <a:noFill/>
          <a:ln>
            <a:noFill/>
          </a:ln>
        </p:spPr>
      </p:pic>
      <p:sp>
        <p:nvSpPr>
          <p:cNvPr id="501" name="Google Shape;501;p50"/>
          <p:cNvSpPr txBox="1"/>
          <p:nvPr/>
        </p:nvSpPr>
        <p:spPr>
          <a:xfrm>
            <a:off x="20962316" y="13347769"/>
            <a:ext cx="3395854" cy="419101"/>
          </a:xfrm>
          <a:prstGeom prst="rect">
            <a:avLst/>
          </a:prstGeom>
          <a:noFill/>
          <a:ln>
            <a:noFill/>
          </a:ln>
        </p:spPr>
        <p:txBody>
          <a:bodyPr spcFirstLastPara="1" wrap="square" lIns="50800" tIns="50800" rIns="50800" bIns="50800" anchor="ctr" anchorCtr="0">
            <a:spAutoFit/>
          </a:bodyPr>
          <a:lstStyle/>
          <a:p>
            <a:pPr marL="0" marR="0" lvl="0" indent="0" algn="r" rtl="0">
              <a:lnSpc>
                <a:spcPct val="100000"/>
              </a:lnSpc>
              <a:spcBef>
                <a:spcPts val="0"/>
              </a:spcBef>
              <a:spcAft>
                <a:spcPts val="0"/>
              </a:spcAft>
              <a:buClr>
                <a:srgbClr val="5E5E5E"/>
              </a:buClr>
              <a:buSzPts val="1800"/>
              <a:buFont typeface="Avenir"/>
              <a:buNone/>
            </a:pPr>
            <a:r>
              <a:rPr lang="en-US" sz="1800" b="0" i="0" u="none" strike="noStrike" cap="none">
                <a:solidFill>
                  <a:srgbClr val="5E5E5E"/>
                </a:solidFill>
                <a:latin typeface="Avenir"/>
                <a:ea typeface="Avenir"/>
                <a:cs typeface="Avenir"/>
                <a:sym typeface="Avenir"/>
              </a:rPr>
              <a:t>Example adapted from Sal Khan</a:t>
            </a:r>
            <a:endParaRPr/>
          </a:p>
        </p:txBody>
      </p:sp>
      <p:sp>
        <p:nvSpPr>
          <p:cNvPr id="502" name="Google Shape;502;p50"/>
          <p:cNvSpPr txBox="1"/>
          <p:nvPr/>
        </p:nvSpPr>
        <p:spPr>
          <a:xfrm>
            <a:off x="2172061" y="8014559"/>
            <a:ext cx="2560169" cy="7239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Assume H</a:t>
            </a:r>
            <a:r>
              <a:rPr lang="en-US" sz="3600" b="0" i="0" u="none" strike="noStrike" cap="none" baseline="-25000">
                <a:solidFill>
                  <a:srgbClr val="5E5E5E"/>
                </a:solidFill>
                <a:latin typeface="Avenir"/>
                <a:ea typeface="Avenir"/>
                <a:cs typeface="Avenir"/>
                <a:sym typeface="Avenir"/>
              </a:rPr>
              <a:t>0</a:t>
            </a:r>
            <a:r>
              <a:rPr lang="en-US" sz="3600" b="0" i="0" u="none" strike="noStrike" cap="none">
                <a:solidFill>
                  <a:srgbClr val="5E5E5E"/>
                </a:solidFill>
                <a:latin typeface="Avenir"/>
                <a:ea typeface="Avenir"/>
                <a:cs typeface="Avenir"/>
                <a:sym typeface="Avenir"/>
              </a:rPr>
              <a:t>: </a:t>
            </a:r>
            <a:endParaRPr/>
          </a:p>
        </p:txBody>
      </p:sp>
      <p:sp>
        <p:nvSpPr>
          <p:cNvPr id="2" name="Google Shape;393;p46">
            <a:extLst>
              <a:ext uri="{FF2B5EF4-FFF2-40B4-BE49-F238E27FC236}">
                <a16:creationId xmlns:a16="http://schemas.microsoft.com/office/drawing/2014/main" id="{8F1D49A8-5925-E163-E04E-9B5AFD69551F}"/>
              </a:ext>
            </a:extLst>
          </p:cNvPr>
          <p:cNvSpPr txBox="1"/>
          <p:nvPr/>
        </p:nvSpPr>
        <p:spPr>
          <a:xfrm>
            <a:off x="5912446" y="12753379"/>
            <a:ext cx="1469661" cy="471924"/>
          </a:xfrm>
          <a:prstGeom prst="rect">
            <a:avLst/>
          </a:prstGeom>
          <a:noFill/>
          <a:ln>
            <a:noFill/>
          </a:ln>
        </p:spPr>
        <p:txBody>
          <a:bodyPr spcFirstLastPara="1" wrap="square" lIns="50800" tIns="50800" rIns="50800" bIns="50800" anchor="ctr" anchorCtr="0">
            <a:spAutoFit/>
          </a:bodyPr>
          <a:lstStyle/>
          <a:p>
            <a:pPr lvl="0">
              <a:buClr>
                <a:srgbClr val="5E5E5E"/>
              </a:buClr>
              <a:buSzPts val="2400"/>
            </a:pPr>
            <a:r>
              <a:rPr lang="en-US" sz="2400" b="0" i="0" u="none" strike="noStrike" cap="none" dirty="0">
                <a:solidFill>
                  <a:srgbClr val="5E5E5E"/>
                </a:solidFill>
                <a:latin typeface="Avenir"/>
                <a:ea typeface="Avenir"/>
                <a:cs typeface="Avenir"/>
                <a:sym typeface="Avenir"/>
              </a:rPr>
              <a:t>µ = </a:t>
            </a:r>
            <a:r>
              <a:rPr lang="en-US" sz="2400" dirty="0">
                <a:solidFill>
                  <a:srgbClr val="5E5E5E"/>
                </a:solidFill>
                <a:latin typeface="Avenir"/>
                <a:ea typeface="Avenir"/>
                <a:cs typeface="Avenir"/>
                <a:sym typeface="Avenir"/>
              </a:rPr>
              <a:t>1.2 s</a:t>
            </a:r>
            <a:endParaRP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Shape 548"/>
        <p:cNvGrpSpPr/>
        <p:nvPr/>
      </p:nvGrpSpPr>
      <p:grpSpPr>
        <a:xfrm>
          <a:off x="0" y="0"/>
          <a:ext cx="0" cy="0"/>
          <a:chOff x="0" y="0"/>
          <a:chExt cx="0" cy="0"/>
        </a:xfrm>
      </p:grpSpPr>
      <p:sp>
        <p:nvSpPr>
          <p:cNvPr id="549" name="Google Shape;549;p52"/>
          <p:cNvSpPr txBox="1">
            <a:spLocks noGrp="1"/>
          </p:cNvSpPr>
          <p:nvPr>
            <p:ph type="title"/>
          </p:nvPr>
        </p:nvSpPr>
        <p:spPr>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a:latin typeface="Avenir"/>
                <a:ea typeface="Avenir"/>
                <a:cs typeface="Avenir"/>
                <a:sym typeface="Avenir"/>
              </a:rPr>
              <a:t>A simple example</a:t>
            </a:r>
            <a:endParaRPr/>
          </a:p>
        </p:txBody>
      </p:sp>
      <p:sp>
        <p:nvSpPr>
          <p:cNvPr id="550" name="Google Shape;550;p52"/>
          <p:cNvSpPr txBox="1"/>
          <p:nvPr/>
        </p:nvSpPr>
        <p:spPr>
          <a:xfrm>
            <a:off x="1206500" y="2754183"/>
            <a:ext cx="9592134" cy="3759201"/>
          </a:xfrm>
          <a:prstGeom prst="rect">
            <a:avLst/>
          </a:prstGeom>
          <a:noFill/>
          <a:ln>
            <a:noFill/>
          </a:ln>
        </p:spPr>
        <p:txBody>
          <a:bodyPr spcFirstLastPara="1" wrap="square" lIns="50800" tIns="50800" rIns="50800" bIns="50800" anchor="ctr" anchorCtr="0">
            <a:spAutoFit/>
          </a:bodyPr>
          <a:lstStyle/>
          <a:p>
            <a:pPr marL="0" marR="0" lvl="0" indent="0" algn="just" rtl="0">
              <a:lnSpc>
                <a:spcPct val="100000"/>
              </a:lnSpc>
              <a:spcBef>
                <a:spcPts val="0"/>
              </a:spcBef>
              <a:spcAft>
                <a:spcPts val="0"/>
              </a:spcAft>
              <a:buClr>
                <a:srgbClr val="5E5E5E"/>
              </a:buClr>
              <a:buSzPts val="2600"/>
              <a:buFont typeface="Avenir"/>
              <a:buNone/>
            </a:pPr>
            <a:r>
              <a:rPr lang="en-US" sz="2600" b="0" i="0" u="none" strike="noStrike" cap="none">
                <a:solidFill>
                  <a:srgbClr val="5E5E5E"/>
                </a:solidFill>
                <a:latin typeface="Avenir"/>
                <a:ea typeface="Avenir"/>
                <a:cs typeface="Avenir"/>
                <a:sym typeface="Avenir"/>
              </a:rPr>
              <a:t>A neurologist is testing the effect of a drug on response time by injecting 100 rats with a unit dose of the drug subjecting each to neurological stimulus and recording its response time. The neurologist knows that the mean response time for rats not injected with the drug is 1.2 seconds. The mean of the 100 injected rats response times is 1.05 seconds with the sample standard deviation of 0.5 seconds. Do you think that the drug has an effect on response time ? </a:t>
            </a:r>
            <a:endParaRPr/>
          </a:p>
        </p:txBody>
      </p:sp>
      <p:cxnSp>
        <p:nvCxnSpPr>
          <p:cNvPr id="551" name="Google Shape;551;p52"/>
          <p:cNvCxnSpPr/>
          <p:nvPr/>
        </p:nvCxnSpPr>
        <p:spPr>
          <a:xfrm>
            <a:off x="2498819" y="12538269"/>
            <a:ext cx="7973403" cy="1"/>
          </a:xfrm>
          <a:prstGeom prst="straightConnector1">
            <a:avLst/>
          </a:prstGeom>
          <a:noFill/>
          <a:ln w="25400" cap="flat" cmpd="sng">
            <a:solidFill>
              <a:srgbClr val="000000"/>
            </a:solidFill>
            <a:prstDash val="solid"/>
            <a:miter lim="400000"/>
            <a:headEnd type="none" w="sm" len="sm"/>
            <a:tailEnd type="none" w="sm" len="sm"/>
          </a:ln>
        </p:spPr>
      </p:cxnSp>
      <p:pic>
        <p:nvPicPr>
          <p:cNvPr id="552" name="Google Shape;552;p52" descr="Image"/>
          <p:cNvPicPr preferRelativeResize="0"/>
          <p:nvPr/>
        </p:nvPicPr>
        <p:blipFill rotWithShape="1">
          <a:blip r:embed="rId3">
            <a:alphaModFix/>
          </a:blip>
          <a:srcRect/>
          <a:stretch/>
        </p:blipFill>
        <p:spPr>
          <a:xfrm>
            <a:off x="2891287" y="8395964"/>
            <a:ext cx="7188468" cy="3951586"/>
          </a:xfrm>
          <a:prstGeom prst="rect">
            <a:avLst/>
          </a:prstGeom>
          <a:noFill/>
          <a:ln>
            <a:noFill/>
          </a:ln>
        </p:spPr>
      </p:pic>
      <p:cxnSp>
        <p:nvCxnSpPr>
          <p:cNvPr id="553" name="Google Shape;553;p52"/>
          <p:cNvCxnSpPr/>
          <p:nvPr/>
        </p:nvCxnSpPr>
        <p:spPr>
          <a:xfrm rot="10800000" flipH="1">
            <a:off x="6472820" y="8483256"/>
            <a:ext cx="1" cy="3951586"/>
          </a:xfrm>
          <a:prstGeom prst="straightConnector1">
            <a:avLst/>
          </a:prstGeom>
          <a:noFill/>
          <a:ln w="25400" cap="flat" cmpd="sng">
            <a:solidFill>
              <a:srgbClr val="929292"/>
            </a:solidFill>
            <a:prstDash val="dashDot"/>
            <a:miter lim="400000"/>
            <a:headEnd type="none" w="sm" len="sm"/>
            <a:tailEnd type="none" w="sm" len="sm"/>
          </a:ln>
        </p:spPr>
      </p:cxnSp>
      <p:cxnSp>
        <p:nvCxnSpPr>
          <p:cNvPr id="555" name="Google Shape;555;p52"/>
          <p:cNvCxnSpPr/>
          <p:nvPr/>
        </p:nvCxnSpPr>
        <p:spPr>
          <a:xfrm rot="10800000" flipH="1">
            <a:off x="7339910" y="10018628"/>
            <a:ext cx="1" cy="2328922"/>
          </a:xfrm>
          <a:prstGeom prst="straightConnector1">
            <a:avLst/>
          </a:prstGeom>
          <a:noFill/>
          <a:ln w="25400" cap="flat" cmpd="sng">
            <a:solidFill>
              <a:srgbClr val="929292"/>
            </a:solidFill>
            <a:prstDash val="dashDot"/>
            <a:miter lim="400000"/>
            <a:headEnd type="none" w="sm" len="sm"/>
            <a:tailEnd type="none" w="sm" len="sm"/>
          </a:ln>
        </p:spPr>
      </p:cxnSp>
      <p:cxnSp>
        <p:nvCxnSpPr>
          <p:cNvPr id="556" name="Google Shape;556;p52"/>
          <p:cNvCxnSpPr/>
          <p:nvPr/>
        </p:nvCxnSpPr>
        <p:spPr>
          <a:xfrm rot="10800000" flipH="1">
            <a:off x="8206999" y="11414949"/>
            <a:ext cx="1" cy="1019893"/>
          </a:xfrm>
          <a:prstGeom prst="straightConnector1">
            <a:avLst/>
          </a:prstGeom>
          <a:noFill/>
          <a:ln w="25400" cap="flat" cmpd="sng">
            <a:solidFill>
              <a:srgbClr val="929292"/>
            </a:solidFill>
            <a:prstDash val="dashDot"/>
            <a:miter lim="400000"/>
            <a:headEnd type="none" w="sm" len="sm"/>
            <a:tailEnd type="none" w="sm" len="sm"/>
          </a:ln>
        </p:spPr>
      </p:cxnSp>
      <p:cxnSp>
        <p:nvCxnSpPr>
          <p:cNvPr id="557" name="Google Shape;557;p52"/>
          <p:cNvCxnSpPr/>
          <p:nvPr/>
        </p:nvCxnSpPr>
        <p:spPr>
          <a:xfrm rot="10800000" flipH="1">
            <a:off x="9074088" y="11975409"/>
            <a:ext cx="1" cy="459433"/>
          </a:xfrm>
          <a:prstGeom prst="straightConnector1">
            <a:avLst/>
          </a:prstGeom>
          <a:noFill/>
          <a:ln w="25400" cap="flat" cmpd="sng">
            <a:solidFill>
              <a:srgbClr val="929292"/>
            </a:solidFill>
            <a:prstDash val="dashDot"/>
            <a:miter lim="400000"/>
            <a:headEnd type="none" w="sm" len="sm"/>
            <a:tailEnd type="none" w="sm" len="sm"/>
          </a:ln>
        </p:spPr>
      </p:cxnSp>
      <p:cxnSp>
        <p:nvCxnSpPr>
          <p:cNvPr id="558" name="Google Shape;558;p52"/>
          <p:cNvCxnSpPr/>
          <p:nvPr/>
        </p:nvCxnSpPr>
        <p:spPr>
          <a:xfrm rot="10800000" flipH="1">
            <a:off x="3871552" y="12019056"/>
            <a:ext cx="1" cy="372140"/>
          </a:xfrm>
          <a:prstGeom prst="straightConnector1">
            <a:avLst/>
          </a:prstGeom>
          <a:noFill/>
          <a:ln w="25400" cap="flat" cmpd="sng">
            <a:solidFill>
              <a:srgbClr val="929292"/>
            </a:solidFill>
            <a:prstDash val="dashDot"/>
            <a:miter lim="400000"/>
            <a:headEnd type="none" w="sm" len="sm"/>
            <a:tailEnd type="none" w="sm" len="sm"/>
          </a:ln>
        </p:spPr>
      </p:cxnSp>
      <p:cxnSp>
        <p:nvCxnSpPr>
          <p:cNvPr id="559" name="Google Shape;559;p52"/>
          <p:cNvCxnSpPr/>
          <p:nvPr/>
        </p:nvCxnSpPr>
        <p:spPr>
          <a:xfrm rot="10800000" flipH="1">
            <a:off x="4738642" y="11371302"/>
            <a:ext cx="1" cy="1107187"/>
          </a:xfrm>
          <a:prstGeom prst="straightConnector1">
            <a:avLst/>
          </a:prstGeom>
          <a:noFill/>
          <a:ln w="25400" cap="flat" cmpd="sng">
            <a:solidFill>
              <a:srgbClr val="929292"/>
            </a:solidFill>
            <a:prstDash val="dashDot"/>
            <a:miter lim="400000"/>
            <a:headEnd type="none" w="sm" len="sm"/>
            <a:tailEnd type="none" w="sm" len="sm"/>
          </a:ln>
        </p:spPr>
      </p:cxnSp>
      <p:cxnSp>
        <p:nvCxnSpPr>
          <p:cNvPr id="560" name="Google Shape;560;p52"/>
          <p:cNvCxnSpPr/>
          <p:nvPr/>
        </p:nvCxnSpPr>
        <p:spPr>
          <a:xfrm rot="10800000" flipH="1">
            <a:off x="5605731" y="9887688"/>
            <a:ext cx="1" cy="2590801"/>
          </a:xfrm>
          <a:prstGeom prst="straightConnector1">
            <a:avLst/>
          </a:prstGeom>
          <a:noFill/>
          <a:ln w="25400" cap="flat" cmpd="sng">
            <a:solidFill>
              <a:srgbClr val="929292"/>
            </a:solidFill>
            <a:prstDash val="dashDot"/>
            <a:miter lim="400000"/>
            <a:headEnd type="none" w="sm" len="sm"/>
            <a:tailEnd type="none" w="sm" len="sm"/>
          </a:ln>
        </p:spPr>
      </p:cxnSp>
      <p:sp>
        <p:nvSpPr>
          <p:cNvPr id="561" name="Google Shape;561;p52"/>
          <p:cNvSpPr txBox="1"/>
          <p:nvPr/>
        </p:nvSpPr>
        <p:spPr>
          <a:xfrm>
            <a:off x="7192539" y="12525569"/>
            <a:ext cx="294742" cy="5588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𝝈</a:t>
            </a:r>
            <a:endParaRPr/>
          </a:p>
        </p:txBody>
      </p:sp>
      <p:sp>
        <p:nvSpPr>
          <p:cNvPr id="562" name="Google Shape;562;p52"/>
          <p:cNvSpPr txBox="1"/>
          <p:nvPr/>
        </p:nvSpPr>
        <p:spPr>
          <a:xfrm>
            <a:off x="8059628" y="12525569"/>
            <a:ext cx="453239" cy="5588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2𝝈</a:t>
            </a:r>
            <a:endParaRPr/>
          </a:p>
        </p:txBody>
      </p:sp>
      <p:sp>
        <p:nvSpPr>
          <p:cNvPr id="563" name="Google Shape;563;p52"/>
          <p:cNvSpPr txBox="1"/>
          <p:nvPr/>
        </p:nvSpPr>
        <p:spPr>
          <a:xfrm>
            <a:off x="8926717" y="12525569"/>
            <a:ext cx="453239" cy="5588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3𝝈</a:t>
            </a:r>
            <a:endParaRPr/>
          </a:p>
        </p:txBody>
      </p:sp>
      <p:sp>
        <p:nvSpPr>
          <p:cNvPr id="564" name="Google Shape;564;p52"/>
          <p:cNvSpPr txBox="1"/>
          <p:nvPr/>
        </p:nvSpPr>
        <p:spPr>
          <a:xfrm>
            <a:off x="5328210" y="12525569"/>
            <a:ext cx="554737" cy="5588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-1𝝈</a:t>
            </a:r>
            <a:endParaRPr/>
          </a:p>
        </p:txBody>
      </p:sp>
      <p:sp>
        <p:nvSpPr>
          <p:cNvPr id="565" name="Google Shape;565;p52"/>
          <p:cNvSpPr txBox="1"/>
          <p:nvPr/>
        </p:nvSpPr>
        <p:spPr>
          <a:xfrm>
            <a:off x="4461121" y="12525569"/>
            <a:ext cx="554737" cy="5588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-2𝝈</a:t>
            </a:r>
            <a:endParaRPr/>
          </a:p>
        </p:txBody>
      </p:sp>
      <p:sp>
        <p:nvSpPr>
          <p:cNvPr id="566" name="Google Shape;566;p52"/>
          <p:cNvSpPr txBox="1"/>
          <p:nvPr/>
        </p:nvSpPr>
        <p:spPr>
          <a:xfrm>
            <a:off x="3594184" y="12525569"/>
            <a:ext cx="554737" cy="5588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-3𝝈</a:t>
            </a:r>
            <a:endParaRPr/>
          </a:p>
        </p:txBody>
      </p:sp>
      <p:sp>
        <p:nvSpPr>
          <p:cNvPr id="567" name="Google Shape;567;p52"/>
          <p:cNvSpPr txBox="1"/>
          <p:nvPr/>
        </p:nvSpPr>
        <p:spPr>
          <a:xfrm>
            <a:off x="13716000" y="5675013"/>
            <a:ext cx="4525823" cy="7239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Calculate test statistic</a:t>
            </a:r>
            <a:endParaRPr/>
          </a:p>
        </p:txBody>
      </p:sp>
      <p:pic>
        <p:nvPicPr>
          <p:cNvPr id="568" name="Google Shape;568;p52" descr="Image"/>
          <p:cNvPicPr preferRelativeResize="0"/>
          <p:nvPr/>
        </p:nvPicPr>
        <p:blipFill rotWithShape="1">
          <a:blip r:embed="rId4">
            <a:alphaModFix/>
          </a:blip>
          <a:srcRect/>
          <a:stretch/>
        </p:blipFill>
        <p:spPr>
          <a:xfrm>
            <a:off x="18338645" y="5042325"/>
            <a:ext cx="4572958" cy="2314511"/>
          </a:xfrm>
          <a:prstGeom prst="rect">
            <a:avLst/>
          </a:prstGeom>
          <a:noFill/>
          <a:ln>
            <a:noFill/>
          </a:ln>
        </p:spPr>
      </p:pic>
      <p:sp>
        <p:nvSpPr>
          <p:cNvPr id="569" name="Google Shape;569;p52"/>
          <p:cNvSpPr txBox="1"/>
          <p:nvPr/>
        </p:nvSpPr>
        <p:spPr>
          <a:xfrm>
            <a:off x="22383572" y="5700413"/>
            <a:ext cx="1079450" cy="7239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chemeClr val="accent1"/>
              </a:buClr>
              <a:buSzPts val="3600"/>
              <a:buFont typeface="Avenir"/>
              <a:buNone/>
            </a:pPr>
            <a:r>
              <a:rPr lang="en-US" sz="3600" b="0" i="0" u="none" strike="noStrike" cap="none">
                <a:solidFill>
                  <a:schemeClr val="accent1"/>
                </a:solidFill>
                <a:latin typeface="Avenir"/>
                <a:ea typeface="Avenir"/>
                <a:cs typeface="Avenir"/>
                <a:sym typeface="Avenir"/>
              </a:rPr>
              <a:t>= - 3</a:t>
            </a:r>
            <a:endParaRPr/>
          </a:p>
        </p:txBody>
      </p:sp>
      <p:cxnSp>
        <p:nvCxnSpPr>
          <p:cNvPr id="570" name="Google Shape;570;p52"/>
          <p:cNvCxnSpPr/>
          <p:nvPr/>
        </p:nvCxnSpPr>
        <p:spPr>
          <a:xfrm>
            <a:off x="5612904" y="10131382"/>
            <a:ext cx="1745233" cy="1"/>
          </a:xfrm>
          <a:prstGeom prst="straightConnector1">
            <a:avLst/>
          </a:prstGeom>
          <a:noFill/>
          <a:ln w="50800" cap="flat" cmpd="sng">
            <a:solidFill>
              <a:srgbClr val="FF2600"/>
            </a:solidFill>
            <a:prstDash val="solid"/>
            <a:miter lim="400000"/>
            <a:headEnd type="triangle" w="med" len="med"/>
            <a:tailEnd type="triangle" w="med" len="med"/>
          </a:ln>
        </p:spPr>
      </p:cxnSp>
      <p:cxnSp>
        <p:nvCxnSpPr>
          <p:cNvPr id="571" name="Google Shape;571;p52"/>
          <p:cNvCxnSpPr/>
          <p:nvPr/>
        </p:nvCxnSpPr>
        <p:spPr>
          <a:xfrm>
            <a:off x="4740288" y="11070381"/>
            <a:ext cx="3465065" cy="1"/>
          </a:xfrm>
          <a:prstGeom prst="straightConnector1">
            <a:avLst/>
          </a:prstGeom>
          <a:noFill/>
          <a:ln w="50800" cap="flat" cmpd="sng">
            <a:solidFill>
              <a:srgbClr val="FF2600"/>
            </a:solidFill>
            <a:prstDash val="solid"/>
            <a:miter lim="400000"/>
            <a:headEnd type="triangle" w="med" len="med"/>
            <a:tailEnd type="triangle" w="med" len="med"/>
          </a:ln>
        </p:spPr>
      </p:cxnSp>
      <p:cxnSp>
        <p:nvCxnSpPr>
          <p:cNvPr id="572" name="Google Shape;572;p52"/>
          <p:cNvCxnSpPr/>
          <p:nvPr/>
        </p:nvCxnSpPr>
        <p:spPr>
          <a:xfrm>
            <a:off x="3887546" y="12009380"/>
            <a:ext cx="5170549" cy="1"/>
          </a:xfrm>
          <a:prstGeom prst="straightConnector1">
            <a:avLst/>
          </a:prstGeom>
          <a:noFill/>
          <a:ln w="50800" cap="flat" cmpd="sng">
            <a:solidFill>
              <a:srgbClr val="FF2600"/>
            </a:solidFill>
            <a:prstDash val="solid"/>
            <a:miter lim="400000"/>
            <a:headEnd type="triangle" w="med" len="med"/>
            <a:tailEnd type="triangle" w="med" len="med"/>
          </a:ln>
        </p:spPr>
      </p:cxnSp>
      <p:sp>
        <p:nvSpPr>
          <p:cNvPr id="573" name="Google Shape;573;p52"/>
          <p:cNvSpPr txBox="1"/>
          <p:nvPr/>
        </p:nvSpPr>
        <p:spPr>
          <a:xfrm>
            <a:off x="6141808" y="9871032"/>
            <a:ext cx="791871" cy="5207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68 %</a:t>
            </a:r>
            <a:endParaRPr/>
          </a:p>
        </p:txBody>
      </p:sp>
      <p:sp>
        <p:nvSpPr>
          <p:cNvPr id="574" name="Google Shape;574;p52"/>
          <p:cNvSpPr txBox="1"/>
          <p:nvPr/>
        </p:nvSpPr>
        <p:spPr>
          <a:xfrm>
            <a:off x="6089585" y="10769069"/>
            <a:ext cx="791871" cy="5207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95 %</a:t>
            </a:r>
            <a:endParaRPr/>
          </a:p>
        </p:txBody>
      </p:sp>
      <p:sp>
        <p:nvSpPr>
          <p:cNvPr id="575" name="Google Shape;575;p52"/>
          <p:cNvSpPr txBox="1"/>
          <p:nvPr/>
        </p:nvSpPr>
        <p:spPr>
          <a:xfrm>
            <a:off x="6014706" y="11749030"/>
            <a:ext cx="1046075" cy="5207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99.7 %</a:t>
            </a:r>
            <a:endParaRPr/>
          </a:p>
        </p:txBody>
      </p:sp>
      <p:sp>
        <p:nvSpPr>
          <p:cNvPr id="576" name="Google Shape;576;p52"/>
          <p:cNvSpPr txBox="1"/>
          <p:nvPr/>
        </p:nvSpPr>
        <p:spPr>
          <a:xfrm>
            <a:off x="13716000" y="3581399"/>
            <a:ext cx="2545081" cy="13462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H</a:t>
            </a:r>
            <a:r>
              <a:rPr lang="en-US" sz="3600" b="0" i="0" u="none" strike="noStrike" cap="none" baseline="-25000">
                <a:solidFill>
                  <a:srgbClr val="5E5E5E"/>
                </a:solidFill>
                <a:latin typeface="Avenir"/>
                <a:ea typeface="Avenir"/>
                <a:cs typeface="Avenir"/>
                <a:sym typeface="Avenir"/>
              </a:rPr>
              <a:t>0</a:t>
            </a:r>
            <a:r>
              <a:rPr lang="en-US" sz="3600" b="0" i="0" u="none" strike="noStrike" cap="none">
                <a:solidFill>
                  <a:srgbClr val="5E5E5E"/>
                </a:solidFill>
                <a:latin typeface="Avenir"/>
                <a:ea typeface="Avenir"/>
                <a:cs typeface="Avenir"/>
                <a:sym typeface="Avenir"/>
              </a:rPr>
              <a:t>: µ = 1.2 s</a:t>
            </a:r>
            <a:endParaRPr/>
          </a:p>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H</a:t>
            </a:r>
            <a:r>
              <a:rPr lang="en-US" sz="3600" b="0" i="0" u="none" strike="noStrike" cap="none" baseline="-25000">
                <a:solidFill>
                  <a:srgbClr val="5E5E5E"/>
                </a:solidFill>
                <a:latin typeface="Avenir"/>
                <a:ea typeface="Avenir"/>
                <a:cs typeface="Avenir"/>
                <a:sym typeface="Avenir"/>
              </a:rPr>
              <a:t>1</a:t>
            </a:r>
            <a:r>
              <a:rPr lang="en-US" sz="3600" b="0" i="0" u="none" strike="noStrike" cap="none">
                <a:solidFill>
                  <a:srgbClr val="5E5E5E"/>
                </a:solidFill>
                <a:latin typeface="Avenir"/>
                <a:ea typeface="Avenir"/>
                <a:cs typeface="Avenir"/>
                <a:sym typeface="Avenir"/>
              </a:rPr>
              <a:t>: µ ≠ 1.2 s</a:t>
            </a:r>
            <a:endParaRPr/>
          </a:p>
        </p:txBody>
      </p:sp>
      <p:sp>
        <p:nvSpPr>
          <p:cNvPr id="578" name="Google Shape;578;p52"/>
          <p:cNvSpPr txBox="1"/>
          <p:nvPr/>
        </p:nvSpPr>
        <p:spPr>
          <a:xfrm>
            <a:off x="13586470" y="8229262"/>
            <a:ext cx="8955262" cy="13462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This means that the sample mean (1.05) is 3 standard deviations away from the mean</a:t>
            </a:r>
            <a:endParaRPr/>
          </a:p>
        </p:txBody>
      </p:sp>
      <p:pic>
        <p:nvPicPr>
          <p:cNvPr id="579" name="Google Shape;579;p52" descr="Connection Line"/>
          <p:cNvPicPr preferRelativeResize="0"/>
          <p:nvPr/>
        </p:nvPicPr>
        <p:blipFill rotWithShape="1">
          <a:blip r:embed="rId5">
            <a:alphaModFix amt="70000"/>
          </a:blip>
          <a:srcRect/>
          <a:stretch/>
        </p:blipFill>
        <p:spPr>
          <a:xfrm>
            <a:off x="7116536" y="8004253"/>
            <a:ext cx="2781684" cy="4206334"/>
          </a:xfrm>
          <a:prstGeom prst="rect">
            <a:avLst/>
          </a:prstGeom>
          <a:noFill/>
          <a:ln>
            <a:noFill/>
          </a:ln>
        </p:spPr>
      </p:pic>
      <p:pic>
        <p:nvPicPr>
          <p:cNvPr id="580" name="Google Shape;580;p52" descr="Line Shape"/>
          <p:cNvPicPr preferRelativeResize="0"/>
          <p:nvPr/>
        </p:nvPicPr>
        <p:blipFill rotWithShape="1">
          <a:blip r:embed="rId6">
            <a:alphaModFix amt="70000"/>
          </a:blip>
          <a:srcRect/>
          <a:stretch/>
        </p:blipFill>
        <p:spPr>
          <a:xfrm>
            <a:off x="2827754" y="12264859"/>
            <a:ext cx="1067223" cy="318190"/>
          </a:xfrm>
          <a:prstGeom prst="rect">
            <a:avLst/>
          </a:prstGeom>
          <a:noFill/>
          <a:ln>
            <a:noFill/>
          </a:ln>
        </p:spPr>
      </p:pic>
      <p:pic>
        <p:nvPicPr>
          <p:cNvPr id="581" name="Google Shape;581;p52" descr="Line Shape"/>
          <p:cNvPicPr preferRelativeResize="0"/>
          <p:nvPr/>
        </p:nvPicPr>
        <p:blipFill rotWithShape="1">
          <a:blip r:embed="rId6">
            <a:alphaModFix amt="70000"/>
          </a:blip>
          <a:srcRect/>
          <a:stretch/>
        </p:blipFill>
        <p:spPr>
          <a:xfrm flipH="1">
            <a:off x="9061388" y="12264859"/>
            <a:ext cx="1067223" cy="318190"/>
          </a:xfrm>
          <a:prstGeom prst="rect">
            <a:avLst/>
          </a:prstGeom>
          <a:noFill/>
          <a:ln>
            <a:noFill/>
          </a:ln>
        </p:spPr>
      </p:pic>
      <p:pic>
        <p:nvPicPr>
          <p:cNvPr id="582" name="Google Shape;582;p52" descr="Line Line"/>
          <p:cNvPicPr preferRelativeResize="0"/>
          <p:nvPr/>
        </p:nvPicPr>
        <p:blipFill rotWithShape="1">
          <a:blip r:embed="rId7">
            <a:alphaModFix/>
          </a:blip>
          <a:srcRect/>
          <a:stretch/>
        </p:blipFill>
        <p:spPr>
          <a:xfrm rot="-5400000">
            <a:off x="3437760" y="12133283"/>
            <a:ext cx="867585" cy="143685"/>
          </a:xfrm>
          <a:prstGeom prst="rect">
            <a:avLst/>
          </a:prstGeom>
          <a:noFill/>
          <a:ln>
            <a:noFill/>
          </a:ln>
        </p:spPr>
      </p:pic>
      <p:sp>
        <p:nvSpPr>
          <p:cNvPr id="583" name="Google Shape;583;p52"/>
          <p:cNvSpPr txBox="1"/>
          <p:nvPr/>
        </p:nvSpPr>
        <p:spPr>
          <a:xfrm>
            <a:off x="5908636" y="7636164"/>
            <a:ext cx="1258215" cy="7239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0.003</a:t>
            </a:r>
            <a:endParaRPr/>
          </a:p>
        </p:txBody>
      </p:sp>
      <p:pic>
        <p:nvPicPr>
          <p:cNvPr id="584" name="Google Shape;584;p52" descr="Connection Line"/>
          <p:cNvPicPr preferRelativeResize="0"/>
          <p:nvPr/>
        </p:nvPicPr>
        <p:blipFill rotWithShape="1">
          <a:blip r:embed="rId8">
            <a:alphaModFix amt="70000"/>
          </a:blip>
          <a:srcRect/>
          <a:stretch/>
        </p:blipFill>
        <p:spPr>
          <a:xfrm>
            <a:off x="3205328" y="8008168"/>
            <a:ext cx="2753623" cy="4188373"/>
          </a:xfrm>
          <a:prstGeom prst="rect">
            <a:avLst/>
          </a:prstGeom>
          <a:noFill/>
          <a:ln>
            <a:noFill/>
          </a:ln>
        </p:spPr>
      </p:pic>
      <p:sp>
        <p:nvSpPr>
          <p:cNvPr id="585" name="Google Shape;585;p52"/>
          <p:cNvSpPr txBox="1"/>
          <p:nvPr/>
        </p:nvSpPr>
        <p:spPr>
          <a:xfrm>
            <a:off x="13268034" y="10192422"/>
            <a:ext cx="9592134" cy="1210588"/>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3600"/>
              <a:buFont typeface="Avenir"/>
              <a:buNone/>
            </a:pPr>
            <a:r>
              <a:rPr lang="en-US" sz="3600" b="0" i="0" u="none" strike="noStrike" cap="none" dirty="0">
                <a:solidFill>
                  <a:srgbClr val="5E5E5E"/>
                </a:solidFill>
                <a:latin typeface="Avenir"/>
                <a:ea typeface="Avenir"/>
                <a:cs typeface="Avenir"/>
                <a:sym typeface="Avenir"/>
              </a:rPr>
              <a:t>What is the probability of observing a test statistic as extreme as </a:t>
            </a:r>
            <a:r>
              <a:rPr lang="en-US" sz="3600" dirty="0">
                <a:solidFill>
                  <a:srgbClr val="5E5E5E"/>
                </a:solidFill>
                <a:latin typeface="Avenir"/>
                <a:ea typeface="Avenir"/>
                <a:cs typeface="Avenir"/>
                <a:sym typeface="Avenir"/>
              </a:rPr>
              <a:t>3</a:t>
            </a:r>
            <a:r>
              <a:rPr lang="en-US" sz="3600" b="0" i="0" u="none" strike="noStrike" cap="none" dirty="0">
                <a:solidFill>
                  <a:srgbClr val="5E5E5E"/>
                </a:solidFill>
                <a:latin typeface="Avenir"/>
                <a:ea typeface="Avenir"/>
                <a:cs typeface="Avenir"/>
                <a:sym typeface="Avenir"/>
              </a:rPr>
              <a:t>? </a:t>
            </a:r>
            <a:endParaRPr dirty="0"/>
          </a:p>
        </p:txBody>
      </p:sp>
      <p:sp>
        <p:nvSpPr>
          <p:cNvPr id="586" name="Google Shape;586;p52"/>
          <p:cNvSpPr txBox="1"/>
          <p:nvPr/>
        </p:nvSpPr>
        <p:spPr>
          <a:xfrm>
            <a:off x="5674676" y="7013295"/>
            <a:ext cx="1621689" cy="7239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p-value</a:t>
            </a:r>
            <a:endParaRPr/>
          </a:p>
        </p:txBody>
      </p:sp>
      <p:sp>
        <p:nvSpPr>
          <p:cNvPr id="587" name="Google Shape;587;p52"/>
          <p:cNvSpPr txBox="1"/>
          <p:nvPr/>
        </p:nvSpPr>
        <p:spPr>
          <a:xfrm>
            <a:off x="20962316" y="13347769"/>
            <a:ext cx="3395854" cy="419101"/>
          </a:xfrm>
          <a:prstGeom prst="rect">
            <a:avLst/>
          </a:prstGeom>
          <a:noFill/>
          <a:ln>
            <a:noFill/>
          </a:ln>
        </p:spPr>
        <p:txBody>
          <a:bodyPr spcFirstLastPara="1" wrap="square" lIns="50800" tIns="50800" rIns="50800" bIns="50800" anchor="ctr" anchorCtr="0">
            <a:spAutoFit/>
          </a:bodyPr>
          <a:lstStyle/>
          <a:p>
            <a:pPr marL="0" marR="0" lvl="0" indent="0" algn="r" rtl="0">
              <a:lnSpc>
                <a:spcPct val="100000"/>
              </a:lnSpc>
              <a:spcBef>
                <a:spcPts val="0"/>
              </a:spcBef>
              <a:spcAft>
                <a:spcPts val="0"/>
              </a:spcAft>
              <a:buClr>
                <a:srgbClr val="5E5E5E"/>
              </a:buClr>
              <a:buSzPts val="1800"/>
              <a:buFont typeface="Avenir"/>
              <a:buNone/>
            </a:pPr>
            <a:r>
              <a:rPr lang="en-US" sz="1800" b="0" i="0" u="none" strike="noStrike" cap="none">
                <a:solidFill>
                  <a:srgbClr val="5E5E5E"/>
                </a:solidFill>
                <a:latin typeface="Avenir"/>
                <a:ea typeface="Avenir"/>
                <a:cs typeface="Avenir"/>
                <a:sym typeface="Avenir"/>
              </a:rPr>
              <a:t>Example adapted from Sal Khan</a:t>
            </a:r>
            <a:endParaRPr/>
          </a:p>
        </p:txBody>
      </p:sp>
      <p:sp>
        <p:nvSpPr>
          <p:cNvPr id="588" name="Google Shape;588;p52"/>
          <p:cNvSpPr txBox="1"/>
          <p:nvPr/>
        </p:nvSpPr>
        <p:spPr>
          <a:xfrm>
            <a:off x="2172061" y="8014559"/>
            <a:ext cx="2560169" cy="7239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Assume H</a:t>
            </a:r>
            <a:r>
              <a:rPr lang="en-US" sz="3600" b="0" i="0" u="none" strike="noStrike" cap="none" baseline="-25000">
                <a:solidFill>
                  <a:srgbClr val="5E5E5E"/>
                </a:solidFill>
                <a:latin typeface="Avenir"/>
                <a:ea typeface="Avenir"/>
                <a:cs typeface="Avenir"/>
                <a:sym typeface="Avenir"/>
              </a:rPr>
              <a:t>0</a:t>
            </a:r>
            <a:r>
              <a:rPr lang="en-US" sz="3600" b="0" i="0" u="none" strike="noStrike" cap="none">
                <a:solidFill>
                  <a:srgbClr val="5E5E5E"/>
                </a:solidFill>
                <a:latin typeface="Avenir"/>
                <a:ea typeface="Avenir"/>
                <a:cs typeface="Avenir"/>
                <a:sym typeface="Avenir"/>
              </a:rPr>
              <a:t>: </a:t>
            </a:r>
            <a:endParaRPr/>
          </a:p>
        </p:txBody>
      </p:sp>
      <p:sp>
        <p:nvSpPr>
          <p:cNvPr id="2" name="Google Shape;393;p46">
            <a:extLst>
              <a:ext uri="{FF2B5EF4-FFF2-40B4-BE49-F238E27FC236}">
                <a16:creationId xmlns:a16="http://schemas.microsoft.com/office/drawing/2014/main" id="{43645FC3-4BDA-0EC7-6D33-749996BF8A91}"/>
              </a:ext>
            </a:extLst>
          </p:cNvPr>
          <p:cNvSpPr txBox="1"/>
          <p:nvPr/>
        </p:nvSpPr>
        <p:spPr>
          <a:xfrm>
            <a:off x="5912446" y="12753379"/>
            <a:ext cx="1469661" cy="471924"/>
          </a:xfrm>
          <a:prstGeom prst="rect">
            <a:avLst/>
          </a:prstGeom>
          <a:noFill/>
          <a:ln>
            <a:noFill/>
          </a:ln>
        </p:spPr>
        <p:txBody>
          <a:bodyPr spcFirstLastPara="1" wrap="square" lIns="50800" tIns="50800" rIns="50800" bIns="50800" anchor="ctr" anchorCtr="0">
            <a:spAutoFit/>
          </a:bodyPr>
          <a:lstStyle/>
          <a:p>
            <a:pPr lvl="0">
              <a:buClr>
                <a:srgbClr val="5E5E5E"/>
              </a:buClr>
              <a:buSzPts val="2400"/>
            </a:pPr>
            <a:r>
              <a:rPr lang="en-US" sz="2400" b="0" i="0" u="none" strike="noStrike" cap="none" dirty="0">
                <a:solidFill>
                  <a:srgbClr val="5E5E5E"/>
                </a:solidFill>
                <a:latin typeface="Avenir"/>
                <a:ea typeface="Avenir"/>
                <a:cs typeface="Avenir"/>
                <a:sym typeface="Avenir"/>
              </a:rPr>
              <a:t>µ = </a:t>
            </a:r>
            <a:r>
              <a:rPr lang="en-US" sz="2400" dirty="0">
                <a:solidFill>
                  <a:srgbClr val="5E5E5E"/>
                </a:solidFill>
                <a:latin typeface="Avenir"/>
                <a:ea typeface="Avenir"/>
                <a:cs typeface="Avenir"/>
                <a:sym typeface="Avenir"/>
              </a:rPr>
              <a:t>1.2 s</a:t>
            </a:r>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Shape 592"/>
        <p:cNvGrpSpPr/>
        <p:nvPr/>
      </p:nvGrpSpPr>
      <p:grpSpPr>
        <a:xfrm>
          <a:off x="0" y="0"/>
          <a:ext cx="0" cy="0"/>
          <a:chOff x="0" y="0"/>
          <a:chExt cx="0" cy="0"/>
        </a:xfrm>
      </p:grpSpPr>
      <p:sp>
        <p:nvSpPr>
          <p:cNvPr id="593" name="Google Shape;593;p53"/>
          <p:cNvSpPr txBox="1">
            <a:spLocks noGrp="1"/>
          </p:cNvSpPr>
          <p:nvPr>
            <p:ph type="title"/>
          </p:nvPr>
        </p:nvSpPr>
        <p:spPr>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a:latin typeface="Avenir"/>
                <a:ea typeface="Avenir"/>
                <a:cs typeface="Avenir"/>
                <a:sym typeface="Avenir"/>
              </a:rPr>
              <a:t>A simple example</a:t>
            </a:r>
            <a:endParaRPr/>
          </a:p>
        </p:txBody>
      </p:sp>
      <p:sp>
        <p:nvSpPr>
          <p:cNvPr id="594" name="Google Shape;594;p53"/>
          <p:cNvSpPr txBox="1"/>
          <p:nvPr/>
        </p:nvSpPr>
        <p:spPr>
          <a:xfrm>
            <a:off x="1206500" y="2754183"/>
            <a:ext cx="9592134" cy="3759201"/>
          </a:xfrm>
          <a:prstGeom prst="rect">
            <a:avLst/>
          </a:prstGeom>
          <a:noFill/>
          <a:ln>
            <a:noFill/>
          </a:ln>
        </p:spPr>
        <p:txBody>
          <a:bodyPr spcFirstLastPara="1" wrap="square" lIns="50800" tIns="50800" rIns="50800" bIns="50800" anchor="ctr" anchorCtr="0">
            <a:spAutoFit/>
          </a:bodyPr>
          <a:lstStyle/>
          <a:p>
            <a:pPr marL="0" marR="0" lvl="0" indent="0" algn="just" rtl="0">
              <a:lnSpc>
                <a:spcPct val="100000"/>
              </a:lnSpc>
              <a:spcBef>
                <a:spcPts val="0"/>
              </a:spcBef>
              <a:spcAft>
                <a:spcPts val="0"/>
              </a:spcAft>
              <a:buClr>
                <a:srgbClr val="5E5E5E"/>
              </a:buClr>
              <a:buSzPts val="2600"/>
              <a:buFont typeface="Avenir"/>
              <a:buNone/>
            </a:pPr>
            <a:r>
              <a:rPr lang="en-US" sz="2600" b="0" i="0" u="none" strike="noStrike" cap="none">
                <a:solidFill>
                  <a:srgbClr val="5E5E5E"/>
                </a:solidFill>
                <a:latin typeface="Avenir"/>
                <a:ea typeface="Avenir"/>
                <a:cs typeface="Avenir"/>
                <a:sym typeface="Avenir"/>
              </a:rPr>
              <a:t>A neurologist is testing the effect of a drug on response time by injecting 100 rats with a unit dose of the drug subjecting each to neurological stimulus and recording its response time. The neurologist knows that the mean response time for rats not injected with the drug is 1.2 seconds. The mean of the 100 injected rats response times is 1.05 seconds with the sample standard deviation of 0.5 seconds. Do you think that the drug has an effect on response time ? </a:t>
            </a:r>
            <a:endParaRPr/>
          </a:p>
        </p:txBody>
      </p:sp>
      <p:cxnSp>
        <p:nvCxnSpPr>
          <p:cNvPr id="595" name="Google Shape;595;p53"/>
          <p:cNvCxnSpPr/>
          <p:nvPr/>
        </p:nvCxnSpPr>
        <p:spPr>
          <a:xfrm>
            <a:off x="2498819" y="12538269"/>
            <a:ext cx="7973403" cy="1"/>
          </a:xfrm>
          <a:prstGeom prst="straightConnector1">
            <a:avLst/>
          </a:prstGeom>
          <a:noFill/>
          <a:ln w="25400" cap="flat" cmpd="sng">
            <a:solidFill>
              <a:srgbClr val="000000"/>
            </a:solidFill>
            <a:prstDash val="solid"/>
            <a:miter lim="400000"/>
            <a:headEnd type="none" w="sm" len="sm"/>
            <a:tailEnd type="none" w="sm" len="sm"/>
          </a:ln>
        </p:spPr>
      </p:cxnSp>
      <p:pic>
        <p:nvPicPr>
          <p:cNvPr id="596" name="Google Shape;596;p53" descr="Image"/>
          <p:cNvPicPr preferRelativeResize="0"/>
          <p:nvPr/>
        </p:nvPicPr>
        <p:blipFill rotWithShape="1">
          <a:blip r:embed="rId3">
            <a:alphaModFix/>
          </a:blip>
          <a:srcRect/>
          <a:stretch/>
        </p:blipFill>
        <p:spPr>
          <a:xfrm>
            <a:off x="2891287" y="8395964"/>
            <a:ext cx="7188468" cy="3951586"/>
          </a:xfrm>
          <a:prstGeom prst="rect">
            <a:avLst/>
          </a:prstGeom>
          <a:noFill/>
          <a:ln>
            <a:noFill/>
          </a:ln>
        </p:spPr>
      </p:pic>
      <p:cxnSp>
        <p:nvCxnSpPr>
          <p:cNvPr id="597" name="Google Shape;597;p53"/>
          <p:cNvCxnSpPr/>
          <p:nvPr/>
        </p:nvCxnSpPr>
        <p:spPr>
          <a:xfrm rot="10800000" flipH="1">
            <a:off x="6472820" y="8483256"/>
            <a:ext cx="1" cy="3951586"/>
          </a:xfrm>
          <a:prstGeom prst="straightConnector1">
            <a:avLst/>
          </a:prstGeom>
          <a:noFill/>
          <a:ln w="25400" cap="flat" cmpd="sng">
            <a:solidFill>
              <a:srgbClr val="929292"/>
            </a:solidFill>
            <a:prstDash val="dashDot"/>
            <a:miter lim="400000"/>
            <a:headEnd type="none" w="sm" len="sm"/>
            <a:tailEnd type="none" w="sm" len="sm"/>
          </a:ln>
        </p:spPr>
      </p:cxnSp>
      <p:cxnSp>
        <p:nvCxnSpPr>
          <p:cNvPr id="599" name="Google Shape;599;p53"/>
          <p:cNvCxnSpPr/>
          <p:nvPr/>
        </p:nvCxnSpPr>
        <p:spPr>
          <a:xfrm rot="10800000" flipH="1">
            <a:off x="7339910" y="10018628"/>
            <a:ext cx="1" cy="2328922"/>
          </a:xfrm>
          <a:prstGeom prst="straightConnector1">
            <a:avLst/>
          </a:prstGeom>
          <a:noFill/>
          <a:ln w="25400" cap="flat" cmpd="sng">
            <a:solidFill>
              <a:srgbClr val="929292"/>
            </a:solidFill>
            <a:prstDash val="dashDot"/>
            <a:miter lim="400000"/>
            <a:headEnd type="none" w="sm" len="sm"/>
            <a:tailEnd type="none" w="sm" len="sm"/>
          </a:ln>
        </p:spPr>
      </p:cxnSp>
      <p:cxnSp>
        <p:nvCxnSpPr>
          <p:cNvPr id="600" name="Google Shape;600;p53"/>
          <p:cNvCxnSpPr/>
          <p:nvPr/>
        </p:nvCxnSpPr>
        <p:spPr>
          <a:xfrm rot="10800000" flipH="1">
            <a:off x="8206999" y="11414949"/>
            <a:ext cx="1" cy="1019893"/>
          </a:xfrm>
          <a:prstGeom prst="straightConnector1">
            <a:avLst/>
          </a:prstGeom>
          <a:noFill/>
          <a:ln w="25400" cap="flat" cmpd="sng">
            <a:solidFill>
              <a:srgbClr val="929292"/>
            </a:solidFill>
            <a:prstDash val="dashDot"/>
            <a:miter lim="400000"/>
            <a:headEnd type="none" w="sm" len="sm"/>
            <a:tailEnd type="none" w="sm" len="sm"/>
          </a:ln>
        </p:spPr>
      </p:cxnSp>
      <p:cxnSp>
        <p:nvCxnSpPr>
          <p:cNvPr id="601" name="Google Shape;601;p53"/>
          <p:cNvCxnSpPr/>
          <p:nvPr/>
        </p:nvCxnSpPr>
        <p:spPr>
          <a:xfrm rot="10800000" flipH="1">
            <a:off x="9074088" y="11975409"/>
            <a:ext cx="1" cy="459433"/>
          </a:xfrm>
          <a:prstGeom prst="straightConnector1">
            <a:avLst/>
          </a:prstGeom>
          <a:noFill/>
          <a:ln w="25400" cap="flat" cmpd="sng">
            <a:solidFill>
              <a:srgbClr val="929292"/>
            </a:solidFill>
            <a:prstDash val="dashDot"/>
            <a:miter lim="400000"/>
            <a:headEnd type="none" w="sm" len="sm"/>
            <a:tailEnd type="none" w="sm" len="sm"/>
          </a:ln>
        </p:spPr>
      </p:cxnSp>
      <p:cxnSp>
        <p:nvCxnSpPr>
          <p:cNvPr id="602" name="Google Shape;602;p53"/>
          <p:cNvCxnSpPr/>
          <p:nvPr/>
        </p:nvCxnSpPr>
        <p:spPr>
          <a:xfrm rot="10800000" flipH="1">
            <a:off x="3871552" y="12019056"/>
            <a:ext cx="1" cy="372140"/>
          </a:xfrm>
          <a:prstGeom prst="straightConnector1">
            <a:avLst/>
          </a:prstGeom>
          <a:noFill/>
          <a:ln w="25400" cap="flat" cmpd="sng">
            <a:solidFill>
              <a:srgbClr val="929292"/>
            </a:solidFill>
            <a:prstDash val="dashDot"/>
            <a:miter lim="400000"/>
            <a:headEnd type="none" w="sm" len="sm"/>
            <a:tailEnd type="none" w="sm" len="sm"/>
          </a:ln>
        </p:spPr>
      </p:cxnSp>
      <p:cxnSp>
        <p:nvCxnSpPr>
          <p:cNvPr id="603" name="Google Shape;603;p53"/>
          <p:cNvCxnSpPr/>
          <p:nvPr/>
        </p:nvCxnSpPr>
        <p:spPr>
          <a:xfrm rot="10800000" flipH="1">
            <a:off x="4738642" y="11371302"/>
            <a:ext cx="1" cy="1107187"/>
          </a:xfrm>
          <a:prstGeom prst="straightConnector1">
            <a:avLst/>
          </a:prstGeom>
          <a:noFill/>
          <a:ln w="25400" cap="flat" cmpd="sng">
            <a:solidFill>
              <a:srgbClr val="929292"/>
            </a:solidFill>
            <a:prstDash val="dashDot"/>
            <a:miter lim="400000"/>
            <a:headEnd type="none" w="sm" len="sm"/>
            <a:tailEnd type="none" w="sm" len="sm"/>
          </a:ln>
        </p:spPr>
      </p:cxnSp>
      <p:cxnSp>
        <p:nvCxnSpPr>
          <p:cNvPr id="604" name="Google Shape;604;p53"/>
          <p:cNvCxnSpPr/>
          <p:nvPr/>
        </p:nvCxnSpPr>
        <p:spPr>
          <a:xfrm rot="10800000" flipH="1">
            <a:off x="5605731" y="9887688"/>
            <a:ext cx="1" cy="2590801"/>
          </a:xfrm>
          <a:prstGeom prst="straightConnector1">
            <a:avLst/>
          </a:prstGeom>
          <a:noFill/>
          <a:ln w="25400" cap="flat" cmpd="sng">
            <a:solidFill>
              <a:srgbClr val="929292"/>
            </a:solidFill>
            <a:prstDash val="dashDot"/>
            <a:miter lim="400000"/>
            <a:headEnd type="none" w="sm" len="sm"/>
            <a:tailEnd type="none" w="sm" len="sm"/>
          </a:ln>
        </p:spPr>
      </p:cxnSp>
      <p:sp>
        <p:nvSpPr>
          <p:cNvPr id="605" name="Google Shape;605;p53"/>
          <p:cNvSpPr txBox="1"/>
          <p:nvPr/>
        </p:nvSpPr>
        <p:spPr>
          <a:xfrm>
            <a:off x="7192539" y="12525569"/>
            <a:ext cx="294742" cy="5588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𝝈</a:t>
            </a:r>
            <a:endParaRPr/>
          </a:p>
        </p:txBody>
      </p:sp>
      <p:sp>
        <p:nvSpPr>
          <p:cNvPr id="606" name="Google Shape;606;p53"/>
          <p:cNvSpPr txBox="1"/>
          <p:nvPr/>
        </p:nvSpPr>
        <p:spPr>
          <a:xfrm>
            <a:off x="8059628" y="12525569"/>
            <a:ext cx="453239" cy="5588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2𝝈</a:t>
            </a:r>
            <a:endParaRPr/>
          </a:p>
        </p:txBody>
      </p:sp>
      <p:sp>
        <p:nvSpPr>
          <p:cNvPr id="607" name="Google Shape;607;p53"/>
          <p:cNvSpPr txBox="1"/>
          <p:nvPr/>
        </p:nvSpPr>
        <p:spPr>
          <a:xfrm>
            <a:off x="8926717" y="12525569"/>
            <a:ext cx="453239" cy="5588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3𝝈</a:t>
            </a:r>
            <a:endParaRPr/>
          </a:p>
        </p:txBody>
      </p:sp>
      <p:sp>
        <p:nvSpPr>
          <p:cNvPr id="608" name="Google Shape;608;p53"/>
          <p:cNvSpPr txBox="1"/>
          <p:nvPr/>
        </p:nvSpPr>
        <p:spPr>
          <a:xfrm>
            <a:off x="5328210" y="12525569"/>
            <a:ext cx="554737" cy="5588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-1𝝈</a:t>
            </a:r>
            <a:endParaRPr/>
          </a:p>
        </p:txBody>
      </p:sp>
      <p:sp>
        <p:nvSpPr>
          <p:cNvPr id="609" name="Google Shape;609;p53"/>
          <p:cNvSpPr txBox="1"/>
          <p:nvPr/>
        </p:nvSpPr>
        <p:spPr>
          <a:xfrm>
            <a:off x="4461121" y="12525569"/>
            <a:ext cx="554737" cy="5588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-2𝝈</a:t>
            </a:r>
            <a:endParaRPr/>
          </a:p>
        </p:txBody>
      </p:sp>
      <p:sp>
        <p:nvSpPr>
          <p:cNvPr id="610" name="Google Shape;610;p53"/>
          <p:cNvSpPr txBox="1"/>
          <p:nvPr/>
        </p:nvSpPr>
        <p:spPr>
          <a:xfrm>
            <a:off x="3594184" y="12525569"/>
            <a:ext cx="554737" cy="5588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-3𝝈</a:t>
            </a:r>
            <a:endParaRPr/>
          </a:p>
        </p:txBody>
      </p:sp>
      <p:sp>
        <p:nvSpPr>
          <p:cNvPr id="611" name="Google Shape;611;p53"/>
          <p:cNvSpPr txBox="1"/>
          <p:nvPr/>
        </p:nvSpPr>
        <p:spPr>
          <a:xfrm>
            <a:off x="13716000" y="5675013"/>
            <a:ext cx="4525823" cy="7239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Calculate test statistic</a:t>
            </a:r>
            <a:endParaRPr/>
          </a:p>
        </p:txBody>
      </p:sp>
      <p:pic>
        <p:nvPicPr>
          <p:cNvPr id="612" name="Google Shape;612;p53" descr="Image"/>
          <p:cNvPicPr preferRelativeResize="0"/>
          <p:nvPr/>
        </p:nvPicPr>
        <p:blipFill rotWithShape="1">
          <a:blip r:embed="rId4">
            <a:alphaModFix/>
          </a:blip>
          <a:srcRect/>
          <a:stretch/>
        </p:blipFill>
        <p:spPr>
          <a:xfrm>
            <a:off x="18338645" y="5042325"/>
            <a:ext cx="4572958" cy="2314511"/>
          </a:xfrm>
          <a:prstGeom prst="rect">
            <a:avLst/>
          </a:prstGeom>
          <a:noFill/>
          <a:ln>
            <a:noFill/>
          </a:ln>
        </p:spPr>
      </p:pic>
      <p:sp>
        <p:nvSpPr>
          <p:cNvPr id="613" name="Google Shape;613;p53"/>
          <p:cNvSpPr txBox="1"/>
          <p:nvPr/>
        </p:nvSpPr>
        <p:spPr>
          <a:xfrm>
            <a:off x="22383572" y="5700413"/>
            <a:ext cx="1079450" cy="7239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chemeClr val="accent1"/>
              </a:buClr>
              <a:buSzPts val="3600"/>
              <a:buFont typeface="Avenir"/>
              <a:buNone/>
            </a:pPr>
            <a:r>
              <a:rPr lang="en-US" sz="3600" b="0" i="0" u="none" strike="noStrike" cap="none">
                <a:solidFill>
                  <a:schemeClr val="accent1"/>
                </a:solidFill>
                <a:latin typeface="Avenir"/>
                <a:ea typeface="Avenir"/>
                <a:cs typeface="Avenir"/>
                <a:sym typeface="Avenir"/>
              </a:rPr>
              <a:t>= - 3</a:t>
            </a:r>
            <a:endParaRPr/>
          </a:p>
        </p:txBody>
      </p:sp>
      <p:cxnSp>
        <p:nvCxnSpPr>
          <p:cNvPr id="614" name="Google Shape;614;p53"/>
          <p:cNvCxnSpPr/>
          <p:nvPr/>
        </p:nvCxnSpPr>
        <p:spPr>
          <a:xfrm>
            <a:off x="5612904" y="10131382"/>
            <a:ext cx="1745233" cy="1"/>
          </a:xfrm>
          <a:prstGeom prst="straightConnector1">
            <a:avLst/>
          </a:prstGeom>
          <a:noFill/>
          <a:ln w="50800" cap="flat" cmpd="sng">
            <a:solidFill>
              <a:srgbClr val="FF2600"/>
            </a:solidFill>
            <a:prstDash val="solid"/>
            <a:miter lim="400000"/>
            <a:headEnd type="triangle" w="med" len="med"/>
            <a:tailEnd type="triangle" w="med" len="med"/>
          </a:ln>
        </p:spPr>
      </p:cxnSp>
      <p:cxnSp>
        <p:nvCxnSpPr>
          <p:cNvPr id="615" name="Google Shape;615;p53"/>
          <p:cNvCxnSpPr/>
          <p:nvPr/>
        </p:nvCxnSpPr>
        <p:spPr>
          <a:xfrm>
            <a:off x="4740288" y="11070381"/>
            <a:ext cx="3465065" cy="1"/>
          </a:xfrm>
          <a:prstGeom prst="straightConnector1">
            <a:avLst/>
          </a:prstGeom>
          <a:noFill/>
          <a:ln w="50800" cap="flat" cmpd="sng">
            <a:solidFill>
              <a:srgbClr val="FF2600"/>
            </a:solidFill>
            <a:prstDash val="solid"/>
            <a:miter lim="400000"/>
            <a:headEnd type="triangle" w="med" len="med"/>
            <a:tailEnd type="triangle" w="med" len="med"/>
          </a:ln>
        </p:spPr>
      </p:cxnSp>
      <p:cxnSp>
        <p:nvCxnSpPr>
          <p:cNvPr id="616" name="Google Shape;616;p53"/>
          <p:cNvCxnSpPr/>
          <p:nvPr/>
        </p:nvCxnSpPr>
        <p:spPr>
          <a:xfrm>
            <a:off x="3887546" y="12009380"/>
            <a:ext cx="5170549" cy="1"/>
          </a:xfrm>
          <a:prstGeom prst="straightConnector1">
            <a:avLst/>
          </a:prstGeom>
          <a:noFill/>
          <a:ln w="50800" cap="flat" cmpd="sng">
            <a:solidFill>
              <a:srgbClr val="FF2600"/>
            </a:solidFill>
            <a:prstDash val="solid"/>
            <a:miter lim="400000"/>
            <a:headEnd type="triangle" w="med" len="med"/>
            <a:tailEnd type="triangle" w="med" len="med"/>
          </a:ln>
        </p:spPr>
      </p:cxnSp>
      <p:sp>
        <p:nvSpPr>
          <p:cNvPr id="617" name="Google Shape;617;p53"/>
          <p:cNvSpPr txBox="1"/>
          <p:nvPr/>
        </p:nvSpPr>
        <p:spPr>
          <a:xfrm>
            <a:off x="6141808" y="9871032"/>
            <a:ext cx="791871" cy="5207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68 %</a:t>
            </a:r>
            <a:endParaRPr/>
          </a:p>
        </p:txBody>
      </p:sp>
      <p:sp>
        <p:nvSpPr>
          <p:cNvPr id="618" name="Google Shape;618;p53"/>
          <p:cNvSpPr txBox="1"/>
          <p:nvPr/>
        </p:nvSpPr>
        <p:spPr>
          <a:xfrm>
            <a:off x="6089585" y="10769069"/>
            <a:ext cx="791871" cy="5207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95 %</a:t>
            </a:r>
            <a:endParaRPr/>
          </a:p>
        </p:txBody>
      </p:sp>
      <p:sp>
        <p:nvSpPr>
          <p:cNvPr id="619" name="Google Shape;619;p53"/>
          <p:cNvSpPr txBox="1"/>
          <p:nvPr/>
        </p:nvSpPr>
        <p:spPr>
          <a:xfrm>
            <a:off x="6014706" y="11749030"/>
            <a:ext cx="1046075" cy="5207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99.7 %</a:t>
            </a:r>
            <a:endParaRPr/>
          </a:p>
        </p:txBody>
      </p:sp>
      <p:sp>
        <p:nvSpPr>
          <p:cNvPr id="620" name="Google Shape;620;p53"/>
          <p:cNvSpPr txBox="1"/>
          <p:nvPr/>
        </p:nvSpPr>
        <p:spPr>
          <a:xfrm>
            <a:off x="13716000" y="3581399"/>
            <a:ext cx="2545081" cy="13462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H</a:t>
            </a:r>
            <a:r>
              <a:rPr lang="en-US" sz="3600" b="0" i="0" u="none" strike="noStrike" cap="none" baseline="-25000">
                <a:solidFill>
                  <a:srgbClr val="5E5E5E"/>
                </a:solidFill>
                <a:latin typeface="Avenir"/>
                <a:ea typeface="Avenir"/>
                <a:cs typeface="Avenir"/>
                <a:sym typeface="Avenir"/>
              </a:rPr>
              <a:t>0</a:t>
            </a:r>
            <a:r>
              <a:rPr lang="en-US" sz="3600" b="0" i="0" u="none" strike="noStrike" cap="none">
                <a:solidFill>
                  <a:srgbClr val="5E5E5E"/>
                </a:solidFill>
                <a:latin typeface="Avenir"/>
                <a:ea typeface="Avenir"/>
                <a:cs typeface="Avenir"/>
                <a:sym typeface="Avenir"/>
              </a:rPr>
              <a:t>: µ = 1.2 s</a:t>
            </a:r>
            <a:endParaRPr/>
          </a:p>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H</a:t>
            </a:r>
            <a:r>
              <a:rPr lang="en-US" sz="3600" b="0" i="0" u="none" strike="noStrike" cap="none" baseline="-25000">
                <a:solidFill>
                  <a:srgbClr val="5E5E5E"/>
                </a:solidFill>
                <a:latin typeface="Avenir"/>
                <a:ea typeface="Avenir"/>
                <a:cs typeface="Avenir"/>
                <a:sym typeface="Avenir"/>
              </a:rPr>
              <a:t>1</a:t>
            </a:r>
            <a:r>
              <a:rPr lang="en-US" sz="3600" b="0" i="0" u="none" strike="noStrike" cap="none">
                <a:solidFill>
                  <a:srgbClr val="5E5E5E"/>
                </a:solidFill>
                <a:latin typeface="Avenir"/>
                <a:ea typeface="Avenir"/>
                <a:cs typeface="Avenir"/>
                <a:sym typeface="Avenir"/>
              </a:rPr>
              <a:t>: µ ≠ 1.2 s</a:t>
            </a:r>
            <a:endParaRPr/>
          </a:p>
        </p:txBody>
      </p:sp>
      <p:sp>
        <p:nvSpPr>
          <p:cNvPr id="622" name="Google Shape;622;p53"/>
          <p:cNvSpPr txBox="1"/>
          <p:nvPr/>
        </p:nvSpPr>
        <p:spPr>
          <a:xfrm>
            <a:off x="13586470" y="8229262"/>
            <a:ext cx="8955262" cy="13462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3600"/>
              <a:buFont typeface="Avenir"/>
              <a:buNone/>
            </a:pPr>
            <a:r>
              <a:rPr lang="en-US" sz="3600" b="0" i="0" u="none" strike="noStrike" cap="none" dirty="0">
                <a:solidFill>
                  <a:srgbClr val="5E5E5E"/>
                </a:solidFill>
                <a:latin typeface="Avenir"/>
                <a:ea typeface="Avenir"/>
                <a:cs typeface="Avenir"/>
                <a:sym typeface="Avenir"/>
              </a:rPr>
              <a:t>This means that the sample mean (1.05) is 3 standard deviations away from the mean</a:t>
            </a:r>
            <a:endParaRPr dirty="0"/>
          </a:p>
        </p:txBody>
      </p:sp>
      <p:pic>
        <p:nvPicPr>
          <p:cNvPr id="623" name="Google Shape;623;p53" descr="Connection Line"/>
          <p:cNvPicPr preferRelativeResize="0"/>
          <p:nvPr/>
        </p:nvPicPr>
        <p:blipFill rotWithShape="1">
          <a:blip r:embed="rId5">
            <a:alphaModFix amt="70000"/>
          </a:blip>
          <a:srcRect/>
          <a:stretch/>
        </p:blipFill>
        <p:spPr>
          <a:xfrm>
            <a:off x="7116536" y="8004253"/>
            <a:ext cx="2781684" cy="4206334"/>
          </a:xfrm>
          <a:prstGeom prst="rect">
            <a:avLst/>
          </a:prstGeom>
          <a:noFill/>
          <a:ln>
            <a:noFill/>
          </a:ln>
        </p:spPr>
      </p:pic>
      <p:pic>
        <p:nvPicPr>
          <p:cNvPr id="624" name="Google Shape;624;p53" descr="Line Shape"/>
          <p:cNvPicPr preferRelativeResize="0"/>
          <p:nvPr/>
        </p:nvPicPr>
        <p:blipFill rotWithShape="1">
          <a:blip r:embed="rId6">
            <a:alphaModFix amt="70000"/>
          </a:blip>
          <a:srcRect/>
          <a:stretch/>
        </p:blipFill>
        <p:spPr>
          <a:xfrm>
            <a:off x="2827754" y="12264859"/>
            <a:ext cx="1067223" cy="318190"/>
          </a:xfrm>
          <a:prstGeom prst="rect">
            <a:avLst/>
          </a:prstGeom>
          <a:noFill/>
          <a:ln>
            <a:noFill/>
          </a:ln>
        </p:spPr>
      </p:pic>
      <p:pic>
        <p:nvPicPr>
          <p:cNvPr id="625" name="Google Shape;625;p53" descr="Line Shape"/>
          <p:cNvPicPr preferRelativeResize="0"/>
          <p:nvPr/>
        </p:nvPicPr>
        <p:blipFill rotWithShape="1">
          <a:blip r:embed="rId6">
            <a:alphaModFix amt="70000"/>
          </a:blip>
          <a:srcRect/>
          <a:stretch/>
        </p:blipFill>
        <p:spPr>
          <a:xfrm flipH="1">
            <a:off x="9061388" y="12264859"/>
            <a:ext cx="1067223" cy="318190"/>
          </a:xfrm>
          <a:prstGeom prst="rect">
            <a:avLst/>
          </a:prstGeom>
          <a:noFill/>
          <a:ln>
            <a:noFill/>
          </a:ln>
        </p:spPr>
      </p:pic>
      <p:pic>
        <p:nvPicPr>
          <p:cNvPr id="626" name="Google Shape;626;p53" descr="Line Line"/>
          <p:cNvPicPr preferRelativeResize="0"/>
          <p:nvPr/>
        </p:nvPicPr>
        <p:blipFill rotWithShape="1">
          <a:blip r:embed="rId7">
            <a:alphaModFix/>
          </a:blip>
          <a:srcRect/>
          <a:stretch/>
        </p:blipFill>
        <p:spPr>
          <a:xfrm rot="-5400000">
            <a:off x="3437760" y="12133283"/>
            <a:ext cx="867585" cy="143685"/>
          </a:xfrm>
          <a:prstGeom prst="rect">
            <a:avLst/>
          </a:prstGeom>
          <a:noFill/>
          <a:ln>
            <a:noFill/>
          </a:ln>
        </p:spPr>
      </p:pic>
      <p:sp>
        <p:nvSpPr>
          <p:cNvPr id="627" name="Google Shape;627;p53"/>
          <p:cNvSpPr txBox="1"/>
          <p:nvPr/>
        </p:nvSpPr>
        <p:spPr>
          <a:xfrm>
            <a:off x="5908636" y="7636164"/>
            <a:ext cx="1258215" cy="7239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0.003</a:t>
            </a:r>
            <a:endParaRPr/>
          </a:p>
        </p:txBody>
      </p:sp>
      <p:pic>
        <p:nvPicPr>
          <p:cNvPr id="628" name="Google Shape;628;p53" descr="Connection Line"/>
          <p:cNvPicPr preferRelativeResize="0"/>
          <p:nvPr/>
        </p:nvPicPr>
        <p:blipFill rotWithShape="1">
          <a:blip r:embed="rId8">
            <a:alphaModFix amt="70000"/>
          </a:blip>
          <a:srcRect/>
          <a:stretch/>
        </p:blipFill>
        <p:spPr>
          <a:xfrm>
            <a:off x="3205328" y="8008168"/>
            <a:ext cx="2753623" cy="4188373"/>
          </a:xfrm>
          <a:prstGeom prst="rect">
            <a:avLst/>
          </a:prstGeom>
          <a:noFill/>
          <a:ln>
            <a:noFill/>
          </a:ln>
        </p:spPr>
      </p:pic>
      <p:sp>
        <p:nvSpPr>
          <p:cNvPr id="629" name="Google Shape;629;p53"/>
          <p:cNvSpPr txBox="1"/>
          <p:nvPr/>
        </p:nvSpPr>
        <p:spPr>
          <a:xfrm>
            <a:off x="13268034" y="10192422"/>
            <a:ext cx="9592134" cy="1210588"/>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3600"/>
              <a:buFont typeface="Avenir"/>
              <a:buNone/>
            </a:pPr>
            <a:r>
              <a:rPr lang="en-US" sz="3600" b="0" i="0" u="none" strike="noStrike" cap="none" dirty="0">
                <a:solidFill>
                  <a:srgbClr val="5E5E5E"/>
                </a:solidFill>
                <a:latin typeface="Avenir"/>
                <a:ea typeface="Avenir"/>
                <a:cs typeface="Avenir"/>
                <a:sym typeface="Avenir"/>
              </a:rPr>
              <a:t>What is the probability of observing a test statistic as extreme as </a:t>
            </a:r>
            <a:r>
              <a:rPr lang="en-US" sz="3600" dirty="0">
                <a:solidFill>
                  <a:srgbClr val="5E5E5E"/>
                </a:solidFill>
                <a:latin typeface="Avenir"/>
                <a:ea typeface="Avenir"/>
                <a:cs typeface="Avenir"/>
                <a:sym typeface="Avenir"/>
              </a:rPr>
              <a:t>3</a:t>
            </a:r>
            <a:r>
              <a:rPr lang="en-US" sz="3600" b="0" i="0" u="none" strike="noStrike" cap="none" dirty="0">
                <a:solidFill>
                  <a:srgbClr val="5E5E5E"/>
                </a:solidFill>
                <a:latin typeface="Avenir"/>
                <a:ea typeface="Avenir"/>
                <a:cs typeface="Avenir"/>
                <a:sym typeface="Avenir"/>
              </a:rPr>
              <a:t>? </a:t>
            </a:r>
            <a:endParaRPr dirty="0"/>
          </a:p>
        </p:txBody>
      </p:sp>
      <p:sp>
        <p:nvSpPr>
          <p:cNvPr id="630" name="Google Shape;630;p53"/>
          <p:cNvSpPr txBox="1"/>
          <p:nvPr/>
        </p:nvSpPr>
        <p:spPr>
          <a:xfrm>
            <a:off x="5674676" y="7013295"/>
            <a:ext cx="1621689" cy="7239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p-value</a:t>
            </a:r>
            <a:endParaRPr/>
          </a:p>
        </p:txBody>
      </p:sp>
      <p:sp>
        <p:nvSpPr>
          <p:cNvPr id="631" name="Google Shape;631;p53"/>
          <p:cNvSpPr txBox="1"/>
          <p:nvPr/>
        </p:nvSpPr>
        <p:spPr>
          <a:xfrm>
            <a:off x="13734066" y="12022905"/>
            <a:ext cx="8955262" cy="65659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3600"/>
              <a:buFont typeface="Avenir"/>
              <a:buNone/>
            </a:pPr>
            <a:r>
              <a:rPr lang="en-US" sz="3600" b="1" i="0" u="none" strike="noStrike" cap="none" dirty="0">
                <a:solidFill>
                  <a:srgbClr val="5E5E5E"/>
                </a:solidFill>
                <a:latin typeface="Avenir"/>
                <a:ea typeface="Avenir"/>
                <a:cs typeface="Avenir"/>
                <a:sym typeface="Avenir"/>
              </a:rPr>
              <a:t>We reject the null hypothesis! </a:t>
            </a:r>
            <a:endParaRPr b="1" dirty="0"/>
          </a:p>
        </p:txBody>
      </p:sp>
      <p:sp>
        <p:nvSpPr>
          <p:cNvPr id="632" name="Google Shape;632;p53"/>
          <p:cNvSpPr txBox="1"/>
          <p:nvPr/>
        </p:nvSpPr>
        <p:spPr>
          <a:xfrm>
            <a:off x="20962316" y="13347769"/>
            <a:ext cx="3395854" cy="419101"/>
          </a:xfrm>
          <a:prstGeom prst="rect">
            <a:avLst/>
          </a:prstGeom>
          <a:noFill/>
          <a:ln>
            <a:noFill/>
          </a:ln>
        </p:spPr>
        <p:txBody>
          <a:bodyPr spcFirstLastPara="1" wrap="square" lIns="50800" tIns="50800" rIns="50800" bIns="50800" anchor="ctr" anchorCtr="0">
            <a:spAutoFit/>
          </a:bodyPr>
          <a:lstStyle/>
          <a:p>
            <a:pPr marL="0" marR="0" lvl="0" indent="0" algn="r" rtl="0">
              <a:lnSpc>
                <a:spcPct val="100000"/>
              </a:lnSpc>
              <a:spcBef>
                <a:spcPts val="0"/>
              </a:spcBef>
              <a:spcAft>
                <a:spcPts val="0"/>
              </a:spcAft>
              <a:buClr>
                <a:srgbClr val="5E5E5E"/>
              </a:buClr>
              <a:buSzPts val="1800"/>
              <a:buFont typeface="Avenir"/>
              <a:buNone/>
            </a:pPr>
            <a:r>
              <a:rPr lang="en-US" sz="1800" b="0" i="0" u="none" strike="noStrike" cap="none">
                <a:solidFill>
                  <a:srgbClr val="5E5E5E"/>
                </a:solidFill>
                <a:latin typeface="Avenir"/>
                <a:ea typeface="Avenir"/>
                <a:cs typeface="Avenir"/>
                <a:sym typeface="Avenir"/>
              </a:rPr>
              <a:t>Example adapted from Sal Khan</a:t>
            </a:r>
            <a:endParaRPr/>
          </a:p>
        </p:txBody>
      </p:sp>
      <p:sp>
        <p:nvSpPr>
          <p:cNvPr id="633" name="Google Shape;633;p53"/>
          <p:cNvSpPr txBox="1"/>
          <p:nvPr/>
        </p:nvSpPr>
        <p:spPr>
          <a:xfrm>
            <a:off x="2172061" y="8014559"/>
            <a:ext cx="2560169" cy="7239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Assume H</a:t>
            </a:r>
            <a:r>
              <a:rPr lang="en-US" sz="3600" b="0" i="0" u="none" strike="noStrike" cap="none" baseline="-25000">
                <a:solidFill>
                  <a:srgbClr val="5E5E5E"/>
                </a:solidFill>
                <a:latin typeface="Avenir"/>
                <a:ea typeface="Avenir"/>
                <a:cs typeface="Avenir"/>
                <a:sym typeface="Avenir"/>
              </a:rPr>
              <a:t>0</a:t>
            </a:r>
            <a:r>
              <a:rPr lang="en-US" sz="3600" b="0" i="0" u="none" strike="noStrike" cap="none">
                <a:solidFill>
                  <a:srgbClr val="5E5E5E"/>
                </a:solidFill>
                <a:latin typeface="Avenir"/>
                <a:ea typeface="Avenir"/>
                <a:cs typeface="Avenir"/>
                <a:sym typeface="Avenir"/>
              </a:rPr>
              <a:t>: </a:t>
            </a:r>
            <a:endParaRPr/>
          </a:p>
        </p:txBody>
      </p:sp>
      <p:sp>
        <p:nvSpPr>
          <p:cNvPr id="2" name="Google Shape;393;p46">
            <a:extLst>
              <a:ext uri="{FF2B5EF4-FFF2-40B4-BE49-F238E27FC236}">
                <a16:creationId xmlns:a16="http://schemas.microsoft.com/office/drawing/2014/main" id="{1DA1C3E8-2EC3-67DB-2C6B-BF87A402E2E4}"/>
              </a:ext>
            </a:extLst>
          </p:cNvPr>
          <p:cNvSpPr txBox="1"/>
          <p:nvPr/>
        </p:nvSpPr>
        <p:spPr>
          <a:xfrm>
            <a:off x="5912446" y="12753379"/>
            <a:ext cx="1469661" cy="471924"/>
          </a:xfrm>
          <a:prstGeom prst="rect">
            <a:avLst/>
          </a:prstGeom>
          <a:noFill/>
          <a:ln>
            <a:noFill/>
          </a:ln>
        </p:spPr>
        <p:txBody>
          <a:bodyPr spcFirstLastPara="1" wrap="square" lIns="50800" tIns="50800" rIns="50800" bIns="50800" anchor="ctr" anchorCtr="0">
            <a:spAutoFit/>
          </a:bodyPr>
          <a:lstStyle/>
          <a:p>
            <a:pPr lvl="0">
              <a:buClr>
                <a:srgbClr val="5E5E5E"/>
              </a:buClr>
              <a:buSzPts val="2400"/>
            </a:pPr>
            <a:r>
              <a:rPr lang="en-US" sz="2400" b="0" i="0" u="none" strike="noStrike" cap="none" dirty="0">
                <a:solidFill>
                  <a:srgbClr val="5E5E5E"/>
                </a:solidFill>
                <a:latin typeface="Avenir"/>
                <a:ea typeface="Avenir"/>
                <a:cs typeface="Avenir"/>
                <a:sym typeface="Avenir"/>
              </a:rPr>
              <a:t>µ = </a:t>
            </a:r>
            <a:r>
              <a:rPr lang="en-US" sz="2400" dirty="0">
                <a:solidFill>
                  <a:srgbClr val="5E5E5E"/>
                </a:solidFill>
                <a:latin typeface="Avenir"/>
                <a:ea typeface="Avenir"/>
                <a:cs typeface="Avenir"/>
                <a:sym typeface="Avenir"/>
              </a:rPr>
              <a:t>1.2 s</a:t>
            </a: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Shape 637"/>
        <p:cNvGrpSpPr/>
        <p:nvPr/>
      </p:nvGrpSpPr>
      <p:grpSpPr>
        <a:xfrm>
          <a:off x="0" y="0"/>
          <a:ext cx="0" cy="0"/>
          <a:chOff x="0" y="0"/>
          <a:chExt cx="0" cy="0"/>
        </a:xfrm>
      </p:grpSpPr>
      <p:sp>
        <p:nvSpPr>
          <p:cNvPr id="638" name="Google Shape;638;p54"/>
          <p:cNvSpPr txBox="1">
            <a:spLocks noGrp="1"/>
          </p:cNvSpPr>
          <p:nvPr>
            <p:ph type="title"/>
          </p:nvPr>
        </p:nvSpPr>
        <p:spPr>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a:latin typeface="Avenir"/>
                <a:ea typeface="Avenir"/>
                <a:cs typeface="Avenir"/>
                <a:sym typeface="Avenir"/>
              </a:rPr>
              <a:t>A simple example</a:t>
            </a:r>
            <a:endParaRPr/>
          </a:p>
        </p:txBody>
      </p:sp>
      <p:sp>
        <p:nvSpPr>
          <p:cNvPr id="639" name="Google Shape;639;p54"/>
          <p:cNvSpPr txBox="1"/>
          <p:nvPr/>
        </p:nvSpPr>
        <p:spPr>
          <a:xfrm>
            <a:off x="1206500" y="2754183"/>
            <a:ext cx="9592134" cy="3759201"/>
          </a:xfrm>
          <a:prstGeom prst="rect">
            <a:avLst/>
          </a:prstGeom>
          <a:noFill/>
          <a:ln>
            <a:noFill/>
          </a:ln>
        </p:spPr>
        <p:txBody>
          <a:bodyPr spcFirstLastPara="1" wrap="square" lIns="50800" tIns="50800" rIns="50800" bIns="50800" anchor="ctr" anchorCtr="0">
            <a:spAutoFit/>
          </a:bodyPr>
          <a:lstStyle/>
          <a:p>
            <a:pPr marL="0" marR="0" lvl="0" indent="0" algn="just" rtl="0">
              <a:lnSpc>
                <a:spcPct val="100000"/>
              </a:lnSpc>
              <a:spcBef>
                <a:spcPts val="0"/>
              </a:spcBef>
              <a:spcAft>
                <a:spcPts val="0"/>
              </a:spcAft>
              <a:buClr>
                <a:srgbClr val="5E5E5E"/>
              </a:buClr>
              <a:buSzPts val="2600"/>
              <a:buFont typeface="Avenir"/>
              <a:buNone/>
            </a:pPr>
            <a:r>
              <a:rPr lang="en-US" sz="2600" b="0" i="0" u="none" strike="noStrike" cap="none">
                <a:solidFill>
                  <a:srgbClr val="5E5E5E"/>
                </a:solidFill>
                <a:latin typeface="Avenir"/>
                <a:ea typeface="Avenir"/>
                <a:cs typeface="Avenir"/>
                <a:sym typeface="Avenir"/>
              </a:rPr>
              <a:t>A neurologist is testing the effect of a drug on response time by injecting 100 rats with a unit dose of the drug subjecting each to neurological stimulus and recording its response time. The neurologist knows that the mean response time for rats not injected with the drug is 1.2 seconds. The mean of the 100 injected rats response times is 1.05 seconds with the sample standard deviation of 0.5 seconds. Do you think that the drug has an effect on response time ? </a:t>
            </a:r>
            <a:endParaRPr/>
          </a:p>
        </p:txBody>
      </p:sp>
      <p:cxnSp>
        <p:nvCxnSpPr>
          <p:cNvPr id="640" name="Google Shape;640;p54"/>
          <p:cNvCxnSpPr/>
          <p:nvPr/>
        </p:nvCxnSpPr>
        <p:spPr>
          <a:xfrm>
            <a:off x="2498819" y="12538269"/>
            <a:ext cx="7973403" cy="1"/>
          </a:xfrm>
          <a:prstGeom prst="straightConnector1">
            <a:avLst/>
          </a:prstGeom>
          <a:noFill/>
          <a:ln w="25400" cap="flat" cmpd="sng">
            <a:solidFill>
              <a:srgbClr val="000000">
                <a:alpha val="69803"/>
              </a:srgbClr>
            </a:solidFill>
            <a:prstDash val="solid"/>
            <a:miter lim="400000"/>
            <a:headEnd type="none" w="sm" len="sm"/>
            <a:tailEnd type="none" w="sm" len="sm"/>
          </a:ln>
        </p:spPr>
      </p:cxnSp>
      <p:pic>
        <p:nvPicPr>
          <p:cNvPr id="641" name="Google Shape;641;p54" descr="Image"/>
          <p:cNvPicPr preferRelativeResize="0"/>
          <p:nvPr/>
        </p:nvPicPr>
        <p:blipFill rotWithShape="1">
          <a:blip r:embed="rId3">
            <a:alphaModFix amt="70000"/>
          </a:blip>
          <a:srcRect/>
          <a:stretch/>
        </p:blipFill>
        <p:spPr>
          <a:xfrm>
            <a:off x="2891287" y="8395964"/>
            <a:ext cx="7188468" cy="3951586"/>
          </a:xfrm>
          <a:prstGeom prst="rect">
            <a:avLst/>
          </a:prstGeom>
          <a:noFill/>
          <a:ln>
            <a:noFill/>
          </a:ln>
        </p:spPr>
      </p:pic>
      <p:cxnSp>
        <p:nvCxnSpPr>
          <p:cNvPr id="642" name="Google Shape;642;p54"/>
          <p:cNvCxnSpPr/>
          <p:nvPr/>
        </p:nvCxnSpPr>
        <p:spPr>
          <a:xfrm rot="10800000" flipH="1">
            <a:off x="6472820" y="8483256"/>
            <a:ext cx="1" cy="3951586"/>
          </a:xfrm>
          <a:prstGeom prst="straightConnector1">
            <a:avLst/>
          </a:prstGeom>
          <a:noFill/>
          <a:ln w="25400" cap="flat" cmpd="sng">
            <a:solidFill>
              <a:srgbClr val="929292">
                <a:alpha val="69803"/>
              </a:srgbClr>
            </a:solidFill>
            <a:prstDash val="dashDot"/>
            <a:miter lim="400000"/>
            <a:headEnd type="none" w="sm" len="sm"/>
            <a:tailEnd type="none" w="sm" len="sm"/>
          </a:ln>
        </p:spPr>
      </p:cxnSp>
      <p:cxnSp>
        <p:nvCxnSpPr>
          <p:cNvPr id="644" name="Google Shape;644;p54"/>
          <p:cNvCxnSpPr/>
          <p:nvPr/>
        </p:nvCxnSpPr>
        <p:spPr>
          <a:xfrm rot="10800000" flipH="1">
            <a:off x="7339910" y="10018628"/>
            <a:ext cx="1" cy="2328922"/>
          </a:xfrm>
          <a:prstGeom prst="straightConnector1">
            <a:avLst/>
          </a:prstGeom>
          <a:noFill/>
          <a:ln w="25400" cap="flat" cmpd="sng">
            <a:solidFill>
              <a:srgbClr val="929292">
                <a:alpha val="69803"/>
              </a:srgbClr>
            </a:solidFill>
            <a:prstDash val="dashDot"/>
            <a:miter lim="400000"/>
            <a:headEnd type="none" w="sm" len="sm"/>
            <a:tailEnd type="none" w="sm" len="sm"/>
          </a:ln>
        </p:spPr>
      </p:cxnSp>
      <p:cxnSp>
        <p:nvCxnSpPr>
          <p:cNvPr id="645" name="Google Shape;645;p54"/>
          <p:cNvCxnSpPr/>
          <p:nvPr/>
        </p:nvCxnSpPr>
        <p:spPr>
          <a:xfrm rot="10800000" flipH="1">
            <a:off x="8206999" y="11414949"/>
            <a:ext cx="1" cy="1019893"/>
          </a:xfrm>
          <a:prstGeom prst="straightConnector1">
            <a:avLst/>
          </a:prstGeom>
          <a:noFill/>
          <a:ln w="25400" cap="flat" cmpd="sng">
            <a:solidFill>
              <a:srgbClr val="929292">
                <a:alpha val="69803"/>
              </a:srgbClr>
            </a:solidFill>
            <a:prstDash val="dashDot"/>
            <a:miter lim="400000"/>
            <a:headEnd type="none" w="sm" len="sm"/>
            <a:tailEnd type="none" w="sm" len="sm"/>
          </a:ln>
        </p:spPr>
      </p:cxnSp>
      <p:cxnSp>
        <p:nvCxnSpPr>
          <p:cNvPr id="646" name="Google Shape;646;p54"/>
          <p:cNvCxnSpPr/>
          <p:nvPr/>
        </p:nvCxnSpPr>
        <p:spPr>
          <a:xfrm rot="10800000" flipH="1">
            <a:off x="9074088" y="11975409"/>
            <a:ext cx="1" cy="459433"/>
          </a:xfrm>
          <a:prstGeom prst="straightConnector1">
            <a:avLst/>
          </a:prstGeom>
          <a:noFill/>
          <a:ln w="25400" cap="flat" cmpd="sng">
            <a:solidFill>
              <a:srgbClr val="929292">
                <a:alpha val="69803"/>
              </a:srgbClr>
            </a:solidFill>
            <a:prstDash val="dashDot"/>
            <a:miter lim="400000"/>
            <a:headEnd type="none" w="sm" len="sm"/>
            <a:tailEnd type="none" w="sm" len="sm"/>
          </a:ln>
        </p:spPr>
      </p:cxnSp>
      <p:cxnSp>
        <p:nvCxnSpPr>
          <p:cNvPr id="647" name="Google Shape;647;p54"/>
          <p:cNvCxnSpPr/>
          <p:nvPr/>
        </p:nvCxnSpPr>
        <p:spPr>
          <a:xfrm rot="10800000" flipH="1">
            <a:off x="3871552" y="12019056"/>
            <a:ext cx="1" cy="372140"/>
          </a:xfrm>
          <a:prstGeom prst="straightConnector1">
            <a:avLst/>
          </a:prstGeom>
          <a:noFill/>
          <a:ln w="25400" cap="flat" cmpd="sng">
            <a:solidFill>
              <a:srgbClr val="929292">
                <a:alpha val="69803"/>
              </a:srgbClr>
            </a:solidFill>
            <a:prstDash val="dashDot"/>
            <a:miter lim="400000"/>
            <a:headEnd type="none" w="sm" len="sm"/>
            <a:tailEnd type="none" w="sm" len="sm"/>
          </a:ln>
        </p:spPr>
      </p:cxnSp>
      <p:cxnSp>
        <p:nvCxnSpPr>
          <p:cNvPr id="648" name="Google Shape;648;p54"/>
          <p:cNvCxnSpPr/>
          <p:nvPr/>
        </p:nvCxnSpPr>
        <p:spPr>
          <a:xfrm rot="10800000" flipH="1">
            <a:off x="4738642" y="11371302"/>
            <a:ext cx="1" cy="1107187"/>
          </a:xfrm>
          <a:prstGeom prst="straightConnector1">
            <a:avLst/>
          </a:prstGeom>
          <a:noFill/>
          <a:ln w="25400" cap="flat" cmpd="sng">
            <a:solidFill>
              <a:srgbClr val="929292">
                <a:alpha val="69803"/>
              </a:srgbClr>
            </a:solidFill>
            <a:prstDash val="dashDot"/>
            <a:miter lim="400000"/>
            <a:headEnd type="none" w="sm" len="sm"/>
            <a:tailEnd type="none" w="sm" len="sm"/>
          </a:ln>
        </p:spPr>
      </p:cxnSp>
      <p:cxnSp>
        <p:nvCxnSpPr>
          <p:cNvPr id="649" name="Google Shape;649;p54"/>
          <p:cNvCxnSpPr/>
          <p:nvPr/>
        </p:nvCxnSpPr>
        <p:spPr>
          <a:xfrm rot="10800000" flipH="1">
            <a:off x="5605731" y="9887688"/>
            <a:ext cx="1" cy="2590801"/>
          </a:xfrm>
          <a:prstGeom prst="straightConnector1">
            <a:avLst/>
          </a:prstGeom>
          <a:noFill/>
          <a:ln w="25400" cap="flat" cmpd="sng">
            <a:solidFill>
              <a:srgbClr val="929292">
                <a:alpha val="69803"/>
              </a:srgbClr>
            </a:solidFill>
            <a:prstDash val="dashDot"/>
            <a:miter lim="400000"/>
            <a:headEnd type="none" w="sm" len="sm"/>
            <a:tailEnd type="none" w="sm" len="sm"/>
          </a:ln>
        </p:spPr>
      </p:cxnSp>
      <p:sp>
        <p:nvSpPr>
          <p:cNvPr id="650" name="Google Shape;650;p54"/>
          <p:cNvSpPr txBox="1"/>
          <p:nvPr/>
        </p:nvSpPr>
        <p:spPr>
          <a:xfrm>
            <a:off x="7192539" y="12525569"/>
            <a:ext cx="294742" cy="5588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𝝈</a:t>
            </a:r>
            <a:endParaRPr/>
          </a:p>
        </p:txBody>
      </p:sp>
      <p:sp>
        <p:nvSpPr>
          <p:cNvPr id="651" name="Google Shape;651;p54"/>
          <p:cNvSpPr txBox="1"/>
          <p:nvPr/>
        </p:nvSpPr>
        <p:spPr>
          <a:xfrm>
            <a:off x="8059628" y="12525569"/>
            <a:ext cx="453239" cy="5588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2𝝈</a:t>
            </a:r>
            <a:endParaRPr/>
          </a:p>
        </p:txBody>
      </p:sp>
      <p:sp>
        <p:nvSpPr>
          <p:cNvPr id="652" name="Google Shape;652;p54"/>
          <p:cNvSpPr txBox="1"/>
          <p:nvPr/>
        </p:nvSpPr>
        <p:spPr>
          <a:xfrm>
            <a:off x="8926717" y="12525569"/>
            <a:ext cx="453239" cy="5588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3𝝈</a:t>
            </a:r>
            <a:endParaRPr/>
          </a:p>
        </p:txBody>
      </p:sp>
      <p:sp>
        <p:nvSpPr>
          <p:cNvPr id="653" name="Google Shape;653;p54"/>
          <p:cNvSpPr txBox="1"/>
          <p:nvPr/>
        </p:nvSpPr>
        <p:spPr>
          <a:xfrm>
            <a:off x="5328210" y="12525569"/>
            <a:ext cx="554737" cy="5588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-1𝝈</a:t>
            </a:r>
            <a:endParaRPr/>
          </a:p>
        </p:txBody>
      </p:sp>
      <p:sp>
        <p:nvSpPr>
          <p:cNvPr id="654" name="Google Shape;654;p54"/>
          <p:cNvSpPr txBox="1"/>
          <p:nvPr/>
        </p:nvSpPr>
        <p:spPr>
          <a:xfrm>
            <a:off x="4461121" y="12525569"/>
            <a:ext cx="554737" cy="5588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-2𝝈</a:t>
            </a:r>
            <a:endParaRPr/>
          </a:p>
        </p:txBody>
      </p:sp>
      <p:sp>
        <p:nvSpPr>
          <p:cNvPr id="655" name="Google Shape;655;p54"/>
          <p:cNvSpPr txBox="1"/>
          <p:nvPr/>
        </p:nvSpPr>
        <p:spPr>
          <a:xfrm>
            <a:off x="3594184" y="12525569"/>
            <a:ext cx="554737" cy="5588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-3𝝈</a:t>
            </a:r>
            <a:endParaRPr/>
          </a:p>
        </p:txBody>
      </p:sp>
      <p:sp>
        <p:nvSpPr>
          <p:cNvPr id="656" name="Google Shape;656;p54"/>
          <p:cNvSpPr txBox="1"/>
          <p:nvPr/>
        </p:nvSpPr>
        <p:spPr>
          <a:xfrm>
            <a:off x="13716000" y="5675013"/>
            <a:ext cx="4525823" cy="7239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Calculate test statistic</a:t>
            </a:r>
            <a:endParaRPr/>
          </a:p>
        </p:txBody>
      </p:sp>
      <p:pic>
        <p:nvPicPr>
          <p:cNvPr id="657" name="Google Shape;657;p54" descr="Image"/>
          <p:cNvPicPr preferRelativeResize="0"/>
          <p:nvPr/>
        </p:nvPicPr>
        <p:blipFill rotWithShape="1">
          <a:blip r:embed="rId4">
            <a:alphaModFix/>
          </a:blip>
          <a:srcRect/>
          <a:stretch/>
        </p:blipFill>
        <p:spPr>
          <a:xfrm>
            <a:off x="18338645" y="5042325"/>
            <a:ext cx="4572958" cy="2314511"/>
          </a:xfrm>
          <a:prstGeom prst="rect">
            <a:avLst/>
          </a:prstGeom>
          <a:noFill/>
          <a:ln>
            <a:noFill/>
          </a:ln>
        </p:spPr>
      </p:pic>
      <p:sp>
        <p:nvSpPr>
          <p:cNvPr id="658" name="Google Shape;658;p54"/>
          <p:cNvSpPr txBox="1"/>
          <p:nvPr/>
        </p:nvSpPr>
        <p:spPr>
          <a:xfrm>
            <a:off x="22383572" y="5700413"/>
            <a:ext cx="1079450" cy="7239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chemeClr val="accent1"/>
              </a:buClr>
              <a:buSzPts val="3600"/>
              <a:buFont typeface="Avenir"/>
              <a:buNone/>
            </a:pPr>
            <a:r>
              <a:rPr lang="en-US" sz="3600" b="0" i="0" u="none" strike="noStrike" cap="none">
                <a:solidFill>
                  <a:schemeClr val="accent1"/>
                </a:solidFill>
                <a:latin typeface="Avenir"/>
                <a:ea typeface="Avenir"/>
                <a:cs typeface="Avenir"/>
                <a:sym typeface="Avenir"/>
              </a:rPr>
              <a:t>= - 3</a:t>
            </a:r>
            <a:endParaRPr/>
          </a:p>
        </p:txBody>
      </p:sp>
      <p:cxnSp>
        <p:nvCxnSpPr>
          <p:cNvPr id="659" name="Google Shape;659;p54"/>
          <p:cNvCxnSpPr/>
          <p:nvPr/>
        </p:nvCxnSpPr>
        <p:spPr>
          <a:xfrm>
            <a:off x="5612904" y="10131382"/>
            <a:ext cx="1745233" cy="1"/>
          </a:xfrm>
          <a:prstGeom prst="straightConnector1">
            <a:avLst/>
          </a:prstGeom>
          <a:noFill/>
          <a:ln w="50800" cap="flat" cmpd="sng">
            <a:solidFill>
              <a:srgbClr val="FF2600">
                <a:alpha val="69803"/>
              </a:srgbClr>
            </a:solidFill>
            <a:prstDash val="solid"/>
            <a:miter lim="400000"/>
            <a:headEnd type="triangle" w="med" len="med"/>
            <a:tailEnd type="triangle" w="med" len="med"/>
          </a:ln>
        </p:spPr>
      </p:cxnSp>
      <p:cxnSp>
        <p:nvCxnSpPr>
          <p:cNvPr id="660" name="Google Shape;660;p54"/>
          <p:cNvCxnSpPr/>
          <p:nvPr/>
        </p:nvCxnSpPr>
        <p:spPr>
          <a:xfrm>
            <a:off x="4740288" y="11070381"/>
            <a:ext cx="3465065" cy="1"/>
          </a:xfrm>
          <a:prstGeom prst="straightConnector1">
            <a:avLst/>
          </a:prstGeom>
          <a:noFill/>
          <a:ln w="50800" cap="flat" cmpd="sng">
            <a:solidFill>
              <a:srgbClr val="FF2600">
                <a:alpha val="69803"/>
              </a:srgbClr>
            </a:solidFill>
            <a:prstDash val="solid"/>
            <a:miter lim="400000"/>
            <a:headEnd type="triangle" w="med" len="med"/>
            <a:tailEnd type="triangle" w="med" len="med"/>
          </a:ln>
        </p:spPr>
      </p:cxnSp>
      <p:cxnSp>
        <p:nvCxnSpPr>
          <p:cNvPr id="661" name="Google Shape;661;p54"/>
          <p:cNvCxnSpPr/>
          <p:nvPr/>
        </p:nvCxnSpPr>
        <p:spPr>
          <a:xfrm>
            <a:off x="3887546" y="12009380"/>
            <a:ext cx="5170549" cy="1"/>
          </a:xfrm>
          <a:prstGeom prst="straightConnector1">
            <a:avLst/>
          </a:prstGeom>
          <a:noFill/>
          <a:ln w="50800" cap="flat" cmpd="sng">
            <a:solidFill>
              <a:srgbClr val="FF2600">
                <a:alpha val="69803"/>
              </a:srgbClr>
            </a:solidFill>
            <a:prstDash val="solid"/>
            <a:miter lim="400000"/>
            <a:headEnd type="triangle" w="med" len="med"/>
            <a:tailEnd type="triangle" w="med" len="med"/>
          </a:ln>
        </p:spPr>
      </p:cxnSp>
      <p:sp>
        <p:nvSpPr>
          <p:cNvPr id="662" name="Google Shape;662;p54"/>
          <p:cNvSpPr txBox="1"/>
          <p:nvPr/>
        </p:nvSpPr>
        <p:spPr>
          <a:xfrm>
            <a:off x="6141808" y="9871032"/>
            <a:ext cx="791871" cy="5207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68 %</a:t>
            </a:r>
            <a:endParaRPr/>
          </a:p>
        </p:txBody>
      </p:sp>
      <p:sp>
        <p:nvSpPr>
          <p:cNvPr id="663" name="Google Shape;663;p54"/>
          <p:cNvSpPr txBox="1"/>
          <p:nvPr/>
        </p:nvSpPr>
        <p:spPr>
          <a:xfrm>
            <a:off x="6089585" y="10769069"/>
            <a:ext cx="791871" cy="5207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95 %</a:t>
            </a:r>
            <a:endParaRPr/>
          </a:p>
        </p:txBody>
      </p:sp>
      <p:sp>
        <p:nvSpPr>
          <p:cNvPr id="664" name="Google Shape;664;p54"/>
          <p:cNvSpPr txBox="1"/>
          <p:nvPr/>
        </p:nvSpPr>
        <p:spPr>
          <a:xfrm>
            <a:off x="6014706" y="11749030"/>
            <a:ext cx="1046075" cy="5207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99.7 %</a:t>
            </a:r>
            <a:endParaRPr/>
          </a:p>
        </p:txBody>
      </p:sp>
      <p:sp>
        <p:nvSpPr>
          <p:cNvPr id="665" name="Google Shape;665;p54"/>
          <p:cNvSpPr txBox="1"/>
          <p:nvPr/>
        </p:nvSpPr>
        <p:spPr>
          <a:xfrm>
            <a:off x="13716000" y="3581399"/>
            <a:ext cx="2545081" cy="13462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H</a:t>
            </a:r>
            <a:r>
              <a:rPr lang="en-US" sz="3600" b="0" i="0" u="none" strike="noStrike" cap="none" baseline="-25000">
                <a:solidFill>
                  <a:srgbClr val="5E5E5E"/>
                </a:solidFill>
                <a:latin typeface="Avenir"/>
                <a:ea typeface="Avenir"/>
                <a:cs typeface="Avenir"/>
                <a:sym typeface="Avenir"/>
              </a:rPr>
              <a:t>0</a:t>
            </a:r>
            <a:r>
              <a:rPr lang="en-US" sz="3600" b="0" i="0" u="none" strike="noStrike" cap="none">
                <a:solidFill>
                  <a:srgbClr val="5E5E5E"/>
                </a:solidFill>
                <a:latin typeface="Avenir"/>
                <a:ea typeface="Avenir"/>
                <a:cs typeface="Avenir"/>
                <a:sym typeface="Avenir"/>
              </a:rPr>
              <a:t>: µ = 1.2 s</a:t>
            </a:r>
            <a:endParaRPr/>
          </a:p>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H</a:t>
            </a:r>
            <a:r>
              <a:rPr lang="en-US" sz="3600" b="0" i="0" u="none" strike="noStrike" cap="none" baseline="-25000">
                <a:solidFill>
                  <a:srgbClr val="5E5E5E"/>
                </a:solidFill>
                <a:latin typeface="Avenir"/>
                <a:ea typeface="Avenir"/>
                <a:cs typeface="Avenir"/>
                <a:sym typeface="Avenir"/>
              </a:rPr>
              <a:t>1</a:t>
            </a:r>
            <a:r>
              <a:rPr lang="en-US" sz="3600" b="0" i="0" u="none" strike="noStrike" cap="none">
                <a:solidFill>
                  <a:srgbClr val="5E5E5E"/>
                </a:solidFill>
                <a:latin typeface="Avenir"/>
                <a:ea typeface="Avenir"/>
                <a:cs typeface="Avenir"/>
                <a:sym typeface="Avenir"/>
              </a:rPr>
              <a:t>: µ ≠ 1.2 s</a:t>
            </a:r>
            <a:endParaRPr/>
          </a:p>
        </p:txBody>
      </p:sp>
      <p:sp>
        <p:nvSpPr>
          <p:cNvPr id="667" name="Google Shape;667;p54"/>
          <p:cNvSpPr txBox="1"/>
          <p:nvPr/>
        </p:nvSpPr>
        <p:spPr>
          <a:xfrm>
            <a:off x="13586470" y="8229262"/>
            <a:ext cx="8955262" cy="13462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This means that the sample mean (1.05) is 3 standard deviations away from the mean</a:t>
            </a:r>
            <a:endParaRPr/>
          </a:p>
        </p:txBody>
      </p:sp>
      <p:pic>
        <p:nvPicPr>
          <p:cNvPr id="668" name="Google Shape;668;p54" descr="Connection Line"/>
          <p:cNvPicPr preferRelativeResize="0"/>
          <p:nvPr/>
        </p:nvPicPr>
        <p:blipFill rotWithShape="1">
          <a:blip r:embed="rId5">
            <a:alphaModFix amt="70000"/>
          </a:blip>
          <a:srcRect/>
          <a:stretch/>
        </p:blipFill>
        <p:spPr>
          <a:xfrm>
            <a:off x="7116536" y="8004253"/>
            <a:ext cx="2781684" cy="4206334"/>
          </a:xfrm>
          <a:prstGeom prst="rect">
            <a:avLst/>
          </a:prstGeom>
          <a:noFill/>
          <a:ln>
            <a:noFill/>
          </a:ln>
        </p:spPr>
      </p:pic>
      <p:pic>
        <p:nvPicPr>
          <p:cNvPr id="669" name="Google Shape;669;p54" descr="Line Shape"/>
          <p:cNvPicPr preferRelativeResize="0"/>
          <p:nvPr/>
        </p:nvPicPr>
        <p:blipFill rotWithShape="1">
          <a:blip r:embed="rId6">
            <a:alphaModFix amt="70000"/>
          </a:blip>
          <a:srcRect/>
          <a:stretch/>
        </p:blipFill>
        <p:spPr>
          <a:xfrm>
            <a:off x="2827754" y="12264859"/>
            <a:ext cx="1067223" cy="318190"/>
          </a:xfrm>
          <a:prstGeom prst="rect">
            <a:avLst/>
          </a:prstGeom>
          <a:noFill/>
          <a:ln>
            <a:noFill/>
          </a:ln>
        </p:spPr>
      </p:pic>
      <p:pic>
        <p:nvPicPr>
          <p:cNvPr id="670" name="Google Shape;670;p54" descr="Line Shape"/>
          <p:cNvPicPr preferRelativeResize="0"/>
          <p:nvPr/>
        </p:nvPicPr>
        <p:blipFill rotWithShape="1">
          <a:blip r:embed="rId6">
            <a:alphaModFix amt="70000"/>
          </a:blip>
          <a:srcRect/>
          <a:stretch/>
        </p:blipFill>
        <p:spPr>
          <a:xfrm flipH="1">
            <a:off x="9061388" y="12264859"/>
            <a:ext cx="1067223" cy="318190"/>
          </a:xfrm>
          <a:prstGeom prst="rect">
            <a:avLst/>
          </a:prstGeom>
          <a:noFill/>
          <a:ln>
            <a:noFill/>
          </a:ln>
        </p:spPr>
      </p:pic>
      <p:pic>
        <p:nvPicPr>
          <p:cNvPr id="671" name="Google Shape;671;p54" descr="Line Line"/>
          <p:cNvPicPr preferRelativeResize="0"/>
          <p:nvPr/>
        </p:nvPicPr>
        <p:blipFill rotWithShape="1">
          <a:blip r:embed="rId7">
            <a:alphaModFix/>
          </a:blip>
          <a:srcRect/>
          <a:stretch/>
        </p:blipFill>
        <p:spPr>
          <a:xfrm rot="-5400000">
            <a:off x="3437760" y="12133283"/>
            <a:ext cx="867585" cy="143685"/>
          </a:xfrm>
          <a:prstGeom prst="rect">
            <a:avLst/>
          </a:prstGeom>
          <a:noFill/>
          <a:ln>
            <a:noFill/>
          </a:ln>
        </p:spPr>
      </p:pic>
      <p:sp>
        <p:nvSpPr>
          <p:cNvPr id="672" name="Google Shape;672;p54"/>
          <p:cNvSpPr txBox="1"/>
          <p:nvPr/>
        </p:nvSpPr>
        <p:spPr>
          <a:xfrm>
            <a:off x="5908636" y="7636164"/>
            <a:ext cx="1258215" cy="7239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0.003</a:t>
            </a:r>
            <a:endParaRPr/>
          </a:p>
        </p:txBody>
      </p:sp>
      <p:pic>
        <p:nvPicPr>
          <p:cNvPr id="673" name="Google Shape;673;p54" descr="Connection Line"/>
          <p:cNvPicPr preferRelativeResize="0"/>
          <p:nvPr/>
        </p:nvPicPr>
        <p:blipFill rotWithShape="1">
          <a:blip r:embed="rId8">
            <a:alphaModFix amt="70000"/>
          </a:blip>
          <a:srcRect/>
          <a:stretch/>
        </p:blipFill>
        <p:spPr>
          <a:xfrm>
            <a:off x="3205328" y="8008168"/>
            <a:ext cx="2753623" cy="4188373"/>
          </a:xfrm>
          <a:prstGeom prst="rect">
            <a:avLst/>
          </a:prstGeom>
          <a:noFill/>
          <a:ln>
            <a:noFill/>
          </a:ln>
        </p:spPr>
      </p:pic>
      <p:sp>
        <p:nvSpPr>
          <p:cNvPr id="674" name="Google Shape;674;p54"/>
          <p:cNvSpPr txBox="1"/>
          <p:nvPr/>
        </p:nvSpPr>
        <p:spPr>
          <a:xfrm>
            <a:off x="13268034" y="10192422"/>
            <a:ext cx="9592134" cy="1210588"/>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3600"/>
              <a:buFont typeface="Avenir"/>
              <a:buNone/>
            </a:pPr>
            <a:r>
              <a:rPr lang="en-US" sz="3600" b="0" i="0" u="none" strike="noStrike" cap="none" dirty="0">
                <a:solidFill>
                  <a:srgbClr val="5E5E5E"/>
                </a:solidFill>
                <a:latin typeface="Avenir"/>
                <a:ea typeface="Avenir"/>
                <a:cs typeface="Avenir"/>
                <a:sym typeface="Avenir"/>
              </a:rPr>
              <a:t>What is the probability of observing a test statistic as extreme as 3? </a:t>
            </a:r>
            <a:endParaRPr dirty="0"/>
          </a:p>
        </p:txBody>
      </p:sp>
      <p:sp>
        <p:nvSpPr>
          <p:cNvPr id="675" name="Google Shape;675;p54"/>
          <p:cNvSpPr txBox="1"/>
          <p:nvPr/>
        </p:nvSpPr>
        <p:spPr>
          <a:xfrm>
            <a:off x="5674676" y="7013295"/>
            <a:ext cx="1621689" cy="7239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p-value</a:t>
            </a:r>
            <a:endParaRPr/>
          </a:p>
        </p:txBody>
      </p:sp>
      <p:sp>
        <p:nvSpPr>
          <p:cNvPr id="676" name="Google Shape;676;p54"/>
          <p:cNvSpPr txBox="1"/>
          <p:nvPr/>
        </p:nvSpPr>
        <p:spPr>
          <a:xfrm>
            <a:off x="13734066" y="12723945"/>
            <a:ext cx="8955262" cy="65659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3600"/>
              <a:buFont typeface="Avenir"/>
              <a:buNone/>
            </a:pPr>
            <a:r>
              <a:rPr lang="en-US" sz="3600" b="1" i="0" u="none" strike="noStrike" cap="none" dirty="0">
                <a:solidFill>
                  <a:srgbClr val="5E5E5E"/>
                </a:solidFill>
                <a:latin typeface="Avenir"/>
                <a:ea typeface="Avenir"/>
                <a:cs typeface="Avenir"/>
                <a:sym typeface="Avenir"/>
              </a:rPr>
              <a:t>We reject the null hypothesis! </a:t>
            </a:r>
            <a:endParaRPr b="1" dirty="0"/>
          </a:p>
        </p:txBody>
      </p:sp>
      <p:sp>
        <p:nvSpPr>
          <p:cNvPr id="677" name="Google Shape;677;p54"/>
          <p:cNvSpPr txBox="1"/>
          <p:nvPr/>
        </p:nvSpPr>
        <p:spPr>
          <a:xfrm>
            <a:off x="20962316" y="13347769"/>
            <a:ext cx="3395854" cy="419101"/>
          </a:xfrm>
          <a:prstGeom prst="rect">
            <a:avLst/>
          </a:prstGeom>
          <a:noFill/>
          <a:ln>
            <a:noFill/>
          </a:ln>
        </p:spPr>
        <p:txBody>
          <a:bodyPr spcFirstLastPara="1" wrap="square" lIns="50800" tIns="50800" rIns="50800" bIns="50800" anchor="ctr" anchorCtr="0">
            <a:spAutoFit/>
          </a:bodyPr>
          <a:lstStyle/>
          <a:p>
            <a:pPr marL="0" marR="0" lvl="0" indent="0" algn="r" rtl="0">
              <a:lnSpc>
                <a:spcPct val="100000"/>
              </a:lnSpc>
              <a:spcBef>
                <a:spcPts val="0"/>
              </a:spcBef>
              <a:spcAft>
                <a:spcPts val="0"/>
              </a:spcAft>
              <a:buClr>
                <a:srgbClr val="5E5E5E"/>
              </a:buClr>
              <a:buSzPts val="1800"/>
              <a:buFont typeface="Avenir"/>
              <a:buNone/>
            </a:pPr>
            <a:r>
              <a:rPr lang="en-US" sz="1800" b="0" i="0" u="none" strike="noStrike" cap="none">
                <a:solidFill>
                  <a:srgbClr val="5E5E5E"/>
                </a:solidFill>
                <a:latin typeface="Avenir"/>
                <a:ea typeface="Avenir"/>
                <a:cs typeface="Avenir"/>
                <a:sym typeface="Avenir"/>
              </a:rPr>
              <a:t>Example adapted from Sal Khan</a:t>
            </a:r>
            <a:endParaRPr/>
          </a:p>
        </p:txBody>
      </p:sp>
      <p:pic>
        <p:nvPicPr>
          <p:cNvPr id="678" name="Google Shape;678;p54" descr="Oval Oval"/>
          <p:cNvPicPr preferRelativeResize="0"/>
          <p:nvPr/>
        </p:nvPicPr>
        <p:blipFill rotWithShape="1">
          <a:blip r:embed="rId9">
            <a:alphaModFix/>
          </a:blip>
          <a:srcRect/>
          <a:stretch/>
        </p:blipFill>
        <p:spPr>
          <a:xfrm>
            <a:off x="13078632" y="3139155"/>
            <a:ext cx="3819816" cy="2230690"/>
          </a:xfrm>
          <a:prstGeom prst="rect">
            <a:avLst/>
          </a:prstGeom>
          <a:noFill/>
          <a:ln>
            <a:noFill/>
          </a:ln>
        </p:spPr>
      </p:pic>
      <p:sp>
        <p:nvSpPr>
          <p:cNvPr id="679" name="Google Shape;679;p54"/>
          <p:cNvSpPr txBox="1"/>
          <p:nvPr/>
        </p:nvSpPr>
        <p:spPr>
          <a:xfrm>
            <a:off x="16380600" y="2111916"/>
            <a:ext cx="5538871" cy="19685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2600"/>
              </a:buClr>
              <a:buSzPts val="3600"/>
              <a:buFont typeface="Avenir"/>
              <a:buNone/>
            </a:pPr>
            <a:r>
              <a:rPr lang="en-US" sz="3600" b="0" i="0" u="none" strike="noStrike" cap="none">
                <a:solidFill>
                  <a:srgbClr val="FF2600"/>
                </a:solidFill>
                <a:latin typeface="Avenir"/>
                <a:ea typeface="Avenir"/>
                <a:cs typeface="Avenir"/>
                <a:sym typeface="Avenir"/>
              </a:rPr>
              <a:t>Constructed the null and alternative hypothesis about the population</a:t>
            </a:r>
            <a:endParaRPr/>
          </a:p>
        </p:txBody>
      </p:sp>
      <p:sp>
        <p:nvSpPr>
          <p:cNvPr id="680" name="Google Shape;680;p54"/>
          <p:cNvSpPr txBox="1"/>
          <p:nvPr/>
        </p:nvSpPr>
        <p:spPr>
          <a:xfrm>
            <a:off x="13209475" y="6740566"/>
            <a:ext cx="5538871" cy="7239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2600"/>
              </a:buClr>
              <a:buSzPts val="3600"/>
              <a:buFont typeface="Avenir"/>
              <a:buNone/>
            </a:pPr>
            <a:r>
              <a:rPr lang="en-US" sz="3600" b="0" i="0" u="none" strike="noStrike" cap="none">
                <a:solidFill>
                  <a:srgbClr val="FF2600"/>
                </a:solidFill>
                <a:latin typeface="Avenir"/>
                <a:ea typeface="Avenir"/>
                <a:cs typeface="Avenir"/>
                <a:sym typeface="Avenir"/>
              </a:rPr>
              <a:t>Calculated test statistic</a:t>
            </a:r>
            <a:endParaRPr/>
          </a:p>
        </p:txBody>
      </p:sp>
      <p:pic>
        <p:nvPicPr>
          <p:cNvPr id="681" name="Google Shape;681;p54" descr="Oval Oval"/>
          <p:cNvPicPr preferRelativeResize="0"/>
          <p:nvPr/>
        </p:nvPicPr>
        <p:blipFill rotWithShape="1">
          <a:blip r:embed="rId10">
            <a:alphaModFix/>
          </a:blip>
          <a:srcRect/>
          <a:stretch/>
        </p:blipFill>
        <p:spPr>
          <a:xfrm>
            <a:off x="18338645" y="4608898"/>
            <a:ext cx="5538871" cy="2856131"/>
          </a:xfrm>
          <a:prstGeom prst="rect">
            <a:avLst/>
          </a:prstGeom>
          <a:noFill/>
          <a:ln>
            <a:noFill/>
          </a:ln>
        </p:spPr>
      </p:pic>
      <p:sp>
        <p:nvSpPr>
          <p:cNvPr id="682" name="Google Shape;682;p54"/>
          <p:cNvSpPr txBox="1"/>
          <p:nvPr/>
        </p:nvSpPr>
        <p:spPr>
          <a:xfrm>
            <a:off x="6560854" y="6601855"/>
            <a:ext cx="5538871" cy="7239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2600"/>
              </a:buClr>
              <a:buSzPts val="3600"/>
              <a:buFont typeface="Avenir"/>
              <a:buNone/>
            </a:pPr>
            <a:r>
              <a:rPr lang="en-US" sz="3600" b="0" i="0" u="none" strike="noStrike" cap="none">
                <a:solidFill>
                  <a:srgbClr val="FF2600"/>
                </a:solidFill>
                <a:latin typeface="Avenir"/>
                <a:ea typeface="Avenir"/>
                <a:cs typeface="Avenir"/>
                <a:sym typeface="Avenir"/>
              </a:rPr>
              <a:t>Obtained p-value</a:t>
            </a:r>
            <a:endParaRPr/>
          </a:p>
        </p:txBody>
      </p:sp>
      <p:pic>
        <p:nvPicPr>
          <p:cNvPr id="683" name="Google Shape;683;p54" descr="Oval Oval"/>
          <p:cNvPicPr preferRelativeResize="0"/>
          <p:nvPr/>
        </p:nvPicPr>
        <p:blipFill rotWithShape="1">
          <a:blip r:embed="rId11">
            <a:alphaModFix/>
          </a:blip>
          <a:srcRect/>
          <a:stretch/>
        </p:blipFill>
        <p:spPr>
          <a:xfrm>
            <a:off x="5146901" y="6946096"/>
            <a:ext cx="2781684" cy="1449869"/>
          </a:xfrm>
          <a:prstGeom prst="rect">
            <a:avLst/>
          </a:prstGeom>
          <a:noFill/>
          <a:ln>
            <a:noFill/>
          </a:ln>
        </p:spPr>
      </p:pic>
      <p:sp>
        <p:nvSpPr>
          <p:cNvPr id="684" name="Google Shape;684;p54"/>
          <p:cNvSpPr txBox="1"/>
          <p:nvPr/>
        </p:nvSpPr>
        <p:spPr>
          <a:xfrm>
            <a:off x="10133300" y="12062004"/>
            <a:ext cx="5538871" cy="72390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2600"/>
              </a:buClr>
              <a:buSzPts val="3600"/>
              <a:buFont typeface="Avenir"/>
              <a:buNone/>
            </a:pPr>
            <a:r>
              <a:rPr lang="en-US" sz="3600" b="0" i="0" u="none" strike="noStrike" cap="none">
                <a:solidFill>
                  <a:srgbClr val="FF2600"/>
                </a:solidFill>
                <a:latin typeface="Avenir"/>
                <a:ea typeface="Avenir"/>
                <a:cs typeface="Avenir"/>
                <a:sym typeface="Avenir"/>
              </a:rPr>
              <a:t>Reached a conclusion</a:t>
            </a:r>
            <a:endParaRPr/>
          </a:p>
        </p:txBody>
      </p:sp>
      <p:pic>
        <p:nvPicPr>
          <p:cNvPr id="685" name="Google Shape;685;p54" descr="Oval Oval"/>
          <p:cNvPicPr preferRelativeResize="0"/>
          <p:nvPr/>
        </p:nvPicPr>
        <p:blipFill rotWithShape="1">
          <a:blip r:embed="rId12">
            <a:alphaModFix/>
          </a:blip>
          <a:srcRect/>
          <a:stretch/>
        </p:blipFill>
        <p:spPr>
          <a:xfrm>
            <a:off x="14363278" y="12264407"/>
            <a:ext cx="7816580" cy="1449869"/>
          </a:xfrm>
          <a:prstGeom prst="rect">
            <a:avLst/>
          </a:prstGeom>
          <a:noFill/>
          <a:ln>
            <a:noFill/>
          </a:ln>
        </p:spPr>
      </p:pic>
      <p:sp>
        <p:nvSpPr>
          <p:cNvPr id="686" name="Google Shape;686;p54"/>
          <p:cNvSpPr txBox="1"/>
          <p:nvPr/>
        </p:nvSpPr>
        <p:spPr>
          <a:xfrm>
            <a:off x="2172061" y="8014559"/>
            <a:ext cx="2560169" cy="7239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Assume H</a:t>
            </a:r>
            <a:r>
              <a:rPr lang="en-US" sz="3600" b="0" i="0" u="none" strike="noStrike" cap="none" baseline="-25000">
                <a:solidFill>
                  <a:srgbClr val="5E5E5E"/>
                </a:solidFill>
                <a:latin typeface="Avenir"/>
                <a:ea typeface="Avenir"/>
                <a:cs typeface="Avenir"/>
                <a:sym typeface="Avenir"/>
              </a:rPr>
              <a:t>0</a:t>
            </a:r>
            <a:r>
              <a:rPr lang="en-US" sz="3600" b="0" i="0" u="none" strike="noStrike" cap="none">
                <a:solidFill>
                  <a:srgbClr val="5E5E5E"/>
                </a:solidFill>
                <a:latin typeface="Avenir"/>
                <a:ea typeface="Avenir"/>
                <a:cs typeface="Avenir"/>
                <a:sym typeface="Avenir"/>
              </a:rPr>
              <a:t>: </a:t>
            </a:r>
            <a:endParaRPr/>
          </a:p>
        </p:txBody>
      </p:sp>
      <p:sp>
        <p:nvSpPr>
          <p:cNvPr id="2" name="Google Shape;393;p46">
            <a:extLst>
              <a:ext uri="{FF2B5EF4-FFF2-40B4-BE49-F238E27FC236}">
                <a16:creationId xmlns:a16="http://schemas.microsoft.com/office/drawing/2014/main" id="{B3F5422F-07CE-5881-1DA9-E7D2A68CFC3C}"/>
              </a:ext>
            </a:extLst>
          </p:cNvPr>
          <p:cNvSpPr txBox="1"/>
          <p:nvPr/>
        </p:nvSpPr>
        <p:spPr>
          <a:xfrm>
            <a:off x="5912446" y="12753379"/>
            <a:ext cx="1469661" cy="471924"/>
          </a:xfrm>
          <a:prstGeom prst="rect">
            <a:avLst/>
          </a:prstGeom>
          <a:noFill/>
          <a:ln>
            <a:noFill/>
          </a:ln>
        </p:spPr>
        <p:txBody>
          <a:bodyPr spcFirstLastPara="1" wrap="square" lIns="50800" tIns="50800" rIns="50800" bIns="50800" anchor="ctr" anchorCtr="0">
            <a:spAutoFit/>
          </a:bodyPr>
          <a:lstStyle/>
          <a:p>
            <a:pPr lvl="0">
              <a:buClr>
                <a:srgbClr val="5E5E5E"/>
              </a:buClr>
              <a:buSzPts val="2400"/>
            </a:pPr>
            <a:r>
              <a:rPr lang="en-US" sz="2400" b="0" i="0" u="none" strike="noStrike" cap="none" dirty="0">
                <a:solidFill>
                  <a:srgbClr val="5E5E5E"/>
                </a:solidFill>
                <a:latin typeface="Avenir"/>
                <a:ea typeface="Avenir"/>
                <a:cs typeface="Avenir"/>
                <a:sym typeface="Avenir"/>
              </a:rPr>
              <a:t>µ = </a:t>
            </a:r>
            <a:r>
              <a:rPr lang="en-US" sz="2400" dirty="0">
                <a:solidFill>
                  <a:srgbClr val="5E5E5E"/>
                </a:solidFill>
                <a:latin typeface="Avenir"/>
                <a:ea typeface="Avenir"/>
                <a:cs typeface="Avenir"/>
                <a:sym typeface="Avenir"/>
              </a:rPr>
              <a:t>1.2 s</a:t>
            </a:r>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Shape 690"/>
        <p:cNvGrpSpPr/>
        <p:nvPr/>
      </p:nvGrpSpPr>
      <p:grpSpPr>
        <a:xfrm>
          <a:off x="0" y="0"/>
          <a:ext cx="0" cy="0"/>
          <a:chOff x="0" y="0"/>
          <a:chExt cx="0" cy="0"/>
        </a:xfrm>
      </p:grpSpPr>
      <p:sp>
        <p:nvSpPr>
          <p:cNvPr id="691" name="Google Shape;691;p55"/>
          <p:cNvSpPr txBox="1">
            <a:spLocks noGrp="1"/>
          </p:cNvSpPr>
          <p:nvPr>
            <p:ph type="title"/>
          </p:nvPr>
        </p:nvSpPr>
        <p:spPr>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a:latin typeface="Avenir"/>
                <a:ea typeface="Avenir"/>
                <a:cs typeface="Avenir"/>
                <a:sym typeface="Avenir"/>
              </a:rPr>
              <a:t>Key Concepts - Hypothesis Testing</a:t>
            </a:r>
            <a:endParaRPr/>
          </a:p>
        </p:txBody>
      </p:sp>
      <p:sp>
        <p:nvSpPr>
          <p:cNvPr id="692" name="Google Shape;692;p55"/>
          <p:cNvSpPr txBox="1">
            <a:spLocks noGrp="1"/>
          </p:cNvSpPr>
          <p:nvPr>
            <p:ph type="body" idx="1"/>
          </p:nvPr>
        </p:nvSpPr>
        <p:spPr>
          <a:xfrm>
            <a:off x="1206500" y="2738722"/>
            <a:ext cx="21971000" cy="934780"/>
          </a:xfrm>
          <a:prstGeom prst="rect">
            <a:avLst/>
          </a:prstGeom>
          <a:noFill/>
          <a:ln>
            <a:noFill/>
          </a:ln>
        </p:spPr>
        <p:txBody>
          <a:bodyPr spcFirstLastPara="1" wrap="square" lIns="50800" tIns="50800" rIns="50800" bIns="50800" anchor="t" anchorCtr="0">
            <a:noAutofit/>
          </a:bodyPr>
          <a:lstStyle/>
          <a:p>
            <a:pPr marL="603504" lvl="0" indent="-603504" algn="l" rtl="0">
              <a:lnSpc>
                <a:spcPct val="90000"/>
              </a:lnSpc>
              <a:spcBef>
                <a:spcPts val="0"/>
              </a:spcBef>
              <a:spcAft>
                <a:spcPts val="0"/>
              </a:spcAft>
              <a:buClr>
                <a:srgbClr val="FF2600"/>
              </a:buClr>
              <a:buSzPts val="5845"/>
              <a:buFont typeface="Avenir"/>
              <a:buChar char="•"/>
            </a:pPr>
            <a:r>
              <a:rPr lang="en-US" sz="3600" dirty="0">
                <a:solidFill>
                  <a:srgbClr val="FF2600"/>
                </a:solidFill>
                <a:latin typeface="Avenir Book" panose="02000503020000020003" pitchFamily="2" charset="0"/>
                <a:ea typeface="Avenir"/>
                <a:cs typeface="Avenir"/>
                <a:sym typeface="Avenir"/>
              </a:rPr>
              <a:t>All statistical tests are based on assumptions!</a:t>
            </a:r>
            <a:endParaRPr sz="3600" dirty="0">
              <a:latin typeface="Avenir Book" panose="02000503020000020003" pitchFamily="2" charset="0"/>
            </a:endParaRPr>
          </a:p>
          <a:p>
            <a:pPr marL="603504" lvl="0" indent="-603504" algn="l" rtl="0">
              <a:lnSpc>
                <a:spcPct val="90000"/>
              </a:lnSpc>
              <a:spcBef>
                <a:spcPts val="4400"/>
              </a:spcBef>
              <a:spcAft>
                <a:spcPts val="0"/>
              </a:spcAft>
              <a:buClr>
                <a:srgbClr val="FF2600"/>
              </a:buClr>
              <a:buSzPts val="5845"/>
              <a:buFont typeface="Avenir"/>
              <a:buChar char="•"/>
            </a:pPr>
            <a:r>
              <a:rPr lang="en-US" sz="3600" dirty="0">
                <a:solidFill>
                  <a:srgbClr val="FF2600"/>
                </a:solidFill>
                <a:latin typeface="Avenir Book" panose="02000503020000020003" pitchFamily="2" charset="0"/>
                <a:ea typeface="Avenir"/>
                <a:cs typeface="Avenir"/>
                <a:sym typeface="Avenir"/>
              </a:rPr>
              <a:t>All statistics can be wrong</a:t>
            </a:r>
            <a:endParaRPr sz="3600" dirty="0">
              <a:latin typeface="Avenir Book" panose="02000503020000020003" pitchFamily="2" charset="0"/>
            </a:endParaRPr>
          </a:p>
          <a:p>
            <a:pPr marL="603504" lvl="0" indent="-603504" algn="l" rtl="0">
              <a:lnSpc>
                <a:spcPct val="90000"/>
              </a:lnSpc>
              <a:spcBef>
                <a:spcPts val="4400"/>
              </a:spcBef>
              <a:spcAft>
                <a:spcPts val="0"/>
              </a:spcAft>
              <a:buClr>
                <a:srgbClr val="000000"/>
              </a:buClr>
              <a:buSzPts val="5845"/>
              <a:buFont typeface="Avenir"/>
              <a:buChar char="•"/>
            </a:pPr>
            <a:r>
              <a:rPr lang="en-US" sz="3600" dirty="0">
                <a:latin typeface="Avenir Book" panose="02000503020000020003" pitchFamily="2" charset="0"/>
                <a:ea typeface="Avenir"/>
                <a:cs typeface="Avenir"/>
                <a:sym typeface="Avenir"/>
              </a:rPr>
              <a:t>Statistical tests are probabilistic in nature </a:t>
            </a:r>
            <a:endParaRPr sz="3600" dirty="0">
              <a:latin typeface="Avenir Book" panose="02000503020000020003" pitchFamily="2" charset="0"/>
            </a:endParaRPr>
          </a:p>
          <a:p>
            <a:pPr marL="603504" lvl="0" indent="-603504" algn="l" rtl="0">
              <a:lnSpc>
                <a:spcPct val="90000"/>
              </a:lnSpc>
              <a:spcBef>
                <a:spcPts val="4400"/>
              </a:spcBef>
              <a:spcAft>
                <a:spcPts val="0"/>
              </a:spcAft>
              <a:buClr>
                <a:srgbClr val="000000"/>
              </a:buClr>
              <a:buSzPts val="5845"/>
              <a:buFont typeface="Avenir"/>
              <a:buChar char="•"/>
            </a:pPr>
            <a:r>
              <a:rPr lang="en-US" sz="3600" dirty="0">
                <a:latin typeface="Avenir Book" panose="02000503020000020003" pitchFamily="2" charset="0"/>
                <a:ea typeface="Avenir"/>
                <a:cs typeface="Avenir"/>
                <a:sym typeface="Avenir"/>
              </a:rPr>
              <a:t>There is always a chance that the result is wrong (even when all assumptions met perfectly):  </a:t>
            </a:r>
            <a:endParaRPr sz="3600" dirty="0">
              <a:latin typeface="Avenir Book" panose="02000503020000020003" pitchFamily="2" charset="0"/>
            </a:endParaRPr>
          </a:p>
          <a:p>
            <a:pPr marL="1207008" lvl="1" indent="-603504" algn="l" rtl="0">
              <a:lnSpc>
                <a:spcPct val="90000"/>
              </a:lnSpc>
              <a:spcBef>
                <a:spcPts val="4400"/>
              </a:spcBef>
              <a:spcAft>
                <a:spcPts val="0"/>
              </a:spcAft>
              <a:buClr>
                <a:srgbClr val="000000"/>
              </a:buClr>
              <a:buSzPts val="5845"/>
              <a:buFont typeface="Avenir"/>
              <a:buChar char="•"/>
            </a:pPr>
            <a:r>
              <a:rPr lang="en-US" sz="3600" dirty="0">
                <a:latin typeface="Avenir Book" panose="02000503020000020003" pitchFamily="2" charset="0"/>
                <a:ea typeface="Avenir"/>
                <a:cs typeface="Avenir"/>
                <a:sym typeface="Avenir"/>
              </a:rPr>
              <a:t>Either significant result when no difference (Type I), </a:t>
            </a:r>
            <a:endParaRPr sz="3600" dirty="0">
              <a:latin typeface="Avenir Book" panose="02000503020000020003" pitchFamily="2" charset="0"/>
            </a:endParaRPr>
          </a:p>
          <a:p>
            <a:pPr marL="1207008" lvl="1" indent="-603504" algn="l" rtl="0">
              <a:lnSpc>
                <a:spcPct val="90000"/>
              </a:lnSpc>
              <a:spcBef>
                <a:spcPts val="4400"/>
              </a:spcBef>
              <a:spcAft>
                <a:spcPts val="0"/>
              </a:spcAft>
              <a:buClr>
                <a:srgbClr val="000000"/>
              </a:buClr>
              <a:buSzPts val="5845"/>
              <a:buFont typeface="Avenir"/>
              <a:buChar char="•"/>
            </a:pPr>
            <a:r>
              <a:rPr lang="en-US" sz="3600" dirty="0">
                <a:latin typeface="Avenir Book" panose="02000503020000020003" pitchFamily="2" charset="0"/>
                <a:ea typeface="Avenir"/>
                <a:cs typeface="Avenir"/>
                <a:sym typeface="Avenir"/>
              </a:rPr>
              <a:t>Or insignificant results when there is an actual difference (Type II) </a:t>
            </a:r>
            <a:endParaRPr sz="3600" dirty="0">
              <a:latin typeface="Avenir Book" panose="02000503020000020003" pitchFamily="2" charset="0"/>
            </a:endParaRPr>
          </a:p>
        </p:txBody>
      </p:sp>
      <p:sp>
        <p:nvSpPr>
          <p:cNvPr id="693" name="Google Shape;693;p55"/>
          <p:cNvSpPr txBox="1"/>
          <p:nvPr/>
        </p:nvSpPr>
        <p:spPr>
          <a:xfrm>
            <a:off x="20205878" y="13347769"/>
            <a:ext cx="4152291" cy="419101"/>
          </a:xfrm>
          <a:prstGeom prst="rect">
            <a:avLst/>
          </a:prstGeom>
          <a:noFill/>
          <a:ln>
            <a:noFill/>
          </a:ln>
        </p:spPr>
        <p:txBody>
          <a:bodyPr spcFirstLastPara="1" wrap="square" lIns="50800" tIns="50800" rIns="50800" bIns="50800" anchor="ctr" anchorCtr="0">
            <a:spAutoFit/>
          </a:bodyPr>
          <a:lstStyle/>
          <a:p>
            <a:pPr marL="0" marR="0" lvl="0" indent="0" algn="r" rtl="0">
              <a:lnSpc>
                <a:spcPct val="100000"/>
              </a:lnSpc>
              <a:spcBef>
                <a:spcPts val="0"/>
              </a:spcBef>
              <a:spcAft>
                <a:spcPts val="0"/>
              </a:spcAft>
              <a:buClr>
                <a:srgbClr val="5E5E5E"/>
              </a:buClr>
              <a:buSzPts val="1800"/>
              <a:buFont typeface="Avenir"/>
              <a:buNone/>
            </a:pPr>
            <a:r>
              <a:rPr lang="en-US" sz="1800" b="0" i="0" u="none" strike="noStrike" cap="none">
                <a:solidFill>
                  <a:srgbClr val="5E5E5E"/>
                </a:solidFill>
                <a:latin typeface="Avenir"/>
                <a:ea typeface="Avenir"/>
                <a:cs typeface="Avenir"/>
                <a:sym typeface="Avenir"/>
              </a:rPr>
              <a:t>Slide content adapted from Matt Castle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Shape 735"/>
        <p:cNvGrpSpPr/>
        <p:nvPr/>
      </p:nvGrpSpPr>
      <p:grpSpPr>
        <a:xfrm>
          <a:off x="0" y="0"/>
          <a:ext cx="0" cy="0"/>
          <a:chOff x="0" y="0"/>
          <a:chExt cx="0" cy="0"/>
        </a:xfrm>
      </p:grpSpPr>
      <p:sp>
        <p:nvSpPr>
          <p:cNvPr id="736" name="Google Shape;736;p58"/>
          <p:cNvSpPr txBox="1">
            <a:spLocks noGrp="1"/>
          </p:cNvSpPr>
          <p:nvPr>
            <p:ph type="title" idx="4294967295"/>
          </p:nvPr>
        </p:nvSpPr>
        <p:spPr>
          <a:xfrm>
            <a:off x="0" y="1079500"/>
            <a:ext cx="21971000" cy="1433513"/>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a:latin typeface="Avenir"/>
                <a:ea typeface="Avenir"/>
                <a:cs typeface="Avenir"/>
                <a:sym typeface="Avenir"/>
              </a:rPr>
              <a:t>Type I and Type II Errors</a:t>
            </a:r>
            <a:endParaRPr/>
          </a:p>
        </p:txBody>
      </p:sp>
      <p:sp>
        <p:nvSpPr>
          <p:cNvPr id="737" name="Google Shape;737;p58"/>
          <p:cNvSpPr txBox="1"/>
          <p:nvPr/>
        </p:nvSpPr>
        <p:spPr>
          <a:xfrm>
            <a:off x="1421027" y="3190102"/>
            <a:ext cx="2545081" cy="13462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H</a:t>
            </a:r>
            <a:r>
              <a:rPr lang="en-US" sz="3600" b="0" i="0" u="none" strike="noStrike" cap="none" baseline="-25000">
                <a:solidFill>
                  <a:srgbClr val="5E5E5E"/>
                </a:solidFill>
                <a:latin typeface="Avenir"/>
                <a:ea typeface="Avenir"/>
                <a:cs typeface="Avenir"/>
                <a:sym typeface="Avenir"/>
              </a:rPr>
              <a:t>0</a:t>
            </a:r>
            <a:r>
              <a:rPr lang="en-US" sz="3600" b="0" i="0" u="none" strike="noStrike" cap="none">
                <a:solidFill>
                  <a:srgbClr val="5E5E5E"/>
                </a:solidFill>
                <a:latin typeface="Avenir"/>
                <a:ea typeface="Avenir"/>
                <a:cs typeface="Avenir"/>
                <a:sym typeface="Avenir"/>
              </a:rPr>
              <a:t>: µ = 1.2 s</a:t>
            </a:r>
            <a:endParaRPr/>
          </a:p>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H</a:t>
            </a:r>
            <a:r>
              <a:rPr lang="en-US" sz="3600" b="0" i="0" u="none" strike="noStrike" cap="none" baseline="-25000">
                <a:solidFill>
                  <a:srgbClr val="5E5E5E"/>
                </a:solidFill>
                <a:latin typeface="Avenir"/>
                <a:ea typeface="Avenir"/>
                <a:cs typeface="Avenir"/>
                <a:sym typeface="Avenir"/>
              </a:rPr>
              <a:t>1</a:t>
            </a:r>
            <a:r>
              <a:rPr lang="en-US" sz="3600" b="0" i="0" u="none" strike="noStrike" cap="none">
                <a:solidFill>
                  <a:srgbClr val="5E5E5E"/>
                </a:solidFill>
                <a:latin typeface="Avenir"/>
                <a:ea typeface="Avenir"/>
                <a:cs typeface="Avenir"/>
                <a:sym typeface="Avenir"/>
              </a:rPr>
              <a:t>: µ ≠ 1.2 s</a:t>
            </a:r>
            <a:endParaRPr/>
          </a:p>
        </p:txBody>
      </p:sp>
      <p:pic>
        <p:nvPicPr>
          <p:cNvPr id="738" name="Google Shape;738;p58" descr="Image"/>
          <p:cNvPicPr preferRelativeResize="0"/>
          <p:nvPr/>
        </p:nvPicPr>
        <p:blipFill rotWithShape="1">
          <a:blip r:embed="rId3">
            <a:alphaModFix/>
          </a:blip>
          <a:srcRect l="37813" t="18895" b="12835"/>
          <a:stretch/>
        </p:blipFill>
        <p:spPr>
          <a:xfrm>
            <a:off x="1766558" y="8240508"/>
            <a:ext cx="8692573" cy="5132791"/>
          </a:xfrm>
          <a:prstGeom prst="rect">
            <a:avLst/>
          </a:prstGeom>
          <a:noFill/>
          <a:ln>
            <a:noFill/>
          </a:ln>
        </p:spPr>
      </p:pic>
      <p:cxnSp>
        <p:nvCxnSpPr>
          <p:cNvPr id="739" name="Google Shape;739;p58"/>
          <p:cNvCxnSpPr/>
          <p:nvPr/>
        </p:nvCxnSpPr>
        <p:spPr>
          <a:xfrm>
            <a:off x="1663700" y="12611344"/>
            <a:ext cx="7973403" cy="1"/>
          </a:xfrm>
          <a:prstGeom prst="straightConnector1">
            <a:avLst/>
          </a:prstGeom>
          <a:noFill/>
          <a:ln w="25400" cap="flat" cmpd="sng">
            <a:solidFill>
              <a:srgbClr val="000000"/>
            </a:solidFill>
            <a:prstDash val="solid"/>
            <a:miter lim="400000"/>
            <a:headEnd type="none" w="sm" len="sm"/>
            <a:tailEnd type="none" w="sm" len="sm"/>
          </a:ln>
        </p:spPr>
      </p:cxnSp>
      <p:sp>
        <p:nvSpPr>
          <p:cNvPr id="740" name="Google Shape;740;p58"/>
          <p:cNvSpPr txBox="1"/>
          <p:nvPr/>
        </p:nvSpPr>
        <p:spPr>
          <a:xfrm>
            <a:off x="5077326" y="12802066"/>
            <a:ext cx="1250596" cy="5207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µ = 1.2 s</a:t>
            </a:r>
            <a:endParaRPr/>
          </a:p>
        </p:txBody>
      </p:sp>
      <p:pic>
        <p:nvPicPr>
          <p:cNvPr id="741" name="Google Shape;741;p58" descr="Line Shape"/>
          <p:cNvPicPr preferRelativeResize="0"/>
          <p:nvPr/>
        </p:nvPicPr>
        <p:blipFill rotWithShape="1">
          <a:blip r:embed="rId4">
            <a:alphaModFix/>
          </a:blip>
          <a:srcRect/>
          <a:stretch/>
        </p:blipFill>
        <p:spPr>
          <a:xfrm>
            <a:off x="1992635" y="12281551"/>
            <a:ext cx="1321167" cy="375752"/>
          </a:xfrm>
          <a:prstGeom prst="rect">
            <a:avLst/>
          </a:prstGeom>
          <a:noFill/>
          <a:ln>
            <a:noFill/>
          </a:ln>
        </p:spPr>
      </p:pic>
      <p:pic>
        <p:nvPicPr>
          <p:cNvPr id="742" name="Google Shape;742;p58" descr="Line Shape"/>
          <p:cNvPicPr preferRelativeResize="0"/>
          <p:nvPr/>
        </p:nvPicPr>
        <p:blipFill rotWithShape="1">
          <a:blip r:embed="rId5">
            <a:alphaModFix/>
          </a:blip>
          <a:srcRect/>
          <a:stretch/>
        </p:blipFill>
        <p:spPr>
          <a:xfrm flipH="1">
            <a:off x="7961754" y="12286466"/>
            <a:ext cx="1321167" cy="365920"/>
          </a:xfrm>
          <a:prstGeom prst="rect">
            <a:avLst/>
          </a:prstGeom>
          <a:noFill/>
          <a:ln>
            <a:noFill/>
          </a:ln>
        </p:spPr>
      </p:pic>
      <p:pic>
        <p:nvPicPr>
          <p:cNvPr id="743" name="Google Shape;743;p58" descr="Line Line"/>
          <p:cNvPicPr preferRelativeResize="0"/>
          <p:nvPr/>
        </p:nvPicPr>
        <p:blipFill rotWithShape="1">
          <a:blip r:embed="rId6">
            <a:alphaModFix/>
          </a:blip>
          <a:srcRect/>
          <a:stretch/>
        </p:blipFill>
        <p:spPr>
          <a:xfrm rot="-5400000">
            <a:off x="2602641" y="12206358"/>
            <a:ext cx="867585" cy="143685"/>
          </a:xfrm>
          <a:prstGeom prst="rect">
            <a:avLst/>
          </a:prstGeom>
          <a:noFill/>
          <a:ln>
            <a:noFill/>
          </a:ln>
        </p:spPr>
      </p:pic>
      <p:cxnSp>
        <p:nvCxnSpPr>
          <p:cNvPr id="744" name="Google Shape;744;p58"/>
          <p:cNvCxnSpPr/>
          <p:nvPr/>
        </p:nvCxnSpPr>
        <p:spPr>
          <a:xfrm rot="10800000" flipH="1">
            <a:off x="5650401" y="12480282"/>
            <a:ext cx="1" cy="233582"/>
          </a:xfrm>
          <a:prstGeom prst="straightConnector1">
            <a:avLst/>
          </a:prstGeom>
          <a:noFill/>
          <a:ln w="25400" cap="flat" cmpd="sng">
            <a:solidFill>
              <a:srgbClr val="929292"/>
            </a:solidFill>
            <a:prstDash val="solid"/>
            <a:miter lim="400000"/>
            <a:headEnd type="none" w="sm" len="sm"/>
            <a:tailEnd type="none" w="sm" len="sm"/>
          </a:ln>
        </p:spPr>
      </p:cxnSp>
      <p:grpSp>
        <p:nvGrpSpPr>
          <p:cNvPr id="745" name="Google Shape;745;p58"/>
          <p:cNvGrpSpPr/>
          <p:nvPr/>
        </p:nvGrpSpPr>
        <p:grpSpPr>
          <a:xfrm>
            <a:off x="12259788" y="6813200"/>
            <a:ext cx="11342477" cy="7502939"/>
            <a:chOff x="0" y="0"/>
            <a:chExt cx="11342476" cy="7502937"/>
          </a:xfrm>
        </p:grpSpPr>
        <p:pic>
          <p:nvPicPr>
            <p:cNvPr id="746" name="Google Shape;746;p58" descr="Image"/>
            <p:cNvPicPr preferRelativeResize="0"/>
            <p:nvPr/>
          </p:nvPicPr>
          <p:blipFill rotWithShape="1">
            <a:blip r:embed="rId7">
              <a:alphaModFix/>
            </a:blip>
            <a:srcRect l="16195" r="8054" b="24268"/>
            <a:stretch/>
          </p:blipFill>
          <p:spPr>
            <a:xfrm>
              <a:off x="369265" y="0"/>
              <a:ext cx="10580875" cy="5689746"/>
            </a:xfrm>
            <a:prstGeom prst="rect">
              <a:avLst/>
            </a:prstGeom>
            <a:noFill/>
            <a:ln>
              <a:noFill/>
            </a:ln>
          </p:spPr>
        </p:pic>
        <p:cxnSp>
          <p:nvCxnSpPr>
            <p:cNvPr id="747" name="Google Shape;747;p58"/>
            <p:cNvCxnSpPr/>
            <p:nvPr/>
          </p:nvCxnSpPr>
          <p:spPr>
            <a:xfrm>
              <a:off x="0" y="5798144"/>
              <a:ext cx="11342476" cy="1"/>
            </a:xfrm>
            <a:prstGeom prst="straightConnector1">
              <a:avLst/>
            </a:prstGeom>
            <a:noFill/>
            <a:ln w="25400" cap="flat" cmpd="sng">
              <a:solidFill>
                <a:srgbClr val="000000"/>
              </a:solidFill>
              <a:prstDash val="solid"/>
              <a:miter lim="400000"/>
              <a:headEnd type="none" w="sm" len="sm"/>
              <a:tailEnd type="none" w="sm" len="sm"/>
            </a:ln>
          </p:spPr>
        </p:cxnSp>
        <p:cxnSp>
          <p:nvCxnSpPr>
            <p:cNvPr id="748" name="Google Shape;748;p58"/>
            <p:cNvCxnSpPr/>
            <p:nvPr/>
          </p:nvCxnSpPr>
          <p:spPr>
            <a:xfrm>
              <a:off x="6734929" y="6232936"/>
              <a:ext cx="1270001" cy="1270001"/>
            </a:xfrm>
            <a:prstGeom prst="straightConnector1">
              <a:avLst/>
            </a:prstGeom>
            <a:noFill/>
            <a:ln>
              <a:noFill/>
            </a:ln>
          </p:spPr>
        </p:cxnSp>
        <p:pic>
          <p:nvPicPr>
            <p:cNvPr id="749" name="Google Shape;749;p58" descr="Line Shape"/>
            <p:cNvPicPr preferRelativeResize="0"/>
            <p:nvPr/>
          </p:nvPicPr>
          <p:blipFill rotWithShape="1">
            <a:blip r:embed="rId5">
              <a:alphaModFix/>
            </a:blip>
            <a:srcRect/>
            <a:stretch/>
          </p:blipFill>
          <p:spPr>
            <a:xfrm flipH="1">
              <a:off x="9619356" y="5456988"/>
              <a:ext cx="1321167" cy="365919"/>
            </a:xfrm>
            <a:prstGeom prst="rect">
              <a:avLst/>
            </a:prstGeom>
            <a:noFill/>
            <a:ln>
              <a:noFill/>
            </a:ln>
          </p:spPr>
        </p:pic>
        <p:cxnSp>
          <p:nvCxnSpPr>
            <p:cNvPr id="750" name="Google Shape;750;p58"/>
            <p:cNvCxnSpPr/>
            <p:nvPr/>
          </p:nvCxnSpPr>
          <p:spPr>
            <a:xfrm rot="10800000" flipH="1">
              <a:off x="7308003" y="5650803"/>
              <a:ext cx="1" cy="233581"/>
            </a:xfrm>
            <a:prstGeom prst="straightConnector1">
              <a:avLst/>
            </a:prstGeom>
            <a:noFill/>
            <a:ln w="25400" cap="flat" cmpd="sng">
              <a:solidFill>
                <a:srgbClr val="929292"/>
              </a:solidFill>
              <a:prstDash val="solid"/>
              <a:miter lim="400000"/>
              <a:headEnd type="none" w="sm" len="sm"/>
              <a:tailEnd type="none" w="sm" len="sm"/>
            </a:ln>
          </p:spPr>
        </p:cxnSp>
        <p:cxnSp>
          <p:nvCxnSpPr>
            <p:cNvPr id="751" name="Google Shape;751;p58"/>
            <p:cNvCxnSpPr/>
            <p:nvPr/>
          </p:nvCxnSpPr>
          <p:spPr>
            <a:xfrm>
              <a:off x="3817059" y="6229504"/>
              <a:ext cx="1270001" cy="1270001"/>
            </a:xfrm>
            <a:prstGeom prst="straightConnector1">
              <a:avLst/>
            </a:prstGeom>
            <a:noFill/>
            <a:ln>
              <a:noFill/>
            </a:ln>
          </p:spPr>
        </p:cxnSp>
        <p:cxnSp>
          <p:nvCxnSpPr>
            <p:cNvPr id="752" name="Google Shape;752;p58"/>
            <p:cNvCxnSpPr/>
            <p:nvPr/>
          </p:nvCxnSpPr>
          <p:spPr>
            <a:xfrm rot="10800000" flipH="1">
              <a:off x="4521604" y="5647371"/>
              <a:ext cx="1" cy="233581"/>
            </a:xfrm>
            <a:prstGeom prst="straightConnector1">
              <a:avLst/>
            </a:prstGeom>
            <a:noFill/>
            <a:ln w="25400" cap="flat" cmpd="sng">
              <a:solidFill>
                <a:srgbClr val="929292"/>
              </a:solidFill>
              <a:prstDash val="solid"/>
              <a:miter lim="400000"/>
              <a:headEnd type="none" w="sm" len="sm"/>
              <a:tailEnd type="none" w="sm" len="sm"/>
            </a:ln>
          </p:spPr>
        </p:cxnSp>
        <p:pic>
          <p:nvPicPr>
            <p:cNvPr id="753" name="Google Shape;753;p58" descr="Line Shape"/>
            <p:cNvPicPr preferRelativeResize="0"/>
            <p:nvPr/>
          </p:nvPicPr>
          <p:blipFill rotWithShape="1">
            <a:blip r:embed="rId4">
              <a:alphaModFix/>
            </a:blip>
            <a:srcRect/>
            <a:stretch/>
          </p:blipFill>
          <p:spPr>
            <a:xfrm>
              <a:off x="3650238" y="5452072"/>
              <a:ext cx="1321167" cy="375752"/>
            </a:xfrm>
            <a:prstGeom prst="rect">
              <a:avLst/>
            </a:prstGeom>
            <a:noFill/>
            <a:ln>
              <a:noFill/>
            </a:ln>
          </p:spPr>
        </p:pic>
      </p:grpSp>
      <p:sp>
        <p:nvSpPr>
          <p:cNvPr id="754" name="Google Shape;754;p58"/>
          <p:cNvSpPr txBox="1"/>
          <p:nvPr/>
        </p:nvSpPr>
        <p:spPr>
          <a:xfrm>
            <a:off x="1395412" y="4883212"/>
            <a:ext cx="7256395" cy="12192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200"/>
              <a:buFont typeface="Avenir"/>
              <a:buNone/>
            </a:pPr>
            <a:r>
              <a:rPr lang="en-US" sz="3200" b="0" i="0" u="none" strike="noStrike" cap="none">
                <a:solidFill>
                  <a:srgbClr val="5E5E5E"/>
                </a:solidFill>
                <a:latin typeface="Avenir"/>
                <a:ea typeface="Avenir"/>
                <a:cs typeface="Avenir"/>
                <a:sym typeface="Avenir"/>
              </a:rPr>
              <a:t>if p-value &gt; ⍺ → do not reject H</a:t>
            </a:r>
            <a:r>
              <a:rPr lang="en-US" sz="3200" b="0" i="0" u="none" strike="noStrike" cap="none" baseline="-25000">
                <a:solidFill>
                  <a:srgbClr val="5E5E5E"/>
                </a:solidFill>
                <a:latin typeface="Avenir"/>
                <a:ea typeface="Avenir"/>
                <a:cs typeface="Avenir"/>
                <a:sym typeface="Avenir"/>
              </a:rPr>
              <a:t>0</a:t>
            </a:r>
            <a:endParaRPr sz="2400" b="0" i="0" u="none" strike="noStrike" cap="none" baseline="-25000">
              <a:solidFill>
                <a:srgbClr val="5E5E5E"/>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5E5E5E"/>
              </a:buClr>
              <a:buSzPts val="3200"/>
              <a:buFont typeface="Avenir"/>
              <a:buNone/>
            </a:pPr>
            <a:r>
              <a:rPr lang="en-US" sz="3200" b="0" i="0" u="none" strike="noStrike" cap="none">
                <a:solidFill>
                  <a:srgbClr val="5E5E5E"/>
                </a:solidFill>
                <a:latin typeface="Avenir"/>
                <a:ea typeface="Avenir"/>
                <a:cs typeface="Avenir"/>
                <a:sym typeface="Avenir"/>
              </a:rPr>
              <a:t>if p-value &lt; ⍺ → reject H</a:t>
            </a:r>
            <a:r>
              <a:rPr lang="en-US" sz="3200" b="0" i="0" u="none" strike="noStrike" cap="none" baseline="-25000">
                <a:solidFill>
                  <a:srgbClr val="5E5E5E"/>
                </a:solidFill>
                <a:latin typeface="Avenir"/>
                <a:ea typeface="Avenir"/>
                <a:cs typeface="Avenir"/>
                <a:sym typeface="Avenir"/>
              </a:rPr>
              <a:t>0 </a:t>
            </a:r>
            <a:r>
              <a:rPr lang="en-US" sz="3200" b="0" i="0" u="none" strike="noStrike" cap="none">
                <a:solidFill>
                  <a:srgbClr val="5E5E5E"/>
                </a:solidFill>
                <a:latin typeface="Avenir"/>
                <a:ea typeface="Avenir"/>
                <a:cs typeface="Avenir"/>
                <a:sym typeface="Avenir"/>
              </a:rPr>
              <a:t>in favour of</a:t>
            </a:r>
            <a:r>
              <a:rPr lang="en-US" sz="3200" b="0" i="0" u="none" strike="noStrike" cap="none" baseline="-25000">
                <a:solidFill>
                  <a:srgbClr val="5E5E5E"/>
                </a:solidFill>
                <a:latin typeface="Avenir"/>
                <a:ea typeface="Avenir"/>
                <a:cs typeface="Avenir"/>
                <a:sym typeface="Avenir"/>
              </a:rPr>
              <a:t> </a:t>
            </a:r>
            <a:r>
              <a:rPr lang="en-US" sz="3200" b="0" i="0" u="none" strike="noStrike" cap="none">
                <a:solidFill>
                  <a:srgbClr val="5E5E5E"/>
                </a:solidFill>
                <a:latin typeface="Avenir"/>
                <a:ea typeface="Avenir"/>
                <a:cs typeface="Avenir"/>
                <a:sym typeface="Avenir"/>
              </a:rPr>
              <a:t>H</a:t>
            </a:r>
            <a:r>
              <a:rPr lang="en-US" sz="3200" b="0" i="0" u="none" strike="noStrike" cap="none" baseline="-25000">
                <a:solidFill>
                  <a:srgbClr val="5E5E5E"/>
                </a:solidFill>
                <a:latin typeface="Avenir"/>
                <a:ea typeface="Avenir"/>
                <a:cs typeface="Avenir"/>
                <a:sym typeface="Avenir"/>
              </a:rPr>
              <a:t>1</a:t>
            </a:r>
            <a:endParaRPr/>
          </a:p>
        </p:txBody>
      </p:sp>
      <p:sp>
        <p:nvSpPr>
          <p:cNvPr id="755" name="Google Shape;755;p58"/>
          <p:cNvSpPr txBox="1"/>
          <p:nvPr/>
        </p:nvSpPr>
        <p:spPr>
          <a:xfrm>
            <a:off x="1416006" y="6676559"/>
            <a:ext cx="9729339" cy="12192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200"/>
              <a:buFont typeface="Avenir"/>
              <a:buNone/>
            </a:pPr>
            <a:r>
              <a:rPr lang="en-US" sz="3200" b="0" i="0" u="none" strike="noStrike" cap="none">
                <a:solidFill>
                  <a:srgbClr val="5E5E5E"/>
                </a:solidFill>
                <a:latin typeface="Avenir"/>
                <a:ea typeface="Avenir"/>
                <a:cs typeface="Avenir"/>
                <a:sym typeface="Avenir"/>
              </a:rPr>
              <a:t>⍺=0.05 → the type I error, the probability of rejecting </a:t>
            </a:r>
            <a:endParaRPr/>
          </a:p>
          <a:p>
            <a:pPr marL="0" marR="0" lvl="4" indent="1828800" algn="l" rtl="0">
              <a:lnSpc>
                <a:spcPct val="100000"/>
              </a:lnSpc>
              <a:spcBef>
                <a:spcPts val="0"/>
              </a:spcBef>
              <a:spcAft>
                <a:spcPts val="0"/>
              </a:spcAft>
              <a:buClr>
                <a:srgbClr val="5E5E5E"/>
              </a:buClr>
              <a:buSzPts val="3200"/>
              <a:buFont typeface="Avenir"/>
              <a:buNone/>
            </a:pPr>
            <a:r>
              <a:rPr lang="en-US" sz="3200" b="0" i="0" u="none" strike="noStrike" cap="none">
                <a:solidFill>
                  <a:srgbClr val="5E5E5E"/>
                </a:solidFill>
                <a:latin typeface="Avenir"/>
                <a:ea typeface="Avenir"/>
                <a:cs typeface="Avenir"/>
                <a:sym typeface="Avenir"/>
              </a:rPr>
              <a:t> H</a:t>
            </a:r>
            <a:r>
              <a:rPr lang="en-US" sz="3200" b="0" i="0" u="none" strike="noStrike" cap="none" baseline="-25000">
                <a:solidFill>
                  <a:srgbClr val="5E5E5E"/>
                </a:solidFill>
                <a:latin typeface="Avenir"/>
                <a:ea typeface="Avenir"/>
                <a:cs typeface="Avenir"/>
                <a:sym typeface="Avenir"/>
              </a:rPr>
              <a:t>0</a:t>
            </a:r>
            <a:r>
              <a:rPr lang="en-US" sz="3200" b="0" i="0" u="none" strike="noStrike" cap="none">
                <a:solidFill>
                  <a:srgbClr val="5E5E5E"/>
                </a:solidFill>
                <a:latin typeface="Avenir"/>
                <a:ea typeface="Avenir"/>
                <a:cs typeface="Avenir"/>
                <a:sym typeface="Avenir"/>
              </a:rPr>
              <a:t> when H</a:t>
            </a:r>
            <a:r>
              <a:rPr lang="en-US" sz="3200" b="0" i="0" u="none" strike="noStrike" cap="none" baseline="-25000">
                <a:solidFill>
                  <a:srgbClr val="5E5E5E"/>
                </a:solidFill>
                <a:latin typeface="Avenir"/>
                <a:ea typeface="Avenir"/>
                <a:cs typeface="Avenir"/>
                <a:sym typeface="Avenir"/>
              </a:rPr>
              <a:t>0</a:t>
            </a:r>
            <a:r>
              <a:rPr lang="en-US" sz="3200" b="0" i="0" u="none" strike="noStrike" cap="none">
                <a:solidFill>
                  <a:srgbClr val="5E5E5E"/>
                </a:solidFill>
                <a:latin typeface="Avenir"/>
                <a:ea typeface="Avenir"/>
                <a:cs typeface="Avenir"/>
                <a:sym typeface="Avenir"/>
              </a:rPr>
              <a:t> is correct </a:t>
            </a:r>
            <a:endParaRPr/>
          </a:p>
        </p:txBody>
      </p:sp>
      <p:cxnSp>
        <p:nvCxnSpPr>
          <p:cNvPr id="756" name="Google Shape;756;p58"/>
          <p:cNvCxnSpPr/>
          <p:nvPr/>
        </p:nvCxnSpPr>
        <p:spPr>
          <a:xfrm rot="10800000" flipH="1">
            <a:off x="11887200" y="4103143"/>
            <a:ext cx="1" cy="8595165"/>
          </a:xfrm>
          <a:prstGeom prst="straightConnector1">
            <a:avLst/>
          </a:prstGeom>
          <a:noFill/>
          <a:ln w="25400" cap="flat" cmpd="sng">
            <a:solidFill>
              <a:srgbClr val="D5D5D5"/>
            </a:solidFill>
            <a:prstDash val="dashDot"/>
            <a:miter lim="400000"/>
            <a:headEnd type="none" w="sm" len="sm"/>
            <a:tailEnd type="none" w="sm" len="sm"/>
          </a:ln>
        </p:spPr>
      </p:cxnSp>
      <p:sp>
        <p:nvSpPr>
          <p:cNvPr id="757" name="Google Shape;757;p58"/>
          <p:cNvSpPr txBox="1"/>
          <p:nvPr/>
        </p:nvSpPr>
        <p:spPr>
          <a:xfrm>
            <a:off x="12215812" y="3755040"/>
            <a:ext cx="3247645" cy="6604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200"/>
              <a:buFont typeface="Avenir"/>
              <a:buNone/>
            </a:pPr>
            <a:r>
              <a:rPr lang="en-US" sz="3200" b="0" i="0" u="none" strike="noStrike" cap="none">
                <a:solidFill>
                  <a:srgbClr val="5E5E5E"/>
                </a:solidFill>
                <a:latin typeface="Avenir"/>
                <a:ea typeface="Avenir"/>
                <a:cs typeface="Avenir"/>
                <a:sym typeface="Avenir"/>
              </a:rPr>
              <a:t>Suppose H</a:t>
            </a:r>
            <a:r>
              <a:rPr lang="en-US" sz="3200" b="0" i="0" u="none" strike="noStrike" cap="none" baseline="-25000">
                <a:solidFill>
                  <a:srgbClr val="5E5E5E"/>
                </a:solidFill>
                <a:latin typeface="Avenir"/>
                <a:ea typeface="Avenir"/>
                <a:cs typeface="Avenir"/>
                <a:sym typeface="Avenir"/>
              </a:rPr>
              <a:t>1 </a:t>
            </a:r>
            <a:r>
              <a:rPr lang="en-US" sz="3200" b="0" i="0" u="none" strike="noStrike" cap="none">
                <a:solidFill>
                  <a:srgbClr val="5E5E5E"/>
                </a:solidFill>
                <a:latin typeface="Avenir"/>
                <a:ea typeface="Avenir"/>
                <a:cs typeface="Avenir"/>
                <a:sym typeface="Avenir"/>
              </a:rPr>
              <a:t>true: </a:t>
            </a:r>
            <a:endParaRPr/>
          </a:p>
        </p:txBody>
      </p:sp>
      <p:pic>
        <p:nvPicPr>
          <p:cNvPr id="758" name="Google Shape;758;p58" descr="Line Line"/>
          <p:cNvPicPr preferRelativeResize="0"/>
          <p:nvPr/>
        </p:nvPicPr>
        <p:blipFill rotWithShape="1">
          <a:blip r:embed="rId8">
            <a:alphaModFix/>
          </a:blip>
          <a:srcRect/>
          <a:stretch/>
        </p:blipFill>
        <p:spPr>
          <a:xfrm rot="-5400000">
            <a:off x="17035119" y="12206358"/>
            <a:ext cx="867585" cy="143685"/>
          </a:xfrm>
          <a:prstGeom prst="rect">
            <a:avLst/>
          </a:prstGeom>
          <a:noFill/>
          <a:ln>
            <a:noFill/>
          </a:ln>
        </p:spPr>
      </p:pic>
      <p:grpSp>
        <p:nvGrpSpPr>
          <p:cNvPr id="759" name="Google Shape;759;p58"/>
          <p:cNvGrpSpPr/>
          <p:nvPr/>
        </p:nvGrpSpPr>
        <p:grpSpPr>
          <a:xfrm>
            <a:off x="12222161" y="4671863"/>
            <a:ext cx="11884547" cy="2228133"/>
            <a:chOff x="-76" y="0"/>
            <a:chExt cx="11884546" cy="2228132"/>
          </a:xfrm>
        </p:grpSpPr>
        <p:pic>
          <p:nvPicPr>
            <p:cNvPr id="760" name="Google Shape;760;p58" descr="Image"/>
            <p:cNvPicPr preferRelativeResize="0"/>
            <p:nvPr/>
          </p:nvPicPr>
          <p:blipFill rotWithShape="1">
            <a:blip r:embed="rId9">
              <a:alphaModFix/>
            </a:blip>
            <a:srcRect l="10442" t="544" r="10445" b="545"/>
            <a:stretch/>
          </p:blipFill>
          <p:spPr>
            <a:xfrm>
              <a:off x="-76" y="0"/>
              <a:ext cx="2228208" cy="2228132"/>
            </a:xfrm>
            <a:custGeom>
              <a:avLst/>
              <a:gdLst/>
              <a:ahLst/>
              <a:cxnLst/>
              <a:rect l="l" t="t" r="r" b="b"/>
              <a:pathLst>
                <a:path w="19679" h="20595" extrusionOk="0">
                  <a:moveTo>
                    <a:pt x="9839" y="0"/>
                  </a:moveTo>
                  <a:cubicBezTo>
                    <a:pt x="7321" y="0"/>
                    <a:pt x="4803" y="1005"/>
                    <a:pt x="2881" y="3015"/>
                  </a:cubicBezTo>
                  <a:cubicBezTo>
                    <a:pt x="-961" y="7037"/>
                    <a:pt x="-961" y="13557"/>
                    <a:pt x="2881" y="17579"/>
                  </a:cubicBezTo>
                  <a:cubicBezTo>
                    <a:pt x="6724" y="21600"/>
                    <a:pt x="12954" y="21600"/>
                    <a:pt x="16797" y="17579"/>
                  </a:cubicBezTo>
                  <a:cubicBezTo>
                    <a:pt x="20639" y="13557"/>
                    <a:pt x="20639" y="7037"/>
                    <a:pt x="16797" y="3015"/>
                  </a:cubicBezTo>
                  <a:cubicBezTo>
                    <a:pt x="14875" y="1005"/>
                    <a:pt x="12357" y="0"/>
                    <a:pt x="9839" y="0"/>
                  </a:cubicBezTo>
                  <a:close/>
                </a:path>
              </a:pathLst>
            </a:custGeom>
            <a:noFill/>
            <a:ln w="12700" cap="flat" cmpd="sng">
              <a:solidFill>
                <a:srgbClr val="000000"/>
              </a:solidFill>
              <a:prstDash val="solid"/>
              <a:miter lim="400000"/>
              <a:headEnd type="none" w="sm" len="sm"/>
              <a:tailEnd type="none" w="sm" len="sm"/>
            </a:ln>
          </p:spPr>
        </p:pic>
        <p:grpSp>
          <p:nvGrpSpPr>
            <p:cNvPr id="761" name="Google Shape;761;p58"/>
            <p:cNvGrpSpPr/>
            <p:nvPr/>
          </p:nvGrpSpPr>
          <p:grpSpPr>
            <a:xfrm>
              <a:off x="3231693" y="479774"/>
              <a:ext cx="1268584" cy="1268584"/>
              <a:chOff x="0" y="0"/>
              <a:chExt cx="1268583" cy="1268583"/>
            </a:xfrm>
          </p:grpSpPr>
          <p:sp>
            <p:nvSpPr>
              <p:cNvPr id="762" name="Google Shape;762;p58"/>
              <p:cNvSpPr/>
              <p:nvPr/>
            </p:nvSpPr>
            <p:spPr>
              <a:xfrm>
                <a:off x="0" y="0"/>
                <a:ext cx="1268583" cy="1268583"/>
              </a:xfrm>
              <a:prstGeom prst="ellipse">
                <a:avLst/>
              </a:prstGeom>
              <a:noFill/>
              <a:ln w="12700" cap="flat" cmpd="sng">
                <a:solidFill>
                  <a:srgbClr val="000000"/>
                </a:solidFill>
                <a:prstDash val="solid"/>
                <a:miter lim="400000"/>
                <a:headEnd type="none" w="sm" len="sm"/>
                <a:tailEnd type="none" w="sm" len="sm"/>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763" name="Google Shape;763;p58"/>
              <p:cNvSpPr/>
              <p:nvPr/>
            </p:nvSpPr>
            <p:spPr>
              <a:xfrm>
                <a:off x="371016" y="217274"/>
                <a:ext cx="201222" cy="200310"/>
              </a:xfrm>
              <a:prstGeom prst="ellipse">
                <a:avLst/>
              </a:prstGeom>
              <a:solidFill>
                <a:srgbClr val="ED469A"/>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764" name="Google Shape;764;p58"/>
              <p:cNvSpPr/>
              <p:nvPr/>
            </p:nvSpPr>
            <p:spPr>
              <a:xfrm>
                <a:off x="728201" y="140162"/>
                <a:ext cx="201222" cy="200311"/>
              </a:xfrm>
              <a:prstGeom prst="ellipse">
                <a:avLst/>
              </a:prstGeom>
              <a:solidFill>
                <a:srgbClr val="F6A631"/>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765" name="Google Shape;765;p58"/>
              <p:cNvSpPr/>
              <p:nvPr/>
            </p:nvSpPr>
            <p:spPr>
              <a:xfrm>
                <a:off x="173690" y="599868"/>
                <a:ext cx="201222" cy="200311"/>
              </a:xfrm>
              <a:prstGeom prst="ellipse">
                <a:avLst/>
              </a:prstGeom>
              <a:solidFill>
                <a:srgbClr val="EE2B5C"/>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766" name="Google Shape;766;p58"/>
              <p:cNvSpPr/>
              <p:nvPr/>
            </p:nvSpPr>
            <p:spPr>
              <a:xfrm>
                <a:off x="876917" y="405074"/>
                <a:ext cx="201222" cy="200311"/>
              </a:xfrm>
              <a:prstGeom prst="ellipse">
                <a:avLst/>
              </a:prstGeom>
              <a:solidFill>
                <a:srgbClr val="9B5DA4"/>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767" name="Google Shape;767;p58"/>
              <p:cNvSpPr/>
              <p:nvPr/>
            </p:nvSpPr>
            <p:spPr>
              <a:xfrm>
                <a:off x="424432" y="931529"/>
                <a:ext cx="201222" cy="200310"/>
              </a:xfrm>
              <a:prstGeom prst="ellipse">
                <a:avLst/>
              </a:prstGeom>
              <a:solidFill>
                <a:srgbClr val="FACD09"/>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768" name="Google Shape;768;p58"/>
              <p:cNvSpPr/>
              <p:nvPr/>
            </p:nvSpPr>
            <p:spPr>
              <a:xfrm>
                <a:off x="986244" y="731228"/>
                <a:ext cx="201222" cy="200310"/>
              </a:xfrm>
              <a:prstGeom prst="ellipse">
                <a:avLst/>
              </a:prstGeom>
              <a:solidFill>
                <a:srgbClr val="ABD9D6"/>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769" name="Google Shape;769;p58"/>
              <p:cNvSpPr/>
              <p:nvPr/>
            </p:nvSpPr>
            <p:spPr>
              <a:xfrm>
                <a:off x="643918" y="449667"/>
                <a:ext cx="201222" cy="200311"/>
              </a:xfrm>
              <a:prstGeom prst="ellipse">
                <a:avLst/>
              </a:prstGeom>
              <a:solidFill>
                <a:srgbClr val="43C4BA"/>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770" name="Google Shape;770;p58"/>
              <p:cNvSpPr/>
              <p:nvPr/>
            </p:nvSpPr>
            <p:spPr>
              <a:xfrm>
                <a:off x="93122" y="362194"/>
                <a:ext cx="201222" cy="200311"/>
              </a:xfrm>
              <a:prstGeom prst="ellipse">
                <a:avLst/>
              </a:prstGeom>
              <a:solidFill>
                <a:srgbClr val="43C4BA"/>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771" name="Google Shape;771;p58"/>
              <p:cNvSpPr/>
              <p:nvPr/>
            </p:nvSpPr>
            <p:spPr>
              <a:xfrm>
                <a:off x="715392" y="814252"/>
                <a:ext cx="201222" cy="200311"/>
              </a:xfrm>
              <a:prstGeom prst="ellipse">
                <a:avLst/>
              </a:prstGeom>
              <a:solidFill>
                <a:srgbClr val="EE2B5C"/>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772" name="Google Shape;772;p58"/>
              <p:cNvSpPr/>
              <p:nvPr/>
            </p:nvSpPr>
            <p:spPr>
              <a:xfrm>
                <a:off x="444541" y="669986"/>
                <a:ext cx="201222" cy="200311"/>
              </a:xfrm>
              <a:prstGeom prst="ellipse">
                <a:avLst/>
              </a:prstGeom>
              <a:solidFill>
                <a:srgbClr val="9B5DA4"/>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grpSp>
        <p:sp>
          <p:nvSpPr>
            <p:cNvPr id="773" name="Google Shape;773;p58"/>
            <p:cNvSpPr txBox="1"/>
            <p:nvPr/>
          </p:nvSpPr>
          <p:spPr>
            <a:xfrm>
              <a:off x="5497486" y="504465"/>
              <a:ext cx="6386984" cy="12192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200"/>
                <a:buFont typeface="Avenir"/>
                <a:buNone/>
              </a:pPr>
              <a:r>
                <a:rPr lang="en-US" sz="3200" b="0" i="0" u="none" strike="noStrike" cap="none">
                  <a:solidFill>
                    <a:srgbClr val="5E5E5E"/>
                  </a:solidFill>
                  <a:latin typeface="Avenir"/>
                  <a:ea typeface="Avenir"/>
                  <a:cs typeface="Avenir"/>
                  <a:sym typeface="Avenir"/>
                </a:rPr>
                <a:t>Depending on your sampling, you might fail to reject H</a:t>
              </a:r>
              <a:r>
                <a:rPr lang="en-US" sz="3200" b="0" i="0" u="none" strike="noStrike" cap="none" baseline="-25000">
                  <a:solidFill>
                    <a:srgbClr val="5E5E5E"/>
                  </a:solidFill>
                  <a:latin typeface="Avenir"/>
                  <a:ea typeface="Avenir"/>
                  <a:cs typeface="Avenir"/>
                  <a:sym typeface="Avenir"/>
                </a:rPr>
                <a:t>0 </a:t>
              </a:r>
              <a:endParaRPr/>
            </a:p>
          </p:txBody>
        </p:sp>
        <p:cxnSp>
          <p:nvCxnSpPr>
            <p:cNvPr id="774" name="Google Shape;774;p58"/>
            <p:cNvCxnSpPr/>
            <p:nvPr/>
          </p:nvCxnSpPr>
          <p:spPr>
            <a:xfrm>
              <a:off x="2416966" y="1114065"/>
              <a:ext cx="632243" cy="1"/>
            </a:xfrm>
            <a:prstGeom prst="straightConnector1">
              <a:avLst/>
            </a:prstGeom>
            <a:noFill/>
            <a:ln w="25400" cap="flat" cmpd="sng">
              <a:solidFill>
                <a:srgbClr val="000000"/>
              </a:solidFill>
              <a:prstDash val="solid"/>
              <a:miter lim="400000"/>
              <a:headEnd type="none" w="sm" len="sm"/>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Shape 778"/>
        <p:cNvGrpSpPr/>
        <p:nvPr/>
      </p:nvGrpSpPr>
      <p:grpSpPr>
        <a:xfrm>
          <a:off x="0" y="0"/>
          <a:ext cx="0" cy="0"/>
          <a:chOff x="0" y="0"/>
          <a:chExt cx="0" cy="0"/>
        </a:xfrm>
      </p:grpSpPr>
      <p:sp>
        <p:nvSpPr>
          <p:cNvPr id="779" name="Google Shape;779;p59"/>
          <p:cNvSpPr txBox="1">
            <a:spLocks noGrp="1"/>
          </p:cNvSpPr>
          <p:nvPr>
            <p:ph type="title" idx="4294967295"/>
          </p:nvPr>
        </p:nvSpPr>
        <p:spPr>
          <a:xfrm>
            <a:off x="0" y="1079500"/>
            <a:ext cx="21971000" cy="1433513"/>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a:latin typeface="Avenir"/>
                <a:ea typeface="Avenir"/>
                <a:cs typeface="Avenir"/>
                <a:sym typeface="Avenir"/>
              </a:rPr>
              <a:t>Type I and Type II Errors</a:t>
            </a:r>
            <a:endParaRPr/>
          </a:p>
        </p:txBody>
      </p:sp>
      <p:sp>
        <p:nvSpPr>
          <p:cNvPr id="780" name="Google Shape;780;p59"/>
          <p:cNvSpPr txBox="1"/>
          <p:nvPr/>
        </p:nvSpPr>
        <p:spPr>
          <a:xfrm>
            <a:off x="1421027" y="3190102"/>
            <a:ext cx="2545081" cy="13462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H</a:t>
            </a:r>
            <a:r>
              <a:rPr lang="en-US" sz="3600" b="0" i="0" u="none" strike="noStrike" cap="none" baseline="-25000">
                <a:solidFill>
                  <a:srgbClr val="5E5E5E"/>
                </a:solidFill>
                <a:latin typeface="Avenir"/>
                <a:ea typeface="Avenir"/>
                <a:cs typeface="Avenir"/>
                <a:sym typeface="Avenir"/>
              </a:rPr>
              <a:t>0</a:t>
            </a:r>
            <a:r>
              <a:rPr lang="en-US" sz="3600" b="0" i="0" u="none" strike="noStrike" cap="none">
                <a:solidFill>
                  <a:srgbClr val="5E5E5E"/>
                </a:solidFill>
                <a:latin typeface="Avenir"/>
                <a:ea typeface="Avenir"/>
                <a:cs typeface="Avenir"/>
                <a:sym typeface="Avenir"/>
              </a:rPr>
              <a:t>: µ = 1.2 s</a:t>
            </a:r>
            <a:endParaRPr/>
          </a:p>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H</a:t>
            </a:r>
            <a:r>
              <a:rPr lang="en-US" sz="3600" b="0" i="0" u="none" strike="noStrike" cap="none" baseline="-25000">
                <a:solidFill>
                  <a:srgbClr val="5E5E5E"/>
                </a:solidFill>
                <a:latin typeface="Avenir"/>
                <a:ea typeface="Avenir"/>
                <a:cs typeface="Avenir"/>
                <a:sym typeface="Avenir"/>
              </a:rPr>
              <a:t>1</a:t>
            </a:r>
            <a:r>
              <a:rPr lang="en-US" sz="3600" b="0" i="0" u="none" strike="noStrike" cap="none">
                <a:solidFill>
                  <a:srgbClr val="5E5E5E"/>
                </a:solidFill>
                <a:latin typeface="Avenir"/>
                <a:ea typeface="Avenir"/>
                <a:cs typeface="Avenir"/>
                <a:sym typeface="Avenir"/>
              </a:rPr>
              <a:t>: µ ≠ 1.2 s</a:t>
            </a:r>
            <a:endParaRPr/>
          </a:p>
        </p:txBody>
      </p:sp>
      <p:pic>
        <p:nvPicPr>
          <p:cNvPr id="781" name="Google Shape;781;p59" descr="Image"/>
          <p:cNvPicPr preferRelativeResize="0"/>
          <p:nvPr/>
        </p:nvPicPr>
        <p:blipFill rotWithShape="1">
          <a:blip r:embed="rId3">
            <a:alphaModFix/>
          </a:blip>
          <a:srcRect l="37813" t="18895" b="12835"/>
          <a:stretch/>
        </p:blipFill>
        <p:spPr>
          <a:xfrm>
            <a:off x="1766558" y="8240508"/>
            <a:ext cx="8692573" cy="5132791"/>
          </a:xfrm>
          <a:prstGeom prst="rect">
            <a:avLst/>
          </a:prstGeom>
          <a:noFill/>
          <a:ln>
            <a:noFill/>
          </a:ln>
        </p:spPr>
      </p:pic>
      <p:cxnSp>
        <p:nvCxnSpPr>
          <p:cNvPr id="782" name="Google Shape;782;p59"/>
          <p:cNvCxnSpPr/>
          <p:nvPr/>
        </p:nvCxnSpPr>
        <p:spPr>
          <a:xfrm>
            <a:off x="1663700" y="12611344"/>
            <a:ext cx="7973403" cy="1"/>
          </a:xfrm>
          <a:prstGeom prst="straightConnector1">
            <a:avLst/>
          </a:prstGeom>
          <a:noFill/>
          <a:ln w="25400" cap="flat" cmpd="sng">
            <a:solidFill>
              <a:srgbClr val="000000"/>
            </a:solidFill>
            <a:prstDash val="solid"/>
            <a:miter lim="400000"/>
            <a:headEnd type="none" w="sm" len="sm"/>
            <a:tailEnd type="none" w="sm" len="sm"/>
          </a:ln>
        </p:spPr>
      </p:cxnSp>
      <p:sp>
        <p:nvSpPr>
          <p:cNvPr id="783" name="Google Shape;783;p59"/>
          <p:cNvSpPr txBox="1"/>
          <p:nvPr/>
        </p:nvSpPr>
        <p:spPr>
          <a:xfrm>
            <a:off x="5077326" y="12802066"/>
            <a:ext cx="1250596" cy="5207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µ = 1.2 s</a:t>
            </a:r>
            <a:endParaRPr/>
          </a:p>
        </p:txBody>
      </p:sp>
      <p:pic>
        <p:nvPicPr>
          <p:cNvPr id="784" name="Google Shape;784;p59" descr="Line Shape"/>
          <p:cNvPicPr preferRelativeResize="0"/>
          <p:nvPr/>
        </p:nvPicPr>
        <p:blipFill rotWithShape="1">
          <a:blip r:embed="rId4">
            <a:alphaModFix/>
          </a:blip>
          <a:srcRect/>
          <a:stretch/>
        </p:blipFill>
        <p:spPr>
          <a:xfrm>
            <a:off x="1992635" y="12281551"/>
            <a:ext cx="1321167" cy="375752"/>
          </a:xfrm>
          <a:prstGeom prst="rect">
            <a:avLst/>
          </a:prstGeom>
          <a:noFill/>
          <a:ln>
            <a:noFill/>
          </a:ln>
        </p:spPr>
      </p:pic>
      <p:pic>
        <p:nvPicPr>
          <p:cNvPr id="785" name="Google Shape;785;p59" descr="Line Shape"/>
          <p:cNvPicPr preferRelativeResize="0"/>
          <p:nvPr/>
        </p:nvPicPr>
        <p:blipFill rotWithShape="1">
          <a:blip r:embed="rId5">
            <a:alphaModFix/>
          </a:blip>
          <a:srcRect/>
          <a:stretch/>
        </p:blipFill>
        <p:spPr>
          <a:xfrm flipH="1">
            <a:off x="7961754" y="12286466"/>
            <a:ext cx="1321167" cy="365920"/>
          </a:xfrm>
          <a:prstGeom prst="rect">
            <a:avLst/>
          </a:prstGeom>
          <a:noFill/>
          <a:ln>
            <a:noFill/>
          </a:ln>
        </p:spPr>
      </p:pic>
      <p:pic>
        <p:nvPicPr>
          <p:cNvPr id="786" name="Google Shape;786;p59" descr="Line Line"/>
          <p:cNvPicPr preferRelativeResize="0"/>
          <p:nvPr/>
        </p:nvPicPr>
        <p:blipFill rotWithShape="1">
          <a:blip r:embed="rId6">
            <a:alphaModFix/>
          </a:blip>
          <a:srcRect/>
          <a:stretch/>
        </p:blipFill>
        <p:spPr>
          <a:xfrm rot="-5400000">
            <a:off x="2602641" y="12206358"/>
            <a:ext cx="867585" cy="143685"/>
          </a:xfrm>
          <a:prstGeom prst="rect">
            <a:avLst/>
          </a:prstGeom>
          <a:noFill/>
          <a:ln>
            <a:noFill/>
          </a:ln>
        </p:spPr>
      </p:pic>
      <p:cxnSp>
        <p:nvCxnSpPr>
          <p:cNvPr id="787" name="Google Shape;787;p59"/>
          <p:cNvCxnSpPr/>
          <p:nvPr/>
        </p:nvCxnSpPr>
        <p:spPr>
          <a:xfrm rot="10800000" flipH="1">
            <a:off x="5650401" y="12480282"/>
            <a:ext cx="1" cy="233582"/>
          </a:xfrm>
          <a:prstGeom prst="straightConnector1">
            <a:avLst/>
          </a:prstGeom>
          <a:noFill/>
          <a:ln w="25400" cap="flat" cmpd="sng">
            <a:solidFill>
              <a:srgbClr val="929292"/>
            </a:solidFill>
            <a:prstDash val="solid"/>
            <a:miter lim="400000"/>
            <a:headEnd type="none" w="sm" len="sm"/>
            <a:tailEnd type="none" w="sm" len="sm"/>
          </a:ln>
        </p:spPr>
      </p:cxnSp>
      <p:pic>
        <p:nvPicPr>
          <p:cNvPr id="788" name="Google Shape;788;p59" descr="Image"/>
          <p:cNvPicPr preferRelativeResize="0"/>
          <p:nvPr/>
        </p:nvPicPr>
        <p:blipFill rotWithShape="1">
          <a:blip r:embed="rId7">
            <a:alphaModFix/>
          </a:blip>
          <a:srcRect l="16195" r="8054" b="24268"/>
          <a:stretch/>
        </p:blipFill>
        <p:spPr>
          <a:xfrm>
            <a:off x="12640682" y="6802883"/>
            <a:ext cx="10580875" cy="5689747"/>
          </a:xfrm>
          <a:prstGeom prst="rect">
            <a:avLst/>
          </a:prstGeom>
          <a:noFill/>
          <a:ln>
            <a:noFill/>
          </a:ln>
        </p:spPr>
      </p:pic>
      <p:cxnSp>
        <p:nvCxnSpPr>
          <p:cNvPr id="789" name="Google Shape;789;p59"/>
          <p:cNvCxnSpPr/>
          <p:nvPr/>
        </p:nvCxnSpPr>
        <p:spPr>
          <a:xfrm>
            <a:off x="12259788" y="12611344"/>
            <a:ext cx="11342477" cy="1"/>
          </a:xfrm>
          <a:prstGeom prst="straightConnector1">
            <a:avLst/>
          </a:prstGeom>
          <a:noFill/>
          <a:ln w="25400" cap="flat" cmpd="sng">
            <a:solidFill>
              <a:srgbClr val="000000"/>
            </a:solidFill>
            <a:prstDash val="solid"/>
            <a:miter lim="400000"/>
            <a:headEnd type="none" w="sm" len="sm"/>
            <a:tailEnd type="none" w="sm" len="sm"/>
          </a:ln>
        </p:spPr>
      </p:cxnSp>
      <p:sp>
        <p:nvSpPr>
          <p:cNvPr id="790" name="Google Shape;790;p59"/>
          <p:cNvSpPr txBox="1"/>
          <p:nvPr/>
        </p:nvSpPr>
        <p:spPr>
          <a:xfrm>
            <a:off x="18994719" y="12785787"/>
            <a:ext cx="1250595" cy="5207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µ = 1.2 s</a:t>
            </a:r>
            <a:endParaRPr/>
          </a:p>
        </p:txBody>
      </p:sp>
      <p:pic>
        <p:nvPicPr>
          <p:cNvPr id="791" name="Google Shape;791;p59" descr="Line Shape"/>
          <p:cNvPicPr preferRelativeResize="0"/>
          <p:nvPr/>
        </p:nvPicPr>
        <p:blipFill rotWithShape="1">
          <a:blip r:embed="rId5">
            <a:alphaModFix/>
          </a:blip>
          <a:srcRect/>
          <a:stretch/>
        </p:blipFill>
        <p:spPr>
          <a:xfrm flipH="1">
            <a:off x="21879145" y="12270188"/>
            <a:ext cx="1321168" cy="365920"/>
          </a:xfrm>
          <a:prstGeom prst="rect">
            <a:avLst/>
          </a:prstGeom>
          <a:noFill/>
          <a:ln>
            <a:noFill/>
          </a:ln>
        </p:spPr>
      </p:pic>
      <p:cxnSp>
        <p:nvCxnSpPr>
          <p:cNvPr id="792" name="Google Shape;792;p59"/>
          <p:cNvCxnSpPr/>
          <p:nvPr/>
        </p:nvCxnSpPr>
        <p:spPr>
          <a:xfrm rot="10800000" flipH="1">
            <a:off x="19567792" y="12464003"/>
            <a:ext cx="1" cy="233582"/>
          </a:xfrm>
          <a:prstGeom prst="straightConnector1">
            <a:avLst/>
          </a:prstGeom>
          <a:noFill/>
          <a:ln w="25400" cap="flat" cmpd="sng">
            <a:solidFill>
              <a:srgbClr val="929292"/>
            </a:solidFill>
            <a:prstDash val="solid"/>
            <a:miter lim="400000"/>
            <a:headEnd type="none" w="sm" len="sm"/>
            <a:tailEnd type="none" w="sm" len="sm"/>
          </a:ln>
        </p:spPr>
      </p:cxnSp>
      <p:sp>
        <p:nvSpPr>
          <p:cNvPr id="793" name="Google Shape;793;p59"/>
          <p:cNvSpPr txBox="1"/>
          <p:nvPr/>
        </p:nvSpPr>
        <p:spPr>
          <a:xfrm>
            <a:off x="16076848" y="12782354"/>
            <a:ext cx="1409091" cy="5207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µ = 1.05 s</a:t>
            </a:r>
            <a:endParaRPr/>
          </a:p>
        </p:txBody>
      </p:sp>
      <p:cxnSp>
        <p:nvCxnSpPr>
          <p:cNvPr id="794" name="Google Shape;794;p59"/>
          <p:cNvCxnSpPr/>
          <p:nvPr/>
        </p:nvCxnSpPr>
        <p:spPr>
          <a:xfrm rot="10800000" flipH="1">
            <a:off x="16781394" y="12460571"/>
            <a:ext cx="1" cy="233581"/>
          </a:xfrm>
          <a:prstGeom prst="straightConnector1">
            <a:avLst/>
          </a:prstGeom>
          <a:noFill/>
          <a:ln w="25400" cap="flat" cmpd="sng">
            <a:solidFill>
              <a:srgbClr val="929292"/>
            </a:solidFill>
            <a:prstDash val="solid"/>
            <a:miter lim="400000"/>
            <a:headEnd type="none" w="sm" len="sm"/>
            <a:tailEnd type="none" w="sm" len="sm"/>
          </a:ln>
        </p:spPr>
      </p:cxnSp>
      <p:pic>
        <p:nvPicPr>
          <p:cNvPr id="795" name="Google Shape;795;p59" descr="Line Shape"/>
          <p:cNvPicPr preferRelativeResize="0"/>
          <p:nvPr/>
        </p:nvPicPr>
        <p:blipFill rotWithShape="1">
          <a:blip r:embed="rId4">
            <a:alphaModFix/>
          </a:blip>
          <a:srcRect/>
          <a:stretch/>
        </p:blipFill>
        <p:spPr>
          <a:xfrm>
            <a:off x="15910027" y="12265273"/>
            <a:ext cx="1321167" cy="375751"/>
          </a:xfrm>
          <a:prstGeom prst="rect">
            <a:avLst/>
          </a:prstGeom>
          <a:noFill/>
          <a:ln>
            <a:noFill/>
          </a:ln>
        </p:spPr>
      </p:pic>
      <p:sp>
        <p:nvSpPr>
          <p:cNvPr id="796" name="Google Shape;796;p59"/>
          <p:cNvSpPr txBox="1"/>
          <p:nvPr/>
        </p:nvSpPr>
        <p:spPr>
          <a:xfrm>
            <a:off x="1395412" y="4883212"/>
            <a:ext cx="7256395" cy="12192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200"/>
              <a:buFont typeface="Avenir"/>
              <a:buNone/>
            </a:pPr>
            <a:r>
              <a:rPr lang="en-US" sz="3200" b="0" i="0" u="none" strike="noStrike" cap="none">
                <a:solidFill>
                  <a:srgbClr val="5E5E5E"/>
                </a:solidFill>
                <a:latin typeface="Avenir"/>
                <a:ea typeface="Avenir"/>
                <a:cs typeface="Avenir"/>
                <a:sym typeface="Avenir"/>
              </a:rPr>
              <a:t>if p-value &gt; ⍺ → do not reject H</a:t>
            </a:r>
            <a:r>
              <a:rPr lang="en-US" sz="3200" b="0" i="0" u="none" strike="noStrike" cap="none" baseline="-25000">
                <a:solidFill>
                  <a:srgbClr val="5E5E5E"/>
                </a:solidFill>
                <a:latin typeface="Avenir"/>
                <a:ea typeface="Avenir"/>
                <a:cs typeface="Avenir"/>
                <a:sym typeface="Avenir"/>
              </a:rPr>
              <a:t>0</a:t>
            </a:r>
            <a:endParaRPr sz="2400" b="0" i="0" u="none" strike="noStrike" cap="none" baseline="-25000">
              <a:solidFill>
                <a:srgbClr val="5E5E5E"/>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5E5E5E"/>
              </a:buClr>
              <a:buSzPts val="3200"/>
              <a:buFont typeface="Avenir"/>
              <a:buNone/>
            </a:pPr>
            <a:r>
              <a:rPr lang="en-US" sz="3200" b="0" i="0" u="none" strike="noStrike" cap="none">
                <a:solidFill>
                  <a:srgbClr val="5E5E5E"/>
                </a:solidFill>
                <a:latin typeface="Avenir"/>
                <a:ea typeface="Avenir"/>
                <a:cs typeface="Avenir"/>
                <a:sym typeface="Avenir"/>
              </a:rPr>
              <a:t>if p-value &lt; ⍺ → reject H</a:t>
            </a:r>
            <a:r>
              <a:rPr lang="en-US" sz="3200" b="0" i="0" u="none" strike="noStrike" cap="none" baseline="-25000">
                <a:solidFill>
                  <a:srgbClr val="5E5E5E"/>
                </a:solidFill>
                <a:latin typeface="Avenir"/>
                <a:ea typeface="Avenir"/>
                <a:cs typeface="Avenir"/>
                <a:sym typeface="Avenir"/>
              </a:rPr>
              <a:t>0 </a:t>
            </a:r>
            <a:r>
              <a:rPr lang="en-US" sz="3200" b="0" i="0" u="none" strike="noStrike" cap="none">
                <a:solidFill>
                  <a:srgbClr val="5E5E5E"/>
                </a:solidFill>
                <a:latin typeface="Avenir"/>
                <a:ea typeface="Avenir"/>
                <a:cs typeface="Avenir"/>
                <a:sym typeface="Avenir"/>
              </a:rPr>
              <a:t>in favour of</a:t>
            </a:r>
            <a:r>
              <a:rPr lang="en-US" sz="3200" b="0" i="0" u="none" strike="noStrike" cap="none" baseline="-25000">
                <a:solidFill>
                  <a:srgbClr val="5E5E5E"/>
                </a:solidFill>
                <a:latin typeface="Avenir"/>
                <a:ea typeface="Avenir"/>
                <a:cs typeface="Avenir"/>
                <a:sym typeface="Avenir"/>
              </a:rPr>
              <a:t> </a:t>
            </a:r>
            <a:r>
              <a:rPr lang="en-US" sz="3200" b="0" i="0" u="none" strike="noStrike" cap="none">
                <a:solidFill>
                  <a:srgbClr val="5E5E5E"/>
                </a:solidFill>
                <a:latin typeface="Avenir"/>
                <a:ea typeface="Avenir"/>
                <a:cs typeface="Avenir"/>
                <a:sym typeface="Avenir"/>
              </a:rPr>
              <a:t>H</a:t>
            </a:r>
            <a:r>
              <a:rPr lang="en-US" sz="3200" b="0" i="0" u="none" strike="noStrike" cap="none" baseline="-25000">
                <a:solidFill>
                  <a:srgbClr val="5E5E5E"/>
                </a:solidFill>
                <a:latin typeface="Avenir"/>
                <a:ea typeface="Avenir"/>
                <a:cs typeface="Avenir"/>
                <a:sym typeface="Avenir"/>
              </a:rPr>
              <a:t>1</a:t>
            </a:r>
            <a:endParaRPr/>
          </a:p>
        </p:txBody>
      </p:sp>
      <p:sp>
        <p:nvSpPr>
          <p:cNvPr id="797" name="Google Shape;797;p59"/>
          <p:cNvSpPr txBox="1"/>
          <p:nvPr/>
        </p:nvSpPr>
        <p:spPr>
          <a:xfrm>
            <a:off x="1416006" y="6676559"/>
            <a:ext cx="9729339" cy="12192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200"/>
              <a:buFont typeface="Avenir"/>
              <a:buNone/>
            </a:pPr>
            <a:r>
              <a:rPr lang="en-US" sz="3200" b="0" i="0" u="none" strike="noStrike" cap="none">
                <a:solidFill>
                  <a:srgbClr val="5E5E5E"/>
                </a:solidFill>
                <a:latin typeface="Avenir"/>
                <a:ea typeface="Avenir"/>
                <a:cs typeface="Avenir"/>
                <a:sym typeface="Avenir"/>
              </a:rPr>
              <a:t>⍺=0.05 → the type I error, the probability of rejecting </a:t>
            </a:r>
            <a:endParaRPr/>
          </a:p>
          <a:p>
            <a:pPr marL="0" marR="0" lvl="4" indent="1828800" algn="l" rtl="0">
              <a:lnSpc>
                <a:spcPct val="100000"/>
              </a:lnSpc>
              <a:spcBef>
                <a:spcPts val="0"/>
              </a:spcBef>
              <a:spcAft>
                <a:spcPts val="0"/>
              </a:spcAft>
              <a:buClr>
                <a:srgbClr val="5E5E5E"/>
              </a:buClr>
              <a:buSzPts val="3200"/>
              <a:buFont typeface="Avenir"/>
              <a:buNone/>
            </a:pPr>
            <a:r>
              <a:rPr lang="en-US" sz="3200" b="0" i="0" u="none" strike="noStrike" cap="none">
                <a:solidFill>
                  <a:srgbClr val="5E5E5E"/>
                </a:solidFill>
                <a:latin typeface="Avenir"/>
                <a:ea typeface="Avenir"/>
                <a:cs typeface="Avenir"/>
                <a:sym typeface="Avenir"/>
              </a:rPr>
              <a:t> H</a:t>
            </a:r>
            <a:r>
              <a:rPr lang="en-US" sz="3200" b="0" i="0" u="none" strike="noStrike" cap="none" baseline="-25000">
                <a:solidFill>
                  <a:srgbClr val="5E5E5E"/>
                </a:solidFill>
                <a:latin typeface="Avenir"/>
                <a:ea typeface="Avenir"/>
                <a:cs typeface="Avenir"/>
                <a:sym typeface="Avenir"/>
              </a:rPr>
              <a:t>0</a:t>
            </a:r>
            <a:r>
              <a:rPr lang="en-US" sz="3200" b="0" i="0" u="none" strike="noStrike" cap="none">
                <a:solidFill>
                  <a:srgbClr val="5E5E5E"/>
                </a:solidFill>
                <a:latin typeface="Avenir"/>
                <a:ea typeface="Avenir"/>
                <a:cs typeface="Avenir"/>
                <a:sym typeface="Avenir"/>
              </a:rPr>
              <a:t> when H</a:t>
            </a:r>
            <a:r>
              <a:rPr lang="en-US" sz="3200" b="0" i="0" u="none" strike="noStrike" cap="none" baseline="-25000">
                <a:solidFill>
                  <a:srgbClr val="5E5E5E"/>
                </a:solidFill>
                <a:latin typeface="Avenir"/>
                <a:ea typeface="Avenir"/>
                <a:cs typeface="Avenir"/>
                <a:sym typeface="Avenir"/>
              </a:rPr>
              <a:t>0</a:t>
            </a:r>
            <a:r>
              <a:rPr lang="en-US" sz="3200" b="0" i="0" u="none" strike="noStrike" cap="none">
                <a:solidFill>
                  <a:srgbClr val="5E5E5E"/>
                </a:solidFill>
                <a:latin typeface="Avenir"/>
                <a:ea typeface="Avenir"/>
                <a:cs typeface="Avenir"/>
                <a:sym typeface="Avenir"/>
              </a:rPr>
              <a:t> is correct </a:t>
            </a:r>
            <a:endParaRPr/>
          </a:p>
        </p:txBody>
      </p:sp>
      <p:cxnSp>
        <p:nvCxnSpPr>
          <p:cNvPr id="798" name="Google Shape;798;p59"/>
          <p:cNvCxnSpPr/>
          <p:nvPr/>
        </p:nvCxnSpPr>
        <p:spPr>
          <a:xfrm rot="10800000" flipH="1">
            <a:off x="11887200" y="4103143"/>
            <a:ext cx="1" cy="8595165"/>
          </a:xfrm>
          <a:prstGeom prst="straightConnector1">
            <a:avLst/>
          </a:prstGeom>
          <a:noFill/>
          <a:ln w="25400" cap="flat" cmpd="sng">
            <a:solidFill>
              <a:srgbClr val="D5D5D5"/>
            </a:solidFill>
            <a:prstDash val="dashDot"/>
            <a:miter lim="400000"/>
            <a:headEnd type="none" w="sm" len="sm"/>
            <a:tailEnd type="none" w="sm" len="sm"/>
          </a:ln>
        </p:spPr>
      </p:cxnSp>
      <p:sp>
        <p:nvSpPr>
          <p:cNvPr id="799" name="Google Shape;799;p59"/>
          <p:cNvSpPr txBox="1"/>
          <p:nvPr/>
        </p:nvSpPr>
        <p:spPr>
          <a:xfrm>
            <a:off x="12215812" y="3755040"/>
            <a:ext cx="3247645" cy="6604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200"/>
              <a:buFont typeface="Avenir"/>
              <a:buNone/>
            </a:pPr>
            <a:r>
              <a:rPr lang="en-US" sz="3200" b="0" i="0" u="none" strike="noStrike" cap="none">
                <a:solidFill>
                  <a:srgbClr val="5E5E5E"/>
                </a:solidFill>
                <a:latin typeface="Avenir"/>
                <a:ea typeface="Avenir"/>
                <a:cs typeface="Avenir"/>
                <a:sym typeface="Avenir"/>
              </a:rPr>
              <a:t>Suppose H</a:t>
            </a:r>
            <a:r>
              <a:rPr lang="en-US" sz="3200" b="0" i="0" u="none" strike="noStrike" cap="none" baseline="-25000">
                <a:solidFill>
                  <a:srgbClr val="5E5E5E"/>
                </a:solidFill>
                <a:latin typeface="Avenir"/>
                <a:ea typeface="Avenir"/>
                <a:cs typeface="Avenir"/>
                <a:sym typeface="Avenir"/>
              </a:rPr>
              <a:t>1 </a:t>
            </a:r>
            <a:r>
              <a:rPr lang="en-US" sz="3200" b="0" i="0" u="none" strike="noStrike" cap="none">
                <a:solidFill>
                  <a:srgbClr val="5E5E5E"/>
                </a:solidFill>
                <a:latin typeface="Avenir"/>
                <a:ea typeface="Avenir"/>
                <a:cs typeface="Avenir"/>
                <a:sym typeface="Avenir"/>
              </a:rPr>
              <a:t>true: </a:t>
            </a:r>
            <a:endParaRPr/>
          </a:p>
        </p:txBody>
      </p:sp>
      <p:cxnSp>
        <p:nvCxnSpPr>
          <p:cNvPr id="800" name="Google Shape;800;p59"/>
          <p:cNvCxnSpPr/>
          <p:nvPr/>
        </p:nvCxnSpPr>
        <p:spPr>
          <a:xfrm rot="10800000" flipH="1">
            <a:off x="17218492" y="8753330"/>
            <a:ext cx="1" cy="3951585"/>
          </a:xfrm>
          <a:prstGeom prst="straightConnector1">
            <a:avLst/>
          </a:prstGeom>
          <a:noFill/>
          <a:ln w="25400" cap="flat" cmpd="sng">
            <a:solidFill>
              <a:srgbClr val="929292"/>
            </a:solidFill>
            <a:prstDash val="dashDot"/>
            <a:miter lim="400000"/>
            <a:headEnd type="none" w="sm" len="sm"/>
            <a:tailEnd type="none" w="sm" len="sm"/>
          </a:ln>
        </p:spPr>
      </p:cxnSp>
      <p:pic>
        <p:nvPicPr>
          <p:cNvPr id="801" name="Google Shape;801;p59" descr="Line Shape"/>
          <p:cNvPicPr preferRelativeResize="0"/>
          <p:nvPr/>
        </p:nvPicPr>
        <p:blipFill rotWithShape="1">
          <a:blip r:embed="rId8">
            <a:alphaModFix/>
          </a:blip>
          <a:srcRect/>
          <a:stretch/>
        </p:blipFill>
        <p:spPr>
          <a:xfrm>
            <a:off x="17136745" y="9229293"/>
            <a:ext cx="2437912" cy="3438038"/>
          </a:xfrm>
          <a:prstGeom prst="rect">
            <a:avLst/>
          </a:prstGeom>
          <a:noFill/>
          <a:ln>
            <a:noFill/>
          </a:ln>
        </p:spPr>
      </p:pic>
      <p:sp>
        <p:nvSpPr>
          <p:cNvPr id="802" name="Google Shape;802;p59"/>
          <p:cNvSpPr/>
          <p:nvPr/>
        </p:nvSpPr>
        <p:spPr>
          <a:xfrm>
            <a:off x="12891930" y="5968530"/>
            <a:ext cx="4351800" cy="3893242"/>
          </a:xfrm>
          <a:custGeom>
            <a:avLst/>
            <a:gdLst/>
            <a:ahLst/>
            <a:cxnLst/>
            <a:rect l="l" t="t" r="r" b="b"/>
            <a:pathLst>
              <a:path w="21600" h="21600" extrusionOk="0">
                <a:moveTo>
                  <a:pt x="0" y="0"/>
                </a:moveTo>
                <a:cubicBezTo>
                  <a:pt x="3278" y="13274"/>
                  <a:pt x="10478" y="20474"/>
                  <a:pt x="21600" y="21600"/>
                </a:cubicBezTo>
              </a:path>
            </a:pathLst>
          </a:custGeom>
          <a:noFill/>
          <a:ln w="25400" cap="flat" cmpd="sng">
            <a:solidFill>
              <a:srgbClr val="000000"/>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803" name="Google Shape;803;p59"/>
          <p:cNvSpPr txBox="1"/>
          <p:nvPr/>
        </p:nvSpPr>
        <p:spPr>
          <a:xfrm>
            <a:off x="12421878" y="4819203"/>
            <a:ext cx="9533049" cy="1579920"/>
          </a:xfrm>
          <a:prstGeom prst="rect">
            <a:avLst/>
          </a:prstGeom>
          <a:noFill/>
          <a:ln>
            <a:noFill/>
          </a:ln>
        </p:spPr>
        <p:txBody>
          <a:bodyPr spcFirstLastPara="1" wrap="square" lIns="50800" tIns="50800" rIns="50800" bIns="50800" anchor="ctr" anchorCtr="0">
            <a:spAutoFit/>
          </a:bodyPr>
          <a:lstStyle/>
          <a:p>
            <a:pPr lvl="0">
              <a:buClr>
                <a:srgbClr val="5E5E5E"/>
              </a:buClr>
              <a:buSzPts val="3200"/>
            </a:pPr>
            <a:r>
              <a:rPr lang="en-US" sz="3200" dirty="0">
                <a:solidFill>
                  <a:srgbClr val="5E5E5E"/>
                </a:solidFill>
                <a:latin typeface="Avenir"/>
                <a:ea typeface="Avenir"/>
                <a:cs typeface="Avenir"/>
                <a:sym typeface="Avenir"/>
              </a:rPr>
              <a:t>β</a:t>
            </a:r>
            <a:r>
              <a:rPr lang="en-US" sz="3200" b="0" i="0" u="none" strike="noStrike" cap="none" dirty="0">
                <a:solidFill>
                  <a:srgbClr val="5E5E5E"/>
                </a:solidFill>
                <a:latin typeface="Avenir"/>
                <a:ea typeface="Avenir"/>
                <a:cs typeface="Avenir"/>
                <a:sym typeface="Avenir"/>
              </a:rPr>
              <a:t> → the type II error, the probability of not rejecting </a:t>
            </a:r>
            <a:endParaRPr dirty="0"/>
          </a:p>
          <a:p>
            <a:pPr marL="0" marR="0" lvl="4" indent="1828800" algn="l" rtl="0">
              <a:lnSpc>
                <a:spcPct val="100000"/>
              </a:lnSpc>
              <a:spcBef>
                <a:spcPts val="0"/>
              </a:spcBef>
              <a:spcAft>
                <a:spcPts val="0"/>
              </a:spcAft>
              <a:buClr>
                <a:srgbClr val="5E5E5E"/>
              </a:buClr>
              <a:buSzPts val="3200"/>
              <a:buFont typeface="Avenir"/>
              <a:buNone/>
            </a:pPr>
            <a:r>
              <a:rPr lang="en-US" sz="3200" b="0" i="0" u="none" strike="noStrike" cap="none" dirty="0">
                <a:solidFill>
                  <a:srgbClr val="5E5E5E"/>
                </a:solidFill>
                <a:latin typeface="Avenir"/>
                <a:ea typeface="Avenir"/>
                <a:cs typeface="Avenir"/>
                <a:sym typeface="Avenir"/>
              </a:rPr>
              <a:t> H</a:t>
            </a:r>
            <a:r>
              <a:rPr lang="en-US" sz="3200" b="0" i="0" u="none" strike="noStrike" cap="none" baseline="-25000" dirty="0">
                <a:solidFill>
                  <a:srgbClr val="5E5E5E"/>
                </a:solidFill>
                <a:latin typeface="Avenir"/>
                <a:ea typeface="Avenir"/>
                <a:cs typeface="Avenir"/>
                <a:sym typeface="Avenir"/>
              </a:rPr>
              <a:t>0</a:t>
            </a:r>
            <a:r>
              <a:rPr lang="en-US" sz="3200" b="0" i="0" u="none" strike="noStrike" cap="none" dirty="0">
                <a:solidFill>
                  <a:srgbClr val="5E5E5E"/>
                </a:solidFill>
                <a:latin typeface="Avenir"/>
                <a:ea typeface="Avenir"/>
                <a:cs typeface="Avenir"/>
                <a:sym typeface="Avenir"/>
              </a:rPr>
              <a:t> when H</a:t>
            </a:r>
            <a:r>
              <a:rPr lang="en-US" sz="3200" b="0" i="0" u="none" strike="noStrike" cap="none" baseline="-25000" dirty="0">
                <a:solidFill>
                  <a:srgbClr val="5E5E5E"/>
                </a:solidFill>
                <a:latin typeface="Avenir"/>
                <a:ea typeface="Avenir"/>
                <a:cs typeface="Avenir"/>
                <a:sym typeface="Avenir"/>
              </a:rPr>
              <a:t>1</a:t>
            </a:r>
            <a:r>
              <a:rPr lang="en-US" sz="3200" b="0" i="0" u="none" strike="noStrike" cap="none" dirty="0">
                <a:solidFill>
                  <a:srgbClr val="5E5E5E"/>
                </a:solidFill>
                <a:latin typeface="Avenir"/>
                <a:ea typeface="Avenir"/>
                <a:cs typeface="Avenir"/>
                <a:sym typeface="Avenir"/>
              </a:rPr>
              <a:t> is correct </a:t>
            </a:r>
            <a:endParaRPr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Shape 807"/>
        <p:cNvGrpSpPr/>
        <p:nvPr/>
      </p:nvGrpSpPr>
      <p:grpSpPr>
        <a:xfrm>
          <a:off x="0" y="0"/>
          <a:ext cx="0" cy="0"/>
          <a:chOff x="0" y="0"/>
          <a:chExt cx="0" cy="0"/>
        </a:xfrm>
      </p:grpSpPr>
      <p:sp>
        <p:nvSpPr>
          <p:cNvPr id="808" name="Google Shape;808;p60"/>
          <p:cNvSpPr txBox="1">
            <a:spLocks noGrp="1"/>
          </p:cNvSpPr>
          <p:nvPr>
            <p:ph type="title" idx="4294967295"/>
          </p:nvPr>
        </p:nvSpPr>
        <p:spPr>
          <a:xfrm>
            <a:off x="0" y="1079500"/>
            <a:ext cx="21971000" cy="1433513"/>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a:latin typeface="Avenir"/>
                <a:ea typeface="Avenir"/>
                <a:cs typeface="Avenir"/>
                <a:sym typeface="Avenir"/>
              </a:rPr>
              <a:t>Type I and Type II Errors</a:t>
            </a:r>
            <a:endParaRPr/>
          </a:p>
        </p:txBody>
      </p:sp>
      <p:sp>
        <p:nvSpPr>
          <p:cNvPr id="809" name="Google Shape;809;p60"/>
          <p:cNvSpPr txBox="1"/>
          <p:nvPr/>
        </p:nvSpPr>
        <p:spPr>
          <a:xfrm>
            <a:off x="1421027" y="3190102"/>
            <a:ext cx="2545081" cy="13462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H</a:t>
            </a:r>
            <a:r>
              <a:rPr lang="en-US" sz="3600" b="0" i="0" u="none" strike="noStrike" cap="none" baseline="-25000">
                <a:solidFill>
                  <a:srgbClr val="5E5E5E"/>
                </a:solidFill>
                <a:latin typeface="Avenir"/>
                <a:ea typeface="Avenir"/>
                <a:cs typeface="Avenir"/>
                <a:sym typeface="Avenir"/>
              </a:rPr>
              <a:t>0</a:t>
            </a:r>
            <a:r>
              <a:rPr lang="en-US" sz="3600" b="0" i="0" u="none" strike="noStrike" cap="none">
                <a:solidFill>
                  <a:srgbClr val="5E5E5E"/>
                </a:solidFill>
                <a:latin typeface="Avenir"/>
                <a:ea typeface="Avenir"/>
                <a:cs typeface="Avenir"/>
                <a:sym typeface="Avenir"/>
              </a:rPr>
              <a:t>: µ = 1.2 s</a:t>
            </a:r>
            <a:endParaRPr/>
          </a:p>
          <a:p>
            <a:pPr marL="0" marR="0" lvl="0" indent="0" algn="l" rtl="0">
              <a:lnSpc>
                <a:spcPct val="100000"/>
              </a:lnSpc>
              <a:spcBef>
                <a:spcPts val="0"/>
              </a:spcBef>
              <a:spcAft>
                <a:spcPts val="0"/>
              </a:spcAft>
              <a:buClr>
                <a:srgbClr val="5E5E5E"/>
              </a:buClr>
              <a:buSzPts val="3600"/>
              <a:buFont typeface="Avenir"/>
              <a:buNone/>
            </a:pPr>
            <a:r>
              <a:rPr lang="en-US" sz="3600" b="0" i="0" u="none" strike="noStrike" cap="none">
                <a:solidFill>
                  <a:srgbClr val="5E5E5E"/>
                </a:solidFill>
                <a:latin typeface="Avenir"/>
                <a:ea typeface="Avenir"/>
                <a:cs typeface="Avenir"/>
                <a:sym typeface="Avenir"/>
              </a:rPr>
              <a:t>H</a:t>
            </a:r>
            <a:r>
              <a:rPr lang="en-US" sz="3600" b="0" i="0" u="none" strike="noStrike" cap="none" baseline="-25000">
                <a:solidFill>
                  <a:srgbClr val="5E5E5E"/>
                </a:solidFill>
                <a:latin typeface="Avenir"/>
                <a:ea typeface="Avenir"/>
                <a:cs typeface="Avenir"/>
                <a:sym typeface="Avenir"/>
              </a:rPr>
              <a:t>1</a:t>
            </a:r>
            <a:r>
              <a:rPr lang="en-US" sz="3600" b="0" i="0" u="none" strike="noStrike" cap="none">
                <a:solidFill>
                  <a:srgbClr val="5E5E5E"/>
                </a:solidFill>
                <a:latin typeface="Avenir"/>
                <a:ea typeface="Avenir"/>
                <a:cs typeface="Avenir"/>
                <a:sym typeface="Avenir"/>
              </a:rPr>
              <a:t>: µ ≠ 1.2 s</a:t>
            </a:r>
            <a:endParaRPr/>
          </a:p>
        </p:txBody>
      </p:sp>
      <p:pic>
        <p:nvPicPr>
          <p:cNvPr id="810" name="Google Shape;810;p60" descr="Image"/>
          <p:cNvPicPr preferRelativeResize="0"/>
          <p:nvPr/>
        </p:nvPicPr>
        <p:blipFill rotWithShape="1">
          <a:blip r:embed="rId3">
            <a:alphaModFix/>
          </a:blip>
          <a:srcRect l="37813" t="18895" b="12835"/>
          <a:stretch/>
        </p:blipFill>
        <p:spPr>
          <a:xfrm>
            <a:off x="1766558" y="8240508"/>
            <a:ext cx="8692573" cy="5132791"/>
          </a:xfrm>
          <a:prstGeom prst="rect">
            <a:avLst/>
          </a:prstGeom>
          <a:noFill/>
          <a:ln>
            <a:noFill/>
          </a:ln>
        </p:spPr>
      </p:pic>
      <p:cxnSp>
        <p:nvCxnSpPr>
          <p:cNvPr id="811" name="Google Shape;811;p60"/>
          <p:cNvCxnSpPr/>
          <p:nvPr/>
        </p:nvCxnSpPr>
        <p:spPr>
          <a:xfrm>
            <a:off x="1663700" y="12611344"/>
            <a:ext cx="7973403" cy="1"/>
          </a:xfrm>
          <a:prstGeom prst="straightConnector1">
            <a:avLst/>
          </a:prstGeom>
          <a:noFill/>
          <a:ln w="25400" cap="flat" cmpd="sng">
            <a:solidFill>
              <a:srgbClr val="000000"/>
            </a:solidFill>
            <a:prstDash val="solid"/>
            <a:miter lim="400000"/>
            <a:headEnd type="none" w="sm" len="sm"/>
            <a:tailEnd type="none" w="sm" len="sm"/>
          </a:ln>
        </p:spPr>
      </p:cxnSp>
      <p:sp>
        <p:nvSpPr>
          <p:cNvPr id="812" name="Google Shape;812;p60"/>
          <p:cNvSpPr txBox="1"/>
          <p:nvPr/>
        </p:nvSpPr>
        <p:spPr>
          <a:xfrm>
            <a:off x="5077326" y="12802066"/>
            <a:ext cx="1250596" cy="5207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µ = 1.2 s</a:t>
            </a:r>
            <a:endParaRPr/>
          </a:p>
        </p:txBody>
      </p:sp>
      <p:pic>
        <p:nvPicPr>
          <p:cNvPr id="813" name="Google Shape;813;p60" descr="Line Shape"/>
          <p:cNvPicPr preferRelativeResize="0"/>
          <p:nvPr/>
        </p:nvPicPr>
        <p:blipFill rotWithShape="1">
          <a:blip r:embed="rId4">
            <a:alphaModFix/>
          </a:blip>
          <a:srcRect/>
          <a:stretch/>
        </p:blipFill>
        <p:spPr>
          <a:xfrm>
            <a:off x="1992635" y="12281551"/>
            <a:ext cx="1321167" cy="375752"/>
          </a:xfrm>
          <a:prstGeom prst="rect">
            <a:avLst/>
          </a:prstGeom>
          <a:noFill/>
          <a:ln>
            <a:noFill/>
          </a:ln>
        </p:spPr>
      </p:pic>
      <p:pic>
        <p:nvPicPr>
          <p:cNvPr id="814" name="Google Shape;814;p60" descr="Line Shape"/>
          <p:cNvPicPr preferRelativeResize="0"/>
          <p:nvPr/>
        </p:nvPicPr>
        <p:blipFill rotWithShape="1">
          <a:blip r:embed="rId5">
            <a:alphaModFix/>
          </a:blip>
          <a:srcRect/>
          <a:stretch/>
        </p:blipFill>
        <p:spPr>
          <a:xfrm flipH="1">
            <a:off x="7961754" y="12286466"/>
            <a:ext cx="1321167" cy="365920"/>
          </a:xfrm>
          <a:prstGeom prst="rect">
            <a:avLst/>
          </a:prstGeom>
          <a:noFill/>
          <a:ln>
            <a:noFill/>
          </a:ln>
        </p:spPr>
      </p:pic>
      <p:pic>
        <p:nvPicPr>
          <p:cNvPr id="815" name="Google Shape;815;p60" descr="Line Line"/>
          <p:cNvPicPr preferRelativeResize="0"/>
          <p:nvPr/>
        </p:nvPicPr>
        <p:blipFill rotWithShape="1">
          <a:blip r:embed="rId6">
            <a:alphaModFix/>
          </a:blip>
          <a:srcRect/>
          <a:stretch/>
        </p:blipFill>
        <p:spPr>
          <a:xfrm rot="-5400000">
            <a:off x="2602641" y="12206358"/>
            <a:ext cx="867585" cy="143685"/>
          </a:xfrm>
          <a:prstGeom prst="rect">
            <a:avLst/>
          </a:prstGeom>
          <a:noFill/>
          <a:ln>
            <a:noFill/>
          </a:ln>
        </p:spPr>
      </p:pic>
      <p:cxnSp>
        <p:nvCxnSpPr>
          <p:cNvPr id="816" name="Google Shape;816;p60"/>
          <p:cNvCxnSpPr/>
          <p:nvPr/>
        </p:nvCxnSpPr>
        <p:spPr>
          <a:xfrm rot="10800000" flipH="1">
            <a:off x="5650401" y="12480282"/>
            <a:ext cx="1" cy="233582"/>
          </a:xfrm>
          <a:prstGeom prst="straightConnector1">
            <a:avLst/>
          </a:prstGeom>
          <a:noFill/>
          <a:ln w="25400" cap="flat" cmpd="sng">
            <a:solidFill>
              <a:srgbClr val="929292"/>
            </a:solidFill>
            <a:prstDash val="solid"/>
            <a:miter lim="400000"/>
            <a:headEnd type="none" w="sm" len="sm"/>
            <a:tailEnd type="none" w="sm" len="sm"/>
          </a:ln>
        </p:spPr>
      </p:cxnSp>
      <p:pic>
        <p:nvPicPr>
          <p:cNvPr id="817" name="Google Shape;817;p60" descr="Image"/>
          <p:cNvPicPr preferRelativeResize="0"/>
          <p:nvPr/>
        </p:nvPicPr>
        <p:blipFill rotWithShape="1">
          <a:blip r:embed="rId7">
            <a:alphaModFix/>
          </a:blip>
          <a:srcRect l="16195" r="8054" b="24268"/>
          <a:stretch/>
        </p:blipFill>
        <p:spPr>
          <a:xfrm>
            <a:off x="12640682" y="6802883"/>
            <a:ext cx="10580875" cy="5689747"/>
          </a:xfrm>
          <a:prstGeom prst="rect">
            <a:avLst/>
          </a:prstGeom>
          <a:noFill/>
          <a:ln>
            <a:noFill/>
          </a:ln>
        </p:spPr>
      </p:pic>
      <p:cxnSp>
        <p:nvCxnSpPr>
          <p:cNvPr id="818" name="Google Shape;818;p60"/>
          <p:cNvCxnSpPr/>
          <p:nvPr/>
        </p:nvCxnSpPr>
        <p:spPr>
          <a:xfrm>
            <a:off x="12259788" y="12611344"/>
            <a:ext cx="11342477" cy="1"/>
          </a:xfrm>
          <a:prstGeom prst="straightConnector1">
            <a:avLst/>
          </a:prstGeom>
          <a:noFill/>
          <a:ln w="25400" cap="flat" cmpd="sng">
            <a:solidFill>
              <a:srgbClr val="000000"/>
            </a:solidFill>
            <a:prstDash val="solid"/>
            <a:miter lim="400000"/>
            <a:headEnd type="none" w="sm" len="sm"/>
            <a:tailEnd type="none" w="sm" len="sm"/>
          </a:ln>
        </p:spPr>
      </p:cxnSp>
      <p:sp>
        <p:nvSpPr>
          <p:cNvPr id="819" name="Google Shape;819;p60"/>
          <p:cNvSpPr txBox="1"/>
          <p:nvPr/>
        </p:nvSpPr>
        <p:spPr>
          <a:xfrm>
            <a:off x="18994719" y="12785787"/>
            <a:ext cx="1250595" cy="5207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µ = 1.2 s</a:t>
            </a:r>
            <a:endParaRPr/>
          </a:p>
        </p:txBody>
      </p:sp>
      <p:pic>
        <p:nvPicPr>
          <p:cNvPr id="820" name="Google Shape;820;p60" descr="Line Shape"/>
          <p:cNvPicPr preferRelativeResize="0"/>
          <p:nvPr/>
        </p:nvPicPr>
        <p:blipFill rotWithShape="1">
          <a:blip r:embed="rId5">
            <a:alphaModFix/>
          </a:blip>
          <a:srcRect/>
          <a:stretch/>
        </p:blipFill>
        <p:spPr>
          <a:xfrm flipH="1">
            <a:off x="21879145" y="12270188"/>
            <a:ext cx="1321168" cy="365920"/>
          </a:xfrm>
          <a:prstGeom prst="rect">
            <a:avLst/>
          </a:prstGeom>
          <a:noFill/>
          <a:ln>
            <a:noFill/>
          </a:ln>
        </p:spPr>
      </p:pic>
      <p:cxnSp>
        <p:nvCxnSpPr>
          <p:cNvPr id="821" name="Google Shape;821;p60"/>
          <p:cNvCxnSpPr/>
          <p:nvPr/>
        </p:nvCxnSpPr>
        <p:spPr>
          <a:xfrm rot="10800000" flipH="1">
            <a:off x="19567792" y="12464003"/>
            <a:ext cx="1" cy="233582"/>
          </a:xfrm>
          <a:prstGeom prst="straightConnector1">
            <a:avLst/>
          </a:prstGeom>
          <a:noFill/>
          <a:ln w="25400" cap="flat" cmpd="sng">
            <a:solidFill>
              <a:srgbClr val="929292"/>
            </a:solidFill>
            <a:prstDash val="solid"/>
            <a:miter lim="400000"/>
            <a:headEnd type="none" w="sm" len="sm"/>
            <a:tailEnd type="none" w="sm" len="sm"/>
          </a:ln>
        </p:spPr>
      </p:cxnSp>
      <p:sp>
        <p:nvSpPr>
          <p:cNvPr id="822" name="Google Shape;822;p60"/>
          <p:cNvSpPr txBox="1"/>
          <p:nvPr/>
        </p:nvSpPr>
        <p:spPr>
          <a:xfrm>
            <a:off x="16076848" y="12782354"/>
            <a:ext cx="1409091" cy="5207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2400"/>
              <a:buFont typeface="Avenir"/>
              <a:buNone/>
            </a:pPr>
            <a:r>
              <a:rPr lang="en-US" sz="2400" b="0" i="0" u="none" strike="noStrike" cap="none">
                <a:solidFill>
                  <a:srgbClr val="5E5E5E"/>
                </a:solidFill>
                <a:latin typeface="Avenir"/>
                <a:ea typeface="Avenir"/>
                <a:cs typeface="Avenir"/>
                <a:sym typeface="Avenir"/>
              </a:rPr>
              <a:t>µ = 1.05 s</a:t>
            </a:r>
            <a:endParaRPr/>
          </a:p>
        </p:txBody>
      </p:sp>
      <p:cxnSp>
        <p:nvCxnSpPr>
          <p:cNvPr id="823" name="Google Shape;823;p60"/>
          <p:cNvCxnSpPr/>
          <p:nvPr/>
        </p:nvCxnSpPr>
        <p:spPr>
          <a:xfrm rot="10800000" flipH="1">
            <a:off x="16781394" y="12460571"/>
            <a:ext cx="1" cy="233581"/>
          </a:xfrm>
          <a:prstGeom prst="straightConnector1">
            <a:avLst/>
          </a:prstGeom>
          <a:noFill/>
          <a:ln w="25400" cap="flat" cmpd="sng">
            <a:solidFill>
              <a:srgbClr val="929292"/>
            </a:solidFill>
            <a:prstDash val="solid"/>
            <a:miter lim="400000"/>
            <a:headEnd type="none" w="sm" len="sm"/>
            <a:tailEnd type="none" w="sm" len="sm"/>
          </a:ln>
        </p:spPr>
      </p:cxnSp>
      <p:sp>
        <p:nvSpPr>
          <p:cNvPr id="824" name="Google Shape;824;p60"/>
          <p:cNvSpPr txBox="1"/>
          <p:nvPr/>
        </p:nvSpPr>
        <p:spPr>
          <a:xfrm>
            <a:off x="1395412" y="4883212"/>
            <a:ext cx="7256395" cy="12192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200"/>
              <a:buFont typeface="Avenir"/>
              <a:buNone/>
            </a:pPr>
            <a:r>
              <a:rPr lang="en-US" sz="3200" b="0" i="0" u="none" strike="noStrike" cap="none">
                <a:solidFill>
                  <a:srgbClr val="5E5E5E"/>
                </a:solidFill>
                <a:latin typeface="Avenir"/>
                <a:ea typeface="Avenir"/>
                <a:cs typeface="Avenir"/>
                <a:sym typeface="Avenir"/>
              </a:rPr>
              <a:t>if p-value &gt; ⍺ → do not reject H</a:t>
            </a:r>
            <a:r>
              <a:rPr lang="en-US" sz="3200" b="0" i="0" u="none" strike="noStrike" cap="none" baseline="-25000">
                <a:solidFill>
                  <a:srgbClr val="5E5E5E"/>
                </a:solidFill>
                <a:latin typeface="Avenir"/>
                <a:ea typeface="Avenir"/>
                <a:cs typeface="Avenir"/>
                <a:sym typeface="Avenir"/>
              </a:rPr>
              <a:t>0</a:t>
            </a:r>
            <a:endParaRPr sz="2400" b="0" i="0" u="none" strike="noStrike" cap="none" baseline="-25000">
              <a:solidFill>
                <a:srgbClr val="5E5E5E"/>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5E5E5E"/>
              </a:buClr>
              <a:buSzPts val="3200"/>
              <a:buFont typeface="Avenir"/>
              <a:buNone/>
            </a:pPr>
            <a:r>
              <a:rPr lang="en-US" sz="3200" b="0" i="0" u="none" strike="noStrike" cap="none">
                <a:solidFill>
                  <a:srgbClr val="5E5E5E"/>
                </a:solidFill>
                <a:latin typeface="Avenir"/>
                <a:ea typeface="Avenir"/>
                <a:cs typeface="Avenir"/>
                <a:sym typeface="Avenir"/>
              </a:rPr>
              <a:t>if p-value &lt; ⍺ → reject H</a:t>
            </a:r>
            <a:r>
              <a:rPr lang="en-US" sz="3200" b="0" i="0" u="none" strike="noStrike" cap="none" baseline="-25000">
                <a:solidFill>
                  <a:srgbClr val="5E5E5E"/>
                </a:solidFill>
                <a:latin typeface="Avenir"/>
                <a:ea typeface="Avenir"/>
                <a:cs typeface="Avenir"/>
                <a:sym typeface="Avenir"/>
              </a:rPr>
              <a:t>0 </a:t>
            </a:r>
            <a:r>
              <a:rPr lang="en-US" sz="3200" b="0" i="0" u="none" strike="noStrike" cap="none">
                <a:solidFill>
                  <a:srgbClr val="5E5E5E"/>
                </a:solidFill>
                <a:latin typeface="Avenir"/>
                <a:ea typeface="Avenir"/>
                <a:cs typeface="Avenir"/>
                <a:sym typeface="Avenir"/>
              </a:rPr>
              <a:t>in favour of</a:t>
            </a:r>
            <a:r>
              <a:rPr lang="en-US" sz="3200" b="0" i="0" u="none" strike="noStrike" cap="none" baseline="-25000">
                <a:solidFill>
                  <a:srgbClr val="5E5E5E"/>
                </a:solidFill>
                <a:latin typeface="Avenir"/>
                <a:ea typeface="Avenir"/>
                <a:cs typeface="Avenir"/>
                <a:sym typeface="Avenir"/>
              </a:rPr>
              <a:t> </a:t>
            </a:r>
            <a:r>
              <a:rPr lang="en-US" sz="3200" b="0" i="0" u="none" strike="noStrike" cap="none">
                <a:solidFill>
                  <a:srgbClr val="5E5E5E"/>
                </a:solidFill>
                <a:latin typeface="Avenir"/>
                <a:ea typeface="Avenir"/>
                <a:cs typeface="Avenir"/>
                <a:sym typeface="Avenir"/>
              </a:rPr>
              <a:t>H</a:t>
            </a:r>
            <a:r>
              <a:rPr lang="en-US" sz="3200" b="0" i="0" u="none" strike="noStrike" cap="none" baseline="-25000">
                <a:solidFill>
                  <a:srgbClr val="5E5E5E"/>
                </a:solidFill>
                <a:latin typeface="Avenir"/>
                <a:ea typeface="Avenir"/>
                <a:cs typeface="Avenir"/>
                <a:sym typeface="Avenir"/>
              </a:rPr>
              <a:t>1</a:t>
            </a:r>
            <a:endParaRPr/>
          </a:p>
        </p:txBody>
      </p:sp>
      <p:sp>
        <p:nvSpPr>
          <p:cNvPr id="825" name="Google Shape;825;p60"/>
          <p:cNvSpPr txBox="1"/>
          <p:nvPr/>
        </p:nvSpPr>
        <p:spPr>
          <a:xfrm>
            <a:off x="1416006" y="6676559"/>
            <a:ext cx="9729339" cy="12192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200"/>
              <a:buFont typeface="Avenir"/>
              <a:buNone/>
            </a:pPr>
            <a:r>
              <a:rPr lang="en-US" sz="3200" b="0" i="0" u="none" strike="noStrike" cap="none">
                <a:solidFill>
                  <a:srgbClr val="5E5E5E"/>
                </a:solidFill>
                <a:latin typeface="Avenir"/>
                <a:ea typeface="Avenir"/>
                <a:cs typeface="Avenir"/>
                <a:sym typeface="Avenir"/>
              </a:rPr>
              <a:t>⍺=0.05 → the type I error, the probability of rejecting </a:t>
            </a:r>
            <a:endParaRPr/>
          </a:p>
          <a:p>
            <a:pPr marL="0" marR="0" lvl="4" indent="1828800" algn="l" rtl="0">
              <a:lnSpc>
                <a:spcPct val="100000"/>
              </a:lnSpc>
              <a:spcBef>
                <a:spcPts val="0"/>
              </a:spcBef>
              <a:spcAft>
                <a:spcPts val="0"/>
              </a:spcAft>
              <a:buClr>
                <a:srgbClr val="5E5E5E"/>
              </a:buClr>
              <a:buSzPts val="3200"/>
              <a:buFont typeface="Avenir"/>
              <a:buNone/>
            </a:pPr>
            <a:r>
              <a:rPr lang="en-US" sz="3200" b="0" i="0" u="none" strike="noStrike" cap="none">
                <a:solidFill>
                  <a:srgbClr val="5E5E5E"/>
                </a:solidFill>
                <a:latin typeface="Avenir"/>
                <a:ea typeface="Avenir"/>
                <a:cs typeface="Avenir"/>
                <a:sym typeface="Avenir"/>
              </a:rPr>
              <a:t> H</a:t>
            </a:r>
            <a:r>
              <a:rPr lang="en-US" sz="3200" b="0" i="0" u="none" strike="noStrike" cap="none" baseline="-25000">
                <a:solidFill>
                  <a:srgbClr val="5E5E5E"/>
                </a:solidFill>
                <a:latin typeface="Avenir"/>
                <a:ea typeface="Avenir"/>
                <a:cs typeface="Avenir"/>
                <a:sym typeface="Avenir"/>
              </a:rPr>
              <a:t>0</a:t>
            </a:r>
            <a:r>
              <a:rPr lang="en-US" sz="3200" b="0" i="0" u="none" strike="noStrike" cap="none">
                <a:solidFill>
                  <a:srgbClr val="5E5E5E"/>
                </a:solidFill>
                <a:latin typeface="Avenir"/>
                <a:ea typeface="Avenir"/>
                <a:cs typeface="Avenir"/>
                <a:sym typeface="Avenir"/>
              </a:rPr>
              <a:t> when H</a:t>
            </a:r>
            <a:r>
              <a:rPr lang="en-US" sz="3200" b="0" i="0" u="none" strike="noStrike" cap="none" baseline="-25000">
                <a:solidFill>
                  <a:srgbClr val="5E5E5E"/>
                </a:solidFill>
                <a:latin typeface="Avenir"/>
                <a:ea typeface="Avenir"/>
                <a:cs typeface="Avenir"/>
                <a:sym typeface="Avenir"/>
              </a:rPr>
              <a:t>0</a:t>
            </a:r>
            <a:r>
              <a:rPr lang="en-US" sz="3200" b="0" i="0" u="none" strike="noStrike" cap="none">
                <a:solidFill>
                  <a:srgbClr val="5E5E5E"/>
                </a:solidFill>
                <a:latin typeface="Avenir"/>
                <a:ea typeface="Avenir"/>
                <a:cs typeface="Avenir"/>
                <a:sym typeface="Avenir"/>
              </a:rPr>
              <a:t> is correct </a:t>
            </a:r>
            <a:endParaRPr/>
          </a:p>
        </p:txBody>
      </p:sp>
      <p:cxnSp>
        <p:nvCxnSpPr>
          <p:cNvPr id="826" name="Google Shape;826;p60"/>
          <p:cNvCxnSpPr/>
          <p:nvPr/>
        </p:nvCxnSpPr>
        <p:spPr>
          <a:xfrm rot="10800000" flipH="1">
            <a:off x="11887200" y="4103143"/>
            <a:ext cx="1" cy="8595165"/>
          </a:xfrm>
          <a:prstGeom prst="straightConnector1">
            <a:avLst/>
          </a:prstGeom>
          <a:noFill/>
          <a:ln w="25400" cap="flat" cmpd="sng">
            <a:solidFill>
              <a:srgbClr val="D5D5D5"/>
            </a:solidFill>
            <a:prstDash val="dashDot"/>
            <a:miter lim="400000"/>
            <a:headEnd type="none" w="sm" len="sm"/>
            <a:tailEnd type="none" w="sm" len="sm"/>
          </a:ln>
        </p:spPr>
      </p:cxnSp>
      <p:sp>
        <p:nvSpPr>
          <p:cNvPr id="827" name="Google Shape;827;p60"/>
          <p:cNvSpPr txBox="1"/>
          <p:nvPr/>
        </p:nvSpPr>
        <p:spPr>
          <a:xfrm>
            <a:off x="12215812" y="3755040"/>
            <a:ext cx="3247645" cy="6604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200"/>
              <a:buFont typeface="Avenir"/>
              <a:buNone/>
            </a:pPr>
            <a:r>
              <a:rPr lang="en-US" sz="3200" b="0" i="0" u="none" strike="noStrike" cap="none">
                <a:solidFill>
                  <a:srgbClr val="5E5E5E"/>
                </a:solidFill>
                <a:latin typeface="Avenir"/>
                <a:ea typeface="Avenir"/>
                <a:cs typeface="Avenir"/>
                <a:sym typeface="Avenir"/>
              </a:rPr>
              <a:t>Suppose H</a:t>
            </a:r>
            <a:r>
              <a:rPr lang="en-US" sz="3200" b="0" i="0" u="none" strike="noStrike" cap="none" baseline="-25000">
                <a:solidFill>
                  <a:srgbClr val="5E5E5E"/>
                </a:solidFill>
                <a:latin typeface="Avenir"/>
                <a:ea typeface="Avenir"/>
                <a:cs typeface="Avenir"/>
                <a:sym typeface="Avenir"/>
              </a:rPr>
              <a:t>1 </a:t>
            </a:r>
            <a:r>
              <a:rPr lang="en-US" sz="3200" b="0" i="0" u="none" strike="noStrike" cap="none">
                <a:solidFill>
                  <a:srgbClr val="5E5E5E"/>
                </a:solidFill>
                <a:latin typeface="Avenir"/>
                <a:ea typeface="Avenir"/>
                <a:cs typeface="Avenir"/>
                <a:sym typeface="Avenir"/>
              </a:rPr>
              <a:t>true: </a:t>
            </a:r>
            <a:endParaRPr/>
          </a:p>
        </p:txBody>
      </p:sp>
      <p:cxnSp>
        <p:nvCxnSpPr>
          <p:cNvPr id="828" name="Google Shape;828;p60"/>
          <p:cNvCxnSpPr/>
          <p:nvPr/>
        </p:nvCxnSpPr>
        <p:spPr>
          <a:xfrm rot="10800000" flipH="1">
            <a:off x="17218492" y="8753330"/>
            <a:ext cx="1" cy="3951585"/>
          </a:xfrm>
          <a:prstGeom prst="straightConnector1">
            <a:avLst/>
          </a:prstGeom>
          <a:noFill/>
          <a:ln w="25400" cap="flat" cmpd="sng">
            <a:solidFill>
              <a:srgbClr val="929292"/>
            </a:solidFill>
            <a:prstDash val="dashDot"/>
            <a:miter lim="400000"/>
            <a:headEnd type="none" w="sm" len="sm"/>
            <a:tailEnd type="none" w="sm" len="sm"/>
          </a:ln>
        </p:spPr>
      </p:cxnSp>
      <p:pic>
        <p:nvPicPr>
          <p:cNvPr id="829" name="Google Shape;829;p60" descr="Line Shape"/>
          <p:cNvPicPr preferRelativeResize="0"/>
          <p:nvPr/>
        </p:nvPicPr>
        <p:blipFill rotWithShape="1">
          <a:blip r:embed="rId8">
            <a:alphaModFix/>
          </a:blip>
          <a:srcRect/>
          <a:stretch/>
        </p:blipFill>
        <p:spPr>
          <a:xfrm>
            <a:off x="17136745" y="9229293"/>
            <a:ext cx="2437912" cy="3438038"/>
          </a:xfrm>
          <a:prstGeom prst="rect">
            <a:avLst/>
          </a:prstGeom>
          <a:noFill/>
          <a:ln>
            <a:noFill/>
          </a:ln>
        </p:spPr>
      </p:pic>
      <p:sp>
        <p:nvSpPr>
          <p:cNvPr id="830" name="Google Shape;830;p60"/>
          <p:cNvSpPr txBox="1"/>
          <p:nvPr/>
        </p:nvSpPr>
        <p:spPr>
          <a:xfrm>
            <a:off x="12421878" y="4819203"/>
            <a:ext cx="9432345" cy="1579920"/>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5E5E5E"/>
              </a:buClr>
              <a:buSzPts val="3200"/>
              <a:buFont typeface="Avenir"/>
              <a:buNone/>
            </a:pPr>
            <a:r>
              <a:rPr lang="en-US" sz="3200" dirty="0">
                <a:solidFill>
                  <a:srgbClr val="5E5E5E"/>
                </a:solidFill>
                <a:latin typeface="Avenir"/>
                <a:ea typeface="Avenir"/>
                <a:cs typeface="Avenir"/>
                <a:sym typeface="Avenir"/>
              </a:rPr>
              <a:t>β</a:t>
            </a:r>
            <a:r>
              <a:rPr lang="en-US" sz="3200" b="0" i="0" u="none" strike="noStrike" cap="none" dirty="0">
                <a:solidFill>
                  <a:srgbClr val="5E5E5E"/>
                </a:solidFill>
                <a:latin typeface="Avenir"/>
                <a:ea typeface="Avenir"/>
                <a:cs typeface="Avenir"/>
                <a:sym typeface="Avenir"/>
              </a:rPr>
              <a:t> → the type II error, the probability of not rejecting</a:t>
            </a:r>
            <a:endParaRPr dirty="0"/>
          </a:p>
          <a:p>
            <a:pPr marL="0" marR="0" lvl="2" indent="914400" algn="l" rtl="0">
              <a:lnSpc>
                <a:spcPct val="100000"/>
              </a:lnSpc>
              <a:spcBef>
                <a:spcPts val="0"/>
              </a:spcBef>
              <a:spcAft>
                <a:spcPts val="0"/>
              </a:spcAft>
              <a:buClr>
                <a:srgbClr val="5E5E5E"/>
              </a:buClr>
              <a:buSzPts val="3200"/>
              <a:buFont typeface="Avenir"/>
              <a:buNone/>
            </a:pPr>
            <a:r>
              <a:rPr lang="en-US" sz="3200" b="0" i="0" u="none" strike="noStrike" cap="none" dirty="0">
                <a:solidFill>
                  <a:srgbClr val="5E5E5E"/>
                </a:solidFill>
                <a:latin typeface="Avenir"/>
                <a:ea typeface="Avenir"/>
                <a:cs typeface="Avenir"/>
                <a:sym typeface="Avenir"/>
              </a:rPr>
              <a:t>H</a:t>
            </a:r>
            <a:r>
              <a:rPr lang="en-US" sz="3200" b="0" i="0" u="none" strike="noStrike" cap="none" baseline="-25000" dirty="0">
                <a:solidFill>
                  <a:srgbClr val="5E5E5E"/>
                </a:solidFill>
                <a:latin typeface="Avenir"/>
                <a:ea typeface="Avenir"/>
                <a:cs typeface="Avenir"/>
                <a:sym typeface="Avenir"/>
              </a:rPr>
              <a:t>0</a:t>
            </a:r>
            <a:r>
              <a:rPr lang="en-US" sz="3200" b="0" i="0" u="none" strike="noStrike" cap="none" dirty="0">
                <a:solidFill>
                  <a:srgbClr val="5E5E5E"/>
                </a:solidFill>
                <a:latin typeface="Avenir"/>
                <a:ea typeface="Avenir"/>
                <a:cs typeface="Avenir"/>
                <a:sym typeface="Avenir"/>
              </a:rPr>
              <a:t> when H</a:t>
            </a:r>
            <a:r>
              <a:rPr lang="en-US" sz="3200" b="0" i="0" u="none" strike="noStrike" cap="none" baseline="-25000" dirty="0">
                <a:solidFill>
                  <a:srgbClr val="5E5E5E"/>
                </a:solidFill>
                <a:latin typeface="Avenir"/>
                <a:ea typeface="Avenir"/>
                <a:cs typeface="Avenir"/>
                <a:sym typeface="Avenir"/>
              </a:rPr>
              <a:t>1</a:t>
            </a:r>
            <a:r>
              <a:rPr lang="en-US" sz="3200" b="0" i="0" u="none" strike="noStrike" cap="none" dirty="0">
                <a:solidFill>
                  <a:srgbClr val="5E5E5E"/>
                </a:solidFill>
                <a:latin typeface="Avenir"/>
                <a:ea typeface="Avenir"/>
                <a:cs typeface="Avenir"/>
                <a:sym typeface="Avenir"/>
              </a:rPr>
              <a:t> is correct </a:t>
            </a:r>
            <a:endParaRPr dirty="0"/>
          </a:p>
        </p:txBody>
      </p:sp>
      <p:pic>
        <p:nvPicPr>
          <p:cNvPr id="831" name="Google Shape;831;p60" descr="Line Shape"/>
          <p:cNvPicPr preferRelativeResize="0"/>
          <p:nvPr/>
        </p:nvPicPr>
        <p:blipFill rotWithShape="1">
          <a:blip r:embed="rId9">
            <a:alphaModFix/>
          </a:blip>
          <a:srcRect/>
          <a:stretch/>
        </p:blipFill>
        <p:spPr>
          <a:xfrm>
            <a:off x="12521773" y="8375013"/>
            <a:ext cx="4830838" cy="4328042"/>
          </a:xfrm>
          <a:prstGeom prst="rect">
            <a:avLst/>
          </a:prstGeom>
          <a:noFill/>
          <a:ln>
            <a:noFill/>
          </a:ln>
        </p:spPr>
      </p:pic>
      <p:sp>
        <p:nvSpPr>
          <p:cNvPr id="832" name="Google Shape;832;p60"/>
          <p:cNvSpPr txBox="1"/>
          <p:nvPr/>
        </p:nvSpPr>
        <p:spPr>
          <a:xfrm>
            <a:off x="12389012" y="6207796"/>
            <a:ext cx="9950098" cy="1579920"/>
          </a:xfrm>
          <a:prstGeom prst="rect">
            <a:avLst/>
          </a:prstGeom>
          <a:noFill/>
          <a:ln>
            <a:noFill/>
          </a:ln>
        </p:spPr>
        <p:txBody>
          <a:bodyPr spcFirstLastPara="1" wrap="square" lIns="50800" tIns="50800" rIns="50800" bIns="50800" anchor="ctr" anchorCtr="0">
            <a:spAutoFit/>
          </a:bodyPr>
          <a:lstStyle/>
          <a:p>
            <a:pPr lvl="0">
              <a:buClr>
                <a:srgbClr val="5E5E5E"/>
              </a:buClr>
              <a:buSzPts val="3200"/>
            </a:pPr>
            <a:r>
              <a:rPr lang="en-US" sz="3200" b="0" i="0" u="none" strike="noStrike" cap="none" dirty="0">
                <a:solidFill>
                  <a:srgbClr val="5E5E5E"/>
                </a:solidFill>
                <a:latin typeface="Avenir"/>
                <a:ea typeface="Avenir"/>
                <a:cs typeface="Avenir"/>
                <a:sym typeface="Avenir"/>
              </a:rPr>
              <a:t>1- </a:t>
            </a:r>
            <a:r>
              <a:rPr lang="en-US" sz="3200" dirty="0">
                <a:solidFill>
                  <a:srgbClr val="5E5E5E"/>
                </a:solidFill>
                <a:latin typeface="Avenir"/>
                <a:ea typeface="Avenir"/>
                <a:cs typeface="Avenir"/>
                <a:sym typeface="Avenir"/>
              </a:rPr>
              <a:t>β</a:t>
            </a:r>
            <a:r>
              <a:rPr lang="en-US" sz="3200" b="0" i="0" u="none" strike="noStrike" cap="none" dirty="0">
                <a:solidFill>
                  <a:srgbClr val="5E5E5E"/>
                </a:solidFill>
                <a:latin typeface="Avenir"/>
                <a:ea typeface="Avenir"/>
                <a:cs typeface="Avenir"/>
                <a:sym typeface="Avenir"/>
              </a:rPr>
              <a:t> → Power is the probability that we actually detect </a:t>
            </a:r>
            <a:endParaRPr dirty="0"/>
          </a:p>
          <a:p>
            <a:pPr marL="0" marR="0" lvl="0" indent="0" algn="l" rtl="0">
              <a:lnSpc>
                <a:spcPct val="100000"/>
              </a:lnSpc>
              <a:spcBef>
                <a:spcPts val="0"/>
              </a:spcBef>
              <a:spcAft>
                <a:spcPts val="0"/>
              </a:spcAft>
              <a:buClr>
                <a:srgbClr val="5E5E5E"/>
              </a:buClr>
              <a:buSzPts val="3200"/>
              <a:buFont typeface="Avenir"/>
              <a:buNone/>
            </a:pPr>
            <a:r>
              <a:rPr lang="en-US" sz="3200" b="0" i="0" u="none" strike="noStrike" cap="none" dirty="0">
                <a:solidFill>
                  <a:srgbClr val="5E5E5E"/>
                </a:solidFill>
                <a:latin typeface="Avenir"/>
                <a:ea typeface="Avenir"/>
                <a:cs typeface="Avenir"/>
                <a:sym typeface="Avenir"/>
              </a:rPr>
              <a:t>an effect that exists</a:t>
            </a:r>
            <a:endParaRPr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Shape 836"/>
        <p:cNvGrpSpPr/>
        <p:nvPr/>
      </p:nvGrpSpPr>
      <p:grpSpPr>
        <a:xfrm>
          <a:off x="0" y="0"/>
          <a:ext cx="0" cy="0"/>
          <a:chOff x="0" y="0"/>
          <a:chExt cx="0" cy="0"/>
        </a:xfrm>
      </p:grpSpPr>
      <p:sp>
        <p:nvSpPr>
          <p:cNvPr id="837" name="Google Shape;837;p61"/>
          <p:cNvSpPr/>
          <p:nvPr/>
        </p:nvSpPr>
        <p:spPr>
          <a:xfrm>
            <a:off x="2073593" y="3787261"/>
            <a:ext cx="8187156" cy="8187156"/>
          </a:xfrm>
          <a:custGeom>
            <a:avLst/>
            <a:gdLst/>
            <a:ahLst/>
            <a:cxnLst/>
            <a:rect l="l" t="t" r="r" b="b"/>
            <a:pathLst>
              <a:path w="21600" h="21600" extrusionOk="0">
                <a:moveTo>
                  <a:pt x="0" y="10800"/>
                </a:moveTo>
                <a:lnTo>
                  <a:pt x="10800" y="21600"/>
                </a:lnTo>
                <a:lnTo>
                  <a:pt x="21600" y="10800"/>
                </a:lnTo>
                <a:lnTo>
                  <a:pt x="10800" y="0"/>
                </a:lnTo>
                <a:close/>
              </a:path>
            </a:pathLst>
          </a:custGeom>
          <a:solidFill>
            <a:srgbClr val="D5D5D5"/>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838" name="Google Shape;838;p61"/>
          <p:cNvSpPr/>
          <p:nvPr/>
        </p:nvSpPr>
        <p:spPr>
          <a:xfrm>
            <a:off x="2792336" y="4466074"/>
            <a:ext cx="3325467" cy="3325467"/>
          </a:xfrm>
          <a:prstGeom prst="roundRect">
            <a:avLst>
              <a:gd name="adj" fmla="val 15000"/>
            </a:avLst>
          </a:prstGeom>
          <a:solidFill>
            <a:srgbClr val="929292"/>
          </a:solidFill>
          <a:ln w="38100" cap="flat" cmpd="sng">
            <a:solidFill>
              <a:srgbClr val="FFFFFF"/>
            </a:solidFill>
            <a:prstDash val="solid"/>
            <a:miter lim="400000"/>
            <a:headEnd type="none" w="sm" len="sm"/>
            <a:tailEnd type="none" w="sm" len="sm"/>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Avenir"/>
              <a:buNone/>
            </a:pPr>
            <a:r>
              <a:rPr lang="en-US" sz="3200" b="0" i="0" u="none" strike="noStrike" cap="none">
                <a:solidFill>
                  <a:srgbClr val="FFFFFF"/>
                </a:solidFill>
                <a:latin typeface="Avenir"/>
                <a:ea typeface="Avenir"/>
                <a:cs typeface="Avenir"/>
                <a:sym typeface="Avenir"/>
              </a:rPr>
              <a:t>Effect Size (δ) </a:t>
            </a:r>
            <a:endParaRPr/>
          </a:p>
        </p:txBody>
      </p:sp>
      <p:sp>
        <p:nvSpPr>
          <p:cNvPr id="839" name="Google Shape;839;p61"/>
          <p:cNvSpPr/>
          <p:nvPr/>
        </p:nvSpPr>
        <p:spPr>
          <a:xfrm>
            <a:off x="6333362" y="4466074"/>
            <a:ext cx="3325467" cy="3325467"/>
          </a:xfrm>
          <a:prstGeom prst="roundRect">
            <a:avLst>
              <a:gd name="adj" fmla="val 15000"/>
            </a:avLst>
          </a:prstGeom>
          <a:solidFill>
            <a:srgbClr val="929292"/>
          </a:solidFill>
          <a:ln w="38100" cap="flat" cmpd="sng">
            <a:solidFill>
              <a:srgbClr val="FFFFFF"/>
            </a:solidFill>
            <a:prstDash val="solid"/>
            <a:miter lim="400000"/>
            <a:headEnd type="none" w="sm" len="sm"/>
            <a:tailEnd type="none" w="sm" len="sm"/>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Avenir"/>
              <a:buNone/>
            </a:pPr>
            <a:r>
              <a:rPr lang="en-US" sz="3200" b="0" i="0" u="none" strike="noStrike" cap="none">
                <a:solidFill>
                  <a:srgbClr val="FFFFFF"/>
                </a:solidFill>
                <a:latin typeface="Avenir"/>
                <a:ea typeface="Avenir"/>
                <a:cs typeface="Avenir"/>
                <a:sym typeface="Avenir"/>
              </a:rPr>
              <a:t>Sample Size (n)</a:t>
            </a:r>
            <a:endParaRPr/>
          </a:p>
        </p:txBody>
      </p:sp>
      <p:sp>
        <p:nvSpPr>
          <p:cNvPr id="840" name="Google Shape;840;p61"/>
          <p:cNvSpPr/>
          <p:nvPr/>
        </p:nvSpPr>
        <p:spPr>
          <a:xfrm>
            <a:off x="2792336" y="7947204"/>
            <a:ext cx="3325467" cy="3325467"/>
          </a:xfrm>
          <a:prstGeom prst="roundRect">
            <a:avLst>
              <a:gd name="adj" fmla="val 15000"/>
            </a:avLst>
          </a:prstGeom>
          <a:solidFill>
            <a:srgbClr val="929292"/>
          </a:solidFill>
          <a:ln w="38100" cap="flat" cmpd="sng">
            <a:solidFill>
              <a:srgbClr val="FFFFFF"/>
            </a:solidFill>
            <a:prstDash val="solid"/>
            <a:miter lim="400000"/>
            <a:headEnd type="none" w="sm" len="sm"/>
            <a:tailEnd type="none" w="sm" len="sm"/>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Avenir"/>
              <a:buNone/>
            </a:pPr>
            <a:r>
              <a:rPr lang="en-US" sz="3200" b="0" i="0" u="none" strike="noStrike" cap="none">
                <a:solidFill>
                  <a:srgbClr val="FFFFFF"/>
                </a:solidFill>
                <a:latin typeface="Avenir"/>
                <a:ea typeface="Avenir"/>
                <a:cs typeface="Avenir"/>
                <a:sym typeface="Avenir"/>
              </a:rPr>
              <a:t>Significance Level (⍺)</a:t>
            </a:r>
            <a:endParaRPr/>
          </a:p>
        </p:txBody>
      </p:sp>
      <p:sp>
        <p:nvSpPr>
          <p:cNvPr id="841" name="Google Shape;841;p61"/>
          <p:cNvSpPr/>
          <p:nvPr/>
        </p:nvSpPr>
        <p:spPr>
          <a:xfrm>
            <a:off x="6333362" y="7947204"/>
            <a:ext cx="3325467" cy="3325467"/>
          </a:xfrm>
          <a:prstGeom prst="roundRect">
            <a:avLst>
              <a:gd name="adj" fmla="val 15000"/>
            </a:avLst>
          </a:prstGeom>
          <a:solidFill>
            <a:srgbClr val="929292"/>
          </a:solidFill>
          <a:ln w="38100" cap="flat" cmpd="sng">
            <a:solidFill>
              <a:srgbClr val="FFFFFF"/>
            </a:solidFill>
            <a:prstDash val="solid"/>
            <a:miter lim="400000"/>
            <a:headEnd type="none" w="sm" len="sm"/>
            <a:tailEnd type="none" w="sm" len="sm"/>
          </a:ln>
        </p:spPr>
        <p:txBody>
          <a:bodyPr spcFirstLastPara="1" wrap="square" lIns="50800" tIns="50800" rIns="50800" bIns="50800" anchor="ctr" anchorCtr="0">
            <a:noAutofit/>
          </a:bodyPr>
          <a:lstStyle/>
          <a:p>
            <a:pPr lvl="0" algn="ctr">
              <a:buClr>
                <a:srgbClr val="FFFFFF"/>
              </a:buClr>
              <a:buSzPts val="3200"/>
            </a:pPr>
            <a:r>
              <a:rPr lang="en-US" sz="3200" b="0" i="0" u="none" strike="noStrike" cap="none" dirty="0">
                <a:solidFill>
                  <a:srgbClr val="FFFFFF"/>
                </a:solidFill>
                <a:latin typeface="Avenir"/>
                <a:ea typeface="Avenir"/>
                <a:cs typeface="Avenir"/>
                <a:sym typeface="Avenir"/>
              </a:rPr>
              <a:t>Power (1 − </a:t>
            </a:r>
            <a:r>
              <a:rPr lang="en-US" sz="3200" dirty="0">
                <a:solidFill>
                  <a:schemeClr val="bg1"/>
                </a:solidFill>
                <a:latin typeface="Avenir"/>
                <a:ea typeface="Avenir"/>
                <a:cs typeface="Avenir"/>
                <a:sym typeface="Avenir"/>
              </a:rPr>
              <a:t>β</a:t>
            </a:r>
            <a:r>
              <a:rPr lang="en-US" sz="3200" b="0" i="0" u="none" strike="noStrike" cap="none" dirty="0">
                <a:solidFill>
                  <a:srgbClr val="FFFFFF"/>
                </a:solidFill>
                <a:latin typeface="Avenir"/>
                <a:ea typeface="Avenir"/>
                <a:cs typeface="Avenir"/>
                <a:sym typeface="Avenir"/>
              </a:rPr>
              <a:t>)</a:t>
            </a:r>
            <a:endParaRPr dirty="0"/>
          </a:p>
        </p:txBody>
      </p:sp>
      <p:sp>
        <p:nvSpPr>
          <p:cNvPr id="842" name="Google Shape;842;p61"/>
          <p:cNvSpPr txBox="1">
            <a:spLocks noGrp="1"/>
          </p:cNvSpPr>
          <p:nvPr>
            <p:ph type="title" idx="4294967295"/>
          </p:nvPr>
        </p:nvSpPr>
        <p:spPr>
          <a:xfrm>
            <a:off x="0" y="1079500"/>
            <a:ext cx="21971000" cy="1433513"/>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a:latin typeface="Avenir"/>
                <a:ea typeface="Avenir"/>
                <a:cs typeface="Avenir"/>
                <a:sym typeface="Avenir"/>
              </a:rPr>
              <a:t>Power Analysis</a:t>
            </a:r>
            <a:endParaRPr/>
          </a:p>
        </p:txBody>
      </p:sp>
      <p:sp>
        <p:nvSpPr>
          <p:cNvPr id="843" name="Google Shape;843;p61"/>
          <p:cNvSpPr txBox="1">
            <a:spLocks noGrp="1"/>
          </p:cNvSpPr>
          <p:nvPr>
            <p:ph type="body" idx="4294967295"/>
          </p:nvPr>
        </p:nvSpPr>
        <p:spPr>
          <a:xfrm>
            <a:off x="11980863" y="4248150"/>
            <a:ext cx="12403137" cy="8256588"/>
          </a:xfrm>
          <a:prstGeom prst="rect">
            <a:avLst/>
          </a:prstGeom>
          <a:noFill/>
          <a:ln>
            <a:noFill/>
          </a:ln>
        </p:spPr>
        <p:txBody>
          <a:bodyPr spcFirstLastPara="1" wrap="square" lIns="50800" tIns="50800" rIns="50800" bIns="50800" anchor="t" anchorCtr="0">
            <a:normAutofit lnSpcReduction="10000"/>
          </a:bodyPr>
          <a:lstStyle/>
          <a:p>
            <a:pPr marL="536447" lvl="0" indent="-536447" algn="l" rtl="0">
              <a:lnSpc>
                <a:spcPct val="90000"/>
              </a:lnSpc>
              <a:spcBef>
                <a:spcPts val="0"/>
              </a:spcBef>
              <a:spcAft>
                <a:spcPts val="0"/>
              </a:spcAft>
              <a:buClr>
                <a:srgbClr val="000000"/>
              </a:buClr>
              <a:buSzPts val="5196"/>
              <a:buFont typeface="Avenir"/>
              <a:buChar char="•"/>
            </a:pPr>
            <a:r>
              <a:rPr lang="en-US" sz="4224" dirty="0">
                <a:latin typeface="Avenir"/>
                <a:ea typeface="Avenir"/>
                <a:cs typeface="Avenir"/>
                <a:sym typeface="Avenir"/>
              </a:rPr>
              <a:t>The four concepts are linked</a:t>
            </a:r>
            <a:endParaRPr dirty="0"/>
          </a:p>
          <a:p>
            <a:pPr marL="536447" lvl="0" indent="-536447" algn="l" rtl="0">
              <a:lnSpc>
                <a:spcPct val="90000"/>
              </a:lnSpc>
              <a:spcBef>
                <a:spcPts val="3900"/>
              </a:spcBef>
              <a:spcAft>
                <a:spcPts val="0"/>
              </a:spcAft>
              <a:buClr>
                <a:srgbClr val="000000"/>
              </a:buClr>
              <a:buSzPts val="5196"/>
              <a:buFont typeface="Avenir"/>
              <a:buChar char="•"/>
            </a:pPr>
            <a:r>
              <a:rPr lang="en-US" sz="4224" dirty="0">
                <a:latin typeface="Avenir"/>
                <a:ea typeface="Avenir"/>
                <a:cs typeface="Avenir"/>
                <a:sym typeface="Avenir"/>
              </a:rPr>
              <a:t>If we know three, we can work out the forth </a:t>
            </a:r>
            <a:endParaRPr dirty="0"/>
          </a:p>
          <a:p>
            <a:pPr marL="536447" lvl="0" indent="-536447">
              <a:spcBef>
                <a:spcPts val="3900"/>
              </a:spcBef>
              <a:buClr>
                <a:schemeClr val="accent1"/>
              </a:buClr>
              <a:buSzPts val="5166"/>
              <a:buFont typeface="Avenir"/>
              <a:buChar char="•"/>
            </a:pPr>
            <a:r>
              <a:rPr lang="en-US" dirty="0">
                <a:solidFill>
                  <a:schemeClr val="accent1"/>
                </a:solidFill>
              </a:rPr>
              <a:t>Power calculation:</a:t>
            </a:r>
            <a:r>
              <a:rPr lang="en-US" sz="4224" dirty="0">
                <a:latin typeface="Avenir"/>
                <a:ea typeface="Avenir"/>
                <a:cs typeface="Avenir"/>
                <a:sym typeface="Avenir"/>
              </a:rPr>
              <a:t> Aim is to define the probability (1-</a:t>
            </a:r>
            <a:r>
              <a:rPr lang="en-US" sz="4400" dirty="0">
                <a:solidFill>
                  <a:srgbClr val="5E5E5E"/>
                </a:solidFill>
                <a:latin typeface="Avenir"/>
                <a:ea typeface="Avenir"/>
                <a:cs typeface="Avenir"/>
                <a:sym typeface="Avenir"/>
              </a:rPr>
              <a:t> β</a:t>
            </a:r>
            <a:r>
              <a:rPr lang="en-US" sz="4224" dirty="0">
                <a:latin typeface="Avenir"/>
                <a:ea typeface="Avenir"/>
                <a:cs typeface="Avenir"/>
                <a:sym typeface="Avenir"/>
              </a:rPr>
              <a:t>) to detect an effect size of interest (</a:t>
            </a:r>
            <a:r>
              <a:rPr lang="en-US" sz="4224" dirty="0" err="1">
                <a:latin typeface="Avenir"/>
                <a:ea typeface="Avenir"/>
                <a:cs typeface="Avenir"/>
                <a:sym typeface="Avenir"/>
              </a:rPr>
              <a:t>δ</a:t>
            </a:r>
            <a:r>
              <a:rPr lang="en-US" sz="4224" dirty="0">
                <a:latin typeface="Avenir"/>
                <a:ea typeface="Avenir"/>
                <a:cs typeface="Avenir"/>
                <a:sym typeface="Avenir"/>
              </a:rPr>
              <a:t>) at the ⍺ level with a sample size of </a:t>
            </a:r>
            <a:r>
              <a:rPr lang="en-US" i="1" dirty="0">
                <a:latin typeface="Avenir"/>
                <a:ea typeface="Avenir"/>
                <a:cs typeface="Avenir"/>
                <a:sym typeface="Avenir"/>
              </a:rPr>
              <a:t>n</a:t>
            </a:r>
            <a:r>
              <a:rPr lang="en-US" dirty="0">
                <a:latin typeface="Avenir"/>
                <a:ea typeface="Avenir"/>
                <a:cs typeface="Avenir"/>
                <a:sym typeface="Avenir"/>
              </a:rPr>
              <a:t> </a:t>
            </a:r>
            <a:r>
              <a:rPr lang="en-US" sz="4224" dirty="0">
                <a:latin typeface="Avenir"/>
                <a:ea typeface="Avenir"/>
                <a:cs typeface="Avenir"/>
                <a:sym typeface="Avenir"/>
              </a:rPr>
              <a:t>biological replicates </a:t>
            </a:r>
            <a:endParaRPr dirty="0"/>
          </a:p>
          <a:p>
            <a:pPr marL="536447" lvl="0" indent="-536447">
              <a:spcBef>
                <a:spcPts val="3900"/>
              </a:spcBef>
              <a:buClr>
                <a:schemeClr val="accent1"/>
              </a:buClr>
              <a:buSzPts val="5166"/>
              <a:buFont typeface="Avenir"/>
              <a:buChar char="•"/>
            </a:pPr>
            <a:r>
              <a:rPr lang="en-US" dirty="0">
                <a:solidFill>
                  <a:schemeClr val="accent1"/>
                </a:solidFill>
              </a:rPr>
              <a:t>Sample size calculation:</a:t>
            </a:r>
            <a:r>
              <a:rPr lang="en-US" sz="4224" dirty="0">
                <a:latin typeface="Avenir"/>
                <a:ea typeface="Avenir"/>
                <a:cs typeface="Avenir"/>
                <a:sym typeface="Avenir"/>
              </a:rPr>
              <a:t> Aim is to define the sample size (</a:t>
            </a:r>
            <a:r>
              <a:rPr lang="en-US" i="1" dirty="0">
                <a:latin typeface="Avenir"/>
                <a:ea typeface="Avenir"/>
                <a:cs typeface="Avenir"/>
                <a:sym typeface="Avenir"/>
              </a:rPr>
              <a:t>n</a:t>
            </a:r>
            <a:r>
              <a:rPr lang="en-US" sz="4224" dirty="0">
                <a:latin typeface="Avenir"/>
                <a:ea typeface="Avenir"/>
                <a:cs typeface="Avenir"/>
                <a:sym typeface="Avenir"/>
              </a:rPr>
              <a:t>) allowing to detect an effect size of interest (</a:t>
            </a:r>
            <a:r>
              <a:rPr lang="en-US" sz="4224" dirty="0" err="1">
                <a:latin typeface="Avenir"/>
                <a:ea typeface="Avenir"/>
                <a:cs typeface="Avenir"/>
                <a:sym typeface="Avenir"/>
              </a:rPr>
              <a:t>δ</a:t>
            </a:r>
            <a:r>
              <a:rPr lang="en-US" sz="4224" dirty="0">
                <a:latin typeface="Avenir"/>
                <a:ea typeface="Avenir"/>
                <a:cs typeface="Avenir"/>
                <a:sym typeface="Avenir"/>
              </a:rPr>
              <a:t>) at the α level with a given probability (1 − </a:t>
            </a:r>
            <a:r>
              <a:rPr lang="en-US" sz="4400" dirty="0">
                <a:solidFill>
                  <a:srgbClr val="5E5E5E"/>
                </a:solidFill>
                <a:latin typeface="Avenir"/>
                <a:ea typeface="Avenir"/>
                <a:cs typeface="Avenir"/>
                <a:sym typeface="Avenir"/>
              </a:rPr>
              <a:t>β</a:t>
            </a:r>
            <a:r>
              <a:rPr lang="en-US" sz="4224" dirty="0">
                <a:latin typeface="Avenir"/>
                <a:ea typeface="Avenir"/>
                <a:cs typeface="Avenir"/>
                <a:sym typeface="Avenir"/>
              </a:rPr>
              <a:t>). </a:t>
            </a:r>
            <a:endParaRP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Shape 847"/>
        <p:cNvGrpSpPr/>
        <p:nvPr/>
      </p:nvGrpSpPr>
      <p:grpSpPr>
        <a:xfrm>
          <a:off x="0" y="0"/>
          <a:ext cx="0" cy="0"/>
          <a:chOff x="0" y="0"/>
          <a:chExt cx="0" cy="0"/>
        </a:xfrm>
      </p:grpSpPr>
      <p:sp>
        <p:nvSpPr>
          <p:cNvPr id="848" name="Google Shape;848;p62"/>
          <p:cNvSpPr txBox="1">
            <a:spLocks noGrp="1"/>
          </p:cNvSpPr>
          <p:nvPr>
            <p:ph type="title" idx="4294967295"/>
          </p:nvPr>
        </p:nvSpPr>
        <p:spPr>
          <a:xfrm>
            <a:off x="0" y="1079500"/>
            <a:ext cx="21971000" cy="1433513"/>
          </a:xfrm>
          <a:prstGeom prst="rect">
            <a:avLst/>
          </a:prstGeom>
          <a:noFill/>
          <a:ln>
            <a:noFill/>
          </a:ln>
        </p:spPr>
        <p:txBody>
          <a:bodyPr spcFirstLastPara="1" wrap="square" lIns="50800" tIns="50800" rIns="50800" bIns="50800" anchor="t" anchorCtr="0">
            <a:normAutofit fontScale="90000"/>
          </a:bodyPr>
          <a:lstStyle/>
          <a:p>
            <a:pPr marL="0" marR="0" lvl="0" indent="0" algn="l" rtl="0">
              <a:lnSpc>
                <a:spcPct val="80000"/>
              </a:lnSpc>
              <a:spcBef>
                <a:spcPts val="0"/>
              </a:spcBef>
              <a:spcAft>
                <a:spcPts val="0"/>
              </a:spcAft>
              <a:buClr>
                <a:srgbClr val="000000"/>
              </a:buClr>
              <a:buSzPts val="7735"/>
              <a:buFont typeface="Avenir"/>
              <a:buNone/>
            </a:pPr>
            <a:r>
              <a:rPr lang="en-US" sz="7735" b="0">
                <a:latin typeface="Avenir"/>
                <a:ea typeface="Avenir"/>
                <a:cs typeface="Avenir"/>
                <a:sym typeface="Avenir"/>
              </a:rPr>
              <a:t>Power Analysis in Differential Expression Analysis</a:t>
            </a:r>
            <a:endParaRPr/>
          </a:p>
        </p:txBody>
      </p:sp>
      <p:pic>
        <p:nvPicPr>
          <p:cNvPr id="849" name="Google Shape;849;p62" descr="Image"/>
          <p:cNvPicPr preferRelativeResize="0"/>
          <p:nvPr/>
        </p:nvPicPr>
        <p:blipFill rotWithShape="1">
          <a:blip r:embed="rId3">
            <a:alphaModFix/>
          </a:blip>
          <a:srcRect/>
          <a:stretch/>
        </p:blipFill>
        <p:spPr>
          <a:xfrm>
            <a:off x="6455250" y="2975931"/>
            <a:ext cx="10994339" cy="9760722"/>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Shape 853"/>
        <p:cNvGrpSpPr/>
        <p:nvPr/>
      </p:nvGrpSpPr>
      <p:grpSpPr>
        <a:xfrm>
          <a:off x="0" y="0"/>
          <a:ext cx="0" cy="0"/>
          <a:chOff x="0" y="0"/>
          <a:chExt cx="0" cy="0"/>
        </a:xfrm>
      </p:grpSpPr>
      <p:sp>
        <p:nvSpPr>
          <p:cNvPr id="854" name="Google Shape;854;p63"/>
          <p:cNvSpPr txBox="1">
            <a:spLocks noGrp="1"/>
          </p:cNvSpPr>
          <p:nvPr>
            <p:ph type="title"/>
          </p:nvPr>
        </p:nvSpPr>
        <p:spPr>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a:latin typeface="Avenir"/>
                <a:ea typeface="Avenir"/>
                <a:cs typeface="Avenir"/>
                <a:sym typeface="Avenir"/>
              </a:rPr>
              <a:t>Outline</a:t>
            </a:r>
            <a:endParaRPr/>
          </a:p>
        </p:txBody>
      </p:sp>
      <p:sp>
        <p:nvSpPr>
          <p:cNvPr id="855" name="Google Shape;855;p63"/>
          <p:cNvSpPr txBox="1">
            <a:spLocks noGrp="1"/>
          </p:cNvSpPr>
          <p:nvPr>
            <p:ph type="body" idx="1"/>
          </p:nvPr>
        </p:nvSpPr>
        <p:spPr>
          <a:xfrm>
            <a:off x="1206500" y="4902861"/>
            <a:ext cx="21971000" cy="3910278"/>
          </a:xfrm>
          <a:prstGeom prst="rect">
            <a:avLst/>
          </a:prstGeom>
          <a:noFill/>
          <a:ln>
            <a:noFill/>
          </a:ln>
        </p:spPr>
        <p:txBody>
          <a:bodyPr spcFirstLastPara="1" wrap="square" lIns="50800" tIns="50800" rIns="50800" bIns="50800" anchor="t" anchorCtr="0">
            <a:normAutofit/>
          </a:bodyPr>
          <a:lstStyle/>
          <a:p>
            <a:pPr marL="609600" lvl="0" indent="-609600" algn="l" rtl="0">
              <a:lnSpc>
                <a:spcPct val="90000"/>
              </a:lnSpc>
              <a:spcBef>
                <a:spcPts val="0"/>
              </a:spcBef>
              <a:spcAft>
                <a:spcPts val="0"/>
              </a:spcAft>
              <a:buClr>
                <a:srgbClr val="929292"/>
              </a:buClr>
              <a:buSzPts val="5904"/>
              <a:buFont typeface="Avenir"/>
              <a:buChar char="•"/>
            </a:pPr>
            <a:r>
              <a:rPr lang="en-US">
                <a:solidFill>
                  <a:srgbClr val="929292"/>
                </a:solidFill>
                <a:latin typeface="Avenir"/>
                <a:ea typeface="Avenir"/>
                <a:cs typeface="Avenir"/>
                <a:sym typeface="Avenir"/>
              </a:rPr>
              <a:t>Experimental Design</a:t>
            </a:r>
            <a:endParaRPr/>
          </a:p>
          <a:p>
            <a:pPr marL="609600" lvl="0" indent="-609600" algn="l" rtl="0">
              <a:lnSpc>
                <a:spcPct val="90000"/>
              </a:lnSpc>
              <a:spcBef>
                <a:spcPts val="4500"/>
              </a:spcBef>
              <a:spcAft>
                <a:spcPts val="0"/>
              </a:spcAft>
              <a:buClr>
                <a:srgbClr val="929292"/>
              </a:buClr>
              <a:buSzPts val="5904"/>
              <a:buFont typeface="Avenir"/>
              <a:buChar char="•"/>
            </a:pPr>
            <a:r>
              <a:rPr lang="en-US">
                <a:solidFill>
                  <a:srgbClr val="929292"/>
                </a:solidFill>
                <a:latin typeface="Avenir"/>
                <a:ea typeface="Avenir"/>
                <a:cs typeface="Avenir"/>
                <a:sym typeface="Avenir"/>
              </a:rPr>
              <a:t>Statistical Concepts - Bite size statistics</a:t>
            </a:r>
            <a:endParaRPr/>
          </a:p>
          <a:p>
            <a:pPr marL="609600" lvl="0" indent="-609600" algn="l" rtl="0">
              <a:lnSpc>
                <a:spcPct val="90000"/>
              </a:lnSpc>
              <a:spcBef>
                <a:spcPts val="4500"/>
              </a:spcBef>
              <a:spcAft>
                <a:spcPts val="0"/>
              </a:spcAft>
              <a:buClr>
                <a:srgbClr val="000000"/>
              </a:buClr>
              <a:buSzPts val="5904"/>
              <a:buFont typeface="Avenir"/>
              <a:buChar char="•"/>
            </a:pPr>
            <a:r>
              <a:rPr lang="en-US">
                <a:latin typeface="Avenir"/>
                <a:ea typeface="Avenir"/>
                <a:cs typeface="Avenir"/>
                <a:sym typeface="Avenir"/>
              </a:rPr>
              <a:t>Statistical aspects of bulk RNA-seq analysis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68EA1-6A4B-6FFD-C444-6E981DE3ACA8}"/>
              </a:ext>
            </a:extLst>
          </p:cNvPr>
          <p:cNvSpPr>
            <a:spLocks noGrp="1"/>
          </p:cNvSpPr>
          <p:nvPr>
            <p:ph type="title"/>
          </p:nvPr>
        </p:nvSpPr>
        <p:spPr/>
        <p:txBody>
          <a:bodyPr/>
          <a:lstStyle/>
          <a:p>
            <a:r>
              <a:rPr lang="en-US" dirty="0"/>
              <a:t>DESEQ2 workflow</a:t>
            </a:r>
          </a:p>
        </p:txBody>
      </p:sp>
      <p:pic>
        <p:nvPicPr>
          <p:cNvPr id="4" name="Picture 3" descr="A blue rectangles with black text&#10;&#10;Description automatically generated">
            <a:extLst>
              <a:ext uri="{FF2B5EF4-FFF2-40B4-BE49-F238E27FC236}">
                <a16:creationId xmlns:a16="http://schemas.microsoft.com/office/drawing/2014/main" id="{4D2CD2E4-1A60-E0F8-E82A-F45BC35016BF}"/>
              </a:ext>
            </a:extLst>
          </p:cNvPr>
          <p:cNvPicPr>
            <a:picLocks noChangeAspect="1"/>
          </p:cNvPicPr>
          <p:nvPr/>
        </p:nvPicPr>
        <p:blipFill>
          <a:blip r:embed="rId2"/>
          <a:stretch>
            <a:fillRect/>
          </a:stretch>
        </p:blipFill>
        <p:spPr>
          <a:xfrm>
            <a:off x="9620250" y="2542166"/>
            <a:ext cx="5143500" cy="9880600"/>
          </a:xfrm>
          <a:prstGeom prst="rect">
            <a:avLst/>
          </a:prstGeom>
        </p:spPr>
      </p:pic>
    </p:spTree>
    <p:extLst>
      <p:ext uri="{BB962C8B-B14F-4D97-AF65-F5344CB8AC3E}">
        <p14:creationId xmlns:p14="http://schemas.microsoft.com/office/powerpoint/2010/main" val="34046375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94703A9-D6ED-C2CB-5DF2-514BE7ABE48F}"/>
              </a:ext>
            </a:extLst>
          </p:cNvPr>
          <p:cNvSpPr>
            <a:spLocks noGrp="1"/>
          </p:cNvSpPr>
          <p:nvPr>
            <p:ph type="title"/>
          </p:nvPr>
        </p:nvSpPr>
        <p:spPr/>
        <p:txBody>
          <a:bodyPr/>
          <a:lstStyle/>
          <a:p>
            <a:r>
              <a:rPr lang="en-US" dirty="0" err="1"/>
              <a:t>Normalisation</a:t>
            </a:r>
            <a:endParaRPr lang="en-US" dirty="0"/>
          </a:p>
        </p:txBody>
      </p:sp>
      <p:sp>
        <p:nvSpPr>
          <p:cNvPr id="4" name="Content Placeholder 3">
            <a:extLst>
              <a:ext uri="{FF2B5EF4-FFF2-40B4-BE49-F238E27FC236}">
                <a16:creationId xmlns:a16="http://schemas.microsoft.com/office/drawing/2014/main" id="{C6E76458-BB46-0A81-BEE3-FA3A6A69F24C}"/>
              </a:ext>
            </a:extLst>
          </p:cNvPr>
          <p:cNvSpPr>
            <a:spLocks noGrp="1"/>
          </p:cNvSpPr>
          <p:nvPr>
            <p:ph idx="1"/>
          </p:nvPr>
        </p:nvSpPr>
        <p:spPr>
          <a:xfrm>
            <a:off x="1676400" y="3545633"/>
            <a:ext cx="21031200" cy="4785926"/>
          </a:xfrm>
        </p:spPr>
        <p:txBody>
          <a:bodyPr/>
          <a:lstStyle/>
          <a:p>
            <a:pPr marL="685800" indent="-685800">
              <a:buFont typeface="Arial" panose="020B0604020202020204" pitchFamily="34" charset="0"/>
              <a:buChar char="•"/>
            </a:pPr>
            <a:r>
              <a:rPr lang="en-US" dirty="0"/>
              <a:t>Read counts between the samples varies because of various reasons …</a:t>
            </a:r>
          </a:p>
          <a:p>
            <a:pPr marL="1403350" lvl="1" indent="-685800">
              <a:buFont typeface="Arial" panose="020B0604020202020204" pitchFamily="34" charset="0"/>
              <a:buChar char="•"/>
            </a:pPr>
            <a:r>
              <a:rPr lang="en-US" dirty="0">
                <a:solidFill>
                  <a:schemeClr val="tx2"/>
                </a:solidFill>
              </a:rPr>
              <a:t>Library Size </a:t>
            </a:r>
            <a:r>
              <a:rPr lang="en-US" dirty="0"/>
              <a:t>– different sequence depth between samples</a:t>
            </a:r>
          </a:p>
          <a:p>
            <a:pPr marL="1403350" lvl="1" indent="-685800">
              <a:buFont typeface="Arial" panose="020B0604020202020204" pitchFamily="34" charset="0"/>
              <a:buChar char="•"/>
            </a:pPr>
            <a:r>
              <a:rPr lang="en-US" dirty="0">
                <a:solidFill>
                  <a:schemeClr val="tx2"/>
                </a:solidFill>
              </a:rPr>
              <a:t>Gene properties - </a:t>
            </a:r>
            <a:r>
              <a:rPr lang="en-US" dirty="0"/>
              <a:t>Length, GC content, sequence</a:t>
            </a:r>
          </a:p>
          <a:p>
            <a:pPr marL="1403350" lvl="1" indent="-685800">
              <a:buFont typeface="Arial" panose="020B0604020202020204" pitchFamily="34" charset="0"/>
              <a:buChar char="•"/>
            </a:pPr>
            <a:r>
              <a:rPr lang="en-US" dirty="0">
                <a:solidFill>
                  <a:schemeClr val="tx2"/>
                </a:solidFill>
              </a:rPr>
              <a:t>Library composition - </a:t>
            </a:r>
            <a:r>
              <a:rPr lang="en-US" dirty="0"/>
              <a:t>Quantification is relative, changes in relative abundance for one gene will affect the relative abundances of other genes. </a:t>
            </a:r>
            <a:r>
              <a:rPr lang="en-US" dirty="0">
                <a:solidFill>
                  <a:schemeClr val="tx2"/>
                </a:solidFill>
              </a:rPr>
              <a:t>“Composition Bias”</a:t>
            </a:r>
          </a:p>
          <a:p>
            <a:r>
              <a:rPr lang="en-US" dirty="0"/>
              <a:t> </a:t>
            </a:r>
          </a:p>
        </p:txBody>
      </p:sp>
    </p:spTree>
    <p:extLst>
      <p:ext uri="{BB962C8B-B14F-4D97-AF65-F5344CB8AC3E}">
        <p14:creationId xmlns:p14="http://schemas.microsoft.com/office/powerpoint/2010/main" val="22527585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F50D9195-D895-B0A5-5291-85EB8D9D21D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059258" y="1158333"/>
            <a:ext cx="20265483" cy="11399334"/>
          </a:xfrm>
          <a:prstGeom prst="rect">
            <a:avLst/>
          </a:prstGeom>
        </p:spPr>
      </p:pic>
      <p:sp>
        <p:nvSpPr>
          <p:cNvPr id="2" name="Rectangle 1">
            <a:extLst>
              <a:ext uri="{FF2B5EF4-FFF2-40B4-BE49-F238E27FC236}">
                <a16:creationId xmlns:a16="http://schemas.microsoft.com/office/drawing/2014/main" id="{C0FEB34D-E131-EA22-AEA8-97F39359EC32}"/>
              </a:ext>
            </a:extLst>
          </p:cNvPr>
          <p:cNvSpPr/>
          <p:nvPr/>
        </p:nvSpPr>
        <p:spPr>
          <a:xfrm>
            <a:off x="10312400" y="5816600"/>
            <a:ext cx="711200" cy="30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2">
            <a:extLst>
              <a:ext uri="{FF2B5EF4-FFF2-40B4-BE49-F238E27FC236}">
                <a16:creationId xmlns:a16="http://schemas.microsoft.com/office/drawing/2014/main" id="{C63DAA85-6C86-550A-D896-A46ACD91B613}"/>
              </a:ext>
            </a:extLst>
          </p:cNvPr>
          <p:cNvSpPr txBox="1">
            <a:spLocks/>
          </p:cNvSpPr>
          <p:nvPr/>
        </p:nvSpPr>
        <p:spPr>
          <a:xfrm>
            <a:off x="1676400" y="809329"/>
            <a:ext cx="21031200" cy="1231106"/>
          </a:xfrm>
          <a:prstGeom prst="rect">
            <a:avLst/>
          </a:prstGeom>
        </p:spPr>
        <p:txBody>
          <a:bodyPr/>
          <a:lstStyle>
            <a:lvl1pPr algn="l" defTabSz="1828800" rtl="0" eaLnBrk="1" latinLnBrk="0" hangingPunct="1">
              <a:lnSpc>
                <a:spcPct val="100000"/>
              </a:lnSpc>
              <a:spcBef>
                <a:spcPct val="0"/>
              </a:spcBef>
              <a:buNone/>
              <a:defRPr sz="8000" kern="1200" cap="all" baseline="0">
                <a:solidFill>
                  <a:schemeClr val="accent3"/>
                </a:solidFill>
                <a:latin typeface="+mj-lt"/>
                <a:ea typeface="+mj-ea"/>
                <a:cs typeface="+mj-cs"/>
              </a:defRPr>
            </a:lvl1pPr>
          </a:lstStyle>
          <a:p>
            <a:r>
              <a:rPr lang="en-US" dirty="0"/>
              <a:t>Depth bias</a:t>
            </a:r>
          </a:p>
        </p:txBody>
      </p:sp>
    </p:spTree>
    <p:extLst>
      <p:ext uri="{BB962C8B-B14F-4D97-AF65-F5344CB8AC3E}">
        <p14:creationId xmlns:p14="http://schemas.microsoft.com/office/powerpoint/2010/main" val="21810982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F8745D2-7204-FDF6-F126-EE06DF98559C}"/>
              </a:ext>
            </a:extLst>
          </p:cNvPr>
          <p:cNvSpPr txBox="1">
            <a:spLocks/>
          </p:cNvSpPr>
          <p:nvPr/>
        </p:nvSpPr>
        <p:spPr>
          <a:xfrm>
            <a:off x="1676400" y="809329"/>
            <a:ext cx="21031200" cy="1231106"/>
          </a:xfrm>
          <a:prstGeom prst="rect">
            <a:avLst/>
          </a:prstGeom>
        </p:spPr>
        <p:txBody>
          <a:bodyPr/>
          <a:lstStyle>
            <a:lvl1pPr algn="l" defTabSz="1828800" rtl="0" eaLnBrk="1" latinLnBrk="0" hangingPunct="1">
              <a:lnSpc>
                <a:spcPct val="100000"/>
              </a:lnSpc>
              <a:spcBef>
                <a:spcPct val="0"/>
              </a:spcBef>
              <a:buNone/>
              <a:defRPr sz="8000" kern="1200" cap="all" baseline="0">
                <a:solidFill>
                  <a:schemeClr val="accent3"/>
                </a:solidFill>
                <a:latin typeface="+mj-lt"/>
                <a:ea typeface="+mj-ea"/>
                <a:cs typeface="+mj-cs"/>
              </a:defRPr>
            </a:lvl1pPr>
          </a:lstStyle>
          <a:p>
            <a:r>
              <a:rPr lang="en-US" dirty="0"/>
              <a:t>Composition bias</a:t>
            </a:r>
          </a:p>
        </p:txBody>
      </p:sp>
      <p:pic>
        <p:nvPicPr>
          <p:cNvPr id="4" name="Picture 3" descr="A screenshot of a blue and white table&#10;&#10;AI-generated content may be incorrect.">
            <a:extLst>
              <a:ext uri="{FF2B5EF4-FFF2-40B4-BE49-F238E27FC236}">
                <a16:creationId xmlns:a16="http://schemas.microsoft.com/office/drawing/2014/main" id="{CB31FC0E-5015-FDE4-1F89-119E1F91209C}"/>
              </a:ext>
            </a:extLst>
          </p:cNvPr>
          <p:cNvPicPr>
            <a:picLocks noChangeAspect="1"/>
          </p:cNvPicPr>
          <p:nvPr/>
        </p:nvPicPr>
        <p:blipFill>
          <a:blip r:embed="rId2"/>
          <a:stretch>
            <a:fillRect/>
          </a:stretch>
        </p:blipFill>
        <p:spPr>
          <a:xfrm>
            <a:off x="4323110" y="3175774"/>
            <a:ext cx="15048367" cy="7364451"/>
          </a:xfrm>
          <a:prstGeom prst="rect">
            <a:avLst/>
          </a:prstGeom>
        </p:spPr>
      </p:pic>
    </p:spTree>
    <p:extLst>
      <p:ext uri="{BB962C8B-B14F-4D97-AF65-F5344CB8AC3E}">
        <p14:creationId xmlns:p14="http://schemas.microsoft.com/office/powerpoint/2010/main" val="280087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B84D3-BC62-CD28-1EDA-9F33D48C0649}"/>
              </a:ext>
            </a:extLst>
          </p:cNvPr>
          <p:cNvSpPr>
            <a:spLocks noGrp="1"/>
          </p:cNvSpPr>
          <p:nvPr>
            <p:ph type="title"/>
          </p:nvPr>
        </p:nvSpPr>
        <p:spPr/>
        <p:txBody>
          <a:bodyPr/>
          <a:lstStyle/>
          <a:p>
            <a:r>
              <a:rPr lang="en-US" dirty="0"/>
              <a:t>General principles behind </a:t>
            </a:r>
            <a:r>
              <a:rPr lang="en-US" dirty="0" err="1"/>
              <a:t>normalisation</a:t>
            </a:r>
            <a:endParaRPr lang="en-US" dirty="0"/>
          </a:p>
        </p:txBody>
      </p:sp>
      <p:sp>
        <p:nvSpPr>
          <p:cNvPr id="3" name="Content Placeholder 2">
            <a:extLst>
              <a:ext uri="{FF2B5EF4-FFF2-40B4-BE49-F238E27FC236}">
                <a16:creationId xmlns:a16="http://schemas.microsoft.com/office/drawing/2014/main" id="{1152F1FF-9E96-DCF1-F284-F789A792A426}"/>
              </a:ext>
            </a:extLst>
          </p:cNvPr>
          <p:cNvSpPr>
            <a:spLocks noGrp="1"/>
          </p:cNvSpPr>
          <p:nvPr>
            <p:ph idx="1"/>
          </p:nvPr>
        </p:nvSpPr>
        <p:spPr>
          <a:xfrm>
            <a:off x="1676399" y="2107341"/>
            <a:ext cx="21451229" cy="9021576"/>
          </a:xfrm>
        </p:spPr>
        <p:txBody>
          <a:bodyPr/>
          <a:lstStyle/>
          <a:p>
            <a:r>
              <a:rPr lang="en-US" dirty="0"/>
              <a:t>Normalization has two steps</a:t>
            </a:r>
          </a:p>
          <a:p>
            <a:pPr marL="685800" indent="-685800">
              <a:buFont typeface="Arial" panose="020B0604020202020204" pitchFamily="34" charset="0"/>
              <a:buChar char="•"/>
            </a:pPr>
            <a:r>
              <a:rPr lang="en-US" dirty="0"/>
              <a:t>Scaling</a:t>
            </a:r>
          </a:p>
          <a:p>
            <a:pPr marL="1403350" lvl="1" indent="-685800">
              <a:buFont typeface="Arial" panose="020B0604020202020204" pitchFamily="34" charset="0"/>
              <a:buChar char="•"/>
            </a:pPr>
            <a:r>
              <a:rPr lang="en-US" dirty="0"/>
              <a:t>First get size factors or normalization factors</a:t>
            </a:r>
          </a:p>
          <a:p>
            <a:pPr marL="1403350" lvl="1" indent="-685800">
              <a:buFont typeface="Arial" panose="020B0604020202020204" pitchFamily="34" charset="0"/>
              <a:buChar char="•"/>
            </a:pPr>
            <a:r>
              <a:rPr lang="en-US" dirty="0"/>
              <a:t>Usually one size factor per sample</a:t>
            </a:r>
          </a:p>
          <a:p>
            <a:pPr marL="1403350" lvl="1" indent="-685800">
              <a:buFont typeface="Arial" panose="020B0604020202020204" pitchFamily="34" charset="0"/>
              <a:buChar char="•"/>
            </a:pPr>
            <a:r>
              <a:rPr lang="en-US" dirty="0"/>
              <a:t>Scale the counts by dividing the raw counts of a sample with sample specific size factor</a:t>
            </a:r>
          </a:p>
          <a:p>
            <a:pPr marL="685800" indent="-685800">
              <a:buFont typeface="Arial" panose="020B0604020202020204" pitchFamily="34" charset="0"/>
              <a:buChar char="•"/>
            </a:pPr>
            <a:r>
              <a:rPr lang="en-US" dirty="0"/>
              <a:t>Transformation: Transform the data after scaling</a:t>
            </a:r>
          </a:p>
          <a:p>
            <a:pPr marL="1403350" lvl="1" indent="-685800">
              <a:buFont typeface="Arial" panose="020B0604020202020204" pitchFamily="34" charset="0"/>
              <a:buChar char="•"/>
            </a:pPr>
            <a:r>
              <a:rPr lang="en-US" dirty="0"/>
              <a:t>Per million</a:t>
            </a:r>
          </a:p>
          <a:p>
            <a:pPr marL="1403350" lvl="1" indent="-685800">
              <a:buFont typeface="Arial" panose="020B0604020202020204" pitchFamily="34" charset="0"/>
              <a:buChar char="•"/>
            </a:pPr>
            <a:r>
              <a:rPr lang="en-US" dirty="0"/>
              <a:t>log2</a:t>
            </a:r>
          </a:p>
          <a:p>
            <a:r>
              <a:rPr lang="en-US" dirty="0"/>
              <a:t>Normalization removes technical variance but not biological variance</a:t>
            </a:r>
          </a:p>
          <a:p>
            <a:r>
              <a:rPr lang="en-US" dirty="0"/>
              <a:t>Normalization helps in making two samples comparable</a:t>
            </a:r>
          </a:p>
        </p:txBody>
      </p:sp>
    </p:spTree>
    <p:extLst>
      <p:ext uri="{BB962C8B-B14F-4D97-AF65-F5344CB8AC3E}">
        <p14:creationId xmlns:p14="http://schemas.microsoft.com/office/powerpoint/2010/main" val="21545581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00F1F-1EE8-05EE-34DD-E85C8F78D723}"/>
              </a:ext>
            </a:extLst>
          </p:cNvPr>
          <p:cNvSpPr>
            <a:spLocks noGrp="1"/>
          </p:cNvSpPr>
          <p:nvPr>
            <p:ph type="title"/>
          </p:nvPr>
        </p:nvSpPr>
        <p:spPr/>
        <p:txBody>
          <a:bodyPr/>
          <a:lstStyle/>
          <a:p>
            <a:r>
              <a:rPr lang="en-US" dirty="0"/>
              <a:t>DESeq2 </a:t>
            </a:r>
            <a:r>
              <a:rPr lang="en-US" dirty="0" err="1"/>
              <a:t>Normalisation</a:t>
            </a:r>
            <a:endParaRPr lang="en-US" dirty="0"/>
          </a:p>
        </p:txBody>
      </p:sp>
      <p:sp>
        <p:nvSpPr>
          <p:cNvPr id="3" name="Content Placeholder 2">
            <a:extLst>
              <a:ext uri="{FF2B5EF4-FFF2-40B4-BE49-F238E27FC236}">
                <a16:creationId xmlns:a16="http://schemas.microsoft.com/office/drawing/2014/main" id="{765908C3-B2FA-9BD5-E9C4-ADE8149A2A2E}"/>
              </a:ext>
            </a:extLst>
          </p:cNvPr>
          <p:cNvSpPr>
            <a:spLocks noGrp="1"/>
          </p:cNvSpPr>
          <p:nvPr>
            <p:ph idx="1"/>
          </p:nvPr>
        </p:nvSpPr>
        <p:spPr>
          <a:xfrm>
            <a:off x="1676400" y="2396898"/>
            <a:ext cx="21031200" cy="6186309"/>
          </a:xfrm>
        </p:spPr>
        <p:txBody>
          <a:bodyPr/>
          <a:lstStyle/>
          <a:p>
            <a:pPr marL="914400" indent="-914400">
              <a:buFont typeface="+mj-lt"/>
              <a:buAutoNum type="arabicPeriod"/>
            </a:pPr>
            <a:r>
              <a:rPr lang="en-US" sz="4400" dirty="0"/>
              <a:t>Geometric mean is calculated for each gene across all samples.  </a:t>
            </a:r>
          </a:p>
          <a:p>
            <a:pPr marL="914400" indent="-914400">
              <a:buFont typeface="+mj-lt"/>
              <a:buAutoNum type="arabicPeriod"/>
            </a:pPr>
            <a:r>
              <a:rPr lang="en-US" sz="4400" dirty="0"/>
              <a:t>The counts for a gene in each sample is then divided by this mean. </a:t>
            </a:r>
          </a:p>
          <a:p>
            <a:pPr marL="914400" indent="-914400">
              <a:buFont typeface="+mj-lt"/>
              <a:buAutoNum type="arabicPeriod"/>
            </a:pPr>
            <a:r>
              <a:rPr lang="en-US" sz="4400" dirty="0"/>
              <a:t>The median of these ratios in a sample is the size factor (normalization factor) for that sample.</a:t>
            </a:r>
          </a:p>
          <a:p>
            <a:pPr marL="914400" indent="-914400">
              <a:buFont typeface="+mj-lt"/>
              <a:buAutoNum type="arabicPeriod"/>
            </a:pPr>
            <a:r>
              <a:rPr lang="en-US" sz="4400" dirty="0"/>
              <a:t>DESEq2 normalization corrects for library size and RNA composition bias</a:t>
            </a:r>
          </a:p>
          <a:p>
            <a:pPr marL="914400" indent="-914400">
              <a:buFont typeface="+mj-lt"/>
              <a:buAutoNum type="arabicPeriod"/>
            </a:pPr>
            <a:r>
              <a:rPr lang="en-US" sz="4400" dirty="0"/>
              <a:t>Composition bias: Arises for examples when only a small number of genes are very highly expressed in one sample but not in the other.</a:t>
            </a:r>
          </a:p>
          <a:p>
            <a:pPr marL="914400" indent="-914400">
              <a:buFont typeface="+mj-lt"/>
              <a:buAutoNum type="arabicPeriod"/>
            </a:pPr>
            <a:endParaRPr lang="en-US" sz="4400" dirty="0"/>
          </a:p>
        </p:txBody>
      </p:sp>
      <p:pic>
        <p:nvPicPr>
          <p:cNvPr id="5" name="Graphic 4">
            <a:extLst>
              <a:ext uri="{FF2B5EF4-FFF2-40B4-BE49-F238E27FC236}">
                <a16:creationId xmlns:a16="http://schemas.microsoft.com/office/drawing/2014/main" id="{806F26EB-1421-C41A-19A4-02E620B2935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82965" y="7895063"/>
            <a:ext cx="10418070" cy="5351457"/>
          </a:xfrm>
          <a:prstGeom prst="rect">
            <a:avLst/>
          </a:prstGeom>
        </p:spPr>
      </p:pic>
    </p:spTree>
    <p:extLst>
      <p:ext uri="{BB962C8B-B14F-4D97-AF65-F5344CB8AC3E}">
        <p14:creationId xmlns:p14="http://schemas.microsoft.com/office/powerpoint/2010/main" val="30903203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31C9868-D713-218C-1C5F-D59451EB5D7E}"/>
              </a:ext>
            </a:extLst>
          </p:cNvPr>
          <p:cNvSpPr>
            <a:spLocks noGrp="1"/>
          </p:cNvSpPr>
          <p:nvPr>
            <p:ph type="title"/>
          </p:nvPr>
        </p:nvSpPr>
        <p:spPr/>
        <p:txBody>
          <a:bodyPr/>
          <a:lstStyle/>
          <a:p>
            <a:r>
              <a:rPr lang="en-GB" dirty="0"/>
              <a:t>Normalisation and Batch effects</a:t>
            </a:r>
          </a:p>
        </p:txBody>
      </p:sp>
      <p:pic>
        <p:nvPicPr>
          <p:cNvPr id="5" name="Content Placeholder 4" descr="A diagram of different types of graphs&#10;&#10;AI-generated content may be incorrect.">
            <a:extLst>
              <a:ext uri="{FF2B5EF4-FFF2-40B4-BE49-F238E27FC236}">
                <a16:creationId xmlns:a16="http://schemas.microsoft.com/office/drawing/2014/main" id="{FDA09078-642E-D14A-EB61-81840ACA5C94}"/>
              </a:ext>
            </a:extLst>
          </p:cNvPr>
          <p:cNvPicPr>
            <a:picLocks noGrp="1" noChangeAspect="1"/>
          </p:cNvPicPr>
          <p:nvPr>
            <p:ph sz="half" idx="1"/>
          </p:nvPr>
        </p:nvPicPr>
        <p:blipFill>
          <a:blip r:embed="rId3"/>
          <a:stretch>
            <a:fillRect/>
          </a:stretch>
        </p:blipFill>
        <p:spPr>
          <a:xfrm>
            <a:off x="1219201" y="3415743"/>
            <a:ext cx="7701776" cy="8600317"/>
          </a:xfrm>
        </p:spPr>
      </p:pic>
      <p:sp>
        <p:nvSpPr>
          <p:cNvPr id="7" name="Content Placeholder 6">
            <a:extLst>
              <a:ext uri="{FF2B5EF4-FFF2-40B4-BE49-F238E27FC236}">
                <a16:creationId xmlns:a16="http://schemas.microsoft.com/office/drawing/2014/main" id="{6EBE607D-84D7-7C0E-12A0-11C17C91F45D}"/>
              </a:ext>
            </a:extLst>
          </p:cNvPr>
          <p:cNvSpPr>
            <a:spLocks noGrp="1"/>
          </p:cNvSpPr>
          <p:nvPr>
            <p:ph sz="half" idx="11"/>
          </p:nvPr>
        </p:nvSpPr>
        <p:spPr>
          <a:xfrm>
            <a:off x="12192000" y="3454403"/>
            <a:ext cx="10972800" cy="8448467"/>
          </a:xfrm>
        </p:spPr>
        <p:txBody>
          <a:bodyPr/>
          <a:lstStyle/>
          <a:p>
            <a:pPr marL="685800" indent="-685800">
              <a:buFont typeface="Arial" panose="020B0604020202020204" pitchFamily="34" charset="0"/>
              <a:buChar char="•"/>
            </a:pPr>
            <a:r>
              <a:rPr lang="en-GB" dirty="0"/>
              <a:t>Batch effects introduce  systematic biases, systematically overestimating or underestimating.</a:t>
            </a:r>
          </a:p>
          <a:p>
            <a:pPr marL="685800" indent="-685800">
              <a:buFont typeface="Arial" panose="020B0604020202020204" pitchFamily="34" charset="0"/>
              <a:buChar char="•"/>
            </a:pPr>
            <a:r>
              <a:rPr lang="en-GB" dirty="0"/>
              <a:t>Normalisation can only remove small random biases between the samples but not systematic biases</a:t>
            </a:r>
          </a:p>
          <a:p>
            <a:pPr marL="685800" indent="-685800">
              <a:buFont typeface="Arial" panose="020B0604020202020204" pitchFamily="34" charset="0"/>
              <a:buChar char="•"/>
            </a:pPr>
            <a:r>
              <a:rPr lang="en-GB" dirty="0"/>
              <a:t>One can mitigate batch effects with clever experimental design </a:t>
            </a:r>
          </a:p>
          <a:p>
            <a:pPr marL="1403350" lvl="1" indent="-685800">
              <a:buFont typeface="Arial" panose="020B0604020202020204" pitchFamily="34" charset="0"/>
              <a:buChar char="•"/>
            </a:pPr>
            <a:r>
              <a:rPr lang="en-GB" dirty="0"/>
              <a:t>Include reference samples between batches</a:t>
            </a:r>
          </a:p>
          <a:p>
            <a:pPr marL="1403350" lvl="1" indent="-685800">
              <a:buFont typeface="Arial" panose="020B0604020202020204" pitchFamily="34" charset="0"/>
              <a:buChar char="•"/>
            </a:pPr>
            <a:r>
              <a:rPr lang="en-GB" dirty="0"/>
              <a:t>Include batch as a co factor in the linear modelling</a:t>
            </a:r>
          </a:p>
        </p:txBody>
      </p:sp>
      <p:sp>
        <p:nvSpPr>
          <p:cNvPr id="8" name="TextBox 7">
            <a:extLst>
              <a:ext uri="{FF2B5EF4-FFF2-40B4-BE49-F238E27FC236}">
                <a16:creationId xmlns:a16="http://schemas.microsoft.com/office/drawing/2014/main" id="{BB9FDA4A-D384-85B2-689D-CD96C81DC78A}"/>
              </a:ext>
            </a:extLst>
          </p:cNvPr>
          <p:cNvSpPr txBox="1"/>
          <p:nvPr/>
        </p:nvSpPr>
        <p:spPr>
          <a:xfrm>
            <a:off x="1219201" y="12906671"/>
            <a:ext cx="8259336" cy="369332"/>
          </a:xfrm>
          <a:prstGeom prst="rect">
            <a:avLst/>
          </a:prstGeom>
          <a:noFill/>
        </p:spPr>
        <p:txBody>
          <a:bodyPr wrap="square" rtlCol="0">
            <a:spAutoFit/>
          </a:bodyPr>
          <a:lstStyle/>
          <a:p>
            <a:r>
              <a:rPr lang="en-US" dirty="0"/>
              <a:t>Leek JT </a:t>
            </a:r>
            <a:r>
              <a:rPr lang="en-US" i="1" dirty="0"/>
              <a:t>et al</a:t>
            </a:r>
            <a:r>
              <a:rPr lang="en-US" dirty="0"/>
              <a:t>. Nat Rev Genet. 2010 Oct;11(10):733-9. </a:t>
            </a:r>
            <a:r>
              <a:rPr lang="en-US" dirty="0" err="1"/>
              <a:t>doi</a:t>
            </a:r>
            <a:r>
              <a:rPr lang="en-US" dirty="0"/>
              <a:t>: 10.1038/nrg2825.</a:t>
            </a:r>
            <a:endParaRPr lang="en-GB" dirty="0"/>
          </a:p>
        </p:txBody>
      </p:sp>
    </p:spTree>
    <p:extLst>
      <p:ext uri="{BB962C8B-B14F-4D97-AF65-F5344CB8AC3E}">
        <p14:creationId xmlns:p14="http://schemas.microsoft.com/office/powerpoint/2010/main" val="40292186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Shape 859"/>
        <p:cNvGrpSpPr/>
        <p:nvPr/>
      </p:nvGrpSpPr>
      <p:grpSpPr>
        <a:xfrm>
          <a:off x="0" y="0"/>
          <a:ext cx="0" cy="0"/>
          <a:chOff x="0" y="0"/>
          <a:chExt cx="0" cy="0"/>
        </a:xfrm>
      </p:grpSpPr>
      <p:pic>
        <p:nvPicPr>
          <p:cNvPr id="860" name="Google Shape;860;p64"/>
          <p:cNvPicPr preferRelativeResize="0"/>
          <p:nvPr/>
        </p:nvPicPr>
        <p:blipFill>
          <a:blip r:embed="rId3">
            <a:alphaModFix/>
          </a:blip>
          <a:stretch>
            <a:fillRect/>
          </a:stretch>
        </p:blipFill>
        <p:spPr>
          <a:xfrm>
            <a:off x="7313525" y="5764267"/>
            <a:ext cx="7974050" cy="7383375"/>
          </a:xfrm>
          <a:prstGeom prst="rect">
            <a:avLst/>
          </a:prstGeom>
          <a:noFill/>
          <a:ln>
            <a:noFill/>
          </a:ln>
        </p:spPr>
      </p:pic>
      <p:sp>
        <p:nvSpPr>
          <p:cNvPr id="861" name="Google Shape;861;p64"/>
          <p:cNvSpPr txBox="1">
            <a:spLocks noGrp="1"/>
          </p:cNvSpPr>
          <p:nvPr>
            <p:ph type="title"/>
          </p:nvPr>
        </p:nvSpPr>
        <p:spPr>
          <a:xfrm>
            <a:off x="1206500" y="1079500"/>
            <a:ext cx="23177400" cy="1433100"/>
          </a:xfrm>
          <a:prstGeom prst="rect">
            <a:avLst/>
          </a:prstGeom>
          <a:noFill/>
          <a:ln>
            <a:noFill/>
          </a:ln>
        </p:spPr>
        <p:txBody>
          <a:bodyPr spcFirstLastPara="1" wrap="square" lIns="50800" tIns="50800" rIns="50800" bIns="50800" anchor="t" anchorCtr="0">
            <a:normAutofit fontScale="90000"/>
          </a:bodyPr>
          <a:lstStyle/>
          <a:p>
            <a:pPr marL="0" marR="0" lvl="0" indent="0" algn="l" rtl="0">
              <a:lnSpc>
                <a:spcPct val="80000"/>
              </a:lnSpc>
              <a:spcBef>
                <a:spcPts val="0"/>
              </a:spcBef>
              <a:spcAft>
                <a:spcPts val="0"/>
              </a:spcAft>
              <a:buClr>
                <a:srgbClr val="000000"/>
              </a:buClr>
              <a:buSzPts val="7480"/>
              <a:buFont typeface="Avenir"/>
              <a:buNone/>
            </a:pPr>
            <a:r>
              <a:rPr lang="en-US" sz="7480" b="0">
                <a:latin typeface="Avenir"/>
                <a:ea typeface="Avenir"/>
                <a:cs typeface="Avenir"/>
                <a:sym typeface="Avenir"/>
              </a:rPr>
              <a:t>Statistical Aspects of Differential Expression Analysis</a:t>
            </a:r>
            <a:endParaRPr/>
          </a:p>
        </p:txBody>
      </p:sp>
      <p:sp>
        <p:nvSpPr>
          <p:cNvPr id="862" name="Google Shape;862;p64"/>
          <p:cNvSpPr txBox="1"/>
          <p:nvPr/>
        </p:nvSpPr>
        <p:spPr>
          <a:xfrm>
            <a:off x="2904867" y="3639018"/>
            <a:ext cx="18574200" cy="1580400"/>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000000"/>
              </a:buClr>
              <a:buSzPts val="4800"/>
              <a:buFont typeface="Avenir"/>
              <a:buNone/>
            </a:pPr>
            <a:r>
              <a:rPr lang="en-US" sz="4800" b="0" i="0" u="none" strike="noStrike" cap="none" dirty="0">
                <a:solidFill>
                  <a:srgbClr val="000000"/>
                </a:solidFill>
                <a:latin typeface="Avenir"/>
                <a:ea typeface="Avenir"/>
                <a:cs typeface="Avenir"/>
                <a:sym typeface="Avenir"/>
              </a:rPr>
              <a:t>Model the expression of each gene as linear combination of explanatory factors (</a:t>
            </a:r>
            <a:r>
              <a:rPr lang="en-US" sz="4800" b="0" i="0" u="none" strike="noStrike" cap="none" dirty="0" err="1">
                <a:solidFill>
                  <a:srgbClr val="000000"/>
                </a:solidFill>
                <a:latin typeface="Avenir"/>
                <a:ea typeface="Avenir"/>
                <a:cs typeface="Avenir"/>
                <a:sym typeface="Avenir"/>
              </a:rPr>
              <a:t>eg.</a:t>
            </a:r>
            <a:r>
              <a:rPr lang="en-US" sz="4800" b="0" i="0" u="none" strike="noStrike" cap="none" dirty="0">
                <a:solidFill>
                  <a:srgbClr val="000000"/>
                </a:solidFill>
                <a:latin typeface="Avenir"/>
                <a:ea typeface="Avenir"/>
                <a:cs typeface="Avenir"/>
                <a:sym typeface="Avenir"/>
              </a:rPr>
              <a:t> treatment, age, sex, batch etc.) </a:t>
            </a:r>
            <a:endParaRPr dirty="0"/>
          </a:p>
        </p:txBody>
      </p:sp>
      <p:sp>
        <p:nvSpPr>
          <p:cNvPr id="863" name="Google Shape;863;p64"/>
          <p:cNvSpPr txBox="1"/>
          <p:nvPr/>
        </p:nvSpPr>
        <p:spPr>
          <a:xfrm>
            <a:off x="1206500" y="2810540"/>
            <a:ext cx="21971100" cy="1433100"/>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5E5E5E"/>
              </a:buClr>
              <a:buSzPts val="5600"/>
              <a:buFont typeface="Avenir"/>
              <a:buNone/>
            </a:pPr>
            <a:r>
              <a:rPr lang="en-US" sz="5600" b="0" i="0" u="none" strike="noStrike" cap="none">
                <a:solidFill>
                  <a:srgbClr val="5E5E5E"/>
                </a:solidFill>
                <a:latin typeface="Avenir"/>
                <a:ea typeface="Avenir"/>
                <a:cs typeface="Avenir"/>
                <a:sym typeface="Avenir"/>
              </a:rPr>
              <a:t>Linear Modeling</a:t>
            </a:r>
            <a:endParaRPr/>
          </a:p>
        </p:txBody>
      </p:sp>
      <p:pic>
        <p:nvPicPr>
          <p:cNvPr id="864" name="Google Shape;864;p64"/>
          <p:cNvPicPr preferRelativeResize="0"/>
          <p:nvPr/>
        </p:nvPicPr>
        <p:blipFill>
          <a:blip r:embed="rId4">
            <a:alphaModFix/>
          </a:blip>
          <a:stretch>
            <a:fillRect/>
          </a:stretch>
        </p:blipFill>
        <p:spPr>
          <a:xfrm rot="5400000" flipH="1">
            <a:off x="10064412" y="8786887"/>
            <a:ext cx="2761100" cy="1519325"/>
          </a:xfrm>
          <a:prstGeom prst="rect">
            <a:avLst/>
          </a:prstGeom>
          <a:noFill/>
          <a:ln>
            <a:noFill/>
          </a:ln>
        </p:spPr>
      </p:pic>
      <p:pic>
        <p:nvPicPr>
          <p:cNvPr id="865" name="Google Shape;865;p64"/>
          <p:cNvPicPr preferRelativeResize="0"/>
          <p:nvPr/>
        </p:nvPicPr>
        <p:blipFill>
          <a:blip r:embed="rId4">
            <a:alphaModFix/>
          </a:blip>
          <a:stretch>
            <a:fillRect/>
          </a:stretch>
        </p:blipFill>
        <p:spPr>
          <a:xfrm rot="5400000" flipH="1">
            <a:off x="12918762" y="6633812"/>
            <a:ext cx="2761100" cy="151932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Shape 872"/>
        <p:cNvGrpSpPr/>
        <p:nvPr/>
      </p:nvGrpSpPr>
      <p:grpSpPr>
        <a:xfrm>
          <a:off x="0" y="0"/>
          <a:ext cx="0" cy="0"/>
          <a:chOff x="0" y="0"/>
          <a:chExt cx="0" cy="0"/>
        </a:xfrm>
      </p:grpSpPr>
      <p:pic>
        <p:nvPicPr>
          <p:cNvPr id="873" name="Google Shape;873;p65" descr="Image"/>
          <p:cNvPicPr preferRelativeResize="0"/>
          <p:nvPr/>
        </p:nvPicPr>
        <p:blipFill rotWithShape="1">
          <a:blip r:embed="rId3">
            <a:alphaModFix/>
          </a:blip>
          <a:srcRect/>
          <a:stretch/>
        </p:blipFill>
        <p:spPr>
          <a:xfrm>
            <a:off x="432817" y="4897147"/>
            <a:ext cx="8941361" cy="6527480"/>
          </a:xfrm>
          <a:prstGeom prst="rect">
            <a:avLst/>
          </a:prstGeom>
          <a:noFill/>
          <a:ln>
            <a:noFill/>
          </a:ln>
        </p:spPr>
      </p:pic>
      <p:sp>
        <p:nvSpPr>
          <p:cNvPr id="874" name="Google Shape;874;p65"/>
          <p:cNvSpPr txBox="1"/>
          <p:nvPr/>
        </p:nvSpPr>
        <p:spPr>
          <a:xfrm>
            <a:off x="9567860" y="4778347"/>
            <a:ext cx="13424060" cy="46101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000000"/>
              </a:buClr>
              <a:buSzPts val="3600"/>
              <a:buFont typeface="Avenir"/>
              <a:buNone/>
            </a:pPr>
            <a:r>
              <a:rPr lang="en-US" sz="3600" b="0" i="0" u="none" strike="noStrike" cap="none">
                <a:solidFill>
                  <a:srgbClr val="000000"/>
                </a:solidFill>
                <a:latin typeface="Avenir"/>
                <a:ea typeface="Avenir"/>
                <a:cs typeface="Avenir"/>
                <a:sym typeface="Avenir"/>
              </a:rPr>
              <a:t>This plot illustrates some common features of RNA-seq count data:</a:t>
            </a:r>
            <a:endParaRPr/>
          </a:p>
          <a:p>
            <a:pPr marL="457200" marR="0" lvl="0" indent="-317500" algn="l" rtl="0">
              <a:lnSpc>
                <a:spcPct val="100000"/>
              </a:lnSpc>
              <a:spcBef>
                <a:spcPts val="0"/>
              </a:spcBef>
              <a:spcAft>
                <a:spcPts val="0"/>
              </a:spcAft>
              <a:buClr>
                <a:srgbClr val="000000"/>
              </a:buClr>
              <a:buSzPts val="4428"/>
              <a:buFont typeface="Times"/>
              <a:buChar char="•"/>
            </a:pPr>
            <a:r>
              <a:rPr lang="en-US" sz="3600" b="0" i="0" u="none" strike="noStrike" cap="none">
                <a:solidFill>
                  <a:srgbClr val="000000"/>
                </a:solidFill>
                <a:latin typeface="Avenir"/>
                <a:ea typeface="Avenir"/>
                <a:cs typeface="Avenir"/>
                <a:sym typeface="Avenir"/>
              </a:rPr>
              <a:t>a low number of counts associated with a large proportion of genes</a:t>
            </a:r>
            <a:endParaRPr/>
          </a:p>
          <a:p>
            <a:pPr marL="457200" marR="0" lvl="0" indent="-317500" algn="l" rtl="0">
              <a:lnSpc>
                <a:spcPct val="100000"/>
              </a:lnSpc>
              <a:spcBef>
                <a:spcPts val="0"/>
              </a:spcBef>
              <a:spcAft>
                <a:spcPts val="0"/>
              </a:spcAft>
              <a:buClr>
                <a:srgbClr val="000000"/>
              </a:buClr>
              <a:buSzPts val="4428"/>
              <a:buFont typeface="Times"/>
              <a:buChar char="•"/>
            </a:pPr>
            <a:r>
              <a:rPr lang="en-US" sz="3600" b="0" i="0" u="none" strike="noStrike" cap="none">
                <a:solidFill>
                  <a:srgbClr val="000000"/>
                </a:solidFill>
                <a:latin typeface="Avenir"/>
                <a:ea typeface="Avenir"/>
                <a:cs typeface="Avenir"/>
                <a:sym typeface="Avenir"/>
              </a:rPr>
              <a:t>a long right tail due to the lack of any upper limit for expression</a:t>
            </a:r>
            <a:endParaRPr/>
          </a:p>
          <a:p>
            <a:pPr marL="457200" marR="0" lvl="0" indent="-317500" algn="l" rtl="0">
              <a:lnSpc>
                <a:spcPct val="100000"/>
              </a:lnSpc>
              <a:spcBef>
                <a:spcPts val="0"/>
              </a:spcBef>
              <a:spcAft>
                <a:spcPts val="0"/>
              </a:spcAft>
              <a:buClr>
                <a:srgbClr val="000000"/>
              </a:buClr>
              <a:buSzPts val="4428"/>
              <a:buFont typeface="Times"/>
              <a:buChar char="•"/>
            </a:pPr>
            <a:r>
              <a:rPr lang="en-US" sz="3600" b="0" i="0" u="none" strike="noStrike" cap="none">
                <a:solidFill>
                  <a:srgbClr val="000000"/>
                </a:solidFill>
                <a:latin typeface="Avenir"/>
                <a:ea typeface="Avenir"/>
                <a:cs typeface="Avenir"/>
                <a:sym typeface="Avenir"/>
              </a:rPr>
              <a:t>large dynamic range</a:t>
            </a:r>
            <a:endParaRPr/>
          </a:p>
        </p:txBody>
      </p:sp>
      <p:sp>
        <p:nvSpPr>
          <p:cNvPr id="875" name="Google Shape;875;p65"/>
          <p:cNvSpPr txBox="1">
            <a:spLocks noGrp="1"/>
          </p:cNvSpPr>
          <p:nvPr>
            <p:ph type="title" idx="4294967295"/>
          </p:nvPr>
        </p:nvSpPr>
        <p:spPr>
          <a:xfrm>
            <a:off x="1206500" y="1079500"/>
            <a:ext cx="23177500" cy="1433513"/>
          </a:xfrm>
          <a:prstGeom prst="rect">
            <a:avLst/>
          </a:prstGeom>
          <a:noFill/>
          <a:ln>
            <a:noFill/>
          </a:ln>
        </p:spPr>
        <p:txBody>
          <a:bodyPr spcFirstLastPara="1" wrap="square" lIns="50800" tIns="50800" rIns="50800" bIns="50800" anchor="t" anchorCtr="0">
            <a:normAutofit fontScale="90000"/>
          </a:bodyPr>
          <a:lstStyle/>
          <a:p>
            <a:pPr marL="0" marR="0" lvl="0" indent="0" algn="l" rtl="0">
              <a:lnSpc>
                <a:spcPct val="80000"/>
              </a:lnSpc>
              <a:spcBef>
                <a:spcPts val="0"/>
              </a:spcBef>
              <a:spcAft>
                <a:spcPts val="0"/>
              </a:spcAft>
              <a:buClr>
                <a:srgbClr val="000000"/>
              </a:buClr>
              <a:buSzPts val="7480"/>
              <a:buFont typeface="Avenir"/>
              <a:buNone/>
            </a:pPr>
            <a:r>
              <a:rPr lang="en-US" sz="7480" b="0">
                <a:latin typeface="Avenir"/>
                <a:ea typeface="Avenir"/>
                <a:cs typeface="Avenir"/>
                <a:sym typeface="Avenir"/>
              </a:rPr>
              <a:t>Statistical Aspects of Differential Expression Analysis</a:t>
            </a:r>
            <a:endParaRPr/>
          </a:p>
        </p:txBody>
      </p:sp>
      <p:sp>
        <p:nvSpPr>
          <p:cNvPr id="876" name="Google Shape;876;p65"/>
          <p:cNvSpPr txBox="1"/>
          <p:nvPr/>
        </p:nvSpPr>
        <p:spPr>
          <a:xfrm>
            <a:off x="9668192" y="9554180"/>
            <a:ext cx="13223396" cy="13462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000000"/>
              </a:buClr>
              <a:buSzPts val="3600"/>
              <a:buFont typeface="Avenir"/>
              <a:buNone/>
            </a:pPr>
            <a:r>
              <a:rPr lang="en-US" sz="3600" b="0" i="0" u="none" strike="noStrike" cap="none">
                <a:solidFill>
                  <a:srgbClr val="000000"/>
                </a:solidFill>
                <a:latin typeface="Avenir"/>
                <a:ea typeface="Avenir"/>
                <a:cs typeface="Avenir"/>
                <a:sym typeface="Avenir"/>
              </a:rPr>
              <a:t>Looking at the shape of the histogram, we see that it is not normally distributed.</a:t>
            </a:r>
            <a:endParaRPr/>
          </a:p>
        </p:txBody>
      </p:sp>
      <p:sp>
        <p:nvSpPr>
          <p:cNvPr id="877" name="Google Shape;877;p65"/>
          <p:cNvSpPr txBox="1"/>
          <p:nvPr/>
        </p:nvSpPr>
        <p:spPr>
          <a:xfrm>
            <a:off x="1206500" y="3023900"/>
            <a:ext cx="21971100" cy="1433100"/>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5E5E5E"/>
              </a:buClr>
              <a:buSzPts val="5600"/>
              <a:buFont typeface="Avenir"/>
              <a:buNone/>
            </a:pPr>
            <a:r>
              <a:rPr lang="en-US" sz="5600" b="0" i="0" u="none" strike="noStrike" cap="none" dirty="0">
                <a:solidFill>
                  <a:srgbClr val="5E5E5E"/>
                </a:solidFill>
                <a:latin typeface="Avenir"/>
                <a:ea typeface="Avenir"/>
                <a:cs typeface="Avenir"/>
                <a:sym typeface="Avenir"/>
              </a:rPr>
              <a:t>Characteristics of RNA-seq data</a:t>
            </a:r>
            <a:endParaRPr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Shape 881"/>
        <p:cNvGrpSpPr/>
        <p:nvPr/>
      </p:nvGrpSpPr>
      <p:grpSpPr>
        <a:xfrm>
          <a:off x="0" y="0"/>
          <a:ext cx="0" cy="0"/>
          <a:chOff x="0" y="0"/>
          <a:chExt cx="0" cy="0"/>
        </a:xfrm>
      </p:grpSpPr>
      <p:sp>
        <p:nvSpPr>
          <p:cNvPr id="882" name="Google Shape;882;p66"/>
          <p:cNvSpPr txBox="1"/>
          <p:nvPr/>
        </p:nvSpPr>
        <p:spPr>
          <a:xfrm>
            <a:off x="9567860" y="5143100"/>
            <a:ext cx="13424060" cy="13462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000000"/>
              </a:buClr>
              <a:buSzPts val="3600"/>
              <a:buFont typeface="Avenir"/>
              <a:buNone/>
            </a:pPr>
            <a:r>
              <a:rPr lang="en-US" sz="3600" b="0" i="0" u="none" strike="noStrike" cap="none">
                <a:solidFill>
                  <a:srgbClr val="000000"/>
                </a:solidFill>
                <a:latin typeface="Avenir"/>
                <a:ea typeface="Avenir"/>
                <a:cs typeface="Avenir"/>
                <a:sym typeface="Avenir"/>
              </a:rPr>
              <a:t>To assess the properties of the data we are working with, we can look at the mean-variance relationship.</a:t>
            </a:r>
            <a:endParaRPr/>
          </a:p>
        </p:txBody>
      </p:sp>
      <p:sp>
        <p:nvSpPr>
          <p:cNvPr id="883" name="Google Shape;883;p66"/>
          <p:cNvSpPr txBox="1">
            <a:spLocks noGrp="1"/>
          </p:cNvSpPr>
          <p:nvPr>
            <p:ph type="title" idx="4294967295"/>
          </p:nvPr>
        </p:nvSpPr>
        <p:spPr>
          <a:xfrm>
            <a:off x="1206500" y="1079500"/>
            <a:ext cx="23177500" cy="1433513"/>
          </a:xfrm>
          <a:prstGeom prst="rect">
            <a:avLst/>
          </a:prstGeom>
          <a:noFill/>
          <a:ln>
            <a:noFill/>
          </a:ln>
        </p:spPr>
        <p:txBody>
          <a:bodyPr spcFirstLastPara="1" wrap="square" lIns="50800" tIns="50800" rIns="50800" bIns="50800" anchor="t" anchorCtr="0">
            <a:normAutofit fontScale="90000"/>
          </a:bodyPr>
          <a:lstStyle/>
          <a:p>
            <a:pPr marL="0" marR="0" lvl="0" indent="0" algn="l" rtl="0">
              <a:lnSpc>
                <a:spcPct val="80000"/>
              </a:lnSpc>
              <a:spcBef>
                <a:spcPts val="0"/>
              </a:spcBef>
              <a:spcAft>
                <a:spcPts val="0"/>
              </a:spcAft>
              <a:buClr>
                <a:srgbClr val="000000"/>
              </a:buClr>
              <a:buSzPts val="7480"/>
              <a:buFont typeface="Avenir"/>
              <a:buNone/>
            </a:pPr>
            <a:r>
              <a:rPr lang="en-US" sz="7480" b="0">
                <a:latin typeface="Avenir"/>
                <a:ea typeface="Avenir"/>
                <a:cs typeface="Avenir"/>
                <a:sym typeface="Avenir"/>
              </a:rPr>
              <a:t>Statistical Aspects of Differential Expression Analysis</a:t>
            </a:r>
            <a:endParaRPr/>
          </a:p>
        </p:txBody>
      </p:sp>
      <p:sp>
        <p:nvSpPr>
          <p:cNvPr id="884" name="Google Shape;884;p66"/>
          <p:cNvSpPr txBox="1"/>
          <p:nvPr/>
        </p:nvSpPr>
        <p:spPr>
          <a:xfrm>
            <a:off x="9631904" y="9119737"/>
            <a:ext cx="13223396" cy="19685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000000"/>
              </a:buClr>
              <a:buSzPts val="3600"/>
              <a:buFont typeface="Avenir"/>
              <a:buNone/>
            </a:pPr>
            <a:r>
              <a:rPr lang="en-US" sz="3600" b="0" i="0" u="none" strike="noStrike" cap="none">
                <a:solidFill>
                  <a:srgbClr val="000000"/>
                </a:solidFill>
                <a:latin typeface="Avenir"/>
                <a:ea typeface="Avenir"/>
                <a:cs typeface="Avenir"/>
                <a:sym typeface="Avenir"/>
              </a:rPr>
              <a:t>Essentially, the Negative Binomial is a good approximation for data where the mean &lt; variance, as is the case with RNA-Seq count data.</a:t>
            </a:r>
            <a:endParaRPr/>
          </a:p>
        </p:txBody>
      </p:sp>
      <p:pic>
        <p:nvPicPr>
          <p:cNvPr id="885" name="Google Shape;885;p66" descr="Image"/>
          <p:cNvPicPr preferRelativeResize="0"/>
          <p:nvPr/>
        </p:nvPicPr>
        <p:blipFill rotWithShape="1">
          <a:blip r:embed="rId3">
            <a:alphaModFix/>
          </a:blip>
          <a:srcRect/>
          <a:stretch/>
        </p:blipFill>
        <p:spPr>
          <a:xfrm>
            <a:off x="149452" y="5212408"/>
            <a:ext cx="9067578" cy="6149675"/>
          </a:xfrm>
          <a:prstGeom prst="rect">
            <a:avLst/>
          </a:prstGeom>
          <a:noFill/>
          <a:ln>
            <a:noFill/>
          </a:ln>
        </p:spPr>
      </p:pic>
      <p:sp>
        <p:nvSpPr>
          <p:cNvPr id="886" name="Google Shape;886;p66"/>
          <p:cNvSpPr txBox="1"/>
          <p:nvPr/>
        </p:nvSpPr>
        <p:spPr>
          <a:xfrm>
            <a:off x="9531573" y="6778626"/>
            <a:ext cx="13424058" cy="19685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000000"/>
              </a:buClr>
              <a:buSzPts val="3600"/>
              <a:buFont typeface="Avenir"/>
              <a:buNone/>
            </a:pPr>
            <a:r>
              <a:rPr lang="en-US" sz="3600" b="0" i="0" u="none" strike="noStrike" cap="none" dirty="0">
                <a:solidFill>
                  <a:srgbClr val="000000"/>
                </a:solidFill>
                <a:latin typeface="Avenir"/>
                <a:ea typeface="Avenir"/>
                <a:cs typeface="Avenir"/>
                <a:sym typeface="Avenir"/>
              </a:rPr>
              <a:t>For the genes with high mean expression, the variance across replicates tends to be greater than the mean (scatter is above the red line).</a:t>
            </a:r>
            <a:endParaRPr dirty="0"/>
          </a:p>
        </p:txBody>
      </p:sp>
      <p:sp>
        <p:nvSpPr>
          <p:cNvPr id="887" name="Google Shape;887;p66"/>
          <p:cNvSpPr txBox="1"/>
          <p:nvPr/>
        </p:nvSpPr>
        <p:spPr>
          <a:xfrm>
            <a:off x="1206500" y="3111620"/>
            <a:ext cx="21971100" cy="1433100"/>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5E5E5E"/>
              </a:buClr>
              <a:buSzPts val="5600"/>
              <a:buFont typeface="Avenir"/>
              <a:buNone/>
            </a:pPr>
            <a:r>
              <a:rPr lang="en-US" sz="5600" b="0" i="0" u="none" strike="noStrike" cap="none" dirty="0">
                <a:solidFill>
                  <a:srgbClr val="5E5E5E"/>
                </a:solidFill>
                <a:latin typeface="Avenir"/>
                <a:ea typeface="Avenir"/>
                <a:cs typeface="Avenir"/>
                <a:sym typeface="Avenir"/>
              </a:rPr>
              <a:t>Characteristics of RNA-seq data</a:t>
            </a:r>
            <a:endParaRPr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Shape 933"/>
        <p:cNvGrpSpPr/>
        <p:nvPr/>
      </p:nvGrpSpPr>
      <p:grpSpPr>
        <a:xfrm>
          <a:off x="0" y="0"/>
          <a:ext cx="0" cy="0"/>
          <a:chOff x="0" y="0"/>
          <a:chExt cx="0" cy="0"/>
        </a:xfrm>
      </p:grpSpPr>
      <p:sp>
        <p:nvSpPr>
          <p:cNvPr id="934" name="Google Shape;934;p70"/>
          <p:cNvSpPr txBox="1">
            <a:spLocks noGrp="1"/>
          </p:cNvSpPr>
          <p:nvPr>
            <p:ph type="title"/>
          </p:nvPr>
        </p:nvSpPr>
        <p:spPr>
          <a:xfrm>
            <a:off x="1206500" y="1079500"/>
            <a:ext cx="23177400" cy="1433100"/>
          </a:xfrm>
          <a:prstGeom prst="rect">
            <a:avLst/>
          </a:prstGeom>
          <a:noFill/>
          <a:ln>
            <a:noFill/>
          </a:ln>
        </p:spPr>
        <p:txBody>
          <a:bodyPr spcFirstLastPara="1" wrap="square" lIns="50800" tIns="50800" rIns="50800" bIns="50800" anchor="t" anchorCtr="0">
            <a:normAutofit fontScale="90000"/>
          </a:bodyPr>
          <a:lstStyle/>
          <a:p>
            <a:pPr marL="0" marR="0" lvl="0" indent="0" algn="l" rtl="0">
              <a:lnSpc>
                <a:spcPct val="80000"/>
              </a:lnSpc>
              <a:spcBef>
                <a:spcPts val="0"/>
              </a:spcBef>
              <a:spcAft>
                <a:spcPts val="0"/>
              </a:spcAft>
              <a:buClr>
                <a:srgbClr val="000000"/>
              </a:buClr>
              <a:buSzPts val="7480"/>
              <a:buFont typeface="Avenir"/>
              <a:buNone/>
            </a:pPr>
            <a:r>
              <a:rPr lang="en-US" sz="7480" b="0">
                <a:latin typeface="Avenir"/>
                <a:ea typeface="Avenir"/>
                <a:cs typeface="Avenir"/>
                <a:sym typeface="Avenir"/>
              </a:rPr>
              <a:t>Statistical Aspects of Differential Expression Analysis</a:t>
            </a:r>
            <a:endParaRPr/>
          </a:p>
        </p:txBody>
      </p:sp>
      <p:sp>
        <p:nvSpPr>
          <p:cNvPr id="935" name="Google Shape;935;p70"/>
          <p:cNvSpPr txBox="1"/>
          <p:nvPr/>
        </p:nvSpPr>
        <p:spPr>
          <a:xfrm>
            <a:off x="2904900" y="2828572"/>
            <a:ext cx="18574200" cy="841256"/>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000000"/>
              </a:buClr>
              <a:buSzPts val="4800"/>
              <a:buFont typeface="Avenir"/>
              <a:buNone/>
            </a:pPr>
            <a:r>
              <a:rPr lang="en-US" sz="4800" b="0" i="0" u="none" strike="noStrike" cap="none" dirty="0">
                <a:solidFill>
                  <a:srgbClr val="000000"/>
                </a:solidFill>
                <a:latin typeface="Avenir"/>
                <a:ea typeface="Avenir"/>
                <a:cs typeface="Avenir"/>
                <a:sym typeface="Avenir"/>
              </a:rPr>
              <a:t>How we estimate dispersion in DESEQ2</a:t>
            </a:r>
            <a:endParaRPr dirty="0"/>
          </a:p>
        </p:txBody>
      </p:sp>
      <p:pic>
        <p:nvPicPr>
          <p:cNvPr id="941" name="Google Shape;941;p70"/>
          <p:cNvPicPr preferRelativeResize="0"/>
          <p:nvPr/>
        </p:nvPicPr>
        <p:blipFill rotWithShape="1">
          <a:blip r:embed="rId3">
            <a:alphaModFix/>
          </a:blip>
          <a:srcRect l="51964"/>
          <a:stretch/>
        </p:blipFill>
        <p:spPr>
          <a:xfrm>
            <a:off x="12192000" y="4004492"/>
            <a:ext cx="8254854" cy="9019788"/>
          </a:xfrm>
          <a:prstGeom prst="rect">
            <a:avLst/>
          </a:prstGeom>
          <a:noFill/>
          <a:ln>
            <a:noFill/>
          </a:ln>
        </p:spPr>
      </p:pic>
      <p:pic>
        <p:nvPicPr>
          <p:cNvPr id="3" name="Picture 2" descr="A blue rectangles with black text&#10;&#10;Description automatically generated">
            <a:extLst>
              <a:ext uri="{FF2B5EF4-FFF2-40B4-BE49-F238E27FC236}">
                <a16:creationId xmlns:a16="http://schemas.microsoft.com/office/drawing/2014/main" id="{30CE006E-B91E-4A83-5F6A-0D02AC9624EA}"/>
              </a:ext>
            </a:extLst>
          </p:cNvPr>
          <p:cNvPicPr>
            <a:picLocks noChangeAspect="1"/>
          </p:cNvPicPr>
          <p:nvPr/>
        </p:nvPicPr>
        <p:blipFill>
          <a:blip r:embed="rId4"/>
          <a:stretch>
            <a:fillRect/>
          </a:stretch>
        </p:blipFill>
        <p:spPr>
          <a:xfrm>
            <a:off x="2795703" y="3959887"/>
            <a:ext cx="4586404" cy="8810426"/>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graph&#10;&#10;Description automatically generated">
            <a:extLst>
              <a:ext uri="{FF2B5EF4-FFF2-40B4-BE49-F238E27FC236}">
                <a16:creationId xmlns:a16="http://schemas.microsoft.com/office/drawing/2014/main" id="{20EA94F9-EF68-7CB4-B81F-D05400DB4B6F}"/>
              </a:ext>
            </a:extLst>
          </p:cNvPr>
          <p:cNvPicPr>
            <a:picLocks noChangeAspect="1"/>
          </p:cNvPicPr>
          <p:nvPr/>
        </p:nvPicPr>
        <p:blipFill>
          <a:blip r:embed="rId2"/>
          <a:stretch>
            <a:fillRect/>
          </a:stretch>
        </p:blipFill>
        <p:spPr>
          <a:xfrm>
            <a:off x="4427505" y="7125624"/>
            <a:ext cx="16423417" cy="6116305"/>
          </a:xfrm>
          <a:prstGeom prst="rect">
            <a:avLst/>
          </a:prstGeom>
        </p:spPr>
      </p:pic>
      <p:pic>
        <p:nvPicPr>
          <p:cNvPr id="5" name="Picture 4" descr="A diagram of a graph&#10;&#10;Description automatically generated with medium confidence">
            <a:extLst>
              <a:ext uri="{FF2B5EF4-FFF2-40B4-BE49-F238E27FC236}">
                <a16:creationId xmlns:a16="http://schemas.microsoft.com/office/drawing/2014/main" id="{344AE583-4271-5405-D181-084B2DC6775F}"/>
              </a:ext>
            </a:extLst>
          </p:cNvPr>
          <p:cNvPicPr>
            <a:picLocks noChangeAspect="1"/>
          </p:cNvPicPr>
          <p:nvPr/>
        </p:nvPicPr>
        <p:blipFill>
          <a:blip r:embed="rId3"/>
          <a:stretch>
            <a:fillRect/>
          </a:stretch>
        </p:blipFill>
        <p:spPr>
          <a:xfrm>
            <a:off x="8412743" y="741695"/>
            <a:ext cx="7558513" cy="6690768"/>
          </a:xfrm>
          <a:prstGeom prst="rect">
            <a:avLst/>
          </a:prstGeom>
        </p:spPr>
      </p:pic>
      <p:sp>
        <p:nvSpPr>
          <p:cNvPr id="6" name="TextBox 5">
            <a:extLst>
              <a:ext uri="{FF2B5EF4-FFF2-40B4-BE49-F238E27FC236}">
                <a16:creationId xmlns:a16="http://schemas.microsoft.com/office/drawing/2014/main" id="{0EC910F3-0048-75F7-DE3B-C6D7E5E48E98}"/>
              </a:ext>
            </a:extLst>
          </p:cNvPr>
          <p:cNvSpPr txBox="1"/>
          <p:nvPr/>
        </p:nvSpPr>
        <p:spPr>
          <a:xfrm>
            <a:off x="1360450" y="2742708"/>
            <a:ext cx="5464097" cy="1200329"/>
          </a:xfrm>
          <a:prstGeom prst="rect">
            <a:avLst/>
          </a:prstGeom>
          <a:noFill/>
        </p:spPr>
        <p:txBody>
          <a:bodyPr wrap="square" rtlCol="0">
            <a:spAutoFit/>
          </a:bodyPr>
          <a:lstStyle/>
          <a:p>
            <a:r>
              <a:rPr lang="en-US" sz="7200" b="1" dirty="0">
                <a:solidFill>
                  <a:schemeClr val="bg2"/>
                </a:solidFill>
              </a:rPr>
              <a:t>Good:</a:t>
            </a:r>
          </a:p>
        </p:txBody>
      </p:sp>
      <p:sp>
        <p:nvSpPr>
          <p:cNvPr id="7" name="TextBox 6">
            <a:extLst>
              <a:ext uri="{FF2B5EF4-FFF2-40B4-BE49-F238E27FC236}">
                <a16:creationId xmlns:a16="http://schemas.microsoft.com/office/drawing/2014/main" id="{F1617E52-7C9E-150B-D7D5-B5A470F6B3C9}"/>
              </a:ext>
            </a:extLst>
          </p:cNvPr>
          <p:cNvSpPr txBox="1"/>
          <p:nvPr/>
        </p:nvSpPr>
        <p:spPr>
          <a:xfrm>
            <a:off x="801029" y="9722111"/>
            <a:ext cx="5464097" cy="1200329"/>
          </a:xfrm>
          <a:prstGeom prst="rect">
            <a:avLst/>
          </a:prstGeom>
          <a:noFill/>
        </p:spPr>
        <p:txBody>
          <a:bodyPr wrap="square" rtlCol="0">
            <a:spAutoFit/>
          </a:bodyPr>
          <a:lstStyle/>
          <a:p>
            <a:r>
              <a:rPr lang="en-US" sz="7200" b="1" dirty="0">
                <a:solidFill>
                  <a:schemeClr val="bg2"/>
                </a:solidFill>
              </a:rPr>
              <a:t>Bad:</a:t>
            </a:r>
          </a:p>
        </p:txBody>
      </p:sp>
    </p:spTree>
    <p:extLst>
      <p:ext uri="{BB962C8B-B14F-4D97-AF65-F5344CB8AC3E}">
        <p14:creationId xmlns:p14="http://schemas.microsoft.com/office/powerpoint/2010/main" val="39712602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Shape 961"/>
        <p:cNvGrpSpPr/>
        <p:nvPr/>
      </p:nvGrpSpPr>
      <p:grpSpPr>
        <a:xfrm>
          <a:off x="0" y="0"/>
          <a:ext cx="0" cy="0"/>
          <a:chOff x="0" y="0"/>
          <a:chExt cx="0" cy="0"/>
        </a:xfrm>
      </p:grpSpPr>
      <p:sp>
        <p:nvSpPr>
          <p:cNvPr id="962" name="Google Shape;962;p72"/>
          <p:cNvSpPr txBox="1">
            <a:spLocks noGrp="1"/>
          </p:cNvSpPr>
          <p:nvPr>
            <p:ph type="title"/>
          </p:nvPr>
        </p:nvSpPr>
        <p:spPr>
          <a:xfrm>
            <a:off x="1206500" y="1079500"/>
            <a:ext cx="23177400" cy="1433100"/>
          </a:xfrm>
          <a:prstGeom prst="rect">
            <a:avLst/>
          </a:prstGeom>
          <a:noFill/>
          <a:ln>
            <a:noFill/>
          </a:ln>
        </p:spPr>
        <p:txBody>
          <a:bodyPr spcFirstLastPara="1" wrap="square" lIns="50800" tIns="50800" rIns="50800" bIns="50800" anchor="t" anchorCtr="0">
            <a:normAutofit fontScale="90000"/>
          </a:bodyPr>
          <a:lstStyle/>
          <a:p>
            <a:pPr marL="0" marR="0" lvl="0" indent="0" algn="l" rtl="0">
              <a:lnSpc>
                <a:spcPct val="80000"/>
              </a:lnSpc>
              <a:spcBef>
                <a:spcPts val="0"/>
              </a:spcBef>
              <a:spcAft>
                <a:spcPts val="0"/>
              </a:spcAft>
              <a:buClr>
                <a:srgbClr val="000000"/>
              </a:buClr>
              <a:buSzPts val="7480"/>
              <a:buFont typeface="Avenir"/>
              <a:buNone/>
            </a:pPr>
            <a:r>
              <a:rPr lang="en-US" sz="7480" b="0">
                <a:latin typeface="Avenir"/>
                <a:ea typeface="Avenir"/>
                <a:cs typeface="Avenir"/>
                <a:sym typeface="Avenir"/>
              </a:rPr>
              <a:t>Statistical Aspects of Differential Expression Analysis</a:t>
            </a:r>
            <a:endParaRPr/>
          </a:p>
        </p:txBody>
      </p:sp>
      <p:sp>
        <p:nvSpPr>
          <p:cNvPr id="964" name="Google Shape;964;p72"/>
          <p:cNvSpPr txBox="1"/>
          <p:nvPr/>
        </p:nvSpPr>
        <p:spPr>
          <a:xfrm>
            <a:off x="1113775" y="7665250"/>
            <a:ext cx="10595400" cy="49641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US" sz="2700" b="1">
                <a:latin typeface="Helvetica Neue"/>
                <a:ea typeface="Helvetica Neue"/>
                <a:cs typeface="Helvetica Neue"/>
                <a:sym typeface="Helvetica Neue"/>
              </a:rPr>
              <a:t>counts</a:t>
            </a:r>
            <a:r>
              <a:rPr lang="en-US" sz="2700">
                <a:latin typeface="Helvetica Neue"/>
                <a:ea typeface="Helvetica Neue"/>
                <a:cs typeface="Helvetica Neue"/>
                <a:sym typeface="Helvetica Neue"/>
              </a:rPr>
              <a:t> - expression of the gene</a:t>
            </a:r>
            <a:endParaRPr sz="2700">
              <a:latin typeface="Helvetica Neue"/>
              <a:ea typeface="Helvetica Neue"/>
              <a:cs typeface="Helvetica Neue"/>
              <a:sym typeface="Helvetica Neue"/>
            </a:endParaRPr>
          </a:p>
          <a:p>
            <a:pPr marL="0" lvl="0" indent="0" algn="l" rtl="0">
              <a:lnSpc>
                <a:spcPct val="150000"/>
              </a:lnSpc>
              <a:spcBef>
                <a:spcPts val="0"/>
              </a:spcBef>
              <a:spcAft>
                <a:spcPts val="0"/>
              </a:spcAft>
              <a:buNone/>
            </a:pPr>
            <a:r>
              <a:rPr lang="en-US" sz="2700" b="1">
                <a:latin typeface="Helvetica Neue"/>
                <a:ea typeface="Helvetica Neue"/>
                <a:cs typeface="Helvetica Neue"/>
                <a:sym typeface="Helvetica Neue"/>
              </a:rPr>
              <a:t>𝞫</a:t>
            </a:r>
            <a:r>
              <a:rPr lang="en-US" sz="2700" b="1" baseline="-25000">
                <a:latin typeface="Helvetica Neue"/>
                <a:ea typeface="Helvetica Neue"/>
                <a:cs typeface="Helvetica Neue"/>
                <a:sym typeface="Helvetica Neue"/>
              </a:rPr>
              <a:t>i </a:t>
            </a:r>
            <a:r>
              <a:rPr lang="en-US" sz="2700">
                <a:latin typeface="Helvetica Neue"/>
                <a:ea typeface="Helvetica Neue"/>
                <a:cs typeface="Helvetica Neue"/>
                <a:sym typeface="Helvetica Neue"/>
              </a:rPr>
              <a:t>- parameters we want to estimate from the data</a:t>
            </a:r>
            <a:endParaRPr sz="2700">
              <a:latin typeface="Helvetica Neue"/>
              <a:ea typeface="Helvetica Neue"/>
              <a:cs typeface="Helvetica Neue"/>
              <a:sym typeface="Helvetica Neue"/>
            </a:endParaRPr>
          </a:p>
          <a:p>
            <a:pPr marL="0" lvl="0" indent="0" algn="l" rtl="0">
              <a:lnSpc>
                <a:spcPct val="150000"/>
              </a:lnSpc>
              <a:spcBef>
                <a:spcPts val="0"/>
              </a:spcBef>
              <a:spcAft>
                <a:spcPts val="0"/>
              </a:spcAft>
              <a:buNone/>
            </a:pPr>
            <a:r>
              <a:rPr lang="en-US" sz="2700" b="1">
                <a:latin typeface="Helvetica Neue"/>
                <a:ea typeface="Helvetica Neue"/>
                <a:cs typeface="Helvetica Neue"/>
                <a:sym typeface="Helvetica Neue"/>
              </a:rPr>
              <a:t>𝞫</a:t>
            </a:r>
            <a:r>
              <a:rPr lang="en-US" sz="2700" b="1" baseline="-25000">
                <a:latin typeface="Helvetica Neue"/>
                <a:ea typeface="Helvetica Neue"/>
                <a:cs typeface="Helvetica Neue"/>
                <a:sym typeface="Helvetica Neue"/>
              </a:rPr>
              <a:t>0</a:t>
            </a:r>
            <a:r>
              <a:rPr lang="en-US" sz="2700">
                <a:latin typeface="Helvetica Neue"/>
                <a:ea typeface="Helvetica Neue"/>
                <a:cs typeface="Helvetica Neue"/>
                <a:sym typeface="Helvetica Neue"/>
              </a:rPr>
              <a:t> - the “intercept” (the value of expression when all other parameters are set at a reference level)</a:t>
            </a:r>
            <a:endParaRPr sz="2700" b="1">
              <a:latin typeface="Helvetica Neue"/>
              <a:ea typeface="Helvetica Neue"/>
              <a:cs typeface="Helvetica Neue"/>
              <a:sym typeface="Helvetica Neue"/>
            </a:endParaRPr>
          </a:p>
          <a:p>
            <a:pPr marL="0" lvl="0" indent="0" algn="l" rtl="0">
              <a:lnSpc>
                <a:spcPct val="150000"/>
              </a:lnSpc>
              <a:spcBef>
                <a:spcPts val="0"/>
              </a:spcBef>
              <a:spcAft>
                <a:spcPts val="0"/>
              </a:spcAft>
              <a:buNone/>
            </a:pPr>
            <a:r>
              <a:rPr lang="en-US" sz="2700" b="1">
                <a:latin typeface="Helvetica Neue"/>
                <a:ea typeface="Helvetica Neue"/>
                <a:cs typeface="Helvetica Neue"/>
                <a:sym typeface="Helvetica Neue"/>
              </a:rPr>
              <a:t>ɸ</a:t>
            </a:r>
            <a:r>
              <a:rPr lang="en-US" sz="2700">
                <a:latin typeface="Helvetica Neue"/>
                <a:ea typeface="Helvetica Neue"/>
                <a:cs typeface="Helvetica Neue"/>
                <a:sym typeface="Helvetica Neue"/>
              </a:rPr>
              <a:t> - the “dispersion” (uncertainty) of our model (also estimated from the data)</a:t>
            </a:r>
            <a:endParaRPr sz="2700">
              <a:latin typeface="Helvetica Neue"/>
              <a:ea typeface="Helvetica Neue"/>
              <a:cs typeface="Helvetica Neue"/>
              <a:sym typeface="Helvetica Neue"/>
            </a:endParaRPr>
          </a:p>
          <a:p>
            <a:pPr marL="0" lvl="0" indent="0" algn="l" rtl="0">
              <a:lnSpc>
                <a:spcPct val="150000"/>
              </a:lnSpc>
              <a:spcBef>
                <a:spcPts val="0"/>
              </a:spcBef>
              <a:spcAft>
                <a:spcPts val="0"/>
              </a:spcAft>
              <a:buNone/>
            </a:pPr>
            <a:r>
              <a:rPr lang="en-US" sz="2700" b="1">
                <a:latin typeface="Helvetica Neue"/>
                <a:ea typeface="Helvetica Neue"/>
                <a:cs typeface="Helvetica Neue"/>
                <a:sym typeface="Helvetica Neue"/>
              </a:rPr>
              <a:t>s</a:t>
            </a:r>
            <a:r>
              <a:rPr lang="en-US" sz="2700">
                <a:latin typeface="Helvetica Neue"/>
                <a:ea typeface="Helvetica Neue"/>
                <a:cs typeface="Helvetica Neue"/>
                <a:sym typeface="Helvetica Neue"/>
              </a:rPr>
              <a:t> - scaling factor (sequencing depth and transcript composition)</a:t>
            </a:r>
            <a:endParaRPr sz="2700">
              <a:latin typeface="Helvetica Neue"/>
              <a:ea typeface="Helvetica Neue"/>
              <a:cs typeface="Helvetica Neue"/>
              <a:sym typeface="Helvetica Neue"/>
            </a:endParaRPr>
          </a:p>
          <a:p>
            <a:pPr marL="0" lvl="0" indent="0" algn="l" rtl="0">
              <a:lnSpc>
                <a:spcPct val="150000"/>
              </a:lnSpc>
              <a:spcBef>
                <a:spcPts val="0"/>
              </a:spcBef>
              <a:spcAft>
                <a:spcPts val="0"/>
              </a:spcAft>
              <a:buNone/>
            </a:pPr>
            <a:endParaRPr sz="2700">
              <a:latin typeface="Helvetica Neue"/>
              <a:ea typeface="Helvetica Neue"/>
              <a:cs typeface="Helvetica Neue"/>
              <a:sym typeface="Helvetica Neue"/>
            </a:endParaRPr>
          </a:p>
        </p:txBody>
      </p:sp>
      <p:pic>
        <p:nvPicPr>
          <p:cNvPr id="965" name="Google Shape;965;p72"/>
          <p:cNvPicPr preferRelativeResize="0"/>
          <p:nvPr/>
        </p:nvPicPr>
        <p:blipFill>
          <a:blip r:embed="rId3">
            <a:alphaModFix/>
          </a:blip>
          <a:stretch>
            <a:fillRect/>
          </a:stretch>
        </p:blipFill>
        <p:spPr>
          <a:xfrm>
            <a:off x="2049939" y="4093611"/>
            <a:ext cx="6536085" cy="1186550"/>
          </a:xfrm>
          <a:prstGeom prst="rect">
            <a:avLst/>
          </a:prstGeom>
          <a:noFill/>
          <a:ln>
            <a:noFill/>
          </a:ln>
        </p:spPr>
      </p:pic>
      <p:pic>
        <p:nvPicPr>
          <p:cNvPr id="966" name="Google Shape;966;p72"/>
          <p:cNvPicPr preferRelativeResize="0"/>
          <p:nvPr/>
        </p:nvPicPr>
        <p:blipFill>
          <a:blip r:embed="rId4">
            <a:alphaModFix/>
          </a:blip>
          <a:stretch>
            <a:fillRect/>
          </a:stretch>
        </p:blipFill>
        <p:spPr>
          <a:xfrm>
            <a:off x="4232100" y="5404275"/>
            <a:ext cx="2171763" cy="812050"/>
          </a:xfrm>
          <a:prstGeom prst="rect">
            <a:avLst/>
          </a:prstGeom>
          <a:noFill/>
          <a:ln>
            <a:noFill/>
          </a:ln>
        </p:spPr>
      </p:pic>
      <p:sp>
        <p:nvSpPr>
          <p:cNvPr id="967" name="Google Shape;967;p72"/>
          <p:cNvSpPr txBox="1"/>
          <p:nvPr/>
        </p:nvSpPr>
        <p:spPr>
          <a:xfrm>
            <a:off x="12454050" y="3459350"/>
            <a:ext cx="11295600" cy="96126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US" sz="3500">
                <a:latin typeface="Helvetica Neue"/>
                <a:ea typeface="Helvetica Neue"/>
                <a:cs typeface="Helvetica Neue"/>
                <a:sym typeface="Helvetica Neue"/>
              </a:rPr>
              <a:t>Summary:</a:t>
            </a:r>
            <a:endParaRPr sz="3500">
              <a:latin typeface="Helvetica Neue"/>
              <a:ea typeface="Helvetica Neue"/>
              <a:cs typeface="Helvetica Neue"/>
              <a:sym typeface="Helvetica Neue"/>
            </a:endParaRPr>
          </a:p>
          <a:p>
            <a:pPr marL="457200" lvl="0" indent="-450850" algn="l" rtl="0">
              <a:lnSpc>
                <a:spcPct val="150000"/>
              </a:lnSpc>
              <a:spcBef>
                <a:spcPts val="0"/>
              </a:spcBef>
              <a:spcAft>
                <a:spcPts val="0"/>
              </a:spcAft>
              <a:buSzPts val="3500"/>
              <a:buFont typeface="Helvetica Neue"/>
              <a:buChar char="●"/>
            </a:pPr>
            <a:r>
              <a:rPr lang="en-US" sz="3500">
                <a:latin typeface="Helvetica Neue"/>
                <a:ea typeface="Helvetica Neue"/>
                <a:cs typeface="Helvetica Neue"/>
                <a:sym typeface="Helvetica Neue"/>
              </a:rPr>
              <a:t>Use </a:t>
            </a:r>
            <a:r>
              <a:rPr lang="en-US" sz="3500" b="1">
                <a:latin typeface="Helvetica Neue"/>
                <a:ea typeface="Helvetica Neue"/>
                <a:cs typeface="Helvetica Neue"/>
                <a:sym typeface="Helvetica Neue"/>
              </a:rPr>
              <a:t>negative binomial linear regression</a:t>
            </a:r>
            <a:r>
              <a:rPr lang="en-US" sz="3500">
                <a:latin typeface="Helvetica Neue"/>
                <a:ea typeface="Helvetica Neue"/>
                <a:cs typeface="Helvetica Neue"/>
                <a:sym typeface="Helvetica Neue"/>
              </a:rPr>
              <a:t> to model gene expression in RNA-seq</a:t>
            </a:r>
            <a:endParaRPr sz="3500">
              <a:latin typeface="Helvetica Neue"/>
              <a:ea typeface="Helvetica Neue"/>
              <a:cs typeface="Helvetica Neue"/>
              <a:sym typeface="Helvetica Neue"/>
            </a:endParaRPr>
          </a:p>
          <a:p>
            <a:pPr marL="457200" lvl="0" indent="-450850" algn="l" rtl="0">
              <a:lnSpc>
                <a:spcPct val="150000"/>
              </a:lnSpc>
              <a:spcBef>
                <a:spcPts val="0"/>
              </a:spcBef>
              <a:spcAft>
                <a:spcPts val="0"/>
              </a:spcAft>
              <a:buSzPts val="3500"/>
              <a:buFont typeface="Helvetica Neue"/>
              <a:buChar char="●"/>
            </a:pPr>
            <a:r>
              <a:rPr lang="en-US" sz="3500">
                <a:latin typeface="Helvetica Neue"/>
                <a:ea typeface="Helvetica Neue"/>
                <a:cs typeface="Helvetica Neue"/>
                <a:sym typeface="Helvetica Neue"/>
              </a:rPr>
              <a:t>Calculate </a:t>
            </a:r>
            <a:r>
              <a:rPr lang="en-US" sz="3500" b="1">
                <a:latin typeface="Helvetica Neue"/>
                <a:ea typeface="Helvetica Neue"/>
                <a:cs typeface="Helvetica Neue"/>
                <a:sym typeface="Helvetica Neue"/>
              </a:rPr>
              <a:t>size factors</a:t>
            </a:r>
            <a:r>
              <a:rPr lang="en-US" sz="3500">
                <a:latin typeface="Helvetica Neue"/>
                <a:ea typeface="Helvetica Neue"/>
                <a:cs typeface="Helvetica Neue"/>
                <a:sym typeface="Helvetica Neue"/>
              </a:rPr>
              <a:t> for each sample to account for differences in sequencing depth and transcript composition between samples</a:t>
            </a:r>
            <a:endParaRPr sz="3500">
              <a:latin typeface="Helvetica Neue"/>
              <a:ea typeface="Helvetica Neue"/>
              <a:cs typeface="Helvetica Neue"/>
              <a:sym typeface="Helvetica Neue"/>
            </a:endParaRPr>
          </a:p>
          <a:p>
            <a:pPr marL="457200" lvl="0" indent="-450850" algn="l" rtl="0">
              <a:lnSpc>
                <a:spcPct val="150000"/>
              </a:lnSpc>
              <a:spcBef>
                <a:spcPts val="0"/>
              </a:spcBef>
              <a:spcAft>
                <a:spcPts val="0"/>
              </a:spcAft>
              <a:buSzPts val="3500"/>
              <a:buFont typeface="Helvetica Neue"/>
              <a:buChar char="●"/>
            </a:pPr>
            <a:r>
              <a:rPr lang="en-US" sz="3500">
                <a:latin typeface="Helvetica Neue"/>
                <a:ea typeface="Helvetica Neue"/>
                <a:cs typeface="Helvetica Neue"/>
                <a:sym typeface="Helvetica Neue"/>
              </a:rPr>
              <a:t>Estimate </a:t>
            </a:r>
            <a:r>
              <a:rPr lang="en-US" sz="3500" b="1">
                <a:latin typeface="Helvetica Neue"/>
                <a:ea typeface="Helvetica Neue"/>
                <a:cs typeface="Helvetica Neue"/>
                <a:sym typeface="Helvetica Neue"/>
              </a:rPr>
              <a:t>dispersion </a:t>
            </a:r>
            <a:r>
              <a:rPr lang="en-US" sz="3500">
                <a:latin typeface="Helvetica Neue"/>
                <a:ea typeface="Helvetica Neue"/>
                <a:cs typeface="Helvetica Neue"/>
                <a:sym typeface="Helvetica Neue"/>
              </a:rPr>
              <a:t>for each gene by “borrowing” information across genes for more precise estimates when sample sizes are small (as is typical in RNA-seq experiments)</a:t>
            </a:r>
            <a:endParaRPr sz="3500">
              <a:latin typeface="Helvetica Neue"/>
              <a:ea typeface="Helvetica Neue"/>
              <a:cs typeface="Helvetica Neue"/>
              <a:sym typeface="Helvetica Neue"/>
            </a:endParaRPr>
          </a:p>
          <a:p>
            <a:pPr marL="457200" lvl="0" indent="-450850" algn="l" rtl="0">
              <a:lnSpc>
                <a:spcPct val="150000"/>
              </a:lnSpc>
              <a:spcBef>
                <a:spcPts val="0"/>
              </a:spcBef>
              <a:spcAft>
                <a:spcPts val="0"/>
              </a:spcAft>
              <a:buSzPts val="3500"/>
              <a:buFont typeface="Helvetica Neue"/>
              <a:buChar char="●"/>
            </a:pPr>
            <a:r>
              <a:rPr lang="en-US" sz="3500">
                <a:latin typeface="Helvetica Neue"/>
                <a:ea typeface="Helvetica Neue"/>
                <a:cs typeface="Helvetica Neue"/>
                <a:sym typeface="Helvetica Neue"/>
              </a:rPr>
              <a:t>Estimate model </a:t>
            </a:r>
            <a:r>
              <a:rPr lang="en-US" sz="3500" b="1">
                <a:latin typeface="Helvetica Neue"/>
                <a:ea typeface="Helvetica Neue"/>
                <a:cs typeface="Helvetica Neue"/>
                <a:sym typeface="Helvetica Neue"/>
              </a:rPr>
              <a:t>coefficients</a:t>
            </a:r>
            <a:r>
              <a:rPr lang="en-US" sz="3500">
                <a:latin typeface="Helvetica Neue"/>
                <a:ea typeface="Helvetica Neue"/>
                <a:cs typeface="Helvetica Neue"/>
                <a:sym typeface="Helvetica Neue"/>
              </a:rPr>
              <a:t> which are used to define test hypothesis</a:t>
            </a:r>
            <a:r>
              <a:rPr lang="en-US" sz="3500" b="1">
                <a:latin typeface="Helvetica Neue"/>
                <a:ea typeface="Helvetica Neue"/>
                <a:cs typeface="Helvetica Neue"/>
                <a:sym typeface="Helvetica Neue"/>
              </a:rPr>
              <a:t> (𝞫</a:t>
            </a:r>
            <a:r>
              <a:rPr lang="en-US" sz="3500" b="1" baseline="-25000">
                <a:latin typeface="Helvetica Neue"/>
                <a:ea typeface="Helvetica Neue"/>
                <a:cs typeface="Helvetica Neue"/>
                <a:sym typeface="Helvetica Neue"/>
              </a:rPr>
              <a:t>i</a:t>
            </a:r>
            <a:r>
              <a:rPr lang="en-US" sz="3500" b="1">
                <a:latin typeface="Helvetica Neue"/>
                <a:ea typeface="Helvetica Neue"/>
                <a:cs typeface="Helvetica Neue"/>
                <a:sym typeface="Helvetica Neue"/>
              </a:rPr>
              <a:t> = 0)</a:t>
            </a:r>
            <a:endParaRPr sz="3500">
              <a:latin typeface="Helvetica Neue"/>
              <a:ea typeface="Helvetica Neue"/>
              <a:cs typeface="Helvetica Neue"/>
              <a:sym typeface="Helvetica Neue"/>
            </a:endParaRPr>
          </a:p>
        </p:txBody>
      </p:sp>
      <p:pic>
        <p:nvPicPr>
          <p:cNvPr id="968" name="Google Shape;968;p72"/>
          <p:cNvPicPr preferRelativeResize="0"/>
          <p:nvPr/>
        </p:nvPicPr>
        <p:blipFill>
          <a:blip r:embed="rId5">
            <a:alphaModFix/>
          </a:blip>
          <a:stretch>
            <a:fillRect/>
          </a:stretch>
        </p:blipFill>
        <p:spPr>
          <a:xfrm>
            <a:off x="586850" y="6416650"/>
            <a:ext cx="11517344" cy="1133400"/>
          </a:xfrm>
          <a:prstGeom prst="rect">
            <a:avLst/>
          </a:prstGeom>
          <a:noFill/>
          <a:ln>
            <a:noFill/>
          </a:ln>
        </p:spPr>
      </p:pic>
      <p:sp>
        <p:nvSpPr>
          <p:cNvPr id="969" name="Google Shape;969;p72"/>
          <p:cNvSpPr txBox="1"/>
          <p:nvPr/>
        </p:nvSpPr>
        <p:spPr>
          <a:xfrm>
            <a:off x="0" y="13145700"/>
            <a:ext cx="111300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t>Description of DESeq2 model: </a:t>
            </a:r>
            <a:r>
              <a:rPr lang="en-US" sz="2400" u="sng">
                <a:solidFill>
                  <a:schemeClr val="hlink"/>
                </a:solidFill>
                <a:latin typeface="Helvetica Neue"/>
                <a:ea typeface="Helvetica Neue"/>
                <a:cs typeface="Helvetica Neue"/>
                <a:sym typeface="Helvetica Neue"/>
                <a:hlinkClick r:id="rId6"/>
              </a:rPr>
              <a:t>Love, Huber &amp; Anders (2014)</a:t>
            </a:r>
            <a:endParaRPr sz="2400">
              <a:latin typeface="Helvetica Neue"/>
              <a:ea typeface="Helvetica Neue"/>
              <a:cs typeface="Helvetica Neue"/>
              <a:sym typeface="Helvetica Neue"/>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A0F3D-4934-73DC-7ACC-F5441E3EC7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018A91-D635-49F3-355A-07003D105F66}"/>
              </a:ext>
            </a:extLst>
          </p:cNvPr>
          <p:cNvSpPr>
            <a:spLocks noGrp="1"/>
          </p:cNvSpPr>
          <p:nvPr>
            <p:ph type="title"/>
          </p:nvPr>
        </p:nvSpPr>
        <p:spPr/>
        <p:txBody>
          <a:bodyPr/>
          <a:lstStyle/>
          <a:p>
            <a:r>
              <a:rPr lang="en-US" dirty="0"/>
              <a:t>DESEQ2 workflow</a:t>
            </a:r>
          </a:p>
        </p:txBody>
      </p:sp>
      <p:pic>
        <p:nvPicPr>
          <p:cNvPr id="4" name="Picture 3" descr="A blue rectangles with black text&#10;&#10;Description automatically generated">
            <a:extLst>
              <a:ext uri="{FF2B5EF4-FFF2-40B4-BE49-F238E27FC236}">
                <a16:creationId xmlns:a16="http://schemas.microsoft.com/office/drawing/2014/main" id="{1D03643D-3A1E-FC42-E626-DE68E7F7C919}"/>
              </a:ext>
            </a:extLst>
          </p:cNvPr>
          <p:cNvPicPr>
            <a:picLocks noChangeAspect="1"/>
          </p:cNvPicPr>
          <p:nvPr/>
        </p:nvPicPr>
        <p:blipFill>
          <a:blip r:embed="rId2"/>
          <a:stretch>
            <a:fillRect/>
          </a:stretch>
        </p:blipFill>
        <p:spPr>
          <a:xfrm>
            <a:off x="9620250" y="2542166"/>
            <a:ext cx="5143500" cy="9880600"/>
          </a:xfrm>
          <a:prstGeom prst="rect">
            <a:avLst/>
          </a:prstGeom>
        </p:spPr>
      </p:pic>
    </p:spTree>
    <p:extLst>
      <p:ext uri="{BB962C8B-B14F-4D97-AF65-F5344CB8AC3E}">
        <p14:creationId xmlns:p14="http://schemas.microsoft.com/office/powerpoint/2010/main" val="16440974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Shape 1039"/>
        <p:cNvGrpSpPr/>
        <p:nvPr/>
      </p:nvGrpSpPr>
      <p:grpSpPr>
        <a:xfrm>
          <a:off x="0" y="0"/>
          <a:ext cx="0" cy="0"/>
          <a:chOff x="0" y="0"/>
          <a:chExt cx="0" cy="0"/>
        </a:xfrm>
      </p:grpSpPr>
      <p:pic>
        <p:nvPicPr>
          <p:cNvPr id="1040" name="Google Shape;1040;p82" descr="Image"/>
          <p:cNvPicPr preferRelativeResize="0"/>
          <p:nvPr/>
        </p:nvPicPr>
        <p:blipFill rotWithShape="1">
          <a:blip r:embed="rId3">
            <a:alphaModFix/>
          </a:blip>
          <a:srcRect/>
          <a:stretch/>
        </p:blipFill>
        <p:spPr>
          <a:xfrm>
            <a:off x="2628900" y="4064000"/>
            <a:ext cx="19126199" cy="5588000"/>
          </a:xfrm>
          <a:prstGeom prst="rect">
            <a:avLst/>
          </a:prstGeom>
          <a:noFill/>
          <a:ln>
            <a:noFill/>
          </a:ln>
        </p:spPr>
      </p:pic>
      <p:sp>
        <p:nvSpPr>
          <p:cNvPr id="1041" name="Google Shape;1041;p82"/>
          <p:cNvSpPr txBox="1">
            <a:spLocks noGrp="1"/>
          </p:cNvSpPr>
          <p:nvPr>
            <p:ph type="title" idx="4294967295"/>
          </p:nvPr>
        </p:nvSpPr>
        <p:spPr>
          <a:xfrm>
            <a:off x="1206499" y="952358"/>
            <a:ext cx="21971000" cy="1433513"/>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dirty="0">
                <a:latin typeface="Avenir"/>
                <a:ea typeface="Avenir"/>
                <a:cs typeface="Avenir"/>
                <a:sym typeface="Avenir"/>
              </a:rPr>
              <a:t>P-value Histograms</a:t>
            </a:r>
            <a:endParaRPr dirty="0"/>
          </a:p>
        </p:txBody>
      </p:sp>
      <p:sp>
        <p:nvSpPr>
          <p:cNvPr id="1042" name="Google Shape;1042;p82"/>
          <p:cNvSpPr txBox="1"/>
          <p:nvPr/>
        </p:nvSpPr>
        <p:spPr>
          <a:xfrm>
            <a:off x="2904867" y="3328086"/>
            <a:ext cx="18574267" cy="9398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000000"/>
              </a:buClr>
              <a:buSzPts val="4800"/>
              <a:buFont typeface="Avenir"/>
              <a:buNone/>
            </a:pPr>
            <a:r>
              <a:rPr lang="en-US" sz="4800" b="0" i="0" u="none" strike="noStrike" cap="none">
                <a:solidFill>
                  <a:srgbClr val="000000"/>
                </a:solidFill>
                <a:latin typeface="Avenir"/>
                <a:ea typeface="Avenir"/>
                <a:cs typeface="Avenir"/>
                <a:sym typeface="Avenir"/>
              </a:rPr>
              <a:t>Examples of expected overall distribution </a:t>
            </a:r>
            <a:endParaRPr/>
          </a:p>
        </p:txBody>
      </p:sp>
      <p:sp>
        <p:nvSpPr>
          <p:cNvPr id="1043" name="Google Shape;1043;p82"/>
          <p:cNvSpPr txBox="1"/>
          <p:nvPr/>
        </p:nvSpPr>
        <p:spPr>
          <a:xfrm>
            <a:off x="2904867" y="9853105"/>
            <a:ext cx="18574267" cy="2921001"/>
          </a:xfrm>
          <a:prstGeom prst="rect">
            <a:avLst/>
          </a:prstGeom>
          <a:noFill/>
          <a:ln>
            <a:noFill/>
          </a:ln>
        </p:spPr>
        <p:txBody>
          <a:bodyPr spcFirstLastPara="1" wrap="square" lIns="50800" tIns="50800" rIns="50800" bIns="50800" anchor="ctr" anchorCtr="0">
            <a:spAutoFit/>
          </a:bodyPr>
          <a:lstStyle/>
          <a:p>
            <a:pPr marL="889000" marR="0" lvl="0" indent="-889000" algn="l" rtl="0">
              <a:lnSpc>
                <a:spcPct val="100000"/>
              </a:lnSpc>
              <a:spcBef>
                <a:spcPts val="0"/>
              </a:spcBef>
              <a:spcAft>
                <a:spcPts val="0"/>
              </a:spcAft>
              <a:buClr>
                <a:srgbClr val="000000"/>
              </a:buClr>
              <a:buSzPts val="4800"/>
              <a:buFont typeface="Avenir"/>
              <a:buAutoNum type="alphaLcParenBoth"/>
            </a:pPr>
            <a:r>
              <a:rPr lang="en-US" sz="4800" b="0" i="0" u="none" strike="noStrike" cap="none">
                <a:solidFill>
                  <a:srgbClr val="000000"/>
                </a:solidFill>
                <a:latin typeface="Avenir"/>
                <a:ea typeface="Avenir"/>
                <a:cs typeface="Avenir"/>
                <a:sym typeface="Avenir"/>
              </a:rPr>
              <a:t>: the most desirable shape</a:t>
            </a:r>
            <a:endParaRPr/>
          </a:p>
          <a:p>
            <a:pPr marL="889000" marR="0" lvl="0" indent="-889000" algn="l" rtl="0">
              <a:lnSpc>
                <a:spcPct val="100000"/>
              </a:lnSpc>
              <a:spcBef>
                <a:spcPts val="1200"/>
              </a:spcBef>
              <a:spcAft>
                <a:spcPts val="0"/>
              </a:spcAft>
              <a:buClr>
                <a:srgbClr val="000000"/>
              </a:buClr>
              <a:buSzPts val="4800"/>
              <a:buFont typeface="Avenir"/>
              <a:buAutoNum type="alphaLcParenBoth"/>
            </a:pPr>
            <a:r>
              <a:rPr lang="en-US" sz="4800" b="0" i="0" u="none" strike="noStrike" cap="none">
                <a:solidFill>
                  <a:srgbClr val="000000"/>
                </a:solidFill>
                <a:latin typeface="Avenir"/>
                <a:ea typeface="Avenir"/>
                <a:cs typeface="Avenir"/>
                <a:sym typeface="Avenir"/>
              </a:rPr>
              <a:t>: very low counts genes usually have large p-values </a:t>
            </a:r>
            <a:endParaRPr/>
          </a:p>
          <a:p>
            <a:pPr marL="889000" marR="0" lvl="0" indent="-889000" algn="l" rtl="0">
              <a:lnSpc>
                <a:spcPct val="100000"/>
              </a:lnSpc>
              <a:spcBef>
                <a:spcPts val="1200"/>
              </a:spcBef>
              <a:spcAft>
                <a:spcPts val="0"/>
              </a:spcAft>
              <a:buClr>
                <a:srgbClr val="000000"/>
              </a:buClr>
              <a:buSzPts val="4800"/>
              <a:buFont typeface="Avenir"/>
              <a:buAutoNum type="alphaLcParenBoth"/>
            </a:pPr>
            <a:r>
              <a:rPr lang="en-US" sz="4800" b="0" i="0" u="none" strike="noStrike" cap="none">
                <a:solidFill>
                  <a:srgbClr val="000000"/>
                </a:solidFill>
                <a:latin typeface="Avenir"/>
                <a:ea typeface="Avenir"/>
                <a:cs typeface="Avenir"/>
                <a:sym typeface="Avenir"/>
              </a:rPr>
              <a:t>: do not expect positive tests after correction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Shape 1047"/>
        <p:cNvGrpSpPr/>
        <p:nvPr/>
      </p:nvGrpSpPr>
      <p:grpSpPr>
        <a:xfrm>
          <a:off x="0" y="0"/>
          <a:ext cx="0" cy="0"/>
          <a:chOff x="0" y="0"/>
          <a:chExt cx="0" cy="0"/>
        </a:xfrm>
      </p:grpSpPr>
      <p:pic>
        <p:nvPicPr>
          <p:cNvPr id="1048" name="Google Shape;1048;p83" descr="Image"/>
          <p:cNvPicPr preferRelativeResize="0"/>
          <p:nvPr/>
        </p:nvPicPr>
        <p:blipFill rotWithShape="1">
          <a:blip r:embed="rId3">
            <a:alphaModFix/>
          </a:blip>
          <a:srcRect/>
          <a:stretch/>
        </p:blipFill>
        <p:spPr>
          <a:xfrm>
            <a:off x="2381250" y="4083050"/>
            <a:ext cx="19621501" cy="5549900"/>
          </a:xfrm>
          <a:prstGeom prst="rect">
            <a:avLst/>
          </a:prstGeom>
          <a:noFill/>
          <a:ln>
            <a:noFill/>
          </a:ln>
        </p:spPr>
      </p:pic>
      <p:sp>
        <p:nvSpPr>
          <p:cNvPr id="1049" name="Google Shape;1049;p83"/>
          <p:cNvSpPr txBox="1">
            <a:spLocks noGrp="1"/>
          </p:cNvSpPr>
          <p:nvPr>
            <p:ph type="title" idx="4294967295"/>
          </p:nvPr>
        </p:nvSpPr>
        <p:spPr>
          <a:xfrm>
            <a:off x="0" y="1079500"/>
            <a:ext cx="21971000" cy="1433513"/>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dirty="0">
                <a:latin typeface="Avenir"/>
                <a:ea typeface="Avenir"/>
                <a:cs typeface="Avenir"/>
                <a:sym typeface="Avenir"/>
              </a:rPr>
              <a:t>P-value Histograms</a:t>
            </a:r>
            <a:endParaRPr dirty="0"/>
          </a:p>
        </p:txBody>
      </p:sp>
      <p:sp>
        <p:nvSpPr>
          <p:cNvPr id="1050" name="Google Shape;1050;p83"/>
          <p:cNvSpPr txBox="1"/>
          <p:nvPr/>
        </p:nvSpPr>
        <p:spPr>
          <a:xfrm>
            <a:off x="2904867" y="3328086"/>
            <a:ext cx="18574267" cy="939801"/>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000000"/>
              </a:buClr>
              <a:buSzPts val="4800"/>
              <a:buFont typeface="Avenir"/>
              <a:buNone/>
            </a:pPr>
            <a:r>
              <a:rPr lang="en-US" sz="4800" b="0" i="0" u="none" strike="noStrike" cap="none">
                <a:solidFill>
                  <a:srgbClr val="000000"/>
                </a:solidFill>
                <a:latin typeface="Avenir"/>
                <a:ea typeface="Avenir"/>
                <a:cs typeface="Avenir"/>
                <a:sym typeface="Avenir"/>
              </a:rPr>
              <a:t>Examples of unexpected overall distribution </a:t>
            </a:r>
            <a:endParaRPr/>
          </a:p>
        </p:txBody>
      </p:sp>
      <p:sp>
        <p:nvSpPr>
          <p:cNvPr id="1051" name="Google Shape;1051;p83"/>
          <p:cNvSpPr txBox="1"/>
          <p:nvPr/>
        </p:nvSpPr>
        <p:spPr>
          <a:xfrm>
            <a:off x="2904867" y="9434005"/>
            <a:ext cx="18574267" cy="3759201"/>
          </a:xfrm>
          <a:prstGeom prst="rect">
            <a:avLst/>
          </a:prstGeom>
          <a:noFill/>
          <a:ln>
            <a:noFill/>
          </a:ln>
        </p:spPr>
        <p:txBody>
          <a:bodyPr spcFirstLastPara="1" wrap="square" lIns="50800" tIns="50800" rIns="50800" bIns="50800" anchor="ctr" anchorCtr="0">
            <a:spAutoFit/>
          </a:bodyPr>
          <a:lstStyle/>
          <a:p>
            <a:pPr marL="889000" marR="0" lvl="0" indent="-889000" algn="l" rtl="0">
              <a:lnSpc>
                <a:spcPct val="100000"/>
              </a:lnSpc>
              <a:spcBef>
                <a:spcPts val="0"/>
              </a:spcBef>
              <a:spcAft>
                <a:spcPts val="0"/>
              </a:spcAft>
              <a:buClr>
                <a:srgbClr val="000000"/>
              </a:buClr>
              <a:buSzPts val="4800"/>
              <a:buFont typeface="Avenir"/>
              <a:buAutoNum type="alphaLcParenBoth"/>
            </a:pPr>
            <a:r>
              <a:rPr lang="en-US" sz="4800" b="0" i="0" u="none" strike="noStrike" cap="none" dirty="0">
                <a:solidFill>
                  <a:srgbClr val="000000"/>
                </a:solidFill>
                <a:latin typeface="Avenir"/>
                <a:ea typeface="Avenir"/>
                <a:cs typeface="Avenir"/>
                <a:sym typeface="Avenir"/>
              </a:rPr>
              <a:t>: indicates a batch effect (confounding hidden variables)</a:t>
            </a:r>
            <a:endParaRPr dirty="0"/>
          </a:p>
          <a:p>
            <a:pPr marL="889000" marR="0" lvl="0" indent="-889000" algn="l" rtl="0">
              <a:lnSpc>
                <a:spcPct val="100000"/>
              </a:lnSpc>
              <a:spcBef>
                <a:spcPts val="1200"/>
              </a:spcBef>
              <a:spcAft>
                <a:spcPts val="0"/>
              </a:spcAft>
              <a:buClr>
                <a:srgbClr val="000000"/>
              </a:buClr>
              <a:buSzPts val="4800"/>
              <a:buFont typeface="Avenir"/>
              <a:buAutoNum type="alphaLcParenBoth"/>
            </a:pPr>
            <a:r>
              <a:rPr lang="en-US" sz="4800" b="0" i="0" u="none" strike="noStrike" cap="none" dirty="0">
                <a:solidFill>
                  <a:srgbClr val="000000"/>
                </a:solidFill>
                <a:latin typeface="Avenir"/>
                <a:ea typeface="Avenir"/>
                <a:cs typeface="Avenir"/>
                <a:sym typeface="Avenir"/>
              </a:rPr>
              <a:t>: the test statistics may be inappropriate (due to strong correlation structure for instance)</a:t>
            </a:r>
            <a:endParaRPr dirty="0"/>
          </a:p>
          <a:p>
            <a:pPr marL="889000" marR="0" lvl="0" indent="-889000" algn="l" rtl="0">
              <a:lnSpc>
                <a:spcPct val="100000"/>
              </a:lnSpc>
              <a:spcBef>
                <a:spcPts val="1200"/>
              </a:spcBef>
              <a:spcAft>
                <a:spcPts val="0"/>
              </a:spcAft>
              <a:buClr>
                <a:srgbClr val="000000"/>
              </a:buClr>
              <a:buSzPts val="4800"/>
              <a:buFont typeface="Avenir"/>
              <a:buAutoNum type="alphaLcParenBoth"/>
            </a:pPr>
            <a:r>
              <a:rPr lang="en-US" sz="4800" b="0" i="0" u="none" strike="noStrike" cap="none" dirty="0">
                <a:solidFill>
                  <a:srgbClr val="000000"/>
                </a:solidFill>
                <a:latin typeface="Avenir"/>
                <a:ea typeface="Avenir"/>
                <a:cs typeface="Avenir"/>
                <a:sym typeface="Avenir"/>
              </a:rPr>
              <a:t>: discrete distribution of p-values : unexpected </a:t>
            </a:r>
            <a:endParaRPr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Shape 1027"/>
        <p:cNvGrpSpPr/>
        <p:nvPr/>
      </p:nvGrpSpPr>
      <p:grpSpPr>
        <a:xfrm>
          <a:off x="0" y="0"/>
          <a:ext cx="0" cy="0"/>
          <a:chOff x="0" y="0"/>
          <a:chExt cx="0" cy="0"/>
        </a:xfrm>
      </p:grpSpPr>
      <p:sp>
        <p:nvSpPr>
          <p:cNvPr id="1028" name="Google Shape;1028;p80"/>
          <p:cNvSpPr txBox="1">
            <a:spLocks noGrp="1"/>
          </p:cNvSpPr>
          <p:nvPr>
            <p:ph type="title" idx="4294967295"/>
          </p:nvPr>
        </p:nvSpPr>
        <p:spPr>
          <a:xfrm>
            <a:off x="1280160" y="1079500"/>
            <a:ext cx="21971000" cy="1433513"/>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a:latin typeface="Avenir"/>
                <a:ea typeface="Avenir"/>
                <a:cs typeface="Avenir"/>
                <a:sym typeface="Avenir"/>
              </a:rPr>
              <a:t>Multiplicity Correction</a:t>
            </a:r>
            <a:endParaRPr/>
          </a:p>
        </p:txBody>
      </p:sp>
      <p:sp>
        <p:nvSpPr>
          <p:cNvPr id="1029" name="Google Shape;1029;p80"/>
          <p:cNvSpPr txBox="1">
            <a:spLocks noGrp="1"/>
          </p:cNvSpPr>
          <p:nvPr>
            <p:ph type="body" idx="4294967295"/>
          </p:nvPr>
        </p:nvSpPr>
        <p:spPr>
          <a:xfrm>
            <a:off x="1280160" y="4248150"/>
            <a:ext cx="21971000" cy="8256588"/>
          </a:xfrm>
          <a:prstGeom prst="rect">
            <a:avLst/>
          </a:prstGeom>
          <a:noFill/>
          <a:ln>
            <a:noFill/>
          </a:ln>
        </p:spPr>
        <p:txBody>
          <a:bodyPr spcFirstLastPara="1" wrap="square" lIns="50800" tIns="50800" rIns="50800" bIns="50800" anchor="t" anchorCtr="0">
            <a:normAutofit/>
          </a:bodyPr>
          <a:lstStyle/>
          <a:p>
            <a:pPr marL="609600" lvl="0" indent="-609600" algn="l" rtl="0">
              <a:lnSpc>
                <a:spcPct val="90000"/>
              </a:lnSpc>
              <a:spcBef>
                <a:spcPts val="0"/>
              </a:spcBef>
              <a:spcAft>
                <a:spcPts val="0"/>
              </a:spcAft>
              <a:buClr>
                <a:srgbClr val="000000"/>
              </a:buClr>
              <a:buSzPts val="5904"/>
              <a:buFont typeface="Avenir"/>
              <a:buChar char="•"/>
            </a:pPr>
            <a:r>
              <a:rPr lang="en-US">
                <a:latin typeface="Avenir"/>
                <a:ea typeface="Avenir"/>
                <a:cs typeface="Avenir"/>
                <a:sym typeface="Avenir"/>
              </a:rPr>
              <a:t>A gene with a significance cut-off of α = 0.05, means there is a 5% chance it is a false positive. </a:t>
            </a:r>
            <a:endParaRPr/>
          </a:p>
          <a:p>
            <a:pPr marL="609600" lvl="0" indent="-609600" algn="l" rtl="0">
              <a:lnSpc>
                <a:spcPct val="90000"/>
              </a:lnSpc>
              <a:spcBef>
                <a:spcPts val="4500"/>
              </a:spcBef>
              <a:spcAft>
                <a:spcPts val="0"/>
              </a:spcAft>
              <a:buClr>
                <a:srgbClr val="000000"/>
              </a:buClr>
              <a:buSzPts val="5904"/>
              <a:buFont typeface="Avenir"/>
              <a:buChar char="•"/>
            </a:pPr>
            <a:r>
              <a:rPr lang="en-US">
                <a:latin typeface="Avenir"/>
                <a:ea typeface="Avenir"/>
                <a:cs typeface="Avenir"/>
                <a:sym typeface="Avenir"/>
              </a:rPr>
              <a:t>If we test for 20,000 genes for differential expression at α = 0.05, we would expect to find 1,000 genes by chance</a:t>
            </a:r>
            <a:endParaRPr/>
          </a:p>
          <a:p>
            <a:pPr marL="609600" lvl="0" indent="-609600" algn="l" rtl="0">
              <a:lnSpc>
                <a:spcPct val="90000"/>
              </a:lnSpc>
              <a:spcBef>
                <a:spcPts val="4500"/>
              </a:spcBef>
              <a:spcAft>
                <a:spcPts val="0"/>
              </a:spcAft>
              <a:buClr>
                <a:srgbClr val="000000"/>
              </a:buClr>
              <a:buSzPts val="5904"/>
              <a:buFont typeface="Avenir"/>
              <a:buChar char="•"/>
            </a:pPr>
            <a:r>
              <a:rPr lang="en-US">
                <a:latin typeface="Avenir"/>
                <a:ea typeface="Avenir"/>
                <a:cs typeface="Avenir"/>
                <a:sym typeface="Avenir"/>
              </a:rPr>
              <a:t>If we found 3000 genes to be differentially expressed total, roughly one third of our genes are false positives!</a:t>
            </a:r>
            <a:endParaRPr/>
          </a:p>
          <a:p>
            <a:pPr marL="609600" lvl="0" indent="-609600" algn="l" rtl="0">
              <a:lnSpc>
                <a:spcPct val="90000"/>
              </a:lnSpc>
              <a:spcBef>
                <a:spcPts val="4500"/>
              </a:spcBef>
              <a:spcAft>
                <a:spcPts val="0"/>
              </a:spcAft>
              <a:buClr>
                <a:srgbClr val="000000"/>
              </a:buClr>
              <a:buSzPts val="5904"/>
              <a:buFont typeface="Avenir"/>
              <a:buChar char="•"/>
            </a:pPr>
            <a:r>
              <a:rPr lang="en-US">
                <a:latin typeface="Avenir"/>
                <a:ea typeface="Avenir"/>
                <a:cs typeface="Avenir"/>
                <a:sym typeface="Avenir"/>
              </a:rPr>
              <a:t>The more genes we test, the more we inflate the false positive rate. This is the multiple testing problem.</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Shape 1033"/>
        <p:cNvGrpSpPr/>
        <p:nvPr/>
      </p:nvGrpSpPr>
      <p:grpSpPr>
        <a:xfrm>
          <a:off x="0" y="0"/>
          <a:ext cx="0" cy="0"/>
          <a:chOff x="0" y="0"/>
          <a:chExt cx="0" cy="0"/>
        </a:xfrm>
      </p:grpSpPr>
      <p:sp>
        <p:nvSpPr>
          <p:cNvPr id="1034" name="Google Shape;1034;p81"/>
          <p:cNvSpPr txBox="1">
            <a:spLocks noGrp="1"/>
          </p:cNvSpPr>
          <p:nvPr>
            <p:ph type="title" idx="4294967295"/>
          </p:nvPr>
        </p:nvSpPr>
        <p:spPr>
          <a:xfrm>
            <a:off x="1005840" y="1079500"/>
            <a:ext cx="21971000" cy="1433513"/>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a:latin typeface="Avenir"/>
                <a:ea typeface="Avenir"/>
                <a:cs typeface="Avenir"/>
                <a:sym typeface="Avenir"/>
              </a:rPr>
              <a:t>Multiplicity Correction</a:t>
            </a:r>
            <a:endParaRPr/>
          </a:p>
        </p:txBody>
      </p:sp>
      <p:sp>
        <p:nvSpPr>
          <p:cNvPr id="1035" name="Google Shape;1035;p81"/>
          <p:cNvSpPr txBox="1">
            <a:spLocks noGrp="1"/>
          </p:cNvSpPr>
          <p:nvPr>
            <p:ph type="body" idx="4294967295"/>
          </p:nvPr>
        </p:nvSpPr>
        <p:spPr>
          <a:xfrm>
            <a:off x="1005840" y="5138738"/>
            <a:ext cx="21971000" cy="5494337"/>
          </a:xfrm>
          <a:prstGeom prst="rect">
            <a:avLst/>
          </a:prstGeom>
          <a:noFill/>
          <a:ln>
            <a:noFill/>
          </a:ln>
        </p:spPr>
        <p:txBody>
          <a:bodyPr spcFirstLastPara="1" wrap="square" lIns="50800" tIns="50800" rIns="50800" bIns="50800" anchor="t" anchorCtr="0">
            <a:normAutofit/>
          </a:bodyPr>
          <a:lstStyle/>
          <a:p>
            <a:pPr marL="609600" lvl="0" indent="-609600" algn="l" rtl="0">
              <a:lnSpc>
                <a:spcPct val="90000"/>
              </a:lnSpc>
              <a:spcBef>
                <a:spcPts val="0"/>
              </a:spcBef>
              <a:spcAft>
                <a:spcPts val="0"/>
              </a:spcAft>
              <a:buClr>
                <a:srgbClr val="000000"/>
              </a:buClr>
              <a:buSzPts val="5904"/>
              <a:buFont typeface="Avenir"/>
              <a:buChar char="•"/>
            </a:pPr>
            <a:r>
              <a:rPr lang="en-US" dirty="0">
                <a:latin typeface="Avenir"/>
                <a:ea typeface="Avenir"/>
                <a:cs typeface="Avenir"/>
                <a:sym typeface="Avenir"/>
              </a:rPr>
              <a:t>Bonferroni: The adjusted p-value is calculated by: α </a:t>
            </a:r>
            <a:r>
              <a:rPr lang="en-US" baseline="30000" dirty="0">
                <a:latin typeface="Avenir"/>
                <a:ea typeface="Avenir"/>
                <a:cs typeface="Avenir"/>
                <a:sym typeface="Avenir"/>
              </a:rPr>
              <a:t>k</a:t>
            </a:r>
            <a:r>
              <a:rPr lang="en-US" dirty="0">
                <a:latin typeface="Avenir"/>
                <a:ea typeface="Avenir"/>
                <a:cs typeface="Avenir"/>
                <a:sym typeface="Avenir"/>
              </a:rPr>
              <a:t> (k = total number of tests). This is a very conservative approach</a:t>
            </a:r>
            <a:endParaRPr dirty="0"/>
          </a:p>
          <a:p>
            <a:pPr marL="609600" lvl="0" indent="-609600" algn="l" rtl="0">
              <a:lnSpc>
                <a:spcPct val="90000"/>
              </a:lnSpc>
              <a:spcBef>
                <a:spcPts val="4500"/>
              </a:spcBef>
              <a:spcAft>
                <a:spcPts val="0"/>
              </a:spcAft>
              <a:buClr>
                <a:srgbClr val="000000"/>
              </a:buClr>
              <a:buSzPts val="5904"/>
              <a:buFont typeface="Avenir"/>
              <a:buChar char="•"/>
            </a:pPr>
            <a:r>
              <a:rPr lang="en-US" dirty="0">
                <a:latin typeface="Avenir"/>
                <a:ea typeface="Avenir"/>
                <a:cs typeface="Avenir"/>
                <a:sym typeface="Avenir"/>
              </a:rPr>
              <a:t>FDR/</a:t>
            </a:r>
            <a:r>
              <a:rPr lang="en-US" dirty="0" err="1">
                <a:latin typeface="Avenir"/>
                <a:ea typeface="Avenir"/>
                <a:cs typeface="Avenir"/>
                <a:sym typeface="Avenir"/>
              </a:rPr>
              <a:t>Benjamini</a:t>
            </a:r>
            <a:r>
              <a:rPr lang="en-US" dirty="0">
                <a:latin typeface="Avenir"/>
                <a:ea typeface="Avenir"/>
                <a:cs typeface="Avenir"/>
                <a:sym typeface="Avenir"/>
              </a:rPr>
              <a:t>-Hochberg: </a:t>
            </a:r>
            <a:r>
              <a:rPr lang="en-US" dirty="0" err="1">
                <a:latin typeface="Avenir"/>
                <a:ea typeface="Avenir"/>
                <a:cs typeface="Avenir"/>
                <a:sym typeface="Avenir"/>
              </a:rPr>
              <a:t>Benjamini</a:t>
            </a:r>
            <a:r>
              <a:rPr lang="en-US" dirty="0">
                <a:latin typeface="Avenir"/>
                <a:ea typeface="Avenir"/>
                <a:cs typeface="Avenir"/>
                <a:sym typeface="Avenir"/>
              </a:rPr>
              <a:t> and Hochberg (1995) defined the concept of FDR and created an algorithm to control the expected FDR below a specified level given a list of independent p-values.</a:t>
            </a:r>
            <a:endParaRPr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Shape 1055"/>
        <p:cNvGrpSpPr/>
        <p:nvPr/>
      </p:nvGrpSpPr>
      <p:grpSpPr>
        <a:xfrm>
          <a:off x="0" y="0"/>
          <a:ext cx="0" cy="0"/>
          <a:chOff x="0" y="0"/>
          <a:chExt cx="0" cy="0"/>
        </a:xfrm>
      </p:grpSpPr>
      <p:sp>
        <p:nvSpPr>
          <p:cNvPr id="1056" name="Google Shape;1056;p84"/>
          <p:cNvSpPr txBox="1">
            <a:spLocks noGrp="1"/>
          </p:cNvSpPr>
          <p:nvPr>
            <p:ph type="title" idx="4294967295"/>
          </p:nvPr>
        </p:nvSpPr>
        <p:spPr>
          <a:xfrm>
            <a:off x="1036320" y="1079500"/>
            <a:ext cx="21971000" cy="1433513"/>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000000"/>
              </a:buClr>
              <a:buSzPts val="7735"/>
              <a:buFont typeface="Avenir"/>
              <a:buNone/>
            </a:pPr>
            <a:r>
              <a:rPr lang="en-US" sz="7735" b="0">
                <a:latin typeface="Avenir"/>
                <a:ea typeface="Avenir"/>
                <a:cs typeface="Avenir"/>
                <a:sym typeface="Avenir"/>
              </a:rPr>
              <a:t>Conclusions</a:t>
            </a:r>
            <a:endParaRPr/>
          </a:p>
        </p:txBody>
      </p:sp>
      <p:sp>
        <p:nvSpPr>
          <p:cNvPr id="1057" name="Google Shape;1057;p84"/>
          <p:cNvSpPr txBox="1">
            <a:spLocks noGrp="1"/>
          </p:cNvSpPr>
          <p:nvPr>
            <p:ph type="body" idx="4294967295"/>
          </p:nvPr>
        </p:nvSpPr>
        <p:spPr>
          <a:xfrm>
            <a:off x="1036320" y="5138738"/>
            <a:ext cx="21971000" cy="5494337"/>
          </a:xfrm>
          <a:prstGeom prst="rect">
            <a:avLst/>
          </a:prstGeom>
          <a:noFill/>
          <a:ln>
            <a:noFill/>
          </a:ln>
        </p:spPr>
        <p:txBody>
          <a:bodyPr spcFirstLastPara="1" wrap="square" lIns="50800" tIns="50800" rIns="50800" bIns="50800" anchor="t" anchorCtr="0">
            <a:normAutofit/>
          </a:bodyPr>
          <a:lstStyle/>
          <a:p>
            <a:pPr marL="609600" marR="0" lvl="0" indent="-609600" algn="l" rtl="0">
              <a:lnSpc>
                <a:spcPct val="90000"/>
              </a:lnSpc>
              <a:spcBef>
                <a:spcPts val="0"/>
              </a:spcBef>
              <a:spcAft>
                <a:spcPts val="0"/>
              </a:spcAft>
              <a:buClr>
                <a:srgbClr val="000000"/>
              </a:buClr>
              <a:buSzPts val="5904"/>
              <a:buFont typeface="Avenir"/>
              <a:buChar char="•"/>
            </a:pPr>
            <a:r>
              <a:rPr lang="en-US">
                <a:latin typeface="Avenir"/>
                <a:ea typeface="Avenir"/>
                <a:cs typeface="Avenir"/>
                <a:sym typeface="Avenir"/>
              </a:rPr>
              <a:t>Assumptions assumptions assumptions</a:t>
            </a:r>
            <a:endParaRPr/>
          </a:p>
        </p:txBody>
      </p:sp>
    </p:spTree>
  </p:cSld>
  <p:clrMapOvr>
    <a:masterClrMapping/>
  </p:clrMapOvr>
</p:sld>
</file>

<file path=ppt/theme/theme1.xml><?xml version="1.0" encoding="utf-8"?>
<a:theme xmlns:a="http://schemas.openxmlformats.org/drawingml/2006/main" name="Cancer Research UK">
  <a:themeElements>
    <a:clrScheme name="Cancer Research 2">
      <a:dk1>
        <a:srgbClr val="58595B"/>
      </a:dk1>
      <a:lt1>
        <a:sysClr val="window" lastClr="FFFFFF"/>
      </a:lt1>
      <a:dk2>
        <a:srgbClr val="2E008B"/>
      </a:dk2>
      <a:lt2>
        <a:srgbClr val="EC008C"/>
      </a:lt2>
      <a:accent1>
        <a:srgbClr val="00B6ED"/>
      </a:accent1>
      <a:accent2>
        <a:srgbClr val="A7A8AA"/>
      </a:accent2>
      <a:accent3>
        <a:srgbClr val="AB99D1"/>
      </a:accent3>
      <a:accent4>
        <a:srgbClr val="F799D1"/>
      </a:accent4>
      <a:accent5>
        <a:srgbClr val="99E2F8"/>
      </a:accent5>
      <a:accent6>
        <a:srgbClr val="D9D9D8"/>
      </a:accent6>
      <a:hlink>
        <a:srgbClr val="AB99D1"/>
      </a:hlink>
      <a:folHlink>
        <a:srgbClr val="99E2F8"/>
      </a:folHlink>
    </a:clrScheme>
    <a:fontScheme name="Cancer Research UK - specialist">
      <a:majorFont>
        <a:latin typeface="Calibri Light"/>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ncer Research UK (Specialist)_16x9 template_draft4" id="{490E78E8-C2C9-433E-86D7-22AA4C5D3088}" vid="{15F283FA-0709-499B-976B-8A074D77DAEE}"/>
    </a:ext>
  </a:extLst>
</a:theme>
</file>

<file path=ppt/theme/theme2.xml><?xml version="1.0" encoding="utf-8"?>
<a:theme xmlns:a="http://schemas.openxmlformats.org/drawingml/2006/main" name="1_Cancer Research UK">
  <a:themeElements>
    <a:clrScheme name="Cancer Research 2">
      <a:dk1>
        <a:srgbClr val="58595B"/>
      </a:dk1>
      <a:lt1>
        <a:sysClr val="window" lastClr="FFFFFF"/>
      </a:lt1>
      <a:dk2>
        <a:srgbClr val="2E008B"/>
      </a:dk2>
      <a:lt2>
        <a:srgbClr val="EC008C"/>
      </a:lt2>
      <a:accent1>
        <a:srgbClr val="00B6ED"/>
      </a:accent1>
      <a:accent2>
        <a:srgbClr val="A7A8AA"/>
      </a:accent2>
      <a:accent3>
        <a:srgbClr val="AB99D1"/>
      </a:accent3>
      <a:accent4>
        <a:srgbClr val="F799D1"/>
      </a:accent4>
      <a:accent5>
        <a:srgbClr val="99E2F8"/>
      </a:accent5>
      <a:accent6>
        <a:srgbClr val="D9D9D8"/>
      </a:accent6>
      <a:hlink>
        <a:srgbClr val="AB99D1"/>
      </a:hlink>
      <a:folHlink>
        <a:srgbClr val="99E2F8"/>
      </a:folHlink>
    </a:clrScheme>
    <a:fontScheme name="Cancer Research UK - specialist">
      <a:majorFont>
        <a:latin typeface="Calibri Light"/>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UK Cambridge Institute PowerPoint" id="{7F2FA565-B8A7-414D-8B6A-780025C40E31}" vid="{68DF0E8F-ECF8-C749-9041-F0F08C90BC78}"/>
    </a:ext>
  </a:extLst>
</a:theme>
</file>

<file path=ppt/theme/theme3.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3463</TotalTime>
  <Words>4891</Words>
  <Application>Microsoft Macintosh PowerPoint</Application>
  <PresentationFormat>Custom</PresentationFormat>
  <Paragraphs>483</Paragraphs>
  <Slides>60</Slides>
  <Notes>50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60</vt:i4>
      </vt:variant>
    </vt:vector>
  </HeadingPairs>
  <TitlesOfParts>
    <vt:vector size="70" baseType="lpstr">
      <vt:lpstr>Times</vt:lpstr>
      <vt:lpstr>Courier New</vt:lpstr>
      <vt:lpstr>Avenir Book</vt:lpstr>
      <vt:lpstr>Helvetica Neue</vt:lpstr>
      <vt:lpstr>Avenir</vt:lpstr>
      <vt:lpstr>Calibri Light</vt:lpstr>
      <vt:lpstr>Arial</vt:lpstr>
      <vt:lpstr>Calibri</vt:lpstr>
      <vt:lpstr>Cancer Research UK</vt:lpstr>
      <vt:lpstr>1_Cancer Research UK</vt:lpstr>
      <vt:lpstr>Statistics of RNA-seq analysis</vt:lpstr>
      <vt:lpstr>Differential expression output from DESeq2</vt:lpstr>
      <vt:lpstr>Outline</vt:lpstr>
      <vt:lpstr>Outline</vt:lpstr>
      <vt:lpstr>PowerPoint Presentation</vt:lpstr>
      <vt:lpstr>Consequences of Poor Experimental Design</vt:lpstr>
      <vt:lpstr>A Well-Designed Experiment</vt:lpstr>
      <vt:lpstr>Variables in the experiment</vt:lpstr>
      <vt:lpstr>Sources of Variation</vt:lpstr>
      <vt:lpstr>Types of Replication</vt:lpstr>
      <vt:lpstr>Confounding Factors</vt:lpstr>
      <vt:lpstr>Confounding Factors</vt:lpstr>
      <vt:lpstr>Batch Effects</vt:lpstr>
      <vt:lpstr>Solutions</vt:lpstr>
      <vt:lpstr>Randomised Block Design</vt:lpstr>
      <vt:lpstr>Randomised Block Design</vt:lpstr>
      <vt:lpstr>Randomised Block Design</vt:lpstr>
      <vt:lpstr>Experimental Controls</vt:lpstr>
      <vt:lpstr>Examples of Experimental Controls</vt:lpstr>
      <vt:lpstr>Outline</vt:lpstr>
      <vt:lpstr>Basics on inferential statistics and hypothesis testing</vt:lpstr>
      <vt:lpstr>Basics on inferential statistics and hypothesis testing</vt:lpstr>
      <vt:lpstr>Basics on inferential statistics and hypothesis testing</vt:lpstr>
      <vt:lpstr>A simple example</vt:lpstr>
      <vt:lpstr>A simple example</vt:lpstr>
      <vt:lpstr>A simple example</vt:lpstr>
      <vt:lpstr>A simple example</vt:lpstr>
      <vt:lpstr>A simple example</vt:lpstr>
      <vt:lpstr>A simple example</vt:lpstr>
      <vt:lpstr>A simple example</vt:lpstr>
      <vt:lpstr>A simple example</vt:lpstr>
      <vt:lpstr>A simple example</vt:lpstr>
      <vt:lpstr>A simple example</vt:lpstr>
      <vt:lpstr>A simple example</vt:lpstr>
      <vt:lpstr>Key Concepts - Hypothesis Testing</vt:lpstr>
      <vt:lpstr>Type I and Type II Errors</vt:lpstr>
      <vt:lpstr>Type I and Type II Errors</vt:lpstr>
      <vt:lpstr>Type I and Type II Errors</vt:lpstr>
      <vt:lpstr>Power Analysis</vt:lpstr>
      <vt:lpstr>Power Analysis in Differential Expression Analysis</vt:lpstr>
      <vt:lpstr>Outline</vt:lpstr>
      <vt:lpstr>DESEQ2 workflow</vt:lpstr>
      <vt:lpstr>Normalisation</vt:lpstr>
      <vt:lpstr>PowerPoint Presentation</vt:lpstr>
      <vt:lpstr>PowerPoint Presentation</vt:lpstr>
      <vt:lpstr>General principles behind normalisation</vt:lpstr>
      <vt:lpstr>DESeq2 Normalisation</vt:lpstr>
      <vt:lpstr>Normalisation and Batch effects</vt:lpstr>
      <vt:lpstr>Statistical Aspects of Differential Expression Analysis</vt:lpstr>
      <vt:lpstr>Statistical Aspects of Differential Expression Analysis</vt:lpstr>
      <vt:lpstr>Statistical Aspects of Differential Expression Analysis</vt:lpstr>
      <vt:lpstr>Statistical Aspects of Differential Expression Analysis</vt:lpstr>
      <vt:lpstr>PowerPoint Presentation</vt:lpstr>
      <vt:lpstr>Statistical Aspects of Differential Expression Analysis</vt:lpstr>
      <vt:lpstr>DESEQ2 workflow</vt:lpstr>
      <vt:lpstr>P-value Histograms</vt:lpstr>
      <vt:lpstr>P-value Histograms</vt:lpstr>
      <vt:lpstr>Multiplicity Correction</vt:lpstr>
      <vt:lpstr>Multiplicity Correction</vt:lpstr>
      <vt:lpstr>Conclusions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Statistics of RNA-seq analysis</dc:title>
  <cp:lastModifiedBy>Chandra Sekhar Reddy Chilamakuri</cp:lastModifiedBy>
  <cp:revision>109</cp:revision>
  <dcterms:modified xsi:type="dcterms:W3CDTF">2025-10-21T21:07:56Z</dcterms:modified>
</cp:coreProperties>
</file>